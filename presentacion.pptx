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91" r:id="rId2"/>
    <p:sldId id="258" r:id="rId3"/>
    <p:sldId id="259" r:id="rId4"/>
    <p:sldId id="284" r:id="rId5"/>
    <p:sldId id="286" r:id="rId6"/>
    <p:sldId id="287" r:id="rId7"/>
  </p:sldIdLst>
  <p:sldSz cx="12192000" cy="6858000"/>
  <p:notesSz cx="6858000" cy="9144000"/>
  <p:defaultTextStyle>
    <a:defPPr>
      <a:defRPr lang="es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149E2D-E735-4906-8E5B-572E54623272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21D91-32CD-4BE7-9119-2D36796C1847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6799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DE4B0BB5-CF8A-1800-9CBF-A64A6DCEB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>
            <a:extLst>
              <a:ext uri="{FF2B5EF4-FFF2-40B4-BE49-F238E27FC236}">
                <a16:creationId xmlns:a16="http://schemas.microsoft.com/office/drawing/2014/main" id="{F248E8EA-ACD7-5883-A4CB-216BE86EE9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>
            <a:extLst>
              <a:ext uri="{FF2B5EF4-FFF2-40B4-BE49-F238E27FC236}">
                <a16:creationId xmlns:a16="http://schemas.microsoft.com/office/drawing/2014/main" id="{F52511F3-7B6E-0AE5-52F4-53508F206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63365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68881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21D3F-0E81-2378-9537-0C7BAB6E6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12F08D-91A8-1418-E475-C6FF062B0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AB2BCC-52BA-963A-648E-1271A2D4F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9CF17-9FE6-98B7-C672-EE00258C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D6AD79-E343-A5E7-B983-41157275D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053968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719C7-3FC4-EFC7-5317-F7560316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E961CE-FB13-F468-9895-DB92D5237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70A293-EC18-A568-BE3B-1F8ABD5D1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157286-1E03-5F18-9FB2-F304CC655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BFD408-7E03-E204-58E7-E84232043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2211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729308-57D4-9D64-4FDA-357B47CEB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17D88C5-C7BC-E359-C679-8159ED949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377D48-2142-3FDD-643E-989F3A2C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9D7E311-34D4-B1A6-1BE6-0A1A9170D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A0883A-9D98-7E61-8829-95D5A674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191847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5B4528-F4A1-6883-932D-1B213753A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84176-EFBF-544B-BF6C-F3BDBA610E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23D0598-233F-7FA0-BBBE-C1B449034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BF6513A-DE4E-42C8-C12C-794F58F36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41F656D-6504-F996-1D06-7BBE570DD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667B3F0-AA02-14C2-87AB-936879B2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511762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DF2BB3-54C1-0666-1223-76D78B4A7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10C32C-C78F-B8E2-7540-B640DB1B4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A71B5B-5F47-7055-D543-5877A4E12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955991E-8092-1FA9-95BF-08247A4944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BB24B45-4F68-D280-6F7C-234AB8A29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42F16D-2073-0FD5-8017-1A203CFB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C6D8E9E-5A80-F569-C7E1-D26103F5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931F061-09DC-8DFD-CBDB-D5D331BE9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76595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CDF7F-3216-4091-C83E-40EEDF0BA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044A75B-858B-C678-029C-45A8CBAA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CF7872A-A8F6-37D4-1C41-EC525094E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436DDD3-324A-1B43-EEA4-29B73C3C2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78802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6EAA9D8-668D-1506-8A9A-26F85797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75BC7B-7070-4871-448A-67D49A1F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5D0458-277D-A562-BE24-4BA00B436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3358253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CB03AE-45B9-A67C-8309-AF03484B0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24F95E-BA66-5583-47B5-731B9A1D1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E1B222-8C98-4F20-93A0-64E398B7AA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E3B7698-E1DB-8157-F5C7-55B879EF5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8A9079-D790-5B11-4E60-8FEFEE40F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EB7C57B-6E08-6282-9DBA-73F1BD23F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18663139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1A0F82-A6CC-1398-FB2F-E89A71FB6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7CEC17F-C135-F7E8-EC31-C7E7D0BB7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CD7DCF-BD82-835C-90E4-0BEE494D4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0C35D9-BBD1-A494-2242-054290012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F140345-ADF5-BD96-4A93-0A5C872DC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C1DC742-64D4-5C5B-DDCA-65261E15B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4524721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F2ED04-2EEB-B016-8800-E2EAA2B9E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DFC82F-9F9D-F580-7074-85C595BC6F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F65F7-8F93-D279-19B5-5838A25B5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C1DE3D-5C68-7B66-4A99-082E52112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460BB4-AE2C-20BB-1789-E80234208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275112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3B5EF7F-8FAE-B067-BAD0-247C259B54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DFA38D-BBC0-18CB-593B-09B391EE8E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03AB84-76EE-2F7C-90BA-BCB293AB6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1BDB9A-DDB7-BE41-7D8E-7BE3BBDD0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19270C-B92A-0DE9-7F89-99C98282F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4834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6C30656-C3E4-947A-22DF-DDE50B07B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3C3A48-78A7-517E-F9A1-E872C8C31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263F00-C67D-0B12-6B25-395C159D10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F9109-1A2C-44E9-839F-51D8FAE33704}" type="datetimeFigureOut">
              <a:rPr lang="es-US" smtClean="0"/>
              <a:t>6/1/2026</a:t>
            </a:fld>
            <a:endParaRPr lang="es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BD3D-F481-B927-D8D9-825A2AFF3B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B2E62-1A6C-25B1-E1BC-21B7B574B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4C37A-2A9D-47D9-820F-E0D174241AC5}" type="slidenum">
              <a:rPr lang="es-US" smtClean="0"/>
              <a:t>‹Nº›</a:t>
            </a:fld>
            <a:endParaRPr lang="es-US"/>
          </a:p>
        </p:txBody>
      </p:sp>
    </p:spTree>
    <p:extLst>
      <p:ext uri="{BB962C8B-B14F-4D97-AF65-F5344CB8AC3E}">
        <p14:creationId xmlns:p14="http://schemas.microsoft.com/office/powerpoint/2010/main" val="2972636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scienti.minciencias.gov.co/cvlac/visualizador/generarCurriculoCv.do?cod_rh=0001539970" TargetMode="External"/><Relationship Id="rId3" Type="http://schemas.openxmlformats.org/officeDocument/2006/relationships/hyperlink" Target="https://www.researchgate.net/profile/Oscar_Vargas7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holar.google.es/citations?user=z57El9wAAAAJ&amp;hl=e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12.jpeg"/><Relationship Id="rId7" Type="http://schemas.openxmlformats.org/officeDocument/2006/relationships/image" Target="../media/image1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13.jpe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gif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576137E-83EA-6AD4-C262-775FF17B3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810" y="0"/>
            <a:ext cx="4572000" cy="6858000"/>
          </a:xfrm>
          <a:prstGeom prst="rect">
            <a:avLst/>
          </a:prstGeom>
        </p:spPr>
      </p:pic>
      <p:sp>
        <p:nvSpPr>
          <p:cNvPr id="15" name="Google Shape;84;p1">
            <a:extLst>
              <a:ext uri="{FF2B5EF4-FFF2-40B4-BE49-F238E27FC236}">
                <a16:creationId xmlns:a16="http://schemas.microsoft.com/office/drawing/2014/main" id="{4EDD0E7A-1AC9-7E4E-8353-80DB6321E03E}"/>
              </a:ext>
            </a:extLst>
          </p:cNvPr>
          <p:cNvSpPr txBox="1">
            <a:spLocks/>
          </p:cNvSpPr>
          <p:nvPr/>
        </p:nvSpPr>
        <p:spPr>
          <a:xfrm>
            <a:off x="6181096" y="920506"/>
            <a:ext cx="4737717" cy="156575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buClr>
                <a:schemeClr val="dk1"/>
              </a:buClr>
              <a:buSzPts val="6000"/>
              <a:buFont typeface="Anton"/>
              <a:buNone/>
            </a:pPr>
            <a:r>
              <a:rPr lang="es-MX" sz="5400" dirty="0">
                <a:latin typeface="Anton"/>
                <a:ea typeface="Anton"/>
                <a:cs typeface="Anton"/>
                <a:sym typeface="Anton"/>
              </a:rPr>
              <a:t>OSCAR IVAN VARGAS PINEDA</a:t>
            </a:r>
            <a:endParaRPr lang="es-MX" sz="5400" dirty="0"/>
          </a:p>
        </p:txBody>
      </p:sp>
      <p:sp>
        <p:nvSpPr>
          <p:cNvPr id="16" name="Google Shape;86;p1">
            <a:extLst>
              <a:ext uri="{FF2B5EF4-FFF2-40B4-BE49-F238E27FC236}">
                <a16:creationId xmlns:a16="http://schemas.microsoft.com/office/drawing/2014/main" id="{23691088-AF20-3C34-E11C-54E195B8E687}"/>
              </a:ext>
            </a:extLst>
          </p:cNvPr>
          <p:cNvSpPr/>
          <p:nvPr/>
        </p:nvSpPr>
        <p:spPr>
          <a:xfrm>
            <a:off x="6181096" y="576147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87;p1">
            <a:extLst>
              <a:ext uri="{FF2B5EF4-FFF2-40B4-BE49-F238E27FC236}">
                <a16:creationId xmlns:a16="http://schemas.microsoft.com/office/drawing/2014/main" id="{530296FD-0583-4B4D-DAD7-89F3C5CEBBC7}"/>
              </a:ext>
            </a:extLst>
          </p:cNvPr>
          <p:cNvSpPr/>
          <p:nvPr/>
        </p:nvSpPr>
        <p:spPr>
          <a:xfrm>
            <a:off x="6181096" y="2486259"/>
            <a:ext cx="4737717" cy="79898"/>
          </a:xfrm>
          <a:prstGeom prst="rect">
            <a:avLst/>
          </a:prstGeom>
          <a:solidFill>
            <a:srgbClr val="825B3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93;p1">
            <a:extLst>
              <a:ext uri="{FF2B5EF4-FFF2-40B4-BE49-F238E27FC236}">
                <a16:creationId xmlns:a16="http://schemas.microsoft.com/office/drawing/2014/main" id="{957A9797-0729-E6F8-FF5F-1C3A795ECBF6}"/>
              </a:ext>
            </a:extLst>
          </p:cNvPr>
          <p:cNvSpPr txBox="1"/>
          <p:nvPr/>
        </p:nvSpPr>
        <p:spPr>
          <a:xfrm>
            <a:off x="6792443" y="5617220"/>
            <a:ext cx="42946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i="1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o</a:t>
            </a: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scarvargas@trabajocientifico.org</a:t>
            </a:r>
            <a:endParaRPr sz="1600" b="0" i="1" u="none" strike="noStrike" cap="none" dirty="0">
              <a:solidFill>
                <a:schemeClr val="dk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0" i="1" u="none" strike="noStrike" cap="none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  <a:ea typeface="Calibri"/>
                <a:cs typeface="Calibri"/>
                <a:sym typeface="Calibri"/>
              </a:rPr>
              <a:t>+57 318 4280 112</a:t>
            </a:r>
            <a:endParaRPr sz="1200" b="0" i="1" u="none" strike="noStrike" cap="none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" panose="020B0004020202020204" pitchFamily="34" charset="0"/>
              <a:sym typeface="Arial"/>
            </a:endParaRPr>
          </a:p>
        </p:txBody>
      </p:sp>
      <p:pic>
        <p:nvPicPr>
          <p:cNvPr id="19" name="Picture 2">
            <a:hlinkClick r:id="rId3"/>
            <a:extLst>
              <a:ext uri="{FF2B5EF4-FFF2-40B4-BE49-F238E27FC236}">
                <a16:creationId xmlns:a16="http://schemas.microsoft.com/office/drawing/2014/main" id="{5C7088FD-5945-258C-9C98-089F8B4D8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005" y="4636718"/>
            <a:ext cx="1407900" cy="52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4" descr="How to set up your email in Gmail for mobile - xneelo Help Centre">
            <a:extLst>
              <a:ext uri="{FF2B5EF4-FFF2-40B4-BE49-F238E27FC236}">
                <a16:creationId xmlns:a16="http://schemas.microsoft.com/office/drawing/2014/main" id="{85F5321F-76CE-8323-C517-1D188DA35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50476" y="204011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61DAFE5-B222-87AE-B010-B3727D36A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5799" y="5644651"/>
            <a:ext cx="490974" cy="490974"/>
          </a:xfrm>
          <a:prstGeom prst="rect">
            <a:avLst/>
          </a:prstGeom>
        </p:spPr>
      </p:pic>
      <p:pic>
        <p:nvPicPr>
          <p:cNvPr id="22" name="Imagen 21">
            <a:hlinkClick r:id="rId6"/>
            <a:extLst>
              <a:ext uri="{FF2B5EF4-FFF2-40B4-BE49-F238E27FC236}">
                <a16:creationId xmlns:a16="http://schemas.microsoft.com/office/drawing/2014/main" id="{7161792F-F9E3-2E6A-5CDE-824A7380B0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598" y="4452960"/>
            <a:ext cx="1331039" cy="769687"/>
          </a:xfrm>
          <a:prstGeom prst="rect">
            <a:avLst/>
          </a:prstGeom>
        </p:spPr>
      </p:pic>
      <p:pic>
        <p:nvPicPr>
          <p:cNvPr id="23" name="Picture 6" descr="Capacitación en CVLAC Y GRUPLAC de Colciencias - Politécnico Colombiano  Jaime Isaza Cadavid">
            <a:hlinkClick r:id="rId8"/>
            <a:extLst>
              <a:ext uri="{FF2B5EF4-FFF2-40B4-BE49-F238E27FC236}">
                <a16:creationId xmlns:a16="http://schemas.microsoft.com/office/drawing/2014/main" id="{D4B4FA03-9EC2-8614-4448-6FCF27C8D6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26" r="48860"/>
          <a:stretch/>
        </p:blipFill>
        <p:spPr bwMode="auto">
          <a:xfrm>
            <a:off x="6093830" y="4576356"/>
            <a:ext cx="1554820" cy="64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Google Shape;85;p1">
            <a:extLst>
              <a:ext uri="{FF2B5EF4-FFF2-40B4-BE49-F238E27FC236}">
                <a16:creationId xmlns:a16="http://schemas.microsoft.com/office/drawing/2014/main" id="{353140A6-E8AE-98B3-0151-E7A5061575F7}"/>
              </a:ext>
            </a:extLst>
          </p:cNvPr>
          <p:cNvSpPr txBox="1">
            <a:spLocks/>
          </p:cNvSpPr>
          <p:nvPr/>
        </p:nvSpPr>
        <p:spPr>
          <a:xfrm>
            <a:off x="6312759" y="2702965"/>
            <a:ext cx="4737717" cy="15888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Ing. Agroindustrial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Esp. Gestión Integral del Agua 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Gestión Ambiental Sostenible</a:t>
            </a:r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 err="1"/>
              <a:t>Mgs</a:t>
            </a:r>
            <a:r>
              <a:rPr lang="es-ES" sz="1600" i="1" dirty="0"/>
              <a:t>. Inteligencia Artificial Aplicada</a:t>
            </a:r>
            <a:endParaRPr lang="es-ES" dirty="0"/>
          </a:p>
          <a:p>
            <a:pPr algn="just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1600"/>
            </a:pPr>
            <a:r>
              <a:rPr lang="es-ES" sz="1600" i="1" dirty="0"/>
              <a:t>PhD. Ciencias Agrarias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582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/>
          <p:nvPr/>
        </p:nvSpPr>
        <p:spPr>
          <a:xfrm>
            <a:off x="902564" y="3147679"/>
            <a:ext cx="4030943" cy="326375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marR="0" lvl="0" indent="-237744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dirty="0">
                <a:latin typeface="Aharoni"/>
                <a:ea typeface="Aharoni"/>
                <a:cs typeface="Aharoni"/>
                <a:sym typeface="Aharoni"/>
              </a:rPr>
              <a:t>Beca doctoral por investigación</a:t>
            </a:r>
          </a:p>
          <a:p>
            <a:pPr marR="0" lvl="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</a:pPr>
            <a:endParaRPr lang="es-MX"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Beca-Joven Investigador (Gobernación del Meta)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Mejor Joven Investigador (2016)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Delegado del </a:t>
            </a:r>
            <a:r>
              <a:rPr lang="es-MX" sz="1800" b="1" i="0" u="none" strike="noStrike" cap="none" dirty="0" err="1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pais</a:t>
            </a: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 3 ocasiones</a:t>
            </a: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237744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None/>
            </a:pPr>
            <a:endParaRPr sz="1800" b="1" i="0" u="none" strike="noStrike" cap="none" dirty="0">
              <a:solidFill>
                <a:srgbClr val="000000"/>
              </a:solidFill>
              <a:latin typeface="Aharoni"/>
              <a:ea typeface="Aharoni"/>
              <a:cs typeface="Aharoni"/>
              <a:sym typeface="Aharoni"/>
            </a:endParaRPr>
          </a:p>
          <a:p>
            <a:pPr marL="342900" marR="0" lvl="0" indent="-342900" algn="l" rtl="0">
              <a:lnSpc>
                <a:spcPct val="90000"/>
              </a:lnSpc>
              <a:spcBef>
                <a:spcPts val="960"/>
              </a:spcBef>
              <a:spcAft>
                <a:spcPts val="0"/>
              </a:spcAft>
              <a:buClr>
                <a:srgbClr val="4472C4"/>
              </a:buClr>
              <a:buSzPts val="1656"/>
              <a:buFont typeface="Noto Sans Symbols"/>
              <a:buChar char="⮚"/>
            </a:pPr>
            <a:r>
              <a:rPr lang="es-MX" sz="18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Investigador Junior (2022)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902564" y="2195393"/>
            <a:ext cx="4030943" cy="867087"/>
          </a:xfrm>
          <a:prstGeom prst="rect">
            <a:avLst/>
          </a:prstGeom>
          <a:solidFill>
            <a:srgbClr val="B3C6E7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haroni"/>
              <a:buNone/>
            </a:pPr>
            <a:r>
              <a:rPr lang="es-MX" sz="4400" b="1" i="0" u="none" strike="noStrike" cap="none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Reconocimiento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6292645" y="1694763"/>
            <a:ext cx="4587365" cy="867087"/>
          </a:xfrm>
          <a:prstGeom prst="rect">
            <a:avLst/>
          </a:prstGeom>
          <a:solidFill>
            <a:srgbClr val="FEE599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haroni"/>
              <a:buNone/>
            </a:pPr>
            <a:r>
              <a:rPr lang="es-MX" sz="4400" b="1" i="0" u="none" strike="noStrike" cap="none" dirty="0">
                <a:solidFill>
                  <a:srgbClr val="000000"/>
                </a:solidFill>
                <a:latin typeface="Aharoni"/>
                <a:ea typeface="Aharoni"/>
                <a:cs typeface="Aharoni"/>
                <a:sym typeface="Aharoni"/>
              </a:rPr>
              <a:t>Artículos Científicos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3"/>
          <p:cNvSpPr txBox="1"/>
          <p:nvPr/>
        </p:nvSpPr>
        <p:spPr>
          <a:xfrm>
            <a:off x="5475767" y="2628936"/>
            <a:ext cx="6507126" cy="4115993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1. Análisis espacial y temporal de la precipitación en la Orinoquía Colombiana (1981–2024) a partir de imágenes satelitales CHIRPS</a:t>
            </a:r>
          </a:p>
          <a:p>
            <a:pPr>
              <a:lnSpc>
                <a:spcPct val="200000"/>
              </a:lnSpc>
              <a:buClr>
                <a:srgbClr val="4472C4"/>
              </a:buClr>
              <a:buSzPts val="828"/>
            </a:pPr>
            <a:r>
              <a:rPr lang="es-ES" sz="900" b="1" dirty="0">
                <a:latin typeface="+mn-lt"/>
              </a:rPr>
              <a:t>2</a:t>
            </a:r>
            <a:r>
              <a:rPr lang="es-ES" sz="900" b="1" i="0" u="none" strike="noStrike" cap="none" dirty="0">
                <a:solidFill>
                  <a:srgbClr val="000000"/>
                </a:solidFill>
                <a:latin typeface="+mn-lt"/>
                <a:ea typeface="Arial"/>
                <a:cs typeface="Arial"/>
                <a:sym typeface="Arial"/>
              </a:rPr>
              <a:t>. Análisis e identificación de variables estratégicas de sostenibilidad, como herramientas de calidad del turismo en Villavicencio.</a:t>
            </a:r>
            <a:endParaRPr lang="es-MX"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3.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Supply-Demand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Resource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a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with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High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Anthropic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Pressure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; Case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Study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Quenane-Quenanito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Basin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in Colombia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4.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Footprint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: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an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Effective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Tool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for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the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Challenge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of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Water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s-MX" sz="900" b="1" i="1" u="none" strike="noStrike" cap="none" dirty="0" err="1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Sustainability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5. Análisis de un Sistema de Cosecha de Agua a Pequeña Escala con Finalidad Pecuaria: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6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LA ECONOMÍA VERDE: UN CAMBIO AMBIENTAL Y SOCIAL PARA EL MODELO ECONÓMICO ACTUAL.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7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ANÁLISIS DE LA INCLUSIÓN DE ASPECTOS AMBIENTALES EN MICROEMPRESAS AGROINDUSTRIALES DE LA CIUDAD DE VILLAVICENCIO, COLOMBIA.</a:t>
            </a:r>
            <a:endParaRPr sz="900" b="1" i="1" u="none" strike="noStrike" cap="none" dirty="0">
              <a:solidFill>
                <a:srgbClr val="000000"/>
              </a:solidFill>
              <a:latin typeface="+mn-lt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780"/>
              </a:spcBef>
              <a:spcAft>
                <a:spcPts val="0"/>
              </a:spcAft>
              <a:buClr>
                <a:srgbClr val="4472C4"/>
              </a:buClr>
              <a:buSzPts val="828"/>
              <a:buFont typeface="Arial"/>
              <a:buNone/>
            </a:pPr>
            <a:r>
              <a:rPr lang="es-MX" sz="900" b="1" i="1" dirty="0">
                <a:latin typeface="+mn-lt"/>
                <a:ea typeface="Calibri"/>
                <a:cs typeface="Calibri"/>
                <a:sym typeface="Calibri"/>
              </a:rPr>
              <a:t>8</a:t>
            </a:r>
            <a:r>
              <a:rPr lang="es-MX" sz="900" b="1" i="1" u="none" strike="noStrike" cap="none" dirty="0">
                <a:solidFill>
                  <a:srgbClr val="000000"/>
                </a:solidFill>
                <a:latin typeface="+mn-lt"/>
                <a:ea typeface="Calibri"/>
                <a:cs typeface="Calibri"/>
                <a:sym typeface="Calibri"/>
              </a:rPr>
              <a:t>. EL COMPOSTAJE, UNA ALTERNATIVA PARA EL APROVECHAMIENTO DE RESIDUOS ORGÁNICOS EN LAS CENTRALES DE ABASTECIMIENTO.</a:t>
            </a:r>
          </a:p>
        </p:txBody>
      </p:sp>
      <p:sp>
        <p:nvSpPr>
          <p:cNvPr id="103" name="Google Shape;103;p3"/>
          <p:cNvSpPr txBox="1">
            <a:spLocks noGrp="1"/>
          </p:cNvSpPr>
          <p:nvPr>
            <p:ph type="title"/>
          </p:nvPr>
        </p:nvSpPr>
        <p:spPr>
          <a:xfrm>
            <a:off x="0" y="374791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en Investigación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Jornadas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310897" y="6418640"/>
            <a:ext cx="312799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Guayuriba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207854" y="3561565"/>
            <a:ext cx="3438893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6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Ingeniería Agroindustrial - </a:t>
            </a:r>
            <a:r>
              <a:rPr lang="es-MX" sz="16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8616242" y="6266469"/>
            <a:ext cx="304735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Maestría Gestión Ambiental sostenible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lang="es-MX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/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Congresos - </a:t>
            </a:r>
            <a:r>
              <a:rPr lang="es-MX" sz="1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4627564" y="6138118"/>
            <a:ext cx="215570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Acacías - </a:t>
            </a:r>
            <a:r>
              <a:rPr lang="es-MX" sz="18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Unillanos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75000"/>
                  <a:shade val="30000"/>
                  <a:satMod val="115000"/>
                </a:schemeClr>
              </a:gs>
              <a:gs pos="50000">
                <a:schemeClr val="accent2">
                  <a:lumMod val="75000"/>
                  <a:shade val="67500"/>
                  <a:satMod val="115000"/>
                </a:schemeClr>
              </a:gs>
              <a:gs pos="100000">
                <a:schemeClr val="accent2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4ABDE8E-A549-882E-6E5B-CA8E332DC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557" y="1128148"/>
            <a:ext cx="1847487" cy="246331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DED9650-EFE1-5B06-693A-C3859AFA97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990" y="4499243"/>
            <a:ext cx="2931299" cy="165027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B999A5-A071-688B-5348-FB2ED0A27E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0336" y="1450986"/>
            <a:ext cx="2968181" cy="197801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5770BA1-724E-5350-38CC-6438D6D41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4875" y="1128148"/>
            <a:ext cx="3512625" cy="251504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FAFB0DE-E8B2-9A2A-0D96-F61873FA30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991" y="4297317"/>
            <a:ext cx="2642620" cy="19819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BE5C5E06-AACA-A06E-89DF-245886A81F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6250" y="4167018"/>
            <a:ext cx="2816352" cy="2112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>
          <a:extLst>
            <a:ext uri="{FF2B5EF4-FFF2-40B4-BE49-F238E27FC236}">
              <a16:creationId xmlns:a16="http://schemas.microsoft.com/office/drawing/2014/main" id="{1581FBBB-F3BA-DD49-DCAC-D26A74105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4" descr="Un grupo de personas posando para una foto en oficina&#10;&#10;Descripción generada automáticamente">
            <a:extLst>
              <a:ext uri="{FF2B5EF4-FFF2-40B4-BE49-F238E27FC236}">
                <a16:creationId xmlns:a16="http://schemas.microsoft.com/office/drawing/2014/main" id="{5F868A83-159B-B24E-E5D5-BCA5F1196D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4449" y="1152797"/>
            <a:ext cx="3191115" cy="2393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4" descr="Un dibujo de un edificio&#10;&#10;Descripción generada automáticamente con confianza media">
            <a:extLst>
              <a:ext uri="{FF2B5EF4-FFF2-40B4-BE49-F238E27FC236}">
                <a16:creationId xmlns:a16="http://schemas.microsoft.com/office/drawing/2014/main" id="{84D48089-6A9F-6420-B87F-C4C3E291987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-109565" y="4353938"/>
            <a:ext cx="2363794" cy="177284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>
            <a:extLst>
              <a:ext uri="{FF2B5EF4-FFF2-40B4-BE49-F238E27FC236}">
                <a16:creationId xmlns:a16="http://schemas.microsoft.com/office/drawing/2014/main" id="{38E1CCDC-962B-6A86-097A-3A78A3DC64BF}"/>
              </a:ext>
            </a:extLst>
          </p:cNvPr>
          <p:cNvSpPr txBox="1"/>
          <p:nvPr/>
        </p:nvSpPr>
        <p:spPr>
          <a:xfrm>
            <a:off x="4634218" y="3634479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México - UNAN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4">
            <a:extLst>
              <a:ext uri="{FF2B5EF4-FFF2-40B4-BE49-F238E27FC236}">
                <a16:creationId xmlns:a16="http://schemas.microsoft.com/office/drawing/2014/main" id="{E5F86568-4D5E-5F8C-A8AB-5E74081CCB41}"/>
              </a:ext>
            </a:extLst>
          </p:cNvPr>
          <p:cNvSpPr txBox="1"/>
          <p:nvPr/>
        </p:nvSpPr>
        <p:spPr>
          <a:xfrm>
            <a:off x="185909" y="642225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Cuba  – U. Habana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4">
            <a:extLst>
              <a:ext uri="{FF2B5EF4-FFF2-40B4-BE49-F238E27FC236}">
                <a16:creationId xmlns:a16="http://schemas.microsoft.com/office/drawing/2014/main" id="{BCF68718-2ACD-2CE6-C464-8E8801CD22DE}"/>
              </a:ext>
            </a:extLst>
          </p:cNvPr>
          <p:cNvSpPr txBox="1"/>
          <p:nvPr/>
        </p:nvSpPr>
        <p:spPr>
          <a:xfrm>
            <a:off x="764079" y="3347228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Argentina - U. Plata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4" descr="Un grupo de personas en un salón&#10;&#10;Descripción generada automáticamente con confianza media">
            <a:extLst>
              <a:ext uri="{FF2B5EF4-FFF2-40B4-BE49-F238E27FC236}">
                <a16:creationId xmlns:a16="http://schemas.microsoft.com/office/drawing/2014/main" id="{46CBCDDD-9922-2832-2C29-42DEB604372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4079" y="1050211"/>
            <a:ext cx="1722763" cy="2297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" descr="Un grupo de personas en medio de cuarto&#10;&#10;Descripción generada automáticamente">
            <a:extLst>
              <a:ext uri="{FF2B5EF4-FFF2-40B4-BE49-F238E27FC236}">
                <a16:creationId xmlns:a16="http://schemas.microsoft.com/office/drawing/2014/main" id="{58EB3424-3044-1E76-67D2-A2599593C8C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28132" y="1115256"/>
            <a:ext cx="1591282" cy="2372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4">
            <a:extLst>
              <a:ext uri="{FF2B5EF4-FFF2-40B4-BE49-F238E27FC236}">
                <a16:creationId xmlns:a16="http://schemas.microsoft.com/office/drawing/2014/main" id="{D28A6C4C-041A-A9B6-AFE5-A8C880AF85EC}"/>
              </a:ext>
            </a:extLst>
          </p:cNvPr>
          <p:cNvSpPr txBox="1"/>
          <p:nvPr/>
        </p:nvSpPr>
        <p:spPr>
          <a:xfrm>
            <a:off x="5640006" y="6483383"/>
            <a:ext cx="367591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España – U. Politécnica de Madrid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178F99DF-E283-2688-12EC-797AC940C3C3}"/>
              </a:ext>
            </a:extLst>
          </p:cNvPr>
          <p:cNvSpPr txBox="1"/>
          <p:nvPr/>
        </p:nvSpPr>
        <p:spPr>
          <a:xfrm>
            <a:off x="8734500" y="3487354"/>
            <a:ext cx="283736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Perú – U. Lima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4" descr="Un grupo de personas en medio de cuarto&#10;&#10;Descripción generada automáticamente con confianza media">
            <a:extLst>
              <a:ext uri="{FF2B5EF4-FFF2-40B4-BE49-F238E27FC236}">
                <a16:creationId xmlns:a16="http://schemas.microsoft.com/office/drawing/2014/main" id="{D689F179-CA3F-A3BB-A21B-455A15EB6545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352209" y="4345559"/>
            <a:ext cx="3213816" cy="1802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>
            <a:extLst>
              <a:ext uri="{FF2B5EF4-FFF2-40B4-BE49-F238E27FC236}">
                <a16:creationId xmlns:a16="http://schemas.microsoft.com/office/drawing/2014/main" id="{A01E0303-9225-B7D7-B85C-FF0C24B5FA48}"/>
              </a:ext>
            </a:extLst>
          </p:cNvPr>
          <p:cNvSpPr txBox="1"/>
          <p:nvPr/>
        </p:nvSpPr>
        <p:spPr>
          <a:xfrm>
            <a:off x="2758536" y="6148309"/>
            <a:ext cx="215570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Bolivia  – U. Católica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0164C0A7-9EE0-5E29-935E-4DFA867352D6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rgbClr val="FF0000"/>
              </a:buClr>
              <a:buSzPts val="5400"/>
              <a:buFont typeface="Aharoni"/>
              <a:buNone/>
            </a:pPr>
            <a:r>
              <a:rPr lang="es-MX" sz="5400" b="1" dirty="0">
                <a:solidFill>
                  <a:schemeClr val="bg1"/>
                </a:solidFill>
                <a:latin typeface="Aharoni"/>
                <a:ea typeface="Aharoni"/>
                <a:cs typeface="Aharoni"/>
                <a:sym typeface="Aharoni"/>
              </a:rPr>
              <a:t>Experiencia Internacional</a:t>
            </a:r>
            <a:endParaRPr lang="es-MX" dirty="0">
              <a:solidFill>
                <a:schemeClr val="bg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5047455-B1F9-D357-98A9-A4FABF20A01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4929" t="1480" r="1538" b="29670"/>
          <a:stretch/>
        </p:blipFill>
        <p:spPr>
          <a:xfrm>
            <a:off x="6052486" y="4092157"/>
            <a:ext cx="2450554" cy="2363794"/>
          </a:xfrm>
          <a:prstGeom prst="rect">
            <a:avLst/>
          </a:prstGeom>
        </p:spPr>
      </p:pic>
      <p:sp>
        <p:nvSpPr>
          <p:cNvPr id="7" name="Google Shape;117;p4">
            <a:extLst>
              <a:ext uri="{FF2B5EF4-FFF2-40B4-BE49-F238E27FC236}">
                <a16:creationId xmlns:a16="http://schemas.microsoft.com/office/drawing/2014/main" id="{5F86AFFD-F4D4-6D29-03DD-CFF710D5E78A}"/>
              </a:ext>
            </a:extLst>
          </p:cNvPr>
          <p:cNvSpPr txBox="1"/>
          <p:nvPr/>
        </p:nvSpPr>
        <p:spPr>
          <a:xfrm>
            <a:off x="9433464" y="6222802"/>
            <a:ext cx="255071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MX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Francia – U. Montpellier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50195D3-E5E3-CF5A-8CE1-9A22E9B4F9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96275" y="4367469"/>
            <a:ext cx="3246277" cy="1827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16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3;p3">
            <a:extLst>
              <a:ext uri="{FF2B5EF4-FFF2-40B4-BE49-F238E27FC236}">
                <a16:creationId xmlns:a16="http://schemas.microsoft.com/office/drawing/2014/main" id="{B9CA52BF-8741-CB2F-E045-BEA941520ED0}"/>
              </a:ext>
            </a:extLst>
          </p:cNvPr>
          <p:cNvSpPr txBox="1">
            <a:spLocks/>
          </p:cNvSpPr>
          <p:nvPr/>
        </p:nvSpPr>
        <p:spPr>
          <a:xfrm>
            <a:off x="0" y="78973"/>
            <a:ext cx="12192000" cy="857619"/>
          </a:xfrm>
          <a:prstGeom prst="rect">
            <a:avLst/>
          </a:prstGeom>
          <a:solidFill>
            <a:srgbClr val="501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5400"/>
              <a:buFont typeface="Aharoni"/>
              <a:buNone/>
              <a:tabLst/>
              <a:defRPr/>
            </a:pPr>
            <a:r>
              <a:rPr kumimoji="0" lang="es-MX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haroni"/>
                <a:ea typeface="Aharoni"/>
                <a:cs typeface="Aharoni"/>
                <a:sym typeface="Aharoni"/>
              </a:rPr>
              <a:t>Experiencia en Instituciones</a:t>
            </a:r>
            <a:endParaRPr kumimoji="0" lang="es-MX" sz="4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E46E8FC-4F81-65DB-1850-ACF1B0CAF570}"/>
              </a:ext>
            </a:extLst>
          </p:cNvPr>
          <p:cNvSpPr txBox="1"/>
          <p:nvPr/>
        </p:nvSpPr>
        <p:spPr>
          <a:xfrm>
            <a:off x="1744171" y="6311403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E14BF95-5D92-BAB9-4F74-36B72C0767CB}"/>
              </a:ext>
            </a:extLst>
          </p:cNvPr>
          <p:cNvSpPr txBox="1"/>
          <p:nvPr/>
        </p:nvSpPr>
        <p:spPr>
          <a:xfrm>
            <a:off x="4026265" y="2438907"/>
            <a:ext cx="3706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2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Consultor en análisis de datos del Banco Interamericano de Desarrollo</a:t>
            </a:r>
            <a:endParaRPr kumimoji="0" lang="es-E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D30E4B-CE92-FC83-4F73-FBE1C97F0447}"/>
              </a:ext>
            </a:extLst>
          </p:cNvPr>
          <p:cNvSpPr txBox="1"/>
          <p:nvPr/>
        </p:nvSpPr>
        <p:spPr>
          <a:xfrm>
            <a:off x="9220213" y="6081355"/>
            <a:ext cx="26015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Creador del canal de YouTube Trabajo Científico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77550AE-2283-AD70-C52C-D02C2ED97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376" y="996815"/>
            <a:ext cx="2169093" cy="1384883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F703C2A8-92FF-C864-1663-65212FB80F04}"/>
              </a:ext>
            </a:extLst>
          </p:cNvPr>
          <p:cNvSpPr txBox="1"/>
          <p:nvPr/>
        </p:nvSpPr>
        <p:spPr>
          <a:xfrm>
            <a:off x="4510072" y="1891136"/>
            <a:ext cx="30283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AMAZON AGRICULTURAL OPPORTUNITIES</a:t>
            </a:r>
            <a:endParaRPr kumimoji="0" lang="es-CO" sz="1600" b="1" i="0" u="none" strike="noStrike" kern="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5F2192-1A07-1F97-5969-88106245BF63}"/>
              </a:ext>
            </a:extLst>
          </p:cNvPr>
          <p:cNvSpPr txBox="1"/>
          <p:nvPr/>
        </p:nvSpPr>
        <p:spPr>
          <a:xfrm>
            <a:off x="767798" y="2320227"/>
            <a:ext cx="31364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Water Resource Management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Options for the </a:t>
            </a: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Aharoni" panose="02010803020104030203" pitchFamily="2" charset="-79"/>
                <a:cs typeface="Aharoni" panose="02010803020104030203" pitchFamily="2" charset="-79"/>
                <a:sym typeface="Arial"/>
              </a:rPr>
              <a:t>Orinoquía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Aharoni" panose="02010803020104030203" pitchFamily="2" charset="-79"/>
              <a:cs typeface="Aharoni" panose="02010803020104030203" pitchFamily="2" charset="-79"/>
              <a:sym typeface="Arial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BE49A22-79ED-0810-E63E-6AF573C24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387" y="3121540"/>
            <a:ext cx="3105317" cy="1848577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2E56DC9-F3D1-5906-7BAE-D508302828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246" y="1115525"/>
            <a:ext cx="4512834" cy="82705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74947062-59AB-817D-E5EE-A3DEE310CE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7821" y="3435907"/>
            <a:ext cx="3331614" cy="111053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B66AD90E-B9A8-DED3-E7C3-F99F81C575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4" y="5462841"/>
            <a:ext cx="3456730" cy="1002451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219EBFA-1E33-39BF-CD87-EEB7C5FFA7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26847" y="5488865"/>
            <a:ext cx="3057268" cy="950402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623D21AD-03AD-FE1D-C930-5376DF2F9431}"/>
              </a:ext>
            </a:extLst>
          </p:cNvPr>
          <p:cNvSpPr txBox="1"/>
          <p:nvPr/>
        </p:nvSpPr>
        <p:spPr>
          <a:xfrm>
            <a:off x="5417313" y="6393212"/>
            <a:ext cx="29134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Docente investigador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ECDFAAE-8E64-E745-3C03-DB6B2E82E79D}"/>
              </a:ext>
            </a:extLst>
          </p:cNvPr>
          <p:cNvSpPr txBox="1"/>
          <p:nvPr/>
        </p:nvSpPr>
        <p:spPr>
          <a:xfrm>
            <a:off x="1836391" y="4730783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DF53C10-2342-0066-6056-E2D59C2DB78E}"/>
              </a:ext>
            </a:extLst>
          </p:cNvPr>
          <p:cNvSpPr txBox="1"/>
          <p:nvPr/>
        </p:nvSpPr>
        <p:spPr>
          <a:xfrm>
            <a:off x="5738607" y="4562882"/>
            <a:ext cx="15743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US" sz="14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Investigador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B497CC28-E6E3-F4A0-29D8-F0078362DE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1096" y="3274050"/>
            <a:ext cx="2913466" cy="291346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853F80C-6E4C-701A-6755-1588A51EF1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03225" y="1397088"/>
            <a:ext cx="3397754" cy="10909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C22DF99-C619-A08B-497F-F3B8B4544225}"/>
              </a:ext>
            </a:extLst>
          </p:cNvPr>
          <p:cNvSpPr txBox="1"/>
          <p:nvPr/>
        </p:nvSpPr>
        <p:spPr>
          <a:xfrm>
            <a:off x="8229110" y="2547712"/>
            <a:ext cx="40120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s-ES" sz="1100" b="1" i="1" dirty="0"/>
              <a:t>Consultor en modelación para la R</a:t>
            </a:r>
            <a:r>
              <a:rPr kumimoji="0" lang="es-ES" sz="11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educción de emisiones por deforestación y degradación de bosques (REDD+)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s-US" sz="11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4258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13" grpId="0"/>
      <p:bldP spid="14" grpId="0"/>
      <p:bldP spid="26" grpId="0"/>
      <p:bldP spid="27" grpId="0"/>
      <p:bldP spid="28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69EE6616-6F6B-FC1E-B35E-5941B52E0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88" y="443988"/>
            <a:ext cx="1752907" cy="1752907"/>
          </a:xfrm>
          <a:prstGeom prst="rect">
            <a:avLst/>
          </a:prstGeom>
        </p:spPr>
      </p:pic>
      <p:sp>
        <p:nvSpPr>
          <p:cNvPr id="10" name="AutoShape 2" descr="Elsevier - Wikipedia, la enciclopedia libre">
            <a:extLst>
              <a:ext uri="{FF2B5EF4-FFF2-40B4-BE49-F238E27FC236}">
                <a16:creationId xmlns:a16="http://schemas.microsoft.com/office/drawing/2014/main" id="{F7A30622-0DF0-A4CD-3730-7359B14F7C9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US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25CA10E-5D50-058E-086E-0385F1C74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730" y="4170042"/>
            <a:ext cx="1758327" cy="1933575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C40624E-E9DE-3789-A168-4FEA6F32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2850" y="2795260"/>
            <a:ext cx="2990850" cy="96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B49A74A-581A-3EE8-C481-9B5EAA904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94" y="2460265"/>
            <a:ext cx="4838700" cy="144640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3CBBF307-ECE9-AAC8-B1F2-E8F1AEBF8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320441"/>
            <a:ext cx="4004188" cy="63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0897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613</TotalTime>
  <Words>335</Words>
  <Application>Microsoft Office PowerPoint</Application>
  <PresentationFormat>Panorámica</PresentationFormat>
  <Paragraphs>55</Paragraphs>
  <Slides>6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4" baseType="lpstr">
      <vt:lpstr>Aharoni</vt:lpstr>
      <vt:lpstr>Anton</vt:lpstr>
      <vt:lpstr>Aptos</vt:lpstr>
      <vt:lpstr>Aptos Display</vt:lpstr>
      <vt:lpstr>Arial</vt:lpstr>
      <vt:lpstr>Calibri</vt:lpstr>
      <vt:lpstr>Noto Sans Symbols</vt:lpstr>
      <vt:lpstr>Tema de Office</vt:lpstr>
      <vt:lpstr>Presentación de PowerPoint</vt:lpstr>
      <vt:lpstr>Experiencia en Investigación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Ivan Vargas Pineda</dc:creator>
  <cp:lastModifiedBy>Oscar Ivan Vargas Pineda</cp:lastModifiedBy>
  <cp:revision>3</cp:revision>
  <dcterms:created xsi:type="dcterms:W3CDTF">2026-06-01T17:50:35Z</dcterms:created>
  <dcterms:modified xsi:type="dcterms:W3CDTF">2026-06-02T04:03:57Z</dcterms:modified>
</cp:coreProperties>
</file>