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91" r:id="rId2"/>
    <p:sldId id="301" r:id="rId3"/>
    <p:sldId id="258" r:id="rId4"/>
    <p:sldId id="259" r:id="rId5"/>
    <p:sldId id="284" r:id="rId6"/>
    <p:sldId id="286" r:id="rId7"/>
    <p:sldId id="287" r:id="rId8"/>
    <p:sldId id="302" r:id="rId9"/>
    <p:sldId id="292" r:id="rId10"/>
    <p:sldId id="296" r:id="rId11"/>
    <p:sldId id="298" r:id="rId12"/>
    <p:sldId id="299" r:id="rId13"/>
    <p:sldId id="264" r:id="rId14"/>
    <p:sldId id="290" r:id="rId15"/>
    <p:sldId id="257" r:id="rId16"/>
    <p:sldId id="293" r:id="rId17"/>
    <p:sldId id="261" r:id="rId18"/>
    <p:sldId id="294" r:id="rId19"/>
    <p:sldId id="263" r:id="rId20"/>
    <p:sldId id="297" r:id="rId21"/>
    <p:sldId id="270" r:id="rId22"/>
    <p:sldId id="269" r:id="rId23"/>
  </p:sldIdLst>
  <p:sldSz cx="12192000" cy="6858000"/>
  <p:notesSz cx="6858000" cy="9144000"/>
  <p:defaultTextStyle>
    <a:defPPr>
      <a:defRPr lang="es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93" d="100"/>
          <a:sy n="93" d="100"/>
        </p:scale>
        <p:origin x="127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49E2D-E735-4906-8E5B-572E54623272}" type="datetimeFigureOut">
              <a:rPr lang="es-US" smtClean="0"/>
              <a:t>6/24/2026</a:t>
            </a:fld>
            <a:endParaRPr lang="es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21D91-32CD-4BE7-9119-2D36796C1847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26799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E4B0BB5-CF8A-1800-9CBF-A64A6DCEB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F248E8EA-ACD7-5883-A4CB-216BE86EE9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F52511F3-7B6E-0AE5-52F4-53508F2066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63365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76888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21D3F-0E81-2378-9537-0C7BAB6E6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12F08D-91A8-1418-E475-C6FF062B0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AB2BCC-52BA-963A-648E-1271A2D4F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F9109-1A2C-44E9-839F-51D8FAE33704}" type="datetimeFigureOut">
              <a:rPr lang="es-US" smtClean="0"/>
              <a:t>6/24/2026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39CF17-9FE6-98B7-C672-EE00258CF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D6AD79-E343-A5E7-B983-41157275D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37A-2A9D-47D9-820F-E0D174241AC5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053968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719C7-3FC4-EFC7-5317-F75603166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E961CE-FB13-F468-9895-DB92D5237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70A293-EC18-A568-BE3B-1F8ABD5D1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F9109-1A2C-44E9-839F-51D8FAE33704}" type="datetimeFigureOut">
              <a:rPr lang="es-US" smtClean="0"/>
              <a:t>6/24/2026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157286-1E03-5F18-9FB2-F304CC655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BFD408-7E03-E204-58E7-E84232043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37A-2A9D-47D9-820F-E0D174241AC5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722116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729308-57D4-9D64-4FDA-357B47CEB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7D88C5-C7BC-E359-C679-8159ED949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377D48-2142-3FDD-643E-989F3A2C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F9109-1A2C-44E9-839F-51D8FAE33704}" type="datetimeFigureOut">
              <a:rPr lang="es-US" smtClean="0"/>
              <a:t>6/24/2026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D7E311-34D4-B1A6-1BE6-0A1A9170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A0883A-9D98-7E61-8829-95D5A674A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37A-2A9D-47D9-820F-E0D174241AC5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191847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B4528-F4A1-6883-932D-1B213753A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884176-EFBF-544B-BF6C-F3BDBA610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3D0598-233F-7FA0-BBBE-C1B449034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F6513A-DE4E-42C8-C12C-794F58F36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F9109-1A2C-44E9-839F-51D8FAE33704}" type="datetimeFigureOut">
              <a:rPr lang="es-US" smtClean="0"/>
              <a:t>6/24/2026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1F656D-6504-F996-1D06-7BBE570DD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667B3F0-AA02-14C2-87AB-936879B29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37A-2A9D-47D9-820F-E0D174241AC5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511762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DF2BB3-54C1-0666-1223-76D78B4A7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10C32C-C78F-B8E2-7540-B640DB1B4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A71B5B-5F47-7055-D543-5877A4E12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955991E-8092-1FA9-95BF-08247A494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BB24B45-4F68-D280-6F7C-234AB8A293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942F16D-2073-0FD5-8017-1A203CFB3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F9109-1A2C-44E9-839F-51D8FAE33704}" type="datetimeFigureOut">
              <a:rPr lang="es-US" smtClean="0"/>
              <a:t>6/24/2026</a:t>
            </a:fld>
            <a:endParaRPr lang="es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C6D8E9E-5A80-F569-C7E1-D26103F5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931F061-09DC-8DFD-CBDB-D5D331BE9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37A-2A9D-47D9-820F-E0D174241AC5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76595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CDF7F-3216-4091-C83E-40EEDF0BA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044A75B-858B-C678-029C-45A8CBAA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F9109-1A2C-44E9-839F-51D8FAE33704}" type="datetimeFigureOut">
              <a:rPr lang="es-US" smtClean="0"/>
              <a:t>6/24/2026</a:t>
            </a:fld>
            <a:endParaRPr lang="es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CF7872A-A8F6-37D4-1C41-EC525094E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36DDD3-324A-1B43-EEA4-29B73C3C2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37A-2A9D-47D9-820F-E0D174241AC5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788021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6EAA9D8-668D-1506-8A9A-26F85797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F9109-1A2C-44E9-839F-51D8FAE33704}" type="datetimeFigureOut">
              <a:rPr lang="es-US" smtClean="0"/>
              <a:t>6/24/2026</a:t>
            </a:fld>
            <a:endParaRPr lang="es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75BC7B-7070-4871-448A-67D49A1F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5D0458-277D-A562-BE24-4BA00B436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37A-2A9D-47D9-820F-E0D174241AC5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358253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B03AE-45B9-A67C-8309-AF03484B0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24F95E-BA66-5583-47B5-731B9A1D1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E1B222-8C98-4F20-93A0-64E398B7A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E3B7698-E1DB-8157-F5C7-55B879EF5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F9109-1A2C-44E9-839F-51D8FAE33704}" type="datetimeFigureOut">
              <a:rPr lang="es-US" smtClean="0"/>
              <a:t>6/24/2026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8A9079-D790-5B11-4E60-8FEFEE40F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B7C57B-6E08-6282-9DBA-73F1BD23F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37A-2A9D-47D9-820F-E0D174241AC5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866313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A0F82-A6CC-1398-FB2F-E89A71FB6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7CEC17F-C135-F7E8-EC31-C7E7D0BB71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CD7DCF-BD82-835C-90E4-0BEE494D4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20C35D9-BBD1-A494-2242-054290012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F9109-1A2C-44E9-839F-51D8FAE33704}" type="datetimeFigureOut">
              <a:rPr lang="es-US" smtClean="0"/>
              <a:t>6/24/2026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F140345-ADF5-BD96-4A93-0A5C872DC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1DC742-64D4-5C5B-DDCA-65261E15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37A-2A9D-47D9-820F-E0D174241AC5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452472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F2ED04-2EEB-B016-8800-E2EAA2B9E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DFC82F-9F9D-F580-7074-85C595BC6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3F65F7-8F93-D279-19B5-5838A25B5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F9109-1A2C-44E9-839F-51D8FAE33704}" type="datetimeFigureOut">
              <a:rPr lang="es-US" smtClean="0"/>
              <a:t>6/24/2026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C1DE3D-5C68-7B66-4A99-082E52112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460BB4-AE2C-20BB-1789-E8023420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37A-2A9D-47D9-820F-E0D174241AC5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275112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3B5EF7F-8FAE-B067-BAD0-247C259B54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DFA38D-BBC0-18CB-593B-09B391EE8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03AB84-76EE-2F7C-90BA-BCB293AB6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F9109-1A2C-44E9-839F-51D8FAE33704}" type="datetimeFigureOut">
              <a:rPr lang="es-US" smtClean="0"/>
              <a:t>6/24/2026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1BDB9A-DDB7-BE41-7D8E-7BE3BBDD0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19270C-B92A-0DE9-7F89-99C98282F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37A-2A9D-47D9-820F-E0D174241AC5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834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6C30656-C3E4-947A-22DF-DDE50B07B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3C3A48-78A7-517E-F9A1-E872C8C31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263F00-C67D-0B12-6B25-395C159D10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2F9109-1A2C-44E9-839F-51D8FAE33704}" type="datetimeFigureOut">
              <a:rPr lang="es-US" smtClean="0"/>
              <a:t>6/24/2026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FABD3D-F481-B927-D8D9-825A2AFF3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B2E62-1A6C-25B1-E1BC-21B7B574B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4C37A-2A9D-47D9-820F-E0D174241AC5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972636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scienti.minciencias.gov.co/cvlac/visualizador/generarCurriculoCv.do?cod_rh=0001539970" TargetMode="External"/><Relationship Id="rId3" Type="http://schemas.openxmlformats.org/officeDocument/2006/relationships/hyperlink" Target="https://www.researchgate.net/profile/Oscar_Vargas7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holar.google.es/citations?user=z57El9wAAAAJ&amp;hl=es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hyperlink" Target="https://scienti.minciencias.gov.co/cvlac/visualizador/generarCurriculoCv.do?cod_rh=0001539970" TargetMode="External"/><Relationship Id="rId2" Type="http://schemas.openxmlformats.org/officeDocument/2006/relationships/hyperlink" Target="https://www.researchgate.net/profile/Oscar_Vargas7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scholar.google.es/citations?user=z57El9wAAAAJ&amp;hl=es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gif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3.png"/><Relationship Id="rId7" Type="http://schemas.openxmlformats.org/officeDocument/2006/relationships/image" Target="../media/image4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4.png"/><Relationship Id="rId4" Type="http://schemas.openxmlformats.org/officeDocument/2006/relationships/image" Target="../media/image40.png"/><Relationship Id="rId9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3.png"/><Relationship Id="rId7" Type="http://schemas.openxmlformats.org/officeDocument/2006/relationships/image" Target="../media/image45.png"/><Relationship Id="rId12" Type="http://schemas.openxmlformats.org/officeDocument/2006/relationships/image" Target="../media/image4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8.png"/><Relationship Id="rId5" Type="http://schemas.openxmlformats.org/officeDocument/2006/relationships/image" Target="../media/image43.png"/><Relationship Id="rId10" Type="http://schemas.openxmlformats.org/officeDocument/2006/relationships/image" Target="../media/image41.png"/><Relationship Id="rId4" Type="http://schemas.openxmlformats.org/officeDocument/2006/relationships/image" Target="../media/image28.png"/><Relationship Id="rId9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larivate.com/academia-government/scientific-and-academic-research/research-funding-analytics/journal-citation-reports/" TargetMode="External"/><Relationship Id="rId7" Type="http://schemas.openxmlformats.org/officeDocument/2006/relationships/hyperlink" Target="https://researcher.life/journal" TargetMode="External"/><Relationship Id="rId2" Type="http://schemas.openxmlformats.org/officeDocument/2006/relationships/hyperlink" Target="https://scienti.minciencias.gov.co/publindex/#/revistasPublindex/buscado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ink.springer.com/journals" TargetMode="External"/><Relationship Id="rId5" Type="http://schemas.openxmlformats.org/officeDocument/2006/relationships/hyperlink" Target="https://journalfinder.elsevier.com/" TargetMode="External"/><Relationship Id="rId4" Type="http://schemas.openxmlformats.org/officeDocument/2006/relationships/hyperlink" Target="https://www.scimagojr.com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adservices.com/pagead/aclk?sa=L&amp;ai=DChcSEwi-gfjb5sqLAxVftloFHVMjChoYABAAGgJ2dQ&amp;ae=2&amp;aspm=1&amp;co=1&amp;ase=5&amp;gclid=CjwKCAiA2cu9BhBhEiwAft6IxDRq0q3MFkCxwudajV-DQAXX2JMBScNfNURWFJULVHZmBSpEM6hSqBoCe6YQAvD_BwE&amp;ohost=www.google.com&amp;cid=CAESV-D2TzYd6NLYkmBAVAWVLX9BlkhgqONd-MnvagfWsQbgWoyd_BiiPCv_gSSAc9i-FYBIjVy1k2PJDF_K838TbF1WI3xKq9EbXiJybWHxjSLDNgMbfQQkZQ&amp;sig=AOD64_0hQ1lgNR4d4-xv0MvlV5lqbFlZtw&amp;q&amp;adurl&amp;ved=2ahUKEwi25PPb5sqLAxXmZzABHQa7JbIQ0Qx6BAgIEAE" TargetMode="Externa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hyperlink" Target="https://julius.ai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576137E-83EA-6AD4-C262-775FF17B3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10" y="0"/>
            <a:ext cx="4572000" cy="6858000"/>
          </a:xfrm>
          <a:prstGeom prst="rect">
            <a:avLst/>
          </a:prstGeom>
        </p:spPr>
      </p:pic>
      <p:sp>
        <p:nvSpPr>
          <p:cNvPr id="15" name="Google Shape;84;p1">
            <a:extLst>
              <a:ext uri="{FF2B5EF4-FFF2-40B4-BE49-F238E27FC236}">
                <a16:creationId xmlns:a16="http://schemas.microsoft.com/office/drawing/2014/main" id="{4EDD0E7A-1AC9-7E4E-8353-80DB6321E03E}"/>
              </a:ext>
            </a:extLst>
          </p:cNvPr>
          <p:cNvSpPr txBox="1">
            <a:spLocks/>
          </p:cNvSpPr>
          <p:nvPr/>
        </p:nvSpPr>
        <p:spPr>
          <a:xfrm>
            <a:off x="6181096" y="920506"/>
            <a:ext cx="4737717" cy="15657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6000"/>
              <a:buFont typeface="Anton"/>
              <a:buNone/>
            </a:pPr>
            <a:r>
              <a:rPr lang="es-MX" sz="5400" dirty="0">
                <a:latin typeface="Anton"/>
                <a:ea typeface="Anton"/>
                <a:cs typeface="Anton"/>
                <a:sym typeface="Anton"/>
              </a:rPr>
              <a:t>OSCAR IVAN VARGAS PINEDA</a:t>
            </a:r>
            <a:endParaRPr lang="es-MX" sz="5400" dirty="0"/>
          </a:p>
        </p:txBody>
      </p:sp>
      <p:sp>
        <p:nvSpPr>
          <p:cNvPr id="16" name="Google Shape;86;p1">
            <a:extLst>
              <a:ext uri="{FF2B5EF4-FFF2-40B4-BE49-F238E27FC236}">
                <a16:creationId xmlns:a16="http://schemas.microsoft.com/office/drawing/2014/main" id="{23691088-AF20-3C34-E11C-54E195B8E687}"/>
              </a:ext>
            </a:extLst>
          </p:cNvPr>
          <p:cNvSpPr/>
          <p:nvPr/>
        </p:nvSpPr>
        <p:spPr>
          <a:xfrm>
            <a:off x="6181096" y="576147"/>
            <a:ext cx="4737717" cy="79898"/>
          </a:xfrm>
          <a:prstGeom prst="rect">
            <a:avLst/>
          </a:prstGeom>
          <a:solidFill>
            <a:srgbClr val="825B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87;p1">
            <a:extLst>
              <a:ext uri="{FF2B5EF4-FFF2-40B4-BE49-F238E27FC236}">
                <a16:creationId xmlns:a16="http://schemas.microsoft.com/office/drawing/2014/main" id="{530296FD-0583-4B4D-DAD7-89F3C5CEBBC7}"/>
              </a:ext>
            </a:extLst>
          </p:cNvPr>
          <p:cNvSpPr/>
          <p:nvPr/>
        </p:nvSpPr>
        <p:spPr>
          <a:xfrm>
            <a:off x="6181096" y="2486259"/>
            <a:ext cx="4737717" cy="79898"/>
          </a:xfrm>
          <a:prstGeom prst="rect">
            <a:avLst/>
          </a:prstGeom>
          <a:solidFill>
            <a:srgbClr val="825B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93;p1">
            <a:extLst>
              <a:ext uri="{FF2B5EF4-FFF2-40B4-BE49-F238E27FC236}">
                <a16:creationId xmlns:a16="http://schemas.microsoft.com/office/drawing/2014/main" id="{957A9797-0729-E6F8-FF5F-1C3A795ECBF6}"/>
              </a:ext>
            </a:extLst>
          </p:cNvPr>
          <p:cNvSpPr txBox="1"/>
          <p:nvPr/>
        </p:nvSpPr>
        <p:spPr>
          <a:xfrm>
            <a:off x="6792443" y="5617220"/>
            <a:ext cx="4294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600" i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Calibri"/>
                <a:cs typeface="Calibri"/>
                <a:sym typeface="Calibri"/>
              </a:rPr>
              <a:t>o</a:t>
            </a:r>
            <a:r>
              <a:rPr lang="es-MX" sz="1600" b="0" i="1" u="none" strike="noStrike" cap="none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Calibri"/>
                <a:cs typeface="Calibri"/>
                <a:sym typeface="Calibri"/>
              </a:rPr>
              <a:t>scarvargas@trabajocientifico.org</a:t>
            </a:r>
            <a:endParaRPr sz="1600" b="0" i="1" u="none" strike="noStrike" cap="none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600" b="0" i="1" u="none" strike="noStrike" cap="none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Calibri"/>
                <a:cs typeface="Calibri"/>
                <a:sym typeface="Calibri"/>
              </a:rPr>
              <a:t>+57 318 4280 112</a:t>
            </a:r>
            <a:endParaRPr sz="1200" b="0" i="1" u="none" strike="noStrike" cap="none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  <a:sym typeface="Arial"/>
            </a:endParaRPr>
          </a:p>
        </p:txBody>
      </p:sp>
      <p:pic>
        <p:nvPicPr>
          <p:cNvPr id="19" name="Picture 2">
            <a:hlinkClick r:id="rId3"/>
            <a:extLst>
              <a:ext uri="{FF2B5EF4-FFF2-40B4-BE49-F238E27FC236}">
                <a16:creationId xmlns:a16="http://schemas.microsoft.com/office/drawing/2014/main" id="{5C7088FD-5945-258C-9C98-089F8B4D8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005" y="4636718"/>
            <a:ext cx="1407900" cy="52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AutoShape 4" descr="How to set up your email in Gmail for mobile - xneelo Help Centre">
            <a:extLst>
              <a:ext uri="{FF2B5EF4-FFF2-40B4-BE49-F238E27FC236}">
                <a16:creationId xmlns:a16="http://schemas.microsoft.com/office/drawing/2014/main" id="{85F5321F-76CE-8323-C517-1D188DA353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050476" y="204011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US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61DAFE5-B222-87AE-B010-B3727D36A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799" y="5644651"/>
            <a:ext cx="490974" cy="490974"/>
          </a:xfrm>
          <a:prstGeom prst="rect">
            <a:avLst/>
          </a:prstGeom>
        </p:spPr>
      </p:pic>
      <p:pic>
        <p:nvPicPr>
          <p:cNvPr id="22" name="Imagen 21">
            <a:hlinkClick r:id="rId6"/>
            <a:extLst>
              <a:ext uri="{FF2B5EF4-FFF2-40B4-BE49-F238E27FC236}">
                <a16:creationId xmlns:a16="http://schemas.microsoft.com/office/drawing/2014/main" id="{7161792F-F9E3-2E6A-5CDE-824A7380B0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9598" y="4452960"/>
            <a:ext cx="1331039" cy="769687"/>
          </a:xfrm>
          <a:prstGeom prst="rect">
            <a:avLst/>
          </a:prstGeom>
        </p:spPr>
      </p:pic>
      <p:pic>
        <p:nvPicPr>
          <p:cNvPr id="23" name="Picture 6" descr="Capacitación en CVLAC Y GRUPLAC de Colciencias - Politécnico Colombiano  Jaime Isaza Cadavid">
            <a:hlinkClick r:id="rId8"/>
            <a:extLst>
              <a:ext uri="{FF2B5EF4-FFF2-40B4-BE49-F238E27FC236}">
                <a16:creationId xmlns:a16="http://schemas.microsoft.com/office/drawing/2014/main" id="{D4B4FA03-9EC2-8614-4448-6FCF27C8D6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r="48860"/>
          <a:stretch/>
        </p:blipFill>
        <p:spPr bwMode="auto">
          <a:xfrm>
            <a:off x="6093830" y="4576356"/>
            <a:ext cx="1554820" cy="646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Google Shape;85;p1">
            <a:extLst>
              <a:ext uri="{FF2B5EF4-FFF2-40B4-BE49-F238E27FC236}">
                <a16:creationId xmlns:a16="http://schemas.microsoft.com/office/drawing/2014/main" id="{353140A6-E8AE-98B3-0151-E7A5061575F7}"/>
              </a:ext>
            </a:extLst>
          </p:cNvPr>
          <p:cNvSpPr txBox="1">
            <a:spLocks/>
          </p:cNvSpPr>
          <p:nvPr/>
        </p:nvSpPr>
        <p:spPr>
          <a:xfrm>
            <a:off x="6312759" y="2702965"/>
            <a:ext cx="4737717" cy="15888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s-ES" sz="1600" i="1" dirty="0"/>
              <a:t>Ing. Agroindustrial</a:t>
            </a:r>
            <a:endParaRPr lang="es-ES" dirty="0"/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s-ES" sz="1600" i="1" dirty="0"/>
              <a:t>Esp. Gestión Integral del Agua </a:t>
            </a:r>
            <a:endParaRPr lang="es-ES" dirty="0"/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s-ES" sz="1600" i="1" dirty="0" err="1"/>
              <a:t>Mgs</a:t>
            </a:r>
            <a:r>
              <a:rPr lang="es-ES" sz="1600" i="1" dirty="0"/>
              <a:t>. Gestión Ambiental Sostenible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s-ES" sz="1600" i="1" dirty="0" err="1"/>
              <a:t>Mgs</a:t>
            </a:r>
            <a:r>
              <a:rPr lang="es-ES" sz="1600" i="1" dirty="0"/>
              <a:t>. Inteligencia Artificial Aplicada</a:t>
            </a:r>
            <a:endParaRPr lang="es-ES" dirty="0"/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s-ES" sz="1600" i="1" dirty="0"/>
              <a:t>PhD. Ciencias Agrarias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6582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89D6E-3BEE-AF35-28DA-A5913EDD3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84;p1">
            <a:extLst>
              <a:ext uri="{FF2B5EF4-FFF2-40B4-BE49-F238E27FC236}">
                <a16:creationId xmlns:a16="http://schemas.microsoft.com/office/drawing/2014/main" id="{2F345366-EEBC-79FD-65F3-D6BFECE94DB1}"/>
              </a:ext>
            </a:extLst>
          </p:cNvPr>
          <p:cNvSpPr txBox="1">
            <a:spLocks/>
          </p:cNvSpPr>
          <p:nvPr/>
        </p:nvSpPr>
        <p:spPr>
          <a:xfrm>
            <a:off x="6181096" y="920506"/>
            <a:ext cx="4737717" cy="15657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6000"/>
              <a:buFont typeface="Anton"/>
              <a:buNone/>
            </a:pPr>
            <a:r>
              <a:rPr lang="es-MX" sz="5400" dirty="0">
                <a:latin typeface="Anton"/>
                <a:ea typeface="Anton"/>
                <a:cs typeface="Anton"/>
                <a:sym typeface="Anton"/>
              </a:rPr>
              <a:t>OSCAR IVAN VARGAS PINEDA</a:t>
            </a:r>
            <a:endParaRPr lang="es-MX" sz="5400" dirty="0"/>
          </a:p>
        </p:txBody>
      </p:sp>
      <p:sp>
        <p:nvSpPr>
          <p:cNvPr id="16" name="Google Shape;86;p1">
            <a:extLst>
              <a:ext uri="{FF2B5EF4-FFF2-40B4-BE49-F238E27FC236}">
                <a16:creationId xmlns:a16="http://schemas.microsoft.com/office/drawing/2014/main" id="{0C2A993B-9877-85D2-20EA-BFFEBB8260D9}"/>
              </a:ext>
            </a:extLst>
          </p:cNvPr>
          <p:cNvSpPr/>
          <p:nvPr/>
        </p:nvSpPr>
        <p:spPr>
          <a:xfrm>
            <a:off x="6181096" y="576147"/>
            <a:ext cx="4737717" cy="79898"/>
          </a:xfrm>
          <a:prstGeom prst="rect">
            <a:avLst/>
          </a:prstGeom>
          <a:solidFill>
            <a:srgbClr val="825B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87;p1">
            <a:extLst>
              <a:ext uri="{FF2B5EF4-FFF2-40B4-BE49-F238E27FC236}">
                <a16:creationId xmlns:a16="http://schemas.microsoft.com/office/drawing/2014/main" id="{AA79AEFB-06D5-4077-C473-75A650DC4463}"/>
              </a:ext>
            </a:extLst>
          </p:cNvPr>
          <p:cNvSpPr/>
          <p:nvPr/>
        </p:nvSpPr>
        <p:spPr>
          <a:xfrm>
            <a:off x="6181096" y="2486259"/>
            <a:ext cx="4737717" cy="79898"/>
          </a:xfrm>
          <a:prstGeom prst="rect">
            <a:avLst/>
          </a:prstGeom>
          <a:solidFill>
            <a:srgbClr val="825B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93;p1">
            <a:extLst>
              <a:ext uri="{FF2B5EF4-FFF2-40B4-BE49-F238E27FC236}">
                <a16:creationId xmlns:a16="http://schemas.microsoft.com/office/drawing/2014/main" id="{9261A25F-BF19-D371-C63B-10663F966CA4}"/>
              </a:ext>
            </a:extLst>
          </p:cNvPr>
          <p:cNvSpPr txBox="1"/>
          <p:nvPr/>
        </p:nvSpPr>
        <p:spPr>
          <a:xfrm>
            <a:off x="6792443" y="5617220"/>
            <a:ext cx="4294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600" i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Calibri"/>
                <a:cs typeface="Calibri"/>
                <a:sym typeface="Calibri"/>
              </a:rPr>
              <a:t>o</a:t>
            </a:r>
            <a:r>
              <a:rPr lang="es-MX" sz="1600" b="0" i="1" u="none" strike="noStrike" cap="none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Calibri"/>
                <a:cs typeface="Calibri"/>
                <a:sym typeface="Calibri"/>
              </a:rPr>
              <a:t>scarvargas@trabajocientifico.org</a:t>
            </a:r>
            <a:endParaRPr sz="1600" b="0" i="1" u="none" strike="noStrike" cap="none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600" b="0" i="1" u="none" strike="noStrike" cap="none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Calibri"/>
                <a:cs typeface="Calibri"/>
                <a:sym typeface="Calibri"/>
              </a:rPr>
              <a:t>+57 318 4280 112</a:t>
            </a:r>
            <a:endParaRPr sz="1200" b="0" i="1" u="none" strike="noStrike" cap="none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  <a:sym typeface="Arial"/>
            </a:endParaRPr>
          </a:p>
        </p:txBody>
      </p:sp>
      <p:pic>
        <p:nvPicPr>
          <p:cNvPr id="19" name="Picture 2">
            <a:hlinkClick r:id="rId2"/>
            <a:extLst>
              <a:ext uri="{FF2B5EF4-FFF2-40B4-BE49-F238E27FC236}">
                <a16:creationId xmlns:a16="http://schemas.microsoft.com/office/drawing/2014/main" id="{EAAC5342-890C-C83D-180C-0A6EA6028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262" y="4632383"/>
            <a:ext cx="1407900" cy="52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AutoShape 4" descr="How to set up your email in Gmail for mobile - xneelo Help Centre">
            <a:extLst>
              <a:ext uri="{FF2B5EF4-FFF2-40B4-BE49-F238E27FC236}">
                <a16:creationId xmlns:a16="http://schemas.microsoft.com/office/drawing/2014/main" id="{1B48E059-217D-237F-67C2-509614EF54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050476" y="204011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US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8BBE7647-FFFD-739F-3AAA-663E7A857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799" y="5644651"/>
            <a:ext cx="490974" cy="490974"/>
          </a:xfrm>
          <a:prstGeom prst="rect">
            <a:avLst/>
          </a:prstGeom>
        </p:spPr>
      </p:pic>
      <p:pic>
        <p:nvPicPr>
          <p:cNvPr id="22" name="Imagen 21">
            <a:hlinkClick r:id="rId5"/>
            <a:extLst>
              <a:ext uri="{FF2B5EF4-FFF2-40B4-BE49-F238E27FC236}">
                <a16:creationId xmlns:a16="http://schemas.microsoft.com/office/drawing/2014/main" id="{0424D26D-3E42-A18F-C602-E01CE1F79A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7774" y="4508550"/>
            <a:ext cx="1331039" cy="769687"/>
          </a:xfrm>
          <a:prstGeom prst="rect">
            <a:avLst/>
          </a:prstGeom>
        </p:spPr>
      </p:pic>
      <p:pic>
        <p:nvPicPr>
          <p:cNvPr id="23" name="Picture 6" descr="Capacitación en CVLAC Y GRUPLAC de Colciencias - Politécnico Colombiano  Jaime Isaza Cadavid">
            <a:hlinkClick r:id="rId7"/>
            <a:extLst>
              <a:ext uri="{FF2B5EF4-FFF2-40B4-BE49-F238E27FC236}">
                <a16:creationId xmlns:a16="http://schemas.microsoft.com/office/drawing/2014/main" id="{82B73C5B-D2C5-4FD9-660D-8413613007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r="48860"/>
          <a:stretch/>
        </p:blipFill>
        <p:spPr bwMode="auto">
          <a:xfrm>
            <a:off x="5960094" y="4576356"/>
            <a:ext cx="1688556" cy="701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Google Shape;85;p1">
            <a:extLst>
              <a:ext uri="{FF2B5EF4-FFF2-40B4-BE49-F238E27FC236}">
                <a16:creationId xmlns:a16="http://schemas.microsoft.com/office/drawing/2014/main" id="{07EB070F-C125-B183-0DF6-8E2B48D4395A}"/>
              </a:ext>
            </a:extLst>
          </p:cNvPr>
          <p:cNvSpPr txBox="1">
            <a:spLocks/>
          </p:cNvSpPr>
          <p:nvPr/>
        </p:nvSpPr>
        <p:spPr>
          <a:xfrm>
            <a:off x="6312759" y="2702965"/>
            <a:ext cx="4737717" cy="15888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s-ES" sz="1600" i="1" dirty="0"/>
              <a:t>Ing. Agroindustrial</a:t>
            </a:r>
            <a:endParaRPr lang="es-ES" dirty="0"/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s-ES" sz="1600" i="1" dirty="0"/>
              <a:t>Esp. Gestión Integral del Agua </a:t>
            </a:r>
            <a:endParaRPr lang="es-ES" dirty="0"/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s-ES" sz="1600" i="1" dirty="0" err="1"/>
              <a:t>Mgs</a:t>
            </a:r>
            <a:r>
              <a:rPr lang="es-ES" sz="1600" i="1" dirty="0"/>
              <a:t>. Gestión Ambiental Sostenible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s-ES" sz="1600" i="1" dirty="0" err="1"/>
              <a:t>Mgs</a:t>
            </a:r>
            <a:r>
              <a:rPr lang="es-ES" sz="1600" i="1" dirty="0"/>
              <a:t>. Inteligencia Artificial Aplicada</a:t>
            </a:r>
            <a:endParaRPr lang="es-ES" dirty="0"/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s-ES" sz="1600" i="1" dirty="0"/>
              <a:t>PhD. Ciencias Agrarias </a:t>
            </a: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CD3B070-4770-C292-72EF-226B8D0AC3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95" t="19183" r="61236" b="79119"/>
          <a:stretch>
            <a:fillRect/>
          </a:stretch>
        </p:blipFill>
        <p:spPr>
          <a:xfrm>
            <a:off x="1187450" y="1534571"/>
            <a:ext cx="1031875" cy="11642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6E66805-C74A-0B83-0836-3A5A653BFB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81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02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/>
        </p:nvSpPr>
        <p:spPr>
          <a:xfrm>
            <a:off x="902564" y="3147679"/>
            <a:ext cx="4030943" cy="32637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marR="0" lvl="0" indent="-23774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656"/>
              <a:buFont typeface="Noto Sans Symbols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4472C4"/>
              </a:buClr>
              <a:buSzPts val="1656"/>
              <a:buFont typeface="Noto Sans Symbols"/>
              <a:buChar char="⮚"/>
            </a:pPr>
            <a:r>
              <a:rPr lang="es-MX" sz="1800" b="1" dirty="0">
                <a:latin typeface="Aharoni"/>
                <a:ea typeface="Aharoni"/>
                <a:cs typeface="Aharoni"/>
                <a:sym typeface="Aharoni"/>
              </a:rPr>
              <a:t>Beca doctoral por investigación</a:t>
            </a:r>
          </a:p>
          <a:p>
            <a:pPr marR="0" lvl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4472C4"/>
              </a:buClr>
              <a:buSzPts val="1656"/>
            </a:pPr>
            <a:endParaRPr lang="es-MX" sz="1800" b="1" i="0" u="none" strike="noStrike" cap="none" dirty="0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4472C4"/>
              </a:buClr>
              <a:buSzPts val="1656"/>
              <a:buFont typeface="Noto Sans Symbols"/>
              <a:buChar char="⮚"/>
            </a:pPr>
            <a:r>
              <a:rPr lang="es-MX" sz="1800" b="1" i="0" u="none" strike="noStrike" cap="none" dirty="0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rPr>
              <a:t>Beca-Joven Investigador (Gobernación del Meta)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37744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4472C4"/>
              </a:buClr>
              <a:buSzPts val="1656"/>
              <a:buFont typeface="Noto Sans Symbols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4472C4"/>
              </a:buClr>
              <a:buSzPts val="1656"/>
              <a:buFont typeface="Noto Sans Symbols"/>
              <a:buChar char="⮚"/>
            </a:pPr>
            <a:r>
              <a:rPr lang="es-MX" sz="1800" b="1" i="0" u="none" strike="noStrike" cap="none" dirty="0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rPr>
              <a:t>Mejor Joven Investigador (2016)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37744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4472C4"/>
              </a:buClr>
              <a:buSzPts val="1656"/>
              <a:buFont typeface="Noto Sans Symbols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4472C4"/>
              </a:buClr>
              <a:buSzPts val="1656"/>
              <a:buFont typeface="Noto Sans Symbols"/>
              <a:buChar char="⮚"/>
            </a:pPr>
            <a:r>
              <a:rPr lang="es-MX" sz="1800" b="1" i="0" u="none" strike="noStrike" cap="none" dirty="0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rPr>
              <a:t>Delegado del </a:t>
            </a:r>
            <a:r>
              <a:rPr lang="es-MX" sz="1800" b="1" i="0" u="none" strike="noStrike" cap="none" dirty="0" err="1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rPr>
              <a:t>pais</a:t>
            </a:r>
            <a:r>
              <a:rPr lang="es-MX" sz="1800" b="1" i="0" u="none" strike="noStrike" cap="none" dirty="0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rPr>
              <a:t> 3 ocasiones</a:t>
            </a:r>
            <a:endParaRPr sz="1800" b="1" i="0" u="none" strike="noStrike" cap="none" dirty="0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342900" marR="0" lvl="0" indent="-237744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4472C4"/>
              </a:buClr>
              <a:buSzPts val="1656"/>
              <a:buFont typeface="Noto Sans Symbols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4472C4"/>
              </a:buClr>
              <a:buSzPts val="1656"/>
              <a:buFont typeface="Noto Sans Symbols"/>
              <a:buChar char="⮚"/>
            </a:pPr>
            <a:r>
              <a:rPr lang="es-MX" sz="1800" b="1" i="0" u="none" strike="noStrike" cap="none" dirty="0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rPr>
              <a:t>Investigador Junior (2022)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902564" y="2195393"/>
            <a:ext cx="4030943" cy="867087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haroni"/>
              <a:buNone/>
            </a:pPr>
            <a:r>
              <a:rPr lang="es-MX" sz="4400" b="1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rPr>
              <a:t>Reconocimiento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6292645" y="1694763"/>
            <a:ext cx="4587365" cy="867087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haroni"/>
              <a:buNone/>
            </a:pPr>
            <a:r>
              <a:rPr lang="es-MX" sz="4400" b="1" i="0" u="none" strike="noStrike" cap="none" dirty="0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rPr>
              <a:t>Artículos Científicos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5475767" y="2628936"/>
            <a:ext cx="6507126" cy="41159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200000"/>
              </a:lnSpc>
              <a:buClr>
                <a:srgbClr val="4472C4"/>
              </a:buClr>
              <a:buSzPts val="828"/>
            </a:pPr>
            <a:r>
              <a:rPr lang="es-ES" sz="9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1. Análisis espacial y temporal de la precipitación en la Orinoquía Colombiana (1981–2024) a partir de imágenes satelitales CHIRPS</a:t>
            </a:r>
          </a:p>
          <a:p>
            <a:pPr>
              <a:lnSpc>
                <a:spcPct val="200000"/>
              </a:lnSpc>
              <a:buClr>
                <a:srgbClr val="4472C4"/>
              </a:buClr>
              <a:buSzPts val="828"/>
            </a:pPr>
            <a:r>
              <a:rPr lang="es-ES" sz="900" b="1" dirty="0">
                <a:latin typeface="+mn-lt"/>
              </a:rPr>
              <a:t>2</a:t>
            </a:r>
            <a:r>
              <a:rPr lang="es-ES" sz="9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. Análisis e identificación de variables estratégicas de sostenibilidad, como herramientas de calidad del turismo en Villavicencio.</a:t>
            </a:r>
            <a:endParaRPr lang="es-MX" sz="900" b="1" i="1" u="none" strike="noStrike" cap="none" dirty="0">
              <a:solidFill>
                <a:srgbClr val="000000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828"/>
              <a:buFont typeface="Arial"/>
              <a:buNone/>
            </a:pP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3.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Supply-Demand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of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the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Water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Resource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of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a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Basin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with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High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Anthropic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Pressure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; Case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Study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Quenane-Quenanito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Basin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in Colombia</a:t>
            </a:r>
            <a:endParaRPr sz="900" b="1" i="1" u="none" strike="noStrike" cap="none" dirty="0">
              <a:solidFill>
                <a:srgbClr val="000000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780"/>
              </a:spcBef>
              <a:spcAft>
                <a:spcPts val="0"/>
              </a:spcAft>
              <a:buClr>
                <a:srgbClr val="4472C4"/>
              </a:buClr>
              <a:buSzPts val="828"/>
              <a:buFont typeface="Arial"/>
              <a:buNone/>
            </a:pP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4.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Water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Footprint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: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an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Effective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Tool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for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the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Challenge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of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Water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s-MX" sz="900" b="1" i="1" u="none" strike="noStrike" cap="none" dirty="0" err="1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Sustainability</a:t>
            </a:r>
            <a:endParaRPr sz="900" b="1" i="1" u="none" strike="noStrike" cap="none" dirty="0">
              <a:solidFill>
                <a:srgbClr val="000000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780"/>
              </a:spcBef>
              <a:spcAft>
                <a:spcPts val="0"/>
              </a:spcAft>
              <a:buClr>
                <a:srgbClr val="4472C4"/>
              </a:buClr>
              <a:buSzPts val="828"/>
              <a:buFont typeface="Arial"/>
              <a:buNone/>
            </a:pP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5. Análisis de un Sistema de Cosecha de Agua a Pequeña Escala con Finalidad Pecuaria:</a:t>
            </a:r>
            <a:endParaRPr sz="900" b="1" i="1" u="none" strike="noStrike" cap="none" dirty="0">
              <a:solidFill>
                <a:srgbClr val="000000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780"/>
              </a:spcBef>
              <a:spcAft>
                <a:spcPts val="0"/>
              </a:spcAft>
              <a:buClr>
                <a:srgbClr val="4472C4"/>
              </a:buClr>
              <a:buSzPts val="828"/>
              <a:buFont typeface="Arial"/>
              <a:buNone/>
            </a:pPr>
            <a:r>
              <a:rPr lang="es-MX" sz="900" b="1" i="1" dirty="0">
                <a:latin typeface="+mn-lt"/>
                <a:ea typeface="Calibri"/>
                <a:cs typeface="Calibri"/>
                <a:sym typeface="Calibri"/>
              </a:rPr>
              <a:t>6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. LA ECONOMÍA VERDE: UN CAMBIO AMBIENTAL Y SOCIAL PARA EL MODELO ECONÓMICO ACTUAL.</a:t>
            </a:r>
            <a:endParaRPr sz="900" b="1" i="1" u="none" strike="noStrike" cap="none" dirty="0">
              <a:solidFill>
                <a:srgbClr val="000000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780"/>
              </a:spcBef>
              <a:spcAft>
                <a:spcPts val="0"/>
              </a:spcAft>
              <a:buClr>
                <a:srgbClr val="4472C4"/>
              </a:buClr>
              <a:buSzPts val="828"/>
              <a:buFont typeface="Arial"/>
              <a:buNone/>
            </a:pPr>
            <a:r>
              <a:rPr lang="es-MX" sz="900" b="1" i="1" dirty="0">
                <a:latin typeface="+mn-lt"/>
                <a:ea typeface="Calibri"/>
                <a:cs typeface="Calibri"/>
                <a:sym typeface="Calibri"/>
              </a:rPr>
              <a:t>7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. ANÁLISIS DE LA INCLUSIÓN DE ASPECTOS AMBIENTALES EN MICROEMPRESAS AGROINDUSTRIALES DE LA CIUDAD DE VILLAVICENCIO, COLOMBIA.</a:t>
            </a:r>
            <a:endParaRPr sz="900" b="1" i="1" u="none" strike="noStrike" cap="none" dirty="0">
              <a:solidFill>
                <a:srgbClr val="000000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780"/>
              </a:spcBef>
              <a:spcAft>
                <a:spcPts val="0"/>
              </a:spcAft>
              <a:buClr>
                <a:srgbClr val="4472C4"/>
              </a:buClr>
              <a:buSzPts val="828"/>
              <a:buFont typeface="Arial"/>
              <a:buNone/>
            </a:pPr>
            <a:r>
              <a:rPr lang="es-MX" sz="900" b="1" i="1" dirty="0">
                <a:latin typeface="+mn-lt"/>
                <a:ea typeface="Calibri"/>
                <a:cs typeface="Calibri"/>
                <a:sym typeface="Calibri"/>
              </a:rPr>
              <a:t>8</a:t>
            </a:r>
            <a:r>
              <a:rPr lang="es-MX" sz="900" b="1" i="1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. EL COMPOSTAJE, UNA ALTERNATIVA PARA EL APROVECHAMIENTO DE RESIDUOS ORGÁNICOS EN LAS CENTRALES DE ABASTECIMIENTO.</a:t>
            </a:r>
          </a:p>
        </p:txBody>
      </p:sp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0" y="374791"/>
            <a:ext cx="12192000" cy="8576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Aharoni"/>
              <a:buNone/>
            </a:pPr>
            <a:r>
              <a:rPr lang="es-MX" sz="5400" b="1" dirty="0">
                <a:solidFill>
                  <a:schemeClr val="bg1"/>
                </a:solidFill>
                <a:latin typeface="Aharoni"/>
                <a:ea typeface="Aharoni"/>
                <a:cs typeface="Aharoni"/>
                <a:sym typeface="Aharoni"/>
              </a:rPr>
              <a:t>Experiencia en Investigación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/>
        </p:nvSpPr>
        <p:spPr>
          <a:xfrm>
            <a:off x="4634218" y="3634479"/>
            <a:ext cx="28373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Jornadas - </a:t>
            </a:r>
            <a:r>
              <a:rPr lang="es-MX" sz="1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Unillanos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310897" y="6418640"/>
            <a:ext cx="312799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Guayuriba - </a:t>
            </a:r>
            <a:r>
              <a:rPr lang="es-MX" sz="1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Unillanos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207854" y="3561565"/>
            <a:ext cx="343889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Agroindustrial - </a:t>
            </a:r>
            <a:r>
              <a:rPr lang="es-MX" sz="16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Unillanos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8616242" y="6266469"/>
            <a:ext cx="304735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Maestría Gestión Ambiental sostenible - </a:t>
            </a:r>
            <a:r>
              <a:rPr lang="es-MX" sz="1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Unillanos</a:t>
            </a:r>
            <a:endParaRPr lang="es-MX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8734500" y="3487354"/>
            <a:ext cx="28373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Congresos - </a:t>
            </a:r>
            <a:r>
              <a:rPr lang="es-MX" sz="1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Unillanos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4627564" y="6138118"/>
            <a:ext cx="215570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Acacías - </a:t>
            </a:r>
            <a:r>
              <a:rPr lang="es-MX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Unillanos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03;p3">
            <a:extLst>
              <a:ext uri="{FF2B5EF4-FFF2-40B4-BE49-F238E27FC236}">
                <a16:creationId xmlns:a16="http://schemas.microsoft.com/office/drawing/2014/main" id="{B9CA52BF-8741-CB2F-E045-BEA941520ED0}"/>
              </a:ext>
            </a:extLst>
          </p:cNvPr>
          <p:cNvSpPr txBox="1">
            <a:spLocks/>
          </p:cNvSpPr>
          <p:nvPr/>
        </p:nvSpPr>
        <p:spPr>
          <a:xfrm>
            <a:off x="0" y="78973"/>
            <a:ext cx="12192000" cy="85761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FF0000"/>
              </a:buClr>
              <a:buSzPts val="5400"/>
              <a:buFont typeface="Aharoni"/>
              <a:buNone/>
            </a:pPr>
            <a:r>
              <a:rPr lang="es-MX" sz="5400" b="1" dirty="0">
                <a:solidFill>
                  <a:schemeClr val="bg1"/>
                </a:solidFill>
                <a:latin typeface="Aharoni"/>
                <a:ea typeface="Aharoni"/>
                <a:cs typeface="Aharoni"/>
                <a:sym typeface="Aharoni"/>
              </a:rPr>
              <a:t>Experiencia Nacional</a:t>
            </a:r>
            <a:endParaRPr lang="es-MX" dirty="0"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4ABDE8E-A549-882E-6E5B-CA8E332DC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57" y="1128148"/>
            <a:ext cx="1847487" cy="246331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DED9650-EFE1-5B06-693A-C3859AFA9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990" y="4499243"/>
            <a:ext cx="2931299" cy="165027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DB999A5-A071-688B-5348-FB2ED0A27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336" y="1450986"/>
            <a:ext cx="2968181" cy="197801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5770BA1-724E-5350-38CC-6438D6D416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4875" y="1128148"/>
            <a:ext cx="3512625" cy="251504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FAFB0DE-E8B2-9A2A-0D96-F61873FA30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991" y="4297317"/>
            <a:ext cx="2642620" cy="198196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E5C5E06-AACA-A06E-89DF-245886A81F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6250" y="4167018"/>
            <a:ext cx="2816352" cy="21122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581FBBB-F3BA-DD49-DCAC-D26A74105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 descr="Un grupo de personas posando para una foto en oficina&#10;&#10;Descripción generada automáticamente">
            <a:extLst>
              <a:ext uri="{FF2B5EF4-FFF2-40B4-BE49-F238E27FC236}">
                <a16:creationId xmlns:a16="http://schemas.microsoft.com/office/drawing/2014/main" id="{5F868A83-159B-B24E-E5D5-BCA5F1196D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4449" y="1152797"/>
            <a:ext cx="3191115" cy="2393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 descr="Un dibujo de un edificio&#10;&#10;Descripción generada automáticamente con confianza media">
            <a:extLst>
              <a:ext uri="{FF2B5EF4-FFF2-40B4-BE49-F238E27FC236}">
                <a16:creationId xmlns:a16="http://schemas.microsoft.com/office/drawing/2014/main" id="{84D48089-6A9F-6420-B87F-C4C3E291987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-109565" y="4353938"/>
            <a:ext cx="2363794" cy="17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>
            <a:extLst>
              <a:ext uri="{FF2B5EF4-FFF2-40B4-BE49-F238E27FC236}">
                <a16:creationId xmlns:a16="http://schemas.microsoft.com/office/drawing/2014/main" id="{38E1CCDC-962B-6A86-097A-3A78A3DC64BF}"/>
              </a:ext>
            </a:extLst>
          </p:cNvPr>
          <p:cNvSpPr txBox="1"/>
          <p:nvPr/>
        </p:nvSpPr>
        <p:spPr>
          <a:xfrm>
            <a:off x="4634218" y="3634479"/>
            <a:ext cx="28373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México - UNAN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>
            <a:extLst>
              <a:ext uri="{FF2B5EF4-FFF2-40B4-BE49-F238E27FC236}">
                <a16:creationId xmlns:a16="http://schemas.microsoft.com/office/drawing/2014/main" id="{E5F86568-4D5E-5F8C-A8AB-5E74081CCB41}"/>
              </a:ext>
            </a:extLst>
          </p:cNvPr>
          <p:cNvSpPr txBox="1"/>
          <p:nvPr/>
        </p:nvSpPr>
        <p:spPr>
          <a:xfrm>
            <a:off x="185909" y="6422258"/>
            <a:ext cx="21557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Cuba  – U. Habana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>
            <a:extLst>
              <a:ext uri="{FF2B5EF4-FFF2-40B4-BE49-F238E27FC236}">
                <a16:creationId xmlns:a16="http://schemas.microsoft.com/office/drawing/2014/main" id="{BCF68718-2ACD-2CE6-C464-8E8801CD22DE}"/>
              </a:ext>
            </a:extLst>
          </p:cNvPr>
          <p:cNvSpPr txBox="1"/>
          <p:nvPr/>
        </p:nvSpPr>
        <p:spPr>
          <a:xfrm>
            <a:off x="764079" y="3347228"/>
            <a:ext cx="21557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Argentina - U. Plata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4" descr="Un grupo de personas en un salón&#10;&#10;Descripción generada automáticamente con confianza media">
            <a:extLst>
              <a:ext uri="{FF2B5EF4-FFF2-40B4-BE49-F238E27FC236}">
                <a16:creationId xmlns:a16="http://schemas.microsoft.com/office/drawing/2014/main" id="{46CBCDDD-9922-2832-2C29-42DEB604372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4079" y="1050211"/>
            <a:ext cx="1722763" cy="2297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 descr="Un grupo de personas en medio de cuarto&#10;&#10;Descripción generada automáticamente">
            <a:extLst>
              <a:ext uri="{FF2B5EF4-FFF2-40B4-BE49-F238E27FC236}">
                <a16:creationId xmlns:a16="http://schemas.microsoft.com/office/drawing/2014/main" id="{58EB3424-3044-1E76-67D2-A2599593C8C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28132" y="1115256"/>
            <a:ext cx="1591282" cy="237209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D28A6C4C-041A-A9B6-AFE5-A8C880AF85EC}"/>
              </a:ext>
            </a:extLst>
          </p:cNvPr>
          <p:cNvSpPr txBox="1"/>
          <p:nvPr/>
        </p:nvSpPr>
        <p:spPr>
          <a:xfrm>
            <a:off x="5640006" y="6483383"/>
            <a:ext cx="36759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España – U. Politécnica de Madrid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178F99DF-E283-2688-12EC-797AC940C3C3}"/>
              </a:ext>
            </a:extLst>
          </p:cNvPr>
          <p:cNvSpPr txBox="1"/>
          <p:nvPr/>
        </p:nvSpPr>
        <p:spPr>
          <a:xfrm>
            <a:off x="8734500" y="3487354"/>
            <a:ext cx="28373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Perú – U. Lima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 descr="Un grupo de personas en medio de cuarto&#10;&#10;Descripción generada automáticamente con confianza media">
            <a:extLst>
              <a:ext uri="{FF2B5EF4-FFF2-40B4-BE49-F238E27FC236}">
                <a16:creationId xmlns:a16="http://schemas.microsoft.com/office/drawing/2014/main" id="{D689F179-CA3F-A3BB-A21B-455A15EB654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52209" y="4345559"/>
            <a:ext cx="3213816" cy="180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A01E0303-9225-B7D7-B85C-FF0C24B5FA48}"/>
              </a:ext>
            </a:extLst>
          </p:cNvPr>
          <p:cNvSpPr txBox="1"/>
          <p:nvPr/>
        </p:nvSpPr>
        <p:spPr>
          <a:xfrm>
            <a:off x="2758536" y="6148309"/>
            <a:ext cx="21557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Bolivia  – U. Católica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03;p3">
            <a:extLst>
              <a:ext uri="{FF2B5EF4-FFF2-40B4-BE49-F238E27FC236}">
                <a16:creationId xmlns:a16="http://schemas.microsoft.com/office/drawing/2014/main" id="{0164C0A7-9EE0-5E29-935E-4DFA867352D6}"/>
              </a:ext>
            </a:extLst>
          </p:cNvPr>
          <p:cNvSpPr txBox="1">
            <a:spLocks/>
          </p:cNvSpPr>
          <p:nvPr/>
        </p:nvSpPr>
        <p:spPr>
          <a:xfrm>
            <a:off x="0" y="78973"/>
            <a:ext cx="12192000" cy="8576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FF0000"/>
              </a:buClr>
              <a:buSzPts val="5400"/>
              <a:buFont typeface="Aharoni"/>
              <a:buNone/>
            </a:pPr>
            <a:r>
              <a:rPr lang="es-MX" sz="5400" b="1" dirty="0">
                <a:solidFill>
                  <a:schemeClr val="bg1"/>
                </a:solidFill>
                <a:latin typeface="Aharoni"/>
                <a:ea typeface="Aharoni"/>
                <a:cs typeface="Aharoni"/>
                <a:sym typeface="Aharoni"/>
              </a:rPr>
              <a:t>Experiencia Internacional</a:t>
            </a:r>
            <a:endParaRPr lang="es-MX"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5047455-B1F9-D357-98A9-A4FABF20A01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4929" t="1480" r="1538" b="29670"/>
          <a:stretch/>
        </p:blipFill>
        <p:spPr>
          <a:xfrm>
            <a:off x="6052486" y="4092157"/>
            <a:ext cx="2450554" cy="2363794"/>
          </a:xfrm>
          <a:prstGeom prst="rect">
            <a:avLst/>
          </a:prstGeom>
        </p:spPr>
      </p:pic>
      <p:sp>
        <p:nvSpPr>
          <p:cNvPr id="7" name="Google Shape;117;p4">
            <a:extLst>
              <a:ext uri="{FF2B5EF4-FFF2-40B4-BE49-F238E27FC236}">
                <a16:creationId xmlns:a16="http://schemas.microsoft.com/office/drawing/2014/main" id="{5F86AFFD-F4D4-6D29-03DD-CFF710D5E78A}"/>
              </a:ext>
            </a:extLst>
          </p:cNvPr>
          <p:cNvSpPr txBox="1"/>
          <p:nvPr/>
        </p:nvSpPr>
        <p:spPr>
          <a:xfrm>
            <a:off x="9433464" y="6222802"/>
            <a:ext cx="255071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Francia – U. Montpellier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50195D3-E5E3-CF5A-8CE1-9A22E9B4F9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96275" y="4367469"/>
            <a:ext cx="3246277" cy="182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016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3;p3">
            <a:extLst>
              <a:ext uri="{FF2B5EF4-FFF2-40B4-BE49-F238E27FC236}">
                <a16:creationId xmlns:a16="http://schemas.microsoft.com/office/drawing/2014/main" id="{B9CA52BF-8741-CB2F-E045-BEA941520ED0}"/>
              </a:ext>
            </a:extLst>
          </p:cNvPr>
          <p:cNvSpPr txBox="1">
            <a:spLocks/>
          </p:cNvSpPr>
          <p:nvPr/>
        </p:nvSpPr>
        <p:spPr>
          <a:xfrm>
            <a:off x="0" y="78973"/>
            <a:ext cx="12192000" cy="857619"/>
          </a:xfrm>
          <a:prstGeom prst="rect">
            <a:avLst/>
          </a:prstGeom>
          <a:solidFill>
            <a:srgbClr val="501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Aharoni"/>
              <a:buNone/>
              <a:tabLst/>
              <a:defRPr/>
            </a:pPr>
            <a:r>
              <a:rPr kumimoji="0" lang="es-MX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haroni"/>
                <a:ea typeface="Aharoni"/>
                <a:cs typeface="Aharoni"/>
                <a:sym typeface="Aharoni"/>
              </a:rPr>
              <a:t>Experiencia en Instituciones</a:t>
            </a:r>
            <a:endParaRPr kumimoji="0" lang="es-MX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46E8FC-4F81-65DB-1850-ACF1B0CAF570}"/>
              </a:ext>
            </a:extLst>
          </p:cNvPr>
          <p:cNvSpPr txBox="1"/>
          <p:nvPr/>
        </p:nvSpPr>
        <p:spPr>
          <a:xfrm>
            <a:off x="1744171" y="6311403"/>
            <a:ext cx="29134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US" sz="1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Docente investigador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E14BF95-5D92-BAB9-4F74-36B72C0767CB}"/>
              </a:ext>
            </a:extLst>
          </p:cNvPr>
          <p:cNvSpPr txBox="1"/>
          <p:nvPr/>
        </p:nvSpPr>
        <p:spPr>
          <a:xfrm>
            <a:off x="4026265" y="2438907"/>
            <a:ext cx="3706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Consultor en análisis de datos del Banco Interamericano de Desarrollo</a:t>
            </a:r>
            <a:endParaRPr kumimoji="0" lang="es-E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DD30E4B-CE92-FC83-4F73-FBE1C97F0447}"/>
              </a:ext>
            </a:extLst>
          </p:cNvPr>
          <p:cNvSpPr txBox="1"/>
          <p:nvPr/>
        </p:nvSpPr>
        <p:spPr>
          <a:xfrm>
            <a:off x="9220213" y="6081355"/>
            <a:ext cx="26015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US" sz="1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Creador del canal de YouTube Trabajo Científico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77550AE-2283-AD70-C52C-D02C2ED97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376" y="996815"/>
            <a:ext cx="2169093" cy="1384883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F703C2A8-92FF-C864-1663-65212FB80F04}"/>
              </a:ext>
            </a:extLst>
          </p:cNvPr>
          <p:cNvSpPr txBox="1"/>
          <p:nvPr/>
        </p:nvSpPr>
        <p:spPr>
          <a:xfrm>
            <a:off x="4510072" y="1891136"/>
            <a:ext cx="30283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haroni" panose="02010803020104030203" pitchFamily="2" charset="-79"/>
                <a:cs typeface="Aharoni" panose="02010803020104030203" pitchFamily="2" charset="-79"/>
                <a:sym typeface="Arial"/>
              </a:rPr>
              <a:t>AMAZON AGRICULTURAL OPPORTUNITIES</a:t>
            </a:r>
            <a:endParaRPr kumimoji="0" lang="es-CO" sz="16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haroni" panose="02010803020104030203" pitchFamily="2" charset="-79"/>
              <a:cs typeface="Aharoni" panose="02010803020104030203" pitchFamily="2" charset="-79"/>
              <a:sym typeface="Arial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65F2192-1A07-1F97-5969-88106245BF63}"/>
              </a:ext>
            </a:extLst>
          </p:cNvPr>
          <p:cNvSpPr txBox="1"/>
          <p:nvPr/>
        </p:nvSpPr>
        <p:spPr>
          <a:xfrm>
            <a:off x="767798" y="2320227"/>
            <a:ext cx="31364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haroni" panose="02010803020104030203" pitchFamily="2" charset="-79"/>
                <a:cs typeface="Aharoni" panose="02010803020104030203" pitchFamily="2" charset="-79"/>
                <a:sym typeface="Arial"/>
              </a:rPr>
              <a:t>Water Resource Management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haroni" panose="02010803020104030203" pitchFamily="2" charset="-79"/>
                <a:cs typeface="Aharoni" panose="02010803020104030203" pitchFamily="2" charset="-79"/>
                <a:sym typeface="Arial"/>
              </a:rPr>
              <a:t>Options for the 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haroni" panose="02010803020104030203" pitchFamily="2" charset="-79"/>
                <a:cs typeface="Aharoni" panose="02010803020104030203" pitchFamily="2" charset="-79"/>
                <a:sym typeface="Arial"/>
              </a:rPr>
              <a:t>Orinoquía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Aharoni" panose="02010803020104030203" pitchFamily="2" charset="-79"/>
              <a:cs typeface="Aharoni" panose="02010803020104030203" pitchFamily="2" charset="-79"/>
              <a:sym typeface="Arial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BE49A22-79ED-0810-E63E-6AF573C24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87" y="3121540"/>
            <a:ext cx="3105317" cy="1848577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2E56DC9-F3D1-5906-7BAE-D508302828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246" y="1115525"/>
            <a:ext cx="4512834" cy="82705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74947062-59AB-817D-E5EE-A3DEE310CE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7821" y="3435907"/>
            <a:ext cx="3331614" cy="111053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B66AD90E-B9A8-DED3-E7C3-F99F81C575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34" y="5462841"/>
            <a:ext cx="3456730" cy="100245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219EBFA-1E33-39BF-CD87-EEB7C5FFA7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6847" y="5488865"/>
            <a:ext cx="3057268" cy="950402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623D21AD-03AD-FE1D-C930-5376DF2F9431}"/>
              </a:ext>
            </a:extLst>
          </p:cNvPr>
          <p:cNvSpPr txBox="1"/>
          <p:nvPr/>
        </p:nvSpPr>
        <p:spPr>
          <a:xfrm>
            <a:off x="5417313" y="6393212"/>
            <a:ext cx="29134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US" sz="1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Docente investigador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ECDFAAE-8E64-E745-3C03-DB6B2E82E79D}"/>
              </a:ext>
            </a:extLst>
          </p:cNvPr>
          <p:cNvSpPr txBox="1"/>
          <p:nvPr/>
        </p:nvSpPr>
        <p:spPr>
          <a:xfrm>
            <a:off x="1836391" y="4730783"/>
            <a:ext cx="1574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US" sz="1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Investigador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DF53C10-2342-0066-6056-E2D59C2DB78E}"/>
              </a:ext>
            </a:extLst>
          </p:cNvPr>
          <p:cNvSpPr txBox="1"/>
          <p:nvPr/>
        </p:nvSpPr>
        <p:spPr>
          <a:xfrm>
            <a:off x="5738607" y="4562882"/>
            <a:ext cx="1574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US" sz="1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Investigador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B497CC28-E6E3-F4A0-29D8-F0078362DE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1096" y="3274050"/>
            <a:ext cx="2913466" cy="291346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853F80C-6E4C-701A-6755-1588A51EF1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03225" y="1397088"/>
            <a:ext cx="3397754" cy="109098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BC22DF99-C619-A08B-497F-F3B8B4544225}"/>
              </a:ext>
            </a:extLst>
          </p:cNvPr>
          <p:cNvSpPr txBox="1"/>
          <p:nvPr/>
        </p:nvSpPr>
        <p:spPr>
          <a:xfrm>
            <a:off x="8229110" y="2547712"/>
            <a:ext cx="40120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s-ES" sz="1100" b="1" i="1" dirty="0"/>
              <a:t>Consultor en modelación para la R</a:t>
            </a:r>
            <a:r>
              <a:rPr kumimoji="0" lang="es-ES" sz="11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educción de emisiones por deforestación y degradación de bosques (REDD+)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US" sz="11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258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13" grpId="0"/>
      <p:bldP spid="14" grpId="0"/>
      <p:bldP spid="26" grpId="0"/>
      <p:bldP spid="27" grpId="0"/>
      <p:bldP spid="28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9EE6616-6F6B-FC1E-B35E-5941B52E0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250" y="422479"/>
            <a:ext cx="1752907" cy="1752907"/>
          </a:xfrm>
          <a:prstGeom prst="rect">
            <a:avLst/>
          </a:prstGeom>
        </p:spPr>
      </p:pic>
      <p:sp>
        <p:nvSpPr>
          <p:cNvPr id="10" name="AutoShape 2" descr="Elsevier - Wikipedia, la enciclopedia libre">
            <a:extLst>
              <a:ext uri="{FF2B5EF4-FFF2-40B4-BE49-F238E27FC236}">
                <a16:creationId xmlns:a16="http://schemas.microsoft.com/office/drawing/2014/main" id="{F7A30622-0DF0-A4CD-3730-7359B14F7C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U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25CA10E-5D50-058E-086E-0385F1C74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501946"/>
            <a:ext cx="1758327" cy="1933575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C40624E-E9DE-3789-A168-4FEA6F321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091" y="3276600"/>
            <a:ext cx="2990850" cy="96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B49A74A-581A-3EE8-C481-9B5EAA904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588" y="3429000"/>
            <a:ext cx="4838700" cy="144640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CBBF307-ECE9-AAC8-B1F2-E8F1AEBF8B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0075" y="2175386"/>
            <a:ext cx="4004188" cy="63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089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24B01-0DA5-B4DD-32EC-AE3379F3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8739D0-6419-5873-2A86-936AE20C4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995705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BF2737-14EC-97CA-8A75-279600386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697"/>
            <a:ext cx="3695963" cy="611033"/>
          </a:xfr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s-ES" b="1" dirty="0"/>
              <a:t>Hasta ahora</a:t>
            </a:r>
            <a:endParaRPr lang="es-US" b="1" dirty="0"/>
          </a:p>
        </p:txBody>
      </p:sp>
      <p:sp>
        <p:nvSpPr>
          <p:cNvPr id="4" name="AutoShape 2" descr="Google NotebookLM | Herramienta de investigación de IA y compañero de  pensamiento">
            <a:extLst>
              <a:ext uri="{FF2B5EF4-FFF2-40B4-BE49-F238E27FC236}">
                <a16:creationId xmlns:a16="http://schemas.microsoft.com/office/drawing/2014/main" id="{9E803C51-EF1A-DAEF-05AC-4816A15874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33464" y="285402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US" sz="140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39D8F76-A995-1C24-AF55-DBD7B96E1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696" y="3975028"/>
            <a:ext cx="2595690" cy="2734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A473D1D-34B6-853C-A926-88952B1403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56" t="14023" r="7683" b="20047"/>
          <a:stretch>
            <a:fillRect/>
          </a:stretch>
        </p:blipFill>
        <p:spPr>
          <a:xfrm>
            <a:off x="332861" y="1328525"/>
            <a:ext cx="1155193" cy="36151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DB59F4F-57E0-4070-2D32-50038D5D92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46" t="25714" r="8416" b="19718"/>
          <a:stretch>
            <a:fillRect/>
          </a:stretch>
        </p:blipFill>
        <p:spPr>
          <a:xfrm>
            <a:off x="288675" y="1801701"/>
            <a:ext cx="1297674" cy="27089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289A8E4-E2B6-D7E6-4024-4B1B020BFB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584" t="35972" r="9896" b="36458"/>
          <a:stretch>
            <a:fillRect/>
          </a:stretch>
        </p:blipFill>
        <p:spPr>
          <a:xfrm>
            <a:off x="288675" y="2644507"/>
            <a:ext cx="1181478" cy="30339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9B12993A-8A0F-D6EF-B611-42B80A58CEC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469" t="20827" r="19375" b="23883"/>
          <a:stretch>
            <a:fillRect/>
          </a:stretch>
        </p:blipFill>
        <p:spPr>
          <a:xfrm>
            <a:off x="306576" y="2146214"/>
            <a:ext cx="767322" cy="39661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CF934FF-DB1A-5F27-0C8D-B310EEDA553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1657" b="24889"/>
          <a:stretch>
            <a:fillRect/>
          </a:stretch>
        </p:blipFill>
        <p:spPr>
          <a:xfrm>
            <a:off x="2604331" y="1245897"/>
            <a:ext cx="1918515" cy="53946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BC6C0CA0-633B-84FF-C883-97605A7885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1187" y="1959463"/>
            <a:ext cx="1721535" cy="36925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2300F9B4-C4C9-E379-1797-784F715F904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0464" t="36800" r="8147" b="39366"/>
          <a:stretch>
            <a:fillRect/>
          </a:stretch>
        </p:blipFill>
        <p:spPr>
          <a:xfrm>
            <a:off x="3018699" y="6045374"/>
            <a:ext cx="2633256" cy="514080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6390D17E-D5C4-8640-3B87-C6E439AFBB58}"/>
              </a:ext>
            </a:extLst>
          </p:cNvPr>
          <p:cNvSpPr/>
          <p:nvPr/>
        </p:nvSpPr>
        <p:spPr>
          <a:xfrm>
            <a:off x="104634" y="1231814"/>
            <a:ext cx="1636776" cy="1828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87B493E-577C-732F-C6D6-BB16B93A8EB8}"/>
              </a:ext>
            </a:extLst>
          </p:cNvPr>
          <p:cNvSpPr txBox="1"/>
          <p:nvPr/>
        </p:nvSpPr>
        <p:spPr>
          <a:xfrm>
            <a:off x="27444" y="724441"/>
            <a:ext cx="1765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/>
              <a:t>Herramientas para conocer de un tema</a:t>
            </a:r>
            <a:endParaRPr lang="es-US" sz="1200" b="1" dirty="0"/>
          </a:p>
        </p:txBody>
      </p: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852C507D-972E-EDB1-7901-9A9AAAEDFA17}"/>
              </a:ext>
            </a:extLst>
          </p:cNvPr>
          <p:cNvCxnSpPr>
            <a:cxnSpLocks/>
          </p:cNvCxnSpPr>
          <p:nvPr/>
        </p:nvCxnSpPr>
        <p:spPr>
          <a:xfrm rot="5400000">
            <a:off x="-268020" y="1019905"/>
            <a:ext cx="2594746" cy="2003818"/>
          </a:xfrm>
          <a:prstGeom prst="bentConnector3">
            <a:avLst>
              <a:gd name="adj1" fmla="val 9933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Imagen 32">
            <a:extLst>
              <a:ext uri="{FF2B5EF4-FFF2-40B4-BE49-F238E27FC236}">
                <a16:creationId xmlns:a16="http://schemas.microsoft.com/office/drawing/2014/main" id="{75B856D1-193D-2B92-DD21-DBB06F089D9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1453" t="33700" r="25621" b="35845"/>
          <a:stretch>
            <a:fillRect/>
          </a:stretch>
        </p:blipFill>
        <p:spPr>
          <a:xfrm>
            <a:off x="2831435" y="2381292"/>
            <a:ext cx="1691411" cy="675007"/>
          </a:xfrm>
          <a:prstGeom prst="rect">
            <a:avLst/>
          </a:prstGeom>
        </p:spPr>
      </p:pic>
      <p:sp>
        <p:nvSpPr>
          <p:cNvPr id="34" name="Cerrar llave 33">
            <a:extLst>
              <a:ext uri="{FF2B5EF4-FFF2-40B4-BE49-F238E27FC236}">
                <a16:creationId xmlns:a16="http://schemas.microsoft.com/office/drawing/2014/main" id="{D50E0B32-E13B-8A7B-12F2-5469416B4405}"/>
              </a:ext>
            </a:extLst>
          </p:cNvPr>
          <p:cNvSpPr/>
          <p:nvPr/>
        </p:nvSpPr>
        <p:spPr>
          <a:xfrm>
            <a:off x="4522846" y="1436735"/>
            <a:ext cx="771982" cy="144006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US" sz="14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B11414FB-E11B-2659-8016-33E45A717D07}"/>
              </a:ext>
            </a:extLst>
          </p:cNvPr>
          <p:cNvSpPr txBox="1"/>
          <p:nvPr/>
        </p:nvSpPr>
        <p:spPr>
          <a:xfrm>
            <a:off x="5294828" y="1972100"/>
            <a:ext cx="754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PROMT</a:t>
            </a:r>
            <a:endParaRPr lang="es-US" sz="1400" dirty="0"/>
          </a:p>
        </p:txBody>
      </p:sp>
      <p:sp>
        <p:nvSpPr>
          <p:cNvPr id="36" name="Corchetes 35">
            <a:extLst>
              <a:ext uri="{FF2B5EF4-FFF2-40B4-BE49-F238E27FC236}">
                <a16:creationId xmlns:a16="http://schemas.microsoft.com/office/drawing/2014/main" id="{1669FA8C-6506-3D1C-7F77-3B86173CCE06}"/>
              </a:ext>
            </a:extLst>
          </p:cNvPr>
          <p:cNvSpPr/>
          <p:nvPr/>
        </p:nvSpPr>
        <p:spPr>
          <a:xfrm>
            <a:off x="6888651" y="1452230"/>
            <a:ext cx="3233757" cy="113641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US" sz="1400"/>
          </a:p>
        </p:txBody>
      </p:sp>
      <p:sp>
        <p:nvSpPr>
          <p:cNvPr id="37" name="Flecha: a la derecha 36">
            <a:extLst>
              <a:ext uri="{FF2B5EF4-FFF2-40B4-BE49-F238E27FC236}">
                <a16:creationId xmlns:a16="http://schemas.microsoft.com/office/drawing/2014/main" id="{B1AFD32B-65B1-BB9D-4329-557CF540C038}"/>
              </a:ext>
            </a:extLst>
          </p:cNvPr>
          <p:cNvSpPr/>
          <p:nvPr/>
        </p:nvSpPr>
        <p:spPr>
          <a:xfrm>
            <a:off x="6210848" y="2028924"/>
            <a:ext cx="572357" cy="158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sz="140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86345AB-F1E1-4D1E-BFEE-63CC9417C046}"/>
              </a:ext>
            </a:extLst>
          </p:cNvPr>
          <p:cNvSpPr txBox="1"/>
          <p:nvPr/>
        </p:nvSpPr>
        <p:spPr>
          <a:xfrm>
            <a:off x="7036211" y="1565650"/>
            <a:ext cx="976036" cy="3077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s-ES" sz="1400" b="1" dirty="0"/>
              <a:t>Problema</a:t>
            </a:r>
            <a:endParaRPr lang="es-US" sz="1400" b="1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389ABF64-55AD-72B8-F161-F9CD125A23D0}"/>
              </a:ext>
            </a:extLst>
          </p:cNvPr>
          <p:cNvSpPr txBox="1"/>
          <p:nvPr/>
        </p:nvSpPr>
        <p:spPr>
          <a:xfrm>
            <a:off x="7036211" y="1877154"/>
            <a:ext cx="1483996" cy="3077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s-ES" sz="1400" b="1" dirty="0"/>
              <a:t>Causa y efectos</a:t>
            </a:r>
            <a:endParaRPr lang="es-US" sz="1400" b="1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D7331050-99E8-D417-9D83-0A2B99A53E0D}"/>
              </a:ext>
            </a:extLst>
          </p:cNvPr>
          <p:cNvSpPr txBox="1"/>
          <p:nvPr/>
        </p:nvSpPr>
        <p:spPr>
          <a:xfrm>
            <a:off x="7036052" y="2185505"/>
            <a:ext cx="2872261" cy="3077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s-ES" sz="1400" b="1" dirty="0"/>
              <a:t>Objetivos (General  - Específicos)</a:t>
            </a:r>
            <a:endParaRPr lang="es-US" sz="1400" b="1" dirty="0"/>
          </a:p>
        </p:txBody>
      </p:sp>
      <p:sp>
        <p:nvSpPr>
          <p:cNvPr id="45" name="Cerrar llave 44">
            <a:extLst>
              <a:ext uri="{FF2B5EF4-FFF2-40B4-BE49-F238E27FC236}">
                <a16:creationId xmlns:a16="http://schemas.microsoft.com/office/drawing/2014/main" id="{CD05E546-2CC2-E1FE-6F61-8CA7692B449D}"/>
              </a:ext>
            </a:extLst>
          </p:cNvPr>
          <p:cNvSpPr/>
          <p:nvPr/>
        </p:nvSpPr>
        <p:spPr>
          <a:xfrm>
            <a:off x="4951386" y="3640570"/>
            <a:ext cx="512902" cy="104953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US" sz="14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2C06D59B-D0D1-FDCE-CA01-11CA0C2725EA}"/>
              </a:ext>
            </a:extLst>
          </p:cNvPr>
          <p:cNvSpPr txBox="1"/>
          <p:nvPr/>
        </p:nvSpPr>
        <p:spPr>
          <a:xfrm>
            <a:off x="5523743" y="3975028"/>
            <a:ext cx="754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PROMT</a:t>
            </a:r>
            <a:endParaRPr lang="es-US" sz="1400" dirty="0"/>
          </a:p>
        </p:txBody>
      </p:sp>
      <p:sp>
        <p:nvSpPr>
          <p:cNvPr id="49" name="Flecha: a la derecha 48">
            <a:extLst>
              <a:ext uri="{FF2B5EF4-FFF2-40B4-BE49-F238E27FC236}">
                <a16:creationId xmlns:a16="http://schemas.microsoft.com/office/drawing/2014/main" id="{150E1872-288F-5E85-637A-ADCF7399B355}"/>
              </a:ext>
            </a:extLst>
          </p:cNvPr>
          <p:cNvSpPr/>
          <p:nvPr/>
        </p:nvSpPr>
        <p:spPr>
          <a:xfrm>
            <a:off x="6439763" y="4076663"/>
            <a:ext cx="572357" cy="158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sz="1400"/>
          </a:p>
        </p:txBody>
      </p:sp>
      <p:sp>
        <p:nvSpPr>
          <p:cNvPr id="50" name="Flecha: hacia abajo 49">
            <a:extLst>
              <a:ext uri="{FF2B5EF4-FFF2-40B4-BE49-F238E27FC236}">
                <a16:creationId xmlns:a16="http://schemas.microsoft.com/office/drawing/2014/main" id="{D91A7F5B-F8F2-B86C-E34E-C7D31790B1CA}"/>
              </a:ext>
            </a:extLst>
          </p:cNvPr>
          <p:cNvSpPr/>
          <p:nvPr/>
        </p:nvSpPr>
        <p:spPr>
          <a:xfrm>
            <a:off x="8917678" y="2703860"/>
            <a:ext cx="176858" cy="4215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sz="1400"/>
          </a:p>
        </p:txBody>
      </p:sp>
      <p:sp>
        <p:nvSpPr>
          <p:cNvPr id="52" name="Corchetes 51">
            <a:extLst>
              <a:ext uri="{FF2B5EF4-FFF2-40B4-BE49-F238E27FC236}">
                <a16:creationId xmlns:a16="http://schemas.microsoft.com/office/drawing/2014/main" id="{AC199C38-9B08-2E7C-05FE-00196954EF3F}"/>
              </a:ext>
            </a:extLst>
          </p:cNvPr>
          <p:cNvSpPr/>
          <p:nvPr/>
        </p:nvSpPr>
        <p:spPr>
          <a:xfrm>
            <a:off x="7127377" y="3684076"/>
            <a:ext cx="1477390" cy="937918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US" sz="1400"/>
          </a:p>
        </p:txBody>
      </p:sp>
      <p:sp>
        <p:nvSpPr>
          <p:cNvPr id="54" name="Corchetes 53">
            <a:extLst>
              <a:ext uri="{FF2B5EF4-FFF2-40B4-BE49-F238E27FC236}">
                <a16:creationId xmlns:a16="http://schemas.microsoft.com/office/drawing/2014/main" id="{FE572607-8CBA-F5E2-AC77-484BAC29E516}"/>
              </a:ext>
            </a:extLst>
          </p:cNvPr>
          <p:cNvSpPr/>
          <p:nvPr/>
        </p:nvSpPr>
        <p:spPr>
          <a:xfrm>
            <a:off x="9388483" y="3640570"/>
            <a:ext cx="2776073" cy="937918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US" sz="140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DD6F81CC-EB6C-3610-E906-5467530A63D2}"/>
              </a:ext>
            </a:extLst>
          </p:cNvPr>
          <p:cNvSpPr txBox="1"/>
          <p:nvPr/>
        </p:nvSpPr>
        <p:spPr>
          <a:xfrm>
            <a:off x="7186192" y="3825115"/>
            <a:ext cx="1395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Búsqueda de información</a:t>
            </a:r>
            <a:endParaRPr lang="es-US" sz="1400" dirty="0"/>
          </a:p>
        </p:txBody>
      </p:sp>
      <p:sp>
        <p:nvSpPr>
          <p:cNvPr id="58" name="Flecha: a la derecha 57">
            <a:extLst>
              <a:ext uri="{FF2B5EF4-FFF2-40B4-BE49-F238E27FC236}">
                <a16:creationId xmlns:a16="http://schemas.microsoft.com/office/drawing/2014/main" id="{4728616A-B1B5-6A2D-922A-553CFAA46AD2}"/>
              </a:ext>
            </a:extLst>
          </p:cNvPr>
          <p:cNvSpPr/>
          <p:nvPr/>
        </p:nvSpPr>
        <p:spPr>
          <a:xfrm>
            <a:off x="8751880" y="4111752"/>
            <a:ext cx="572357" cy="158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sz="1400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BD504E6D-8BDE-7070-239B-4C4B615E37BF}"/>
              </a:ext>
            </a:extLst>
          </p:cNvPr>
          <p:cNvSpPr txBox="1"/>
          <p:nvPr/>
        </p:nvSpPr>
        <p:spPr>
          <a:xfrm>
            <a:off x="9457130" y="3792649"/>
            <a:ext cx="2617589" cy="3077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1400" b="1" dirty="0"/>
              <a:t>Planteamiento del problema</a:t>
            </a:r>
            <a:endParaRPr lang="es-US" sz="1400" b="1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6FC269D8-1570-FEF8-DF91-60AD469524AC}"/>
              </a:ext>
            </a:extLst>
          </p:cNvPr>
          <p:cNvSpPr txBox="1"/>
          <p:nvPr/>
        </p:nvSpPr>
        <p:spPr>
          <a:xfrm>
            <a:off x="9452490" y="4076663"/>
            <a:ext cx="1593461" cy="3077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1400" b="1" dirty="0"/>
              <a:t>Justificación</a:t>
            </a:r>
            <a:endParaRPr lang="es-US" sz="1400" b="1" dirty="0"/>
          </a:p>
        </p:txBody>
      </p:sp>
      <p:sp>
        <p:nvSpPr>
          <p:cNvPr id="74" name="Cerrar llave 73">
            <a:extLst>
              <a:ext uri="{FF2B5EF4-FFF2-40B4-BE49-F238E27FC236}">
                <a16:creationId xmlns:a16="http://schemas.microsoft.com/office/drawing/2014/main" id="{6BA46378-6CCF-006E-18C8-130FC63524F8}"/>
              </a:ext>
            </a:extLst>
          </p:cNvPr>
          <p:cNvSpPr/>
          <p:nvPr/>
        </p:nvSpPr>
        <p:spPr>
          <a:xfrm>
            <a:off x="5637101" y="5969787"/>
            <a:ext cx="512902" cy="75443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US" sz="1400" dirty="0"/>
          </a:p>
        </p:txBody>
      </p:sp>
      <p:pic>
        <p:nvPicPr>
          <p:cNvPr id="76" name="Imagen 75">
            <a:extLst>
              <a:ext uri="{FF2B5EF4-FFF2-40B4-BE49-F238E27FC236}">
                <a16:creationId xmlns:a16="http://schemas.microsoft.com/office/drawing/2014/main" id="{5693F6B4-F0A2-A80A-AF49-1DD97CD2F61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1657" b="24889"/>
          <a:stretch>
            <a:fillRect/>
          </a:stretch>
        </p:blipFill>
        <p:spPr>
          <a:xfrm>
            <a:off x="3090780" y="5358076"/>
            <a:ext cx="799533" cy="224819"/>
          </a:xfrm>
          <a:prstGeom prst="rect">
            <a:avLst/>
          </a:prstGeom>
        </p:spPr>
      </p:pic>
      <p:pic>
        <p:nvPicPr>
          <p:cNvPr id="78" name="Imagen 77">
            <a:extLst>
              <a:ext uri="{FF2B5EF4-FFF2-40B4-BE49-F238E27FC236}">
                <a16:creationId xmlns:a16="http://schemas.microsoft.com/office/drawing/2014/main" id="{D021EC71-CAF5-A5BE-DF17-6128DF01AD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5171" y="5695830"/>
            <a:ext cx="717442" cy="153886"/>
          </a:xfrm>
          <a:prstGeom prst="rect">
            <a:avLst/>
          </a:prstGeom>
        </p:spPr>
      </p:pic>
      <p:pic>
        <p:nvPicPr>
          <p:cNvPr id="80" name="Imagen 79">
            <a:extLst>
              <a:ext uri="{FF2B5EF4-FFF2-40B4-BE49-F238E27FC236}">
                <a16:creationId xmlns:a16="http://schemas.microsoft.com/office/drawing/2014/main" id="{1639D7AB-370A-35AD-B516-59618CCAB24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1453" t="33700" r="25621" b="35845"/>
          <a:stretch>
            <a:fillRect/>
          </a:stretch>
        </p:blipFill>
        <p:spPr>
          <a:xfrm>
            <a:off x="3167725" y="5054378"/>
            <a:ext cx="704888" cy="281306"/>
          </a:xfrm>
          <a:prstGeom prst="rect">
            <a:avLst/>
          </a:prstGeom>
        </p:spPr>
      </p:pic>
      <p:sp>
        <p:nvSpPr>
          <p:cNvPr id="81" name="Cerrar corchete 80">
            <a:extLst>
              <a:ext uri="{FF2B5EF4-FFF2-40B4-BE49-F238E27FC236}">
                <a16:creationId xmlns:a16="http://schemas.microsoft.com/office/drawing/2014/main" id="{102EEA22-0DAC-425D-5680-0E4D8C70858F}"/>
              </a:ext>
            </a:extLst>
          </p:cNvPr>
          <p:cNvSpPr/>
          <p:nvPr/>
        </p:nvSpPr>
        <p:spPr>
          <a:xfrm>
            <a:off x="3795506" y="5054378"/>
            <a:ext cx="166856" cy="909347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83" name="Flecha: doblada 82">
            <a:extLst>
              <a:ext uri="{FF2B5EF4-FFF2-40B4-BE49-F238E27FC236}">
                <a16:creationId xmlns:a16="http://schemas.microsoft.com/office/drawing/2014/main" id="{2D5A95E8-E597-FE2B-67A0-4ED92BC174A2}"/>
              </a:ext>
            </a:extLst>
          </p:cNvPr>
          <p:cNvSpPr/>
          <p:nvPr/>
        </p:nvSpPr>
        <p:spPr>
          <a:xfrm rot="5400000">
            <a:off x="3924905" y="5574448"/>
            <a:ext cx="514082" cy="318672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3801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>
              <a:solidFill>
                <a:schemeClr val="tx1"/>
              </a:solidFill>
            </a:endParaRP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149EC4AB-EA42-523D-A9AE-70F1D73F7155}"/>
              </a:ext>
            </a:extLst>
          </p:cNvPr>
          <p:cNvSpPr txBox="1"/>
          <p:nvPr/>
        </p:nvSpPr>
        <p:spPr>
          <a:xfrm>
            <a:off x="4341282" y="5495037"/>
            <a:ext cx="155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b="1" dirty="0"/>
              <a:t>Estructura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3ED8AFBB-6129-F14C-5FCE-6DEDE4FEC6FE}"/>
              </a:ext>
            </a:extLst>
          </p:cNvPr>
          <p:cNvSpPr txBox="1"/>
          <p:nvPr/>
        </p:nvSpPr>
        <p:spPr>
          <a:xfrm>
            <a:off x="6298449" y="6215019"/>
            <a:ext cx="965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Preguntas</a:t>
            </a:r>
            <a:endParaRPr lang="es-US" sz="1400" dirty="0"/>
          </a:p>
        </p:txBody>
      </p:sp>
      <p:sp>
        <p:nvSpPr>
          <p:cNvPr id="88" name="Flecha: a la derecha 87">
            <a:extLst>
              <a:ext uri="{FF2B5EF4-FFF2-40B4-BE49-F238E27FC236}">
                <a16:creationId xmlns:a16="http://schemas.microsoft.com/office/drawing/2014/main" id="{9DAAD566-2590-E88C-CE8F-FB7A2D4B44F5}"/>
              </a:ext>
            </a:extLst>
          </p:cNvPr>
          <p:cNvSpPr/>
          <p:nvPr/>
        </p:nvSpPr>
        <p:spPr>
          <a:xfrm>
            <a:off x="7214469" y="6316654"/>
            <a:ext cx="572357" cy="158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sz="1400"/>
          </a:p>
        </p:txBody>
      </p:sp>
      <p:sp>
        <p:nvSpPr>
          <p:cNvPr id="90" name="Corchetes 89">
            <a:extLst>
              <a:ext uri="{FF2B5EF4-FFF2-40B4-BE49-F238E27FC236}">
                <a16:creationId xmlns:a16="http://schemas.microsoft.com/office/drawing/2014/main" id="{ECFF701F-B830-94EF-1594-D8379E52E641}"/>
              </a:ext>
            </a:extLst>
          </p:cNvPr>
          <p:cNvSpPr/>
          <p:nvPr/>
        </p:nvSpPr>
        <p:spPr>
          <a:xfrm>
            <a:off x="7902083" y="5969787"/>
            <a:ext cx="1728876" cy="69344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US" sz="1400"/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A217A580-0BFF-AA73-EB5F-9A5CF4FE0F01}"/>
              </a:ext>
            </a:extLst>
          </p:cNvPr>
          <p:cNvSpPr txBox="1"/>
          <p:nvPr/>
        </p:nvSpPr>
        <p:spPr>
          <a:xfrm>
            <a:off x="7960898" y="6065106"/>
            <a:ext cx="1578008" cy="5232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1400" b="1" dirty="0"/>
              <a:t>Marco Teórico y estado del arte</a:t>
            </a:r>
            <a:endParaRPr lang="es-US" sz="1400" b="1" dirty="0"/>
          </a:p>
        </p:txBody>
      </p: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0C993F79-D6CD-C9FD-F019-34C933EDF8FC}"/>
              </a:ext>
            </a:extLst>
          </p:cNvPr>
          <p:cNvCxnSpPr/>
          <p:nvPr/>
        </p:nvCxnSpPr>
        <p:spPr>
          <a:xfrm>
            <a:off x="27444" y="3429000"/>
            <a:ext cx="121645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EC2376EE-63FC-9CFA-37FE-A1F1F35A622C}"/>
              </a:ext>
            </a:extLst>
          </p:cNvPr>
          <p:cNvCxnSpPr/>
          <p:nvPr/>
        </p:nvCxnSpPr>
        <p:spPr>
          <a:xfrm>
            <a:off x="0" y="4934712"/>
            <a:ext cx="121645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61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5" grpId="0" animBg="1"/>
      <p:bldP spid="26" grpId="0"/>
      <p:bldP spid="34" grpId="0" animBg="1"/>
      <p:bldP spid="35" grpId="0"/>
      <p:bldP spid="36" grpId="0" animBg="1"/>
      <p:bldP spid="37" grpId="0" animBg="1"/>
      <p:bldP spid="39" grpId="0" animBg="1"/>
      <p:bldP spid="41" grpId="0" animBg="1"/>
      <p:bldP spid="43" grpId="0" animBg="1"/>
      <p:bldP spid="45" grpId="0" animBg="1"/>
      <p:bldP spid="47" grpId="0"/>
      <p:bldP spid="49" grpId="0" animBg="1"/>
      <p:bldP spid="50" grpId="0" animBg="1"/>
      <p:bldP spid="52" grpId="0" animBg="1"/>
      <p:bldP spid="54" grpId="0" animBg="1"/>
      <p:bldP spid="56" grpId="0"/>
      <p:bldP spid="58" grpId="0" animBg="1"/>
      <p:bldP spid="60" grpId="0" animBg="1"/>
      <p:bldP spid="62" grpId="0" animBg="1"/>
      <p:bldP spid="74" grpId="0" animBg="1"/>
      <p:bldP spid="81" grpId="0" animBg="1"/>
      <p:bldP spid="83" grpId="0" animBg="1"/>
      <p:bldP spid="84" grpId="0"/>
      <p:bldP spid="86" grpId="0"/>
      <p:bldP spid="88" grpId="0" animBg="1"/>
      <p:bldP spid="90" grpId="0" animBg="1"/>
      <p:bldP spid="9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AD725-56D9-4993-7CF6-7AED7BA3D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agen 97">
            <a:extLst>
              <a:ext uri="{FF2B5EF4-FFF2-40B4-BE49-F238E27FC236}">
                <a16:creationId xmlns:a16="http://schemas.microsoft.com/office/drawing/2014/main" id="{CE22685E-B47D-EA11-0B0A-4CA7DAD40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836" y="5278564"/>
            <a:ext cx="927666" cy="92766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8413890-7486-6A1C-8748-A6A30515A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697"/>
            <a:ext cx="3695963" cy="611033"/>
          </a:xfr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s-ES" b="1" dirty="0"/>
              <a:t>Lo que sigue</a:t>
            </a:r>
            <a:endParaRPr lang="es-US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D52E545-21B5-16D8-A52A-5D7A87034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073" y="263393"/>
            <a:ext cx="2595690" cy="273449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74135795-3E6A-81F0-10C2-1CAD7E1E40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64" t="36800" r="8147" b="39366"/>
          <a:stretch>
            <a:fillRect/>
          </a:stretch>
        </p:blipFill>
        <p:spPr>
          <a:xfrm>
            <a:off x="341414" y="6142604"/>
            <a:ext cx="1740586" cy="339808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B2FB4265-A869-B0B4-E9AC-553E48EEB270}"/>
              </a:ext>
            </a:extLst>
          </p:cNvPr>
          <p:cNvSpPr txBox="1"/>
          <p:nvPr/>
        </p:nvSpPr>
        <p:spPr>
          <a:xfrm>
            <a:off x="755613" y="3766432"/>
            <a:ext cx="754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PROMT</a:t>
            </a:r>
            <a:endParaRPr lang="es-US" sz="1400" dirty="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8516212-7CFE-09B4-6C6F-4DCB61DDCCCB}"/>
              </a:ext>
            </a:extLst>
          </p:cNvPr>
          <p:cNvCxnSpPr/>
          <p:nvPr/>
        </p:nvCxnSpPr>
        <p:spPr>
          <a:xfrm>
            <a:off x="2532888" y="1051560"/>
            <a:ext cx="0" cy="5806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Imagen 12">
            <a:extLst>
              <a:ext uri="{FF2B5EF4-FFF2-40B4-BE49-F238E27FC236}">
                <a16:creationId xmlns:a16="http://schemas.microsoft.com/office/drawing/2014/main" id="{7E67E142-B76B-1B63-04B1-B4D50D44F6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657" b="24889"/>
          <a:stretch>
            <a:fillRect/>
          </a:stretch>
        </p:blipFill>
        <p:spPr>
          <a:xfrm>
            <a:off x="760373" y="2563399"/>
            <a:ext cx="1039658" cy="29233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FCCE534-440A-4BF0-6BBC-A2E27DA892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0222" y="2108599"/>
            <a:ext cx="1048143" cy="22481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52B65C6-B273-D0FA-8147-5D987EC388C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453" t="33700" r="25621" b="35845"/>
          <a:stretch>
            <a:fillRect/>
          </a:stretch>
        </p:blipFill>
        <p:spPr>
          <a:xfrm>
            <a:off x="115686" y="2166550"/>
            <a:ext cx="851478" cy="339807"/>
          </a:xfrm>
          <a:prstGeom prst="rect">
            <a:avLst/>
          </a:prstGeom>
        </p:spPr>
      </p:pic>
      <p:sp>
        <p:nvSpPr>
          <p:cNvPr id="18" name="Cerrar corchete 17">
            <a:extLst>
              <a:ext uri="{FF2B5EF4-FFF2-40B4-BE49-F238E27FC236}">
                <a16:creationId xmlns:a16="http://schemas.microsoft.com/office/drawing/2014/main" id="{04D95A80-B30E-8A2D-2C8A-4DA8EE02DEE7}"/>
              </a:ext>
            </a:extLst>
          </p:cNvPr>
          <p:cNvSpPr/>
          <p:nvPr/>
        </p:nvSpPr>
        <p:spPr>
          <a:xfrm rot="5400000">
            <a:off x="1165045" y="1973857"/>
            <a:ext cx="125543" cy="1832632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033FD9C-2E07-13FF-FBB6-F6E4EFD1E520}"/>
              </a:ext>
            </a:extLst>
          </p:cNvPr>
          <p:cNvSpPr txBox="1"/>
          <p:nvPr/>
        </p:nvSpPr>
        <p:spPr>
          <a:xfrm>
            <a:off x="388326" y="4846813"/>
            <a:ext cx="1552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/>
              <a:t>Estructura</a:t>
            </a:r>
          </a:p>
          <a:p>
            <a:pPr algn="ctr"/>
            <a:r>
              <a:rPr lang="es-US" b="1" dirty="0"/>
              <a:t>Preguntas </a:t>
            </a:r>
          </a:p>
        </p:txBody>
      </p:sp>
      <p:sp>
        <p:nvSpPr>
          <p:cNvPr id="23" name="Flecha: hacia abajo 22">
            <a:extLst>
              <a:ext uri="{FF2B5EF4-FFF2-40B4-BE49-F238E27FC236}">
                <a16:creationId xmlns:a16="http://schemas.microsoft.com/office/drawing/2014/main" id="{D50699EE-FB6A-2C5E-49E7-BA7660B6F037}"/>
              </a:ext>
            </a:extLst>
          </p:cNvPr>
          <p:cNvSpPr/>
          <p:nvPr/>
        </p:nvSpPr>
        <p:spPr>
          <a:xfrm>
            <a:off x="1059307" y="3091981"/>
            <a:ext cx="210308" cy="4977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9" name="Flecha: hacia abajo 28">
            <a:extLst>
              <a:ext uri="{FF2B5EF4-FFF2-40B4-BE49-F238E27FC236}">
                <a16:creationId xmlns:a16="http://schemas.microsoft.com/office/drawing/2014/main" id="{D41321D3-2B74-8771-1369-B4CB283B8041}"/>
              </a:ext>
            </a:extLst>
          </p:cNvPr>
          <p:cNvSpPr/>
          <p:nvPr/>
        </p:nvSpPr>
        <p:spPr>
          <a:xfrm>
            <a:off x="1023264" y="5538872"/>
            <a:ext cx="210308" cy="4977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2AE37E9-6809-7523-8725-701DB72889FB}"/>
              </a:ext>
            </a:extLst>
          </p:cNvPr>
          <p:cNvSpPr txBox="1"/>
          <p:nvPr/>
        </p:nvSpPr>
        <p:spPr>
          <a:xfrm>
            <a:off x="192024" y="1364856"/>
            <a:ext cx="210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u="sng" dirty="0">
                <a:solidFill>
                  <a:schemeClr val="accent2"/>
                </a:solidFill>
              </a:rPr>
              <a:t>Alternativa 1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0F998B1-6BAE-2DA7-55F7-3A42F2C598DB}"/>
              </a:ext>
            </a:extLst>
          </p:cNvPr>
          <p:cNvSpPr txBox="1"/>
          <p:nvPr/>
        </p:nvSpPr>
        <p:spPr>
          <a:xfrm>
            <a:off x="2639654" y="1320342"/>
            <a:ext cx="210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u="sng" dirty="0">
                <a:solidFill>
                  <a:schemeClr val="accent2"/>
                </a:solidFill>
              </a:rPr>
              <a:t>Alternativa 2</a:t>
            </a:r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28C0E4FB-B741-0A60-10E3-8C5D8DC8C5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657" b="24889"/>
          <a:stretch>
            <a:fillRect/>
          </a:stretch>
        </p:blipFill>
        <p:spPr>
          <a:xfrm>
            <a:off x="3300365" y="2507164"/>
            <a:ext cx="1039658" cy="292339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B0B7B2ED-8EE5-75FC-2201-034EA4A56F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0214" y="2052364"/>
            <a:ext cx="1048143" cy="224819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39AC87D2-BFE6-15E9-7B7D-A301629E105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453" t="33700" r="25621" b="35845"/>
          <a:stretch>
            <a:fillRect/>
          </a:stretch>
        </p:blipFill>
        <p:spPr>
          <a:xfrm>
            <a:off x="2655678" y="2110315"/>
            <a:ext cx="851478" cy="339807"/>
          </a:xfrm>
          <a:prstGeom prst="rect">
            <a:avLst/>
          </a:prstGeom>
        </p:spPr>
      </p:pic>
      <p:sp>
        <p:nvSpPr>
          <p:cNvPr id="44" name="Cerrar corchete 43">
            <a:extLst>
              <a:ext uri="{FF2B5EF4-FFF2-40B4-BE49-F238E27FC236}">
                <a16:creationId xmlns:a16="http://schemas.microsoft.com/office/drawing/2014/main" id="{26667753-97D6-8595-2F4E-D14B97EE79E4}"/>
              </a:ext>
            </a:extLst>
          </p:cNvPr>
          <p:cNvSpPr/>
          <p:nvPr/>
        </p:nvSpPr>
        <p:spPr>
          <a:xfrm rot="5400000">
            <a:off x="3705037" y="1917622"/>
            <a:ext cx="125543" cy="1832632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46" name="Flecha: hacia abajo 45">
            <a:extLst>
              <a:ext uri="{FF2B5EF4-FFF2-40B4-BE49-F238E27FC236}">
                <a16:creationId xmlns:a16="http://schemas.microsoft.com/office/drawing/2014/main" id="{EF5B5D4C-CA1B-D982-EF8C-5E189420843E}"/>
              </a:ext>
            </a:extLst>
          </p:cNvPr>
          <p:cNvSpPr/>
          <p:nvPr/>
        </p:nvSpPr>
        <p:spPr>
          <a:xfrm>
            <a:off x="3599299" y="3035746"/>
            <a:ext cx="210308" cy="4977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D090FC00-8F15-A599-B63C-EBCC587D8E11}"/>
              </a:ext>
            </a:extLst>
          </p:cNvPr>
          <p:cNvCxnSpPr/>
          <p:nvPr/>
        </p:nvCxnSpPr>
        <p:spPr>
          <a:xfrm>
            <a:off x="5099304" y="1064007"/>
            <a:ext cx="0" cy="5806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lecha: hacia abajo 52">
            <a:extLst>
              <a:ext uri="{FF2B5EF4-FFF2-40B4-BE49-F238E27FC236}">
                <a16:creationId xmlns:a16="http://schemas.microsoft.com/office/drawing/2014/main" id="{B8E80885-968A-8DB9-A223-7B8453ED1927}"/>
              </a:ext>
            </a:extLst>
          </p:cNvPr>
          <p:cNvSpPr/>
          <p:nvPr/>
        </p:nvSpPr>
        <p:spPr>
          <a:xfrm>
            <a:off x="1039373" y="4239175"/>
            <a:ext cx="210308" cy="4977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49F20989-7613-2EA1-96D7-4CA757A2357C}"/>
              </a:ext>
            </a:extLst>
          </p:cNvPr>
          <p:cNvSpPr txBox="1"/>
          <p:nvPr/>
        </p:nvSpPr>
        <p:spPr>
          <a:xfrm>
            <a:off x="2851493" y="3656528"/>
            <a:ext cx="20196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PROMT</a:t>
            </a:r>
          </a:p>
          <a:p>
            <a:endParaRPr lang="es-ES" sz="1400" dirty="0"/>
          </a:p>
          <a:p>
            <a:r>
              <a:rPr lang="es-ES" sz="1400" dirty="0"/>
              <a:t>En modo: Investigación o Búsqueda profunda</a:t>
            </a:r>
            <a:endParaRPr lang="es-US" sz="1400" dirty="0"/>
          </a:p>
        </p:txBody>
      </p:sp>
      <p:sp>
        <p:nvSpPr>
          <p:cNvPr id="59" name="Flecha: hacia abajo 58">
            <a:extLst>
              <a:ext uri="{FF2B5EF4-FFF2-40B4-BE49-F238E27FC236}">
                <a16:creationId xmlns:a16="http://schemas.microsoft.com/office/drawing/2014/main" id="{1373D326-2EC1-A4F0-F414-26522DEA3127}"/>
              </a:ext>
            </a:extLst>
          </p:cNvPr>
          <p:cNvSpPr/>
          <p:nvPr/>
        </p:nvSpPr>
        <p:spPr>
          <a:xfrm>
            <a:off x="3596861" y="4719508"/>
            <a:ext cx="210308" cy="4977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7DCE477-566C-8196-E9FB-B5256A30EBB5}"/>
              </a:ext>
            </a:extLst>
          </p:cNvPr>
          <p:cNvSpPr txBox="1"/>
          <p:nvPr/>
        </p:nvSpPr>
        <p:spPr>
          <a:xfrm>
            <a:off x="2915079" y="5308478"/>
            <a:ext cx="155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/>
              <a:t>Informe </a:t>
            </a:r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730A3C11-2F34-6586-B18F-AC297B703B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2763" y="1064007"/>
            <a:ext cx="738167" cy="738167"/>
          </a:xfrm>
          <a:prstGeom prst="rect">
            <a:avLst/>
          </a:prstGeom>
        </p:spPr>
      </p:pic>
      <p:pic>
        <p:nvPicPr>
          <p:cNvPr id="66" name="Picture 2" descr="Scopus | BUNC">
            <a:extLst>
              <a:ext uri="{FF2B5EF4-FFF2-40B4-BE49-F238E27FC236}">
                <a16:creationId xmlns:a16="http://schemas.microsoft.com/office/drawing/2014/main" id="{05C5E00E-E3A0-1933-FCF5-EAE90A00E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3657" y="1066096"/>
            <a:ext cx="2164876" cy="108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CuadroTexto 67">
            <a:extLst>
              <a:ext uri="{FF2B5EF4-FFF2-40B4-BE49-F238E27FC236}">
                <a16:creationId xmlns:a16="http://schemas.microsoft.com/office/drawing/2014/main" id="{309EEAF4-541C-14B9-3C11-2DFFAEE2E997}"/>
              </a:ext>
            </a:extLst>
          </p:cNvPr>
          <p:cNvSpPr txBox="1"/>
          <p:nvPr/>
        </p:nvSpPr>
        <p:spPr>
          <a:xfrm>
            <a:off x="7638463" y="243714"/>
            <a:ext cx="210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u="sng" dirty="0">
                <a:solidFill>
                  <a:schemeClr val="accent2"/>
                </a:solidFill>
              </a:rPr>
              <a:t>Alternativa 3</a:t>
            </a:r>
          </a:p>
        </p:txBody>
      </p:sp>
      <p:sp>
        <p:nvSpPr>
          <p:cNvPr id="69" name="Cerrar llave 68">
            <a:extLst>
              <a:ext uri="{FF2B5EF4-FFF2-40B4-BE49-F238E27FC236}">
                <a16:creationId xmlns:a16="http://schemas.microsoft.com/office/drawing/2014/main" id="{0C3B8371-C8D4-BA3F-7BB8-96387170EAC1}"/>
              </a:ext>
            </a:extLst>
          </p:cNvPr>
          <p:cNvSpPr/>
          <p:nvPr/>
        </p:nvSpPr>
        <p:spPr>
          <a:xfrm rot="5400000">
            <a:off x="8433994" y="648268"/>
            <a:ext cx="512056" cy="279702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71" name="Imagen 70">
            <a:extLst>
              <a:ext uri="{FF2B5EF4-FFF2-40B4-BE49-F238E27FC236}">
                <a16:creationId xmlns:a16="http://schemas.microsoft.com/office/drawing/2014/main" id="{29DC0490-8F19-5D2E-C6EA-A24B5A823F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4490" y="3183244"/>
            <a:ext cx="1597772" cy="560885"/>
          </a:xfrm>
          <a:prstGeom prst="rect">
            <a:avLst/>
          </a:prstGeom>
        </p:spPr>
      </p:pic>
      <p:sp>
        <p:nvSpPr>
          <p:cNvPr id="73" name="Flecha: hacia abajo 72">
            <a:extLst>
              <a:ext uri="{FF2B5EF4-FFF2-40B4-BE49-F238E27FC236}">
                <a16:creationId xmlns:a16="http://schemas.microsoft.com/office/drawing/2014/main" id="{15CC4D8B-75A6-E266-C8EE-0DFD16551557}"/>
              </a:ext>
            </a:extLst>
          </p:cNvPr>
          <p:cNvSpPr/>
          <p:nvPr/>
        </p:nvSpPr>
        <p:spPr>
          <a:xfrm>
            <a:off x="8596238" y="3825342"/>
            <a:ext cx="210308" cy="4977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303ED1E8-502E-E262-1CE2-E23B467BBC33}"/>
              </a:ext>
            </a:extLst>
          </p:cNvPr>
          <p:cNvSpPr txBox="1"/>
          <p:nvPr/>
        </p:nvSpPr>
        <p:spPr>
          <a:xfrm>
            <a:off x="7263739" y="2247365"/>
            <a:ext cx="3153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/>
              <a:t>Metadatos bibliográficos </a:t>
            </a:r>
          </a:p>
        </p:txBody>
      </p:sp>
      <p:sp>
        <p:nvSpPr>
          <p:cNvPr id="79" name="Flecha: hacia abajo 78">
            <a:extLst>
              <a:ext uri="{FF2B5EF4-FFF2-40B4-BE49-F238E27FC236}">
                <a16:creationId xmlns:a16="http://schemas.microsoft.com/office/drawing/2014/main" id="{1D827E40-AF65-67D8-B019-CCBA75979E2A}"/>
              </a:ext>
            </a:extLst>
          </p:cNvPr>
          <p:cNvSpPr/>
          <p:nvPr/>
        </p:nvSpPr>
        <p:spPr>
          <a:xfrm>
            <a:off x="8573376" y="2634482"/>
            <a:ext cx="210308" cy="4977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6DBC8E22-A51F-4F64-39E6-F269DFB26D28}"/>
              </a:ext>
            </a:extLst>
          </p:cNvPr>
          <p:cNvSpPr txBox="1"/>
          <p:nvPr/>
        </p:nvSpPr>
        <p:spPr>
          <a:xfrm>
            <a:off x="7077632" y="4425969"/>
            <a:ext cx="3153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/>
              <a:t>Limpieza consolidación</a:t>
            </a:r>
          </a:p>
        </p:txBody>
      </p:sp>
      <p:sp>
        <p:nvSpPr>
          <p:cNvPr id="91" name="Cerrar llave 90">
            <a:extLst>
              <a:ext uri="{FF2B5EF4-FFF2-40B4-BE49-F238E27FC236}">
                <a16:creationId xmlns:a16="http://schemas.microsoft.com/office/drawing/2014/main" id="{57F23AA5-6DB7-666A-3784-520685CA5781}"/>
              </a:ext>
            </a:extLst>
          </p:cNvPr>
          <p:cNvSpPr/>
          <p:nvPr/>
        </p:nvSpPr>
        <p:spPr>
          <a:xfrm rot="16200000">
            <a:off x="8515611" y="3046656"/>
            <a:ext cx="536147" cy="398749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180A8106-E36F-5E68-3DD1-7015A6C2D899}"/>
              </a:ext>
            </a:extLst>
          </p:cNvPr>
          <p:cNvSpPr txBox="1"/>
          <p:nvPr/>
        </p:nvSpPr>
        <p:spPr>
          <a:xfrm>
            <a:off x="5327468" y="6244954"/>
            <a:ext cx="3153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/>
              <a:t>Búsqueda especializada</a:t>
            </a:r>
          </a:p>
        </p:txBody>
      </p:sp>
      <p:pic>
        <p:nvPicPr>
          <p:cNvPr id="96" name="Imagen 95">
            <a:extLst>
              <a:ext uri="{FF2B5EF4-FFF2-40B4-BE49-F238E27FC236}">
                <a16:creationId xmlns:a16="http://schemas.microsoft.com/office/drawing/2014/main" id="{842EC567-09D9-E513-2776-F856E906FC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78546" y="5306409"/>
            <a:ext cx="1597772" cy="560885"/>
          </a:xfrm>
          <a:prstGeom prst="rect">
            <a:avLst/>
          </a:prstGeom>
        </p:spPr>
      </p:pic>
      <p:sp>
        <p:nvSpPr>
          <p:cNvPr id="99" name="CuadroTexto 98">
            <a:extLst>
              <a:ext uri="{FF2B5EF4-FFF2-40B4-BE49-F238E27FC236}">
                <a16:creationId xmlns:a16="http://schemas.microsoft.com/office/drawing/2014/main" id="{8F1183ED-E614-CE26-4460-0CAB205CEC56}"/>
              </a:ext>
            </a:extLst>
          </p:cNvPr>
          <p:cNvSpPr txBox="1"/>
          <p:nvPr/>
        </p:nvSpPr>
        <p:spPr>
          <a:xfrm>
            <a:off x="9093657" y="5957938"/>
            <a:ext cx="3153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/>
              <a:t>Bibliometría </a:t>
            </a:r>
          </a:p>
        </p:txBody>
      </p:sp>
    </p:spTree>
    <p:extLst>
      <p:ext uri="{BB962C8B-B14F-4D97-AF65-F5344CB8AC3E}">
        <p14:creationId xmlns:p14="http://schemas.microsoft.com/office/powerpoint/2010/main" val="15535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/>
      <p:bldP spid="44" grpId="0" animBg="1"/>
      <p:bldP spid="61" grpId="0"/>
      <p:bldP spid="75" grpId="0"/>
      <p:bldP spid="82" grpId="0"/>
      <p:bldP spid="93" grpId="0"/>
      <p:bldP spid="9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17B77D0-6622-00AC-5A94-9395759C7081}"/>
              </a:ext>
            </a:extLst>
          </p:cNvPr>
          <p:cNvSpPr txBox="1">
            <a:spLocks/>
          </p:cNvSpPr>
          <p:nvPr/>
        </p:nvSpPr>
        <p:spPr>
          <a:xfrm>
            <a:off x="0" y="16697"/>
            <a:ext cx="3695963" cy="61103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b="1"/>
              <a:t>Lo que sigue</a:t>
            </a:r>
            <a:endParaRPr lang="es-US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542A33-B930-5617-1F1D-95F8FFFDE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901" y="4014070"/>
            <a:ext cx="927666" cy="92766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60B6346-45DA-41A6-0C09-3765F54EC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502" y="6371761"/>
            <a:ext cx="1894325" cy="19956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7EEA58C-C610-EC03-E9C6-27AF6DD9E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794" y="774095"/>
            <a:ext cx="738167" cy="738167"/>
          </a:xfrm>
          <a:prstGeom prst="rect">
            <a:avLst/>
          </a:prstGeom>
        </p:spPr>
      </p:pic>
      <p:pic>
        <p:nvPicPr>
          <p:cNvPr id="8" name="Picture 2" descr="Scopus | BUNC">
            <a:extLst>
              <a:ext uri="{FF2B5EF4-FFF2-40B4-BE49-F238E27FC236}">
                <a16:creationId xmlns:a16="http://schemas.microsoft.com/office/drawing/2014/main" id="{668800D9-4BA5-C4B9-6A6C-9C200E52F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8866" y="712568"/>
            <a:ext cx="2164876" cy="108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CA0036C-57B4-20D6-8719-470CECBFA059}"/>
              </a:ext>
            </a:extLst>
          </p:cNvPr>
          <p:cNvSpPr txBox="1"/>
          <p:nvPr/>
        </p:nvSpPr>
        <p:spPr>
          <a:xfrm>
            <a:off x="4906685" y="271146"/>
            <a:ext cx="2103120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US" b="1" u="sng" dirty="0"/>
              <a:t>Alternativa 3</a:t>
            </a:r>
          </a:p>
        </p:txBody>
      </p:sp>
      <p:sp>
        <p:nvSpPr>
          <p:cNvPr id="10" name="Cerrar llave 9">
            <a:extLst>
              <a:ext uri="{FF2B5EF4-FFF2-40B4-BE49-F238E27FC236}">
                <a16:creationId xmlns:a16="http://schemas.microsoft.com/office/drawing/2014/main" id="{6473C147-132B-5B72-1DD6-DBE65C16A6D8}"/>
              </a:ext>
            </a:extLst>
          </p:cNvPr>
          <p:cNvSpPr/>
          <p:nvPr/>
        </p:nvSpPr>
        <p:spPr>
          <a:xfrm rot="5400000">
            <a:off x="5644342" y="-663725"/>
            <a:ext cx="512056" cy="440881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265DEB1-7907-CFC8-8030-25C82524AB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5405" y="2825927"/>
            <a:ext cx="1472386" cy="516869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6C2F7CF5-5B5A-99C6-8BAE-B1D7C13A3283}"/>
              </a:ext>
            </a:extLst>
          </p:cNvPr>
          <p:cNvSpPr txBox="1"/>
          <p:nvPr/>
        </p:nvSpPr>
        <p:spPr>
          <a:xfrm>
            <a:off x="4531961" y="1741266"/>
            <a:ext cx="3153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/>
              <a:t>Metadatos bibliográficos </a:t>
            </a:r>
          </a:p>
        </p:txBody>
      </p:sp>
      <p:sp>
        <p:nvSpPr>
          <p:cNvPr id="14" name="Flecha: hacia abajo 13">
            <a:extLst>
              <a:ext uri="{FF2B5EF4-FFF2-40B4-BE49-F238E27FC236}">
                <a16:creationId xmlns:a16="http://schemas.microsoft.com/office/drawing/2014/main" id="{64D8CDC3-9956-EB43-4741-F8B69A0DA3E5}"/>
              </a:ext>
            </a:extLst>
          </p:cNvPr>
          <p:cNvSpPr/>
          <p:nvPr/>
        </p:nvSpPr>
        <p:spPr>
          <a:xfrm>
            <a:off x="5841598" y="2128383"/>
            <a:ext cx="233170" cy="3501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47F0FCE-C5DE-5D8B-8DC1-35F63AA67117}"/>
              </a:ext>
            </a:extLst>
          </p:cNvPr>
          <p:cNvSpPr txBox="1"/>
          <p:nvPr/>
        </p:nvSpPr>
        <p:spPr>
          <a:xfrm>
            <a:off x="4381278" y="2478550"/>
            <a:ext cx="3153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/>
              <a:t>Limpieza consolidación</a:t>
            </a:r>
          </a:p>
        </p:txBody>
      </p:sp>
      <p:sp>
        <p:nvSpPr>
          <p:cNvPr id="16" name="Cerrar llave 15">
            <a:extLst>
              <a:ext uri="{FF2B5EF4-FFF2-40B4-BE49-F238E27FC236}">
                <a16:creationId xmlns:a16="http://schemas.microsoft.com/office/drawing/2014/main" id="{C9FBCC95-46FC-561A-2F02-CF81AB0DF7E1}"/>
              </a:ext>
            </a:extLst>
          </p:cNvPr>
          <p:cNvSpPr/>
          <p:nvPr/>
        </p:nvSpPr>
        <p:spPr>
          <a:xfrm rot="16200000">
            <a:off x="5712102" y="-1137274"/>
            <a:ext cx="536147" cy="932688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4080292-86B6-9E75-A236-C1BAC35D80A6}"/>
              </a:ext>
            </a:extLst>
          </p:cNvPr>
          <p:cNvSpPr txBox="1"/>
          <p:nvPr/>
        </p:nvSpPr>
        <p:spPr>
          <a:xfrm>
            <a:off x="0" y="3755340"/>
            <a:ext cx="3153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/>
              <a:t>Búsqueda especializada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140CF49C-6B38-0C47-7902-BB5135C57E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4732" y="4054837"/>
            <a:ext cx="1597772" cy="560885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4326E93E-13A7-A2AD-90E6-5A8FC57123FC}"/>
              </a:ext>
            </a:extLst>
          </p:cNvPr>
          <p:cNvSpPr txBox="1"/>
          <p:nvPr/>
        </p:nvSpPr>
        <p:spPr>
          <a:xfrm>
            <a:off x="9159943" y="3755340"/>
            <a:ext cx="3153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/>
              <a:t>Bibliometría 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762D2561-3D99-AFD3-794E-DA9A1735FA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4660" y="5741883"/>
            <a:ext cx="645907" cy="906861"/>
          </a:xfrm>
          <a:prstGeom prst="rect">
            <a:avLst/>
          </a:prstGeom>
        </p:spPr>
      </p:pic>
      <p:sp>
        <p:nvSpPr>
          <p:cNvPr id="23" name="Cerrar llave 22">
            <a:extLst>
              <a:ext uri="{FF2B5EF4-FFF2-40B4-BE49-F238E27FC236}">
                <a16:creationId xmlns:a16="http://schemas.microsoft.com/office/drawing/2014/main" id="{7A3BC445-59D2-F34B-350C-BF0AAE309492}"/>
              </a:ext>
            </a:extLst>
          </p:cNvPr>
          <p:cNvSpPr/>
          <p:nvPr/>
        </p:nvSpPr>
        <p:spPr>
          <a:xfrm>
            <a:off x="1758558" y="5711074"/>
            <a:ext cx="856626" cy="1011081"/>
          </a:xfrm>
          <a:prstGeom prst="rightBrace">
            <a:avLst>
              <a:gd name="adj1" fmla="val 8333"/>
              <a:gd name="adj2" fmla="val 518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6F141148-5EFD-162A-C9BA-3E486FCED64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4187" t="23331" r="23312" b="22966"/>
          <a:stretch>
            <a:fillRect/>
          </a:stretch>
        </p:blipFill>
        <p:spPr>
          <a:xfrm>
            <a:off x="571198" y="6266779"/>
            <a:ext cx="373404" cy="381965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C40A2394-5EE0-7906-5295-517B834E66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9615" y="5661099"/>
            <a:ext cx="745045" cy="559544"/>
          </a:xfrm>
          <a:prstGeom prst="rect">
            <a:avLst/>
          </a:prstGeom>
        </p:spPr>
      </p:pic>
      <p:sp>
        <p:nvSpPr>
          <p:cNvPr id="28" name="Flecha: hacia abajo 27">
            <a:extLst>
              <a:ext uri="{FF2B5EF4-FFF2-40B4-BE49-F238E27FC236}">
                <a16:creationId xmlns:a16="http://schemas.microsoft.com/office/drawing/2014/main" id="{2DA2326B-C506-1BA4-75FA-7BB39D6678C2}"/>
              </a:ext>
            </a:extLst>
          </p:cNvPr>
          <p:cNvSpPr/>
          <p:nvPr/>
        </p:nvSpPr>
        <p:spPr>
          <a:xfrm>
            <a:off x="1200148" y="4991575"/>
            <a:ext cx="233170" cy="3501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872BFE9-DD4F-399F-6CA5-2B1AF8026BFC}"/>
              </a:ext>
            </a:extLst>
          </p:cNvPr>
          <p:cNvSpPr txBox="1"/>
          <p:nvPr/>
        </p:nvSpPr>
        <p:spPr>
          <a:xfrm>
            <a:off x="-260172" y="5341742"/>
            <a:ext cx="3153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/>
              <a:t>Recopilar información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C3F59890-336E-5050-93D4-BADDF95CD9E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1453" t="33700" r="25621" b="35845"/>
          <a:stretch>
            <a:fillRect/>
          </a:stretch>
        </p:blipFill>
        <p:spPr>
          <a:xfrm>
            <a:off x="3052286" y="6000399"/>
            <a:ext cx="930548" cy="371362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9B9B4823-11DD-C5EB-3C9A-1836128B02E2}"/>
              </a:ext>
            </a:extLst>
          </p:cNvPr>
          <p:cNvSpPr txBox="1"/>
          <p:nvPr/>
        </p:nvSpPr>
        <p:spPr>
          <a:xfrm>
            <a:off x="796421" y="3047663"/>
            <a:ext cx="210312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US" b="1" u="sng" dirty="0"/>
              <a:t>Uso 1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10C1C1D-1553-D618-F50F-4B62344A1D7F}"/>
              </a:ext>
            </a:extLst>
          </p:cNvPr>
          <p:cNvSpPr txBox="1"/>
          <p:nvPr/>
        </p:nvSpPr>
        <p:spPr>
          <a:xfrm>
            <a:off x="9521850" y="3094563"/>
            <a:ext cx="210312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US" b="1" u="sng" dirty="0"/>
              <a:t>Uso 2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E4C3B60-1D6B-08AE-DC0A-87C653A59294}"/>
              </a:ext>
            </a:extLst>
          </p:cNvPr>
          <p:cNvSpPr txBox="1"/>
          <p:nvPr/>
        </p:nvSpPr>
        <p:spPr>
          <a:xfrm>
            <a:off x="2637636" y="5713104"/>
            <a:ext cx="189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/>
              <a:t>Elaborar texto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3502FE5-B8B6-9002-19C7-F953E697028D}"/>
              </a:ext>
            </a:extLst>
          </p:cNvPr>
          <p:cNvSpPr txBox="1"/>
          <p:nvPr/>
        </p:nvSpPr>
        <p:spPr>
          <a:xfrm>
            <a:off x="4381278" y="5632082"/>
            <a:ext cx="18943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000" dirty="0"/>
              <a:t>Marco Teórico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000" dirty="0"/>
              <a:t>Artículo de revisión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000" dirty="0"/>
              <a:t>Datos para meta-análisis </a:t>
            </a:r>
          </a:p>
        </p:txBody>
      </p:sp>
      <p:sp>
        <p:nvSpPr>
          <p:cNvPr id="46" name="Flecha: hacia abajo 45">
            <a:extLst>
              <a:ext uri="{FF2B5EF4-FFF2-40B4-BE49-F238E27FC236}">
                <a16:creationId xmlns:a16="http://schemas.microsoft.com/office/drawing/2014/main" id="{2E9A32FF-21D5-8609-DCC7-D12E93418794}"/>
              </a:ext>
            </a:extLst>
          </p:cNvPr>
          <p:cNvSpPr/>
          <p:nvPr/>
        </p:nvSpPr>
        <p:spPr>
          <a:xfrm>
            <a:off x="10620263" y="4611390"/>
            <a:ext cx="233170" cy="3501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7D43BC5A-ACFF-8EDB-95EE-2EF69AD67D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37214" y="5632082"/>
            <a:ext cx="758494" cy="866850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E62BF7AD-3B28-D1AE-DAAF-F0F009537ACB}"/>
              </a:ext>
            </a:extLst>
          </p:cNvPr>
          <p:cNvSpPr txBox="1"/>
          <p:nvPr/>
        </p:nvSpPr>
        <p:spPr>
          <a:xfrm>
            <a:off x="9844732" y="5003929"/>
            <a:ext cx="1894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/>
              <a:t>Gráfico bibliométrico </a:t>
            </a:r>
          </a:p>
        </p:txBody>
      </p:sp>
      <p:pic>
        <p:nvPicPr>
          <p:cNvPr id="52" name="Imagen 51">
            <a:extLst>
              <a:ext uri="{FF2B5EF4-FFF2-40B4-BE49-F238E27FC236}">
                <a16:creationId xmlns:a16="http://schemas.microsoft.com/office/drawing/2014/main" id="{351A51CD-0037-34E9-C922-236655F98D0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2785" y="2904294"/>
            <a:ext cx="1291992" cy="374936"/>
          </a:xfrm>
          <a:prstGeom prst="rect">
            <a:avLst/>
          </a:prstGeom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4F7D22A3-51C4-B429-C403-8F0C666E5AE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1489" y="4180563"/>
            <a:ext cx="1291992" cy="37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85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0FE0E8-038F-BEB5-6629-4C8A0360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111" y="1005204"/>
            <a:ext cx="5798078" cy="883609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s-US" b="1" dirty="0"/>
              <a:t>Instalar herramientas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93742E0-BA4A-3B84-55E6-00A47D0C69F2}"/>
              </a:ext>
            </a:extLst>
          </p:cNvPr>
          <p:cNvSpPr txBox="1">
            <a:spLocks/>
          </p:cNvSpPr>
          <p:nvPr/>
        </p:nvSpPr>
        <p:spPr>
          <a:xfrm>
            <a:off x="0" y="16697"/>
            <a:ext cx="3695963" cy="61103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b="1" dirty="0"/>
              <a:t>Hoy</a:t>
            </a:r>
            <a:endParaRPr lang="es-US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B97F786-DD01-1B0A-8077-C1F303A44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155" y="2774474"/>
            <a:ext cx="2517106" cy="8836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68DAC1D-BBCF-2E01-0242-F23B6362C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857" y="2847627"/>
            <a:ext cx="2792750" cy="81045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F052A7D-093A-1F87-E3D3-26E0654D5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111" y="5072583"/>
            <a:ext cx="2071116" cy="124267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ED1B78D-4F39-7512-7F2A-CDEA31832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5714" y="5072583"/>
            <a:ext cx="2193036" cy="124919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365B6C04-021A-F6AF-40A6-C2BECD53A999}"/>
              </a:ext>
            </a:extLst>
          </p:cNvPr>
          <p:cNvSpPr txBox="1"/>
          <p:nvPr/>
        </p:nvSpPr>
        <p:spPr>
          <a:xfrm>
            <a:off x="4319669" y="2081621"/>
            <a:ext cx="3153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/>
              <a:t>Lenguajes de programación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CA0375C-D530-42EA-B22F-FFB51BF9479D}"/>
              </a:ext>
            </a:extLst>
          </p:cNvPr>
          <p:cNvSpPr txBox="1"/>
          <p:nvPr/>
        </p:nvSpPr>
        <p:spPr>
          <a:xfrm>
            <a:off x="3934117" y="4222382"/>
            <a:ext cx="3858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/>
              <a:t>Agente de Inteligencia Artificial </a:t>
            </a:r>
          </a:p>
        </p:txBody>
      </p:sp>
    </p:spTree>
    <p:extLst>
      <p:ext uri="{BB962C8B-B14F-4D97-AF65-F5344CB8AC3E}">
        <p14:creationId xmlns:p14="http://schemas.microsoft.com/office/powerpoint/2010/main" val="1085205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7228B-84F4-8EC0-C867-CAE51788D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6600" b="1" dirty="0"/>
              <a:t>Herramientas de hoy</a:t>
            </a:r>
            <a:endParaRPr lang="es-US" sz="6600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0044F8D-0F89-FDB1-24BF-C8AD511D6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2" y="3656084"/>
            <a:ext cx="4925961" cy="221976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163FC63-0797-687E-8FF0-26FA99C6E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340" y="3564751"/>
            <a:ext cx="6224531" cy="258041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B0A28B9-9A64-B953-84BE-EBCF0915A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050" y="1690688"/>
            <a:ext cx="1560564" cy="1783502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95BC838-B3E5-5E11-8B88-3CFEA6E913FB}"/>
              </a:ext>
            </a:extLst>
          </p:cNvPr>
          <p:cNvSpPr txBox="1"/>
          <p:nvPr/>
        </p:nvSpPr>
        <p:spPr>
          <a:xfrm>
            <a:off x="4680464" y="1796223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i="0" dirty="0" err="1">
                <a:solidFill>
                  <a:srgbClr val="0A0A0A"/>
                </a:solidFill>
                <a:effectLst/>
                <a:latin typeface="Google Sans"/>
              </a:rPr>
              <a:t>Bibliometrix</a:t>
            </a:r>
            <a:r>
              <a:rPr lang="es-ES" b="0" i="0" dirty="0">
                <a:solidFill>
                  <a:srgbClr val="0A0A0A"/>
                </a:solidFill>
                <a:effectLst/>
                <a:latin typeface="Google Sans"/>
              </a:rPr>
              <a:t> es un </a:t>
            </a:r>
            <a:r>
              <a:rPr lang="es-ES" dirty="0"/>
              <a:t>paquete de software desarrollado en el lenguaje de programación </a:t>
            </a:r>
            <a:r>
              <a:rPr lang="es-ES" b="1" dirty="0">
                <a:effectLst/>
              </a:rPr>
              <a:t>R</a:t>
            </a:r>
            <a:r>
              <a:rPr lang="es-ES" dirty="0"/>
              <a:t> diseñado específicamente para realizar análisis bibliométricos y </a:t>
            </a:r>
            <a:r>
              <a:rPr lang="es-ES" dirty="0" err="1"/>
              <a:t>cienciométricos</a:t>
            </a:r>
            <a:r>
              <a:rPr lang="es-ES" dirty="0"/>
              <a:t> integrales</a:t>
            </a:r>
            <a:r>
              <a:rPr lang="es-ES" b="0" i="0" dirty="0">
                <a:solidFill>
                  <a:srgbClr val="0A0A0A"/>
                </a:solidFill>
                <a:effectLst/>
                <a:latin typeface="Google Sans"/>
              </a:rPr>
              <a:t>. Permite a los investigadores automatizar el flujo de trabajo de mapeo científico, desde la importación de datos hasta su visualización</a:t>
            </a: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3389433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2E1C895-AEA9-6606-B855-A8AD951D7222}"/>
              </a:ext>
            </a:extLst>
          </p:cNvPr>
          <p:cNvSpPr txBox="1"/>
          <p:nvPr/>
        </p:nvSpPr>
        <p:spPr>
          <a:xfrm>
            <a:off x="5257800" y="296733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/>
              <a:t>RStudio</a:t>
            </a:r>
            <a:r>
              <a:rPr lang="es-ES" dirty="0"/>
              <a:t> es un entorno de desarrollo integrado (IDE, por sus siglas en inglés) diseñado específicamente para facilitar el uso del lenguaje de programación </a:t>
            </a:r>
            <a:r>
              <a:rPr lang="es-ES" b="1" dirty="0"/>
              <a:t>R</a:t>
            </a:r>
            <a:endParaRPr lang="es-U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55AE5CB-9B18-CF60-C933-0AA255217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59" y="2805998"/>
            <a:ext cx="3549445" cy="1246003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68B8AE4-E75E-AAE9-8109-501971A15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ES" sz="6600" b="1" dirty="0"/>
              <a:t>Herramientas de hoy</a:t>
            </a:r>
            <a:endParaRPr lang="es-US" sz="6600" b="1" dirty="0"/>
          </a:p>
        </p:txBody>
      </p:sp>
    </p:spTree>
    <p:extLst>
      <p:ext uri="{BB962C8B-B14F-4D97-AF65-F5344CB8AC3E}">
        <p14:creationId xmlns:p14="http://schemas.microsoft.com/office/powerpoint/2010/main" val="1576249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4D1D2-0A8E-7F06-3E02-DF10F5F45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557" y="148817"/>
            <a:ext cx="6368845" cy="647598"/>
          </a:xfrm>
        </p:spPr>
        <p:txBody>
          <a:bodyPr>
            <a:normAutofit fontScale="90000"/>
          </a:bodyPr>
          <a:lstStyle/>
          <a:p>
            <a:pPr algn="ctr"/>
            <a:r>
              <a:rPr lang="es-ES" b="1" dirty="0">
                <a:solidFill>
                  <a:schemeClr val="accent6">
                    <a:lumMod val="50000"/>
                  </a:schemeClr>
                </a:solidFill>
              </a:rPr>
              <a:t>Descargar las referencias</a:t>
            </a:r>
            <a:endParaRPr lang="es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93D961F-1C65-A6B8-B929-BCC44F8F7041}"/>
              </a:ext>
            </a:extLst>
          </p:cNvPr>
          <p:cNvSpPr txBox="1">
            <a:spLocks/>
          </p:cNvSpPr>
          <p:nvPr/>
        </p:nvSpPr>
        <p:spPr>
          <a:xfrm>
            <a:off x="0" y="1264778"/>
            <a:ext cx="3982066" cy="6475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/>
              <a:t>Web </a:t>
            </a:r>
            <a:r>
              <a:rPr lang="es-ES" sz="3200" b="1" dirty="0" err="1"/>
              <a:t>Of</a:t>
            </a:r>
            <a:r>
              <a:rPr lang="es-ES" sz="3200" b="1" dirty="0"/>
              <a:t> </a:t>
            </a:r>
            <a:r>
              <a:rPr lang="es-ES" sz="3200" b="1" dirty="0" err="1"/>
              <a:t>Science</a:t>
            </a:r>
            <a:endParaRPr lang="es-US" sz="3200" b="1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259066F-B838-0EE7-C682-C446D5EF7373}"/>
              </a:ext>
            </a:extLst>
          </p:cNvPr>
          <p:cNvSpPr txBox="1">
            <a:spLocks/>
          </p:cNvSpPr>
          <p:nvPr/>
        </p:nvSpPr>
        <p:spPr>
          <a:xfrm>
            <a:off x="8209936" y="1191036"/>
            <a:ext cx="3982066" cy="6475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 err="1"/>
              <a:t>Scopus</a:t>
            </a:r>
            <a:endParaRPr lang="es-US" sz="3200" b="1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3F3292A-57C3-25DB-E38A-E0607EFFE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06" y="2231922"/>
            <a:ext cx="3810000" cy="3810000"/>
          </a:xfrm>
          <a:prstGeom prst="rect">
            <a:avLst/>
          </a:prstGeom>
        </p:spPr>
      </p:pic>
      <p:pic>
        <p:nvPicPr>
          <p:cNvPr id="1026" name="Picture 2" descr="Scopus | BUNC">
            <a:extLst>
              <a:ext uri="{FF2B5EF4-FFF2-40B4-BE49-F238E27FC236}">
                <a16:creationId xmlns:a16="http://schemas.microsoft.com/office/drawing/2014/main" id="{33C035B0-1E1A-489D-32D6-F27674EBF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020" y="2108405"/>
            <a:ext cx="6244712" cy="3122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0013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65C98-F7DC-AD84-1FBF-16A06B6B9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F4585-4AAB-9FC0-1EBC-64FA65B24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557" y="148817"/>
            <a:ext cx="6368845" cy="647598"/>
          </a:xfrm>
        </p:spPr>
        <p:txBody>
          <a:bodyPr>
            <a:normAutofit fontScale="90000"/>
          </a:bodyPr>
          <a:lstStyle/>
          <a:p>
            <a:pPr algn="ctr"/>
            <a:r>
              <a:rPr lang="es-ES" b="1" dirty="0">
                <a:solidFill>
                  <a:schemeClr val="accent6">
                    <a:lumMod val="50000"/>
                  </a:schemeClr>
                </a:solidFill>
              </a:rPr>
              <a:t>Descargar las referencias</a:t>
            </a:r>
            <a:endParaRPr lang="es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1F4AF2D-6FD3-BB71-84ED-5A80F3E39255}"/>
              </a:ext>
            </a:extLst>
          </p:cNvPr>
          <p:cNvSpPr txBox="1">
            <a:spLocks/>
          </p:cNvSpPr>
          <p:nvPr/>
        </p:nvSpPr>
        <p:spPr>
          <a:xfrm>
            <a:off x="4503174" y="1191036"/>
            <a:ext cx="3982066" cy="6475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/>
              <a:t>Web </a:t>
            </a:r>
            <a:r>
              <a:rPr lang="es-ES" sz="3200" b="1" dirty="0" err="1"/>
              <a:t>Of</a:t>
            </a:r>
            <a:r>
              <a:rPr lang="es-ES" sz="3200" b="1" dirty="0"/>
              <a:t> </a:t>
            </a:r>
            <a:r>
              <a:rPr lang="es-ES" sz="3200" b="1" dirty="0" err="1"/>
              <a:t>Science</a:t>
            </a:r>
            <a:endParaRPr lang="es-US" sz="32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DCE95F0-DC2E-3402-28A7-6912F09B72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48" y="2743707"/>
            <a:ext cx="10943303" cy="396547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150F644-6EE4-5589-8115-C19441AB614F}"/>
              </a:ext>
            </a:extLst>
          </p:cNvPr>
          <p:cNvSpPr txBox="1"/>
          <p:nvPr/>
        </p:nvSpPr>
        <p:spPr>
          <a:xfrm>
            <a:off x="644012" y="1765660"/>
            <a:ext cx="3323304" cy="9387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1100" b="1" dirty="0"/>
              <a:t>Buscar: </a:t>
            </a:r>
            <a:r>
              <a:rPr lang="es-ES" sz="1100" dirty="0" err="1"/>
              <a:t>Water</a:t>
            </a:r>
            <a:r>
              <a:rPr lang="es-ES" sz="1100" dirty="0"/>
              <a:t> </a:t>
            </a:r>
            <a:r>
              <a:rPr lang="es-ES" sz="1100" dirty="0" err="1"/>
              <a:t>footprint</a:t>
            </a:r>
            <a:r>
              <a:rPr lang="es-ES" sz="1100" dirty="0"/>
              <a:t>, Rice</a:t>
            </a:r>
          </a:p>
          <a:p>
            <a:r>
              <a:rPr lang="es-ES" sz="1100" b="1" dirty="0"/>
              <a:t>Tipo de Documento</a:t>
            </a:r>
            <a:r>
              <a:rPr lang="es-ES" sz="1100" dirty="0"/>
              <a:t>: </a:t>
            </a:r>
            <a:r>
              <a:rPr lang="es-ES" sz="1100" dirty="0" err="1"/>
              <a:t>Article</a:t>
            </a:r>
            <a:endParaRPr lang="es-ES" sz="1100" dirty="0"/>
          </a:p>
          <a:p>
            <a:r>
              <a:rPr lang="es-ES" sz="1100" b="1" dirty="0"/>
              <a:t>Idioma</a:t>
            </a:r>
            <a:r>
              <a:rPr lang="es-ES" sz="1100" dirty="0"/>
              <a:t>: English</a:t>
            </a:r>
          </a:p>
          <a:p>
            <a:r>
              <a:rPr lang="es-ES" sz="1100" b="1" dirty="0"/>
              <a:t>Acceso abierto</a:t>
            </a:r>
            <a:r>
              <a:rPr lang="es-ES" sz="1100" dirty="0"/>
              <a:t>: </a:t>
            </a:r>
            <a:r>
              <a:rPr lang="es-ES" sz="1100" dirty="0" err="1"/>
              <a:t>All</a:t>
            </a:r>
            <a:r>
              <a:rPr lang="es-ES" sz="1100" dirty="0"/>
              <a:t> Open Access</a:t>
            </a:r>
          </a:p>
          <a:p>
            <a:r>
              <a:rPr lang="es-ES" sz="1100" b="1" dirty="0"/>
              <a:t>Temporalidad: </a:t>
            </a:r>
            <a:r>
              <a:rPr lang="es-ES" sz="1100" dirty="0"/>
              <a:t>2011 - 2025</a:t>
            </a:r>
            <a:endParaRPr lang="es-US" sz="11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1862479C-DCA7-8DDC-0E8C-979D2BA984EA}"/>
              </a:ext>
            </a:extLst>
          </p:cNvPr>
          <p:cNvSpPr/>
          <p:nvPr/>
        </p:nvSpPr>
        <p:spPr>
          <a:xfrm>
            <a:off x="4109884" y="2235019"/>
            <a:ext cx="5171768" cy="1247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6A35DD0-27C7-4F1F-8366-C7C757BCA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7402" y="1736155"/>
            <a:ext cx="938719" cy="93871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EE95CDA4-8BC3-02CA-9E74-8FB32C4FB92E}"/>
              </a:ext>
            </a:extLst>
          </p:cNvPr>
          <p:cNvSpPr txBox="1"/>
          <p:nvPr/>
        </p:nvSpPr>
        <p:spPr>
          <a:xfrm>
            <a:off x="10429564" y="1736155"/>
            <a:ext cx="938719" cy="2616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100" b="1" dirty="0" err="1"/>
              <a:t>wos.bib</a:t>
            </a:r>
            <a:endParaRPr lang="es-US" sz="11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214B206-91ED-7FD5-36E3-A6FBAAE91FE4}"/>
              </a:ext>
            </a:extLst>
          </p:cNvPr>
          <p:cNvSpPr txBox="1"/>
          <p:nvPr/>
        </p:nvSpPr>
        <p:spPr>
          <a:xfrm>
            <a:off x="10438166" y="2290115"/>
            <a:ext cx="938719" cy="2616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100" b="1" dirty="0"/>
              <a:t>wos.txt</a:t>
            </a:r>
            <a:endParaRPr lang="es-US" sz="1100" dirty="0"/>
          </a:p>
        </p:txBody>
      </p:sp>
    </p:spTree>
    <p:extLst>
      <p:ext uri="{BB962C8B-B14F-4D97-AF65-F5344CB8AC3E}">
        <p14:creationId xmlns:p14="http://schemas.microsoft.com/office/powerpoint/2010/main" val="2278690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B1C57-7C18-2069-EF7D-57B90E108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10287-E7BC-242D-3223-E035035A3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557" y="148817"/>
            <a:ext cx="6368845" cy="647598"/>
          </a:xfrm>
        </p:spPr>
        <p:txBody>
          <a:bodyPr>
            <a:normAutofit fontScale="90000"/>
          </a:bodyPr>
          <a:lstStyle/>
          <a:p>
            <a:pPr algn="ctr"/>
            <a:r>
              <a:rPr lang="es-ES" b="1" dirty="0">
                <a:solidFill>
                  <a:schemeClr val="accent6">
                    <a:lumMod val="50000"/>
                  </a:schemeClr>
                </a:solidFill>
              </a:rPr>
              <a:t>Descargar las referencias</a:t>
            </a:r>
            <a:endParaRPr lang="es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F3EA0BE-C0E0-73DD-7821-F0EBC5007839}"/>
              </a:ext>
            </a:extLst>
          </p:cNvPr>
          <p:cNvSpPr txBox="1">
            <a:spLocks/>
          </p:cNvSpPr>
          <p:nvPr/>
        </p:nvSpPr>
        <p:spPr>
          <a:xfrm>
            <a:off x="4503174" y="1191036"/>
            <a:ext cx="3982066" cy="6475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/>
              <a:t>Web </a:t>
            </a:r>
            <a:r>
              <a:rPr lang="es-ES" sz="3200" b="1" dirty="0" err="1"/>
              <a:t>Of</a:t>
            </a:r>
            <a:r>
              <a:rPr lang="es-ES" sz="3200" b="1" dirty="0"/>
              <a:t> </a:t>
            </a:r>
            <a:r>
              <a:rPr lang="es-ES" sz="3200" b="1" dirty="0" err="1"/>
              <a:t>Science</a:t>
            </a:r>
            <a:endParaRPr lang="es-US" sz="32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047B2F3-9318-9774-C364-5A81FCF92B9B}"/>
              </a:ext>
            </a:extLst>
          </p:cNvPr>
          <p:cNvSpPr txBox="1"/>
          <p:nvPr/>
        </p:nvSpPr>
        <p:spPr>
          <a:xfrm>
            <a:off x="644012" y="1765660"/>
            <a:ext cx="3323304" cy="9387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1100" b="1" dirty="0"/>
              <a:t>Buscar: </a:t>
            </a:r>
            <a:r>
              <a:rPr lang="es-ES" sz="1100" dirty="0" err="1"/>
              <a:t>Water</a:t>
            </a:r>
            <a:r>
              <a:rPr lang="es-ES" sz="1100" dirty="0"/>
              <a:t> </a:t>
            </a:r>
            <a:r>
              <a:rPr lang="es-ES" sz="1100" dirty="0" err="1"/>
              <a:t>footprint</a:t>
            </a:r>
            <a:r>
              <a:rPr lang="es-ES" sz="1100" dirty="0"/>
              <a:t>, Rice</a:t>
            </a:r>
          </a:p>
          <a:p>
            <a:r>
              <a:rPr lang="es-ES" sz="1100" b="1" dirty="0"/>
              <a:t>Tipo de Documento</a:t>
            </a:r>
            <a:r>
              <a:rPr lang="es-ES" sz="1100" dirty="0"/>
              <a:t>: </a:t>
            </a:r>
            <a:r>
              <a:rPr lang="es-ES" sz="1100" dirty="0" err="1"/>
              <a:t>Article</a:t>
            </a:r>
            <a:endParaRPr lang="es-ES" sz="1100" dirty="0"/>
          </a:p>
          <a:p>
            <a:r>
              <a:rPr lang="es-ES" sz="1100" b="1" dirty="0"/>
              <a:t>Idioma</a:t>
            </a:r>
            <a:r>
              <a:rPr lang="es-ES" sz="1100" dirty="0"/>
              <a:t>: English</a:t>
            </a:r>
          </a:p>
          <a:p>
            <a:r>
              <a:rPr lang="es-ES" sz="1100" b="1" dirty="0"/>
              <a:t>Acceso abierto</a:t>
            </a:r>
            <a:r>
              <a:rPr lang="es-ES" sz="1100" dirty="0"/>
              <a:t>: </a:t>
            </a:r>
            <a:r>
              <a:rPr lang="es-ES" sz="1100" dirty="0" err="1"/>
              <a:t>All</a:t>
            </a:r>
            <a:r>
              <a:rPr lang="es-ES" sz="1100" dirty="0"/>
              <a:t> Open Access</a:t>
            </a:r>
          </a:p>
          <a:p>
            <a:r>
              <a:rPr lang="es-ES" sz="1100" b="1" dirty="0"/>
              <a:t>Temporalidad: </a:t>
            </a:r>
            <a:r>
              <a:rPr lang="es-ES" sz="1100" dirty="0"/>
              <a:t>2011 - 2025</a:t>
            </a:r>
            <a:endParaRPr lang="es-US" sz="11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5DCF9612-5815-F0A4-D9C0-3CD63056B076}"/>
              </a:ext>
            </a:extLst>
          </p:cNvPr>
          <p:cNvSpPr/>
          <p:nvPr/>
        </p:nvSpPr>
        <p:spPr>
          <a:xfrm>
            <a:off x="4109884" y="2235019"/>
            <a:ext cx="5171768" cy="1247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BAF5B16-A233-2EEF-E653-AB3B90AEB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7402" y="1736155"/>
            <a:ext cx="938719" cy="93871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47C0853-C304-652E-3AD0-2E95369ED38C}"/>
              </a:ext>
            </a:extLst>
          </p:cNvPr>
          <p:cNvSpPr txBox="1"/>
          <p:nvPr/>
        </p:nvSpPr>
        <p:spPr>
          <a:xfrm>
            <a:off x="10396121" y="2244311"/>
            <a:ext cx="938719" cy="2616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100" b="1" dirty="0" err="1"/>
              <a:t>wos.bib</a:t>
            </a:r>
            <a:endParaRPr lang="es-US" sz="11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2F9FEAE-F900-7764-AC1F-EC4393C6DF24}"/>
              </a:ext>
            </a:extLst>
          </p:cNvPr>
          <p:cNvSpPr txBox="1"/>
          <p:nvPr/>
        </p:nvSpPr>
        <p:spPr>
          <a:xfrm>
            <a:off x="10429564" y="1707829"/>
            <a:ext cx="938719" cy="2616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100" b="1" dirty="0"/>
              <a:t>wos.txt</a:t>
            </a:r>
            <a:endParaRPr lang="es-US" sz="11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CE2C5C0-8357-CD46-3829-46018EA35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012" y="2844075"/>
            <a:ext cx="9379975" cy="393394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0B825CBF-AAAF-34EC-9321-DF30AED4B8F9}"/>
              </a:ext>
            </a:extLst>
          </p:cNvPr>
          <p:cNvSpPr/>
          <p:nvPr/>
        </p:nvSpPr>
        <p:spPr>
          <a:xfrm>
            <a:off x="5279923" y="3982065"/>
            <a:ext cx="884903" cy="5997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12A2744-066A-F227-24D5-4647CEF28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701" y="2783782"/>
            <a:ext cx="1438470" cy="39647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C70FDD5C-CECB-91CE-31D3-EEA7D4D7C726}"/>
              </a:ext>
            </a:extLst>
          </p:cNvPr>
          <p:cNvSpPr/>
          <p:nvPr/>
        </p:nvSpPr>
        <p:spPr>
          <a:xfrm>
            <a:off x="6327533" y="3682182"/>
            <a:ext cx="884903" cy="2998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54375DB-86FE-E01B-E621-0950FC932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058" y="2967224"/>
            <a:ext cx="3416712" cy="27149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3FD6A511-4386-99A9-19B5-F67EBD24B6EC}"/>
              </a:ext>
            </a:extLst>
          </p:cNvPr>
          <p:cNvSpPr/>
          <p:nvPr/>
        </p:nvSpPr>
        <p:spPr>
          <a:xfrm>
            <a:off x="7271428" y="3765755"/>
            <a:ext cx="1272804" cy="12053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E50C507-16E3-C0AA-5CC3-8A89A1DB2846}"/>
              </a:ext>
            </a:extLst>
          </p:cNvPr>
          <p:cNvSpPr/>
          <p:nvPr/>
        </p:nvSpPr>
        <p:spPr>
          <a:xfrm rot="19836021">
            <a:off x="5847709" y="3805807"/>
            <a:ext cx="460109" cy="16097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33396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1B06F-2D2E-2095-EBD2-45951BDA7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D392F-48CC-7FC6-AF4F-BA450467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557" y="148817"/>
            <a:ext cx="6368845" cy="647598"/>
          </a:xfrm>
        </p:spPr>
        <p:txBody>
          <a:bodyPr>
            <a:normAutofit fontScale="90000"/>
          </a:bodyPr>
          <a:lstStyle/>
          <a:p>
            <a:pPr algn="ctr"/>
            <a:r>
              <a:rPr lang="es-ES" b="1" dirty="0">
                <a:solidFill>
                  <a:schemeClr val="accent6">
                    <a:lumMod val="50000"/>
                  </a:schemeClr>
                </a:solidFill>
              </a:rPr>
              <a:t>Descargar las referencias</a:t>
            </a:r>
            <a:endParaRPr lang="es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D2A53AF-EE64-3EF3-AF38-A90BFECEC1D7}"/>
              </a:ext>
            </a:extLst>
          </p:cNvPr>
          <p:cNvSpPr txBox="1">
            <a:spLocks/>
          </p:cNvSpPr>
          <p:nvPr/>
        </p:nvSpPr>
        <p:spPr>
          <a:xfrm>
            <a:off x="4503174" y="1191036"/>
            <a:ext cx="3982066" cy="6475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 err="1"/>
              <a:t>Scopus</a:t>
            </a:r>
            <a:endParaRPr lang="es-US" sz="32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54987FD-6D25-AA0F-7BE0-8363025A0802}"/>
              </a:ext>
            </a:extLst>
          </p:cNvPr>
          <p:cNvSpPr txBox="1"/>
          <p:nvPr/>
        </p:nvSpPr>
        <p:spPr>
          <a:xfrm>
            <a:off x="644012" y="1765660"/>
            <a:ext cx="3323304" cy="9387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1100" b="1" dirty="0"/>
              <a:t>Buscar: </a:t>
            </a:r>
            <a:r>
              <a:rPr lang="es-ES" sz="1100" dirty="0" err="1"/>
              <a:t>Water</a:t>
            </a:r>
            <a:r>
              <a:rPr lang="es-ES" sz="1100" dirty="0"/>
              <a:t> </a:t>
            </a:r>
            <a:r>
              <a:rPr lang="es-ES" sz="1100" dirty="0" err="1"/>
              <a:t>footprint</a:t>
            </a:r>
            <a:r>
              <a:rPr lang="es-ES" sz="1100" dirty="0"/>
              <a:t>, Rice</a:t>
            </a:r>
          </a:p>
          <a:p>
            <a:r>
              <a:rPr lang="es-ES" sz="1100" b="1" dirty="0"/>
              <a:t>Tipo de Documento</a:t>
            </a:r>
            <a:r>
              <a:rPr lang="es-ES" sz="1100" dirty="0"/>
              <a:t>: </a:t>
            </a:r>
            <a:r>
              <a:rPr lang="es-ES" sz="1100" dirty="0" err="1"/>
              <a:t>Article</a:t>
            </a:r>
            <a:endParaRPr lang="es-ES" sz="1100" dirty="0"/>
          </a:p>
          <a:p>
            <a:r>
              <a:rPr lang="es-ES" sz="1100" b="1" dirty="0"/>
              <a:t>Idioma</a:t>
            </a:r>
            <a:r>
              <a:rPr lang="es-ES" sz="1100" dirty="0"/>
              <a:t>: English</a:t>
            </a:r>
          </a:p>
          <a:p>
            <a:r>
              <a:rPr lang="es-ES" sz="1100" b="1" dirty="0"/>
              <a:t>Acceso abierto</a:t>
            </a:r>
            <a:r>
              <a:rPr lang="es-ES" sz="1100" dirty="0"/>
              <a:t>: </a:t>
            </a:r>
            <a:r>
              <a:rPr lang="es-ES" sz="1100" dirty="0" err="1"/>
              <a:t>All</a:t>
            </a:r>
            <a:r>
              <a:rPr lang="es-ES" sz="1100" dirty="0"/>
              <a:t> Open Access</a:t>
            </a:r>
          </a:p>
          <a:p>
            <a:r>
              <a:rPr lang="es-ES" sz="1100" b="1" dirty="0"/>
              <a:t>Temporalidad: </a:t>
            </a:r>
            <a:r>
              <a:rPr lang="es-ES" sz="1100" dirty="0"/>
              <a:t>2011 - 2025</a:t>
            </a:r>
            <a:endParaRPr lang="es-US" sz="11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75538A9A-C599-41E0-5AC0-8483F8B5C0FE}"/>
              </a:ext>
            </a:extLst>
          </p:cNvPr>
          <p:cNvSpPr/>
          <p:nvPr/>
        </p:nvSpPr>
        <p:spPr>
          <a:xfrm>
            <a:off x="4109884" y="2235019"/>
            <a:ext cx="5171768" cy="1247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8BA8F1B-C92C-1B42-EAA0-ECF76508B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7402" y="1736155"/>
            <a:ext cx="938719" cy="93871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62C8AD4-895C-56A1-8911-744607463D68}"/>
              </a:ext>
            </a:extLst>
          </p:cNvPr>
          <p:cNvSpPr txBox="1"/>
          <p:nvPr/>
        </p:nvSpPr>
        <p:spPr>
          <a:xfrm>
            <a:off x="10429564" y="1736155"/>
            <a:ext cx="938719" cy="2616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100" b="1" dirty="0" err="1"/>
              <a:t>wos.bib</a:t>
            </a:r>
            <a:endParaRPr lang="es-US" sz="11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3AD4169-ECB3-714F-0335-4009E0447B87}"/>
              </a:ext>
            </a:extLst>
          </p:cNvPr>
          <p:cNvSpPr txBox="1"/>
          <p:nvPr/>
        </p:nvSpPr>
        <p:spPr>
          <a:xfrm>
            <a:off x="10438166" y="2290115"/>
            <a:ext cx="938719" cy="2616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100" b="1" dirty="0"/>
              <a:t>wos.txt</a:t>
            </a:r>
            <a:endParaRPr lang="es-US" sz="11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742985-A4E3-67DF-15AC-47914BC79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910" y="2991875"/>
            <a:ext cx="7576851" cy="383118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0E9B324-F865-BA69-3DAC-AD780DC20345}"/>
              </a:ext>
            </a:extLst>
          </p:cNvPr>
          <p:cNvSpPr txBox="1"/>
          <p:nvPr/>
        </p:nvSpPr>
        <p:spPr>
          <a:xfrm>
            <a:off x="10438166" y="2807879"/>
            <a:ext cx="938719" cy="2616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100" b="1" dirty="0"/>
              <a:t>wos.csv</a:t>
            </a:r>
            <a:endParaRPr lang="es-US" sz="1100" dirty="0"/>
          </a:p>
        </p:txBody>
      </p:sp>
    </p:spTree>
    <p:extLst>
      <p:ext uri="{BB962C8B-B14F-4D97-AF65-F5344CB8AC3E}">
        <p14:creationId xmlns:p14="http://schemas.microsoft.com/office/powerpoint/2010/main" val="445158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8E742-E4CD-A7CF-54BC-98CA9513E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E297D-11C4-82E8-1FDC-9DB6ACE3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557" y="148817"/>
            <a:ext cx="6368845" cy="647598"/>
          </a:xfrm>
        </p:spPr>
        <p:txBody>
          <a:bodyPr>
            <a:normAutofit fontScale="90000"/>
          </a:bodyPr>
          <a:lstStyle/>
          <a:p>
            <a:pPr algn="ctr"/>
            <a:r>
              <a:rPr lang="es-ES" b="1" dirty="0">
                <a:solidFill>
                  <a:schemeClr val="accent6">
                    <a:lumMod val="50000"/>
                  </a:schemeClr>
                </a:solidFill>
              </a:rPr>
              <a:t>Descargar las referencias</a:t>
            </a:r>
            <a:endParaRPr lang="es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AEE47AF-70D5-7C9F-87EB-F433B7E1D360}"/>
              </a:ext>
            </a:extLst>
          </p:cNvPr>
          <p:cNvSpPr txBox="1">
            <a:spLocks/>
          </p:cNvSpPr>
          <p:nvPr/>
        </p:nvSpPr>
        <p:spPr>
          <a:xfrm>
            <a:off x="4503174" y="1191036"/>
            <a:ext cx="3982066" cy="6475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 err="1"/>
              <a:t>Scopus</a:t>
            </a:r>
            <a:endParaRPr lang="es-US" sz="32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1C17A03-CA07-09B8-F3E4-61CB31D83837}"/>
              </a:ext>
            </a:extLst>
          </p:cNvPr>
          <p:cNvSpPr txBox="1"/>
          <p:nvPr/>
        </p:nvSpPr>
        <p:spPr>
          <a:xfrm>
            <a:off x="644012" y="1765660"/>
            <a:ext cx="3323304" cy="9387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1100" b="1" dirty="0"/>
              <a:t>Buscar: </a:t>
            </a:r>
            <a:r>
              <a:rPr lang="es-ES" sz="1100" dirty="0" err="1"/>
              <a:t>Water</a:t>
            </a:r>
            <a:r>
              <a:rPr lang="es-ES" sz="1100" dirty="0"/>
              <a:t> </a:t>
            </a:r>
            <a:r>
              <a:rPr lang="es-ES" sz="1100" dirty="0" err="1"/>
              <a:t>footprint</a:t>
            </a:r>
            <a:r>
              <a:rPr lang="es-ES" sz="1100" dirty="0"/>
              <a:t>, Rice</a:t>
            </a:r>
          </a:p>
          <a:p>
            <a:r>
              <a:rPr lang="es-ES" sz="1100" b="1" dirty="0"/>
              <a:t>Tipo de Documento</a:t>
            </a:r>
            <a:r>
              <a:rPr lang="es-ES" sz="1100" dirty="0"/>
              <a:t>: </a:t>
            </a:r>
            <a:r>
              <a:rPr lang="es-ES" sz="1100" dirty="0" err="1"/>
              <a:t>Article</a:t>
            </a:r>
            <a:endParaRPr lang="es-ES" sz="1100" dirty="0"/>
          </a:p>
          <a:p>
            <a:r>
              <a:rPr lang="es-ES" sz="1100" b="1" dirty="0"/>
              <a:t>Idioma</a:t>
            </a:r>
            <a:r>
              <a:rPr lang="es-ES" sz="1100" dirty="0"/>
              <a:t>: English</a:t>
            </a:r>
          </a:p>
          <a:p>
            <a:r>
              <a:rPr lang="es-ES" sz="1100" b="1" dirty="0"/>
              <a:t>Acceso abierto</a:t>
            </a:r>
            <a:r>
              <a:rPr lang="es-ES" sz="1100" dirty="0"/>
              <a:t>: </a:t>
            </a:r>
            <a:r>
              <a:rPr lang="es-ES" sz="1100" dirty="0" err="1"/>
              <a:t>All</a:t>
            </a:r>
            <a:r>
              <a:rPr lang="es-ES" sz="1100" dirty="0"/>
              <a:t> Open Access</a:t>
            </a:r>
          </a:p>
          <a:p>
            <a:r>
              <a:rPr lang="es-ES" sz="1100" b="1" dirty="0"/>
              <a:t>Temporalidad: </a:t>
            </a:r>
            <a:r>
              <a:rPr lang="es-ES" sz="1100" dirty="0"/>
              <a:t>2011 - 2025</a:t>
            </a:r>
            <a:endParaRPr lang="es-US" sz="11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C1A77578-5FCE-7232-13A6-77FA6B775819}"/>
              </a:ext>
            </a:extLst>
          </p:cNvPr>
          <p:cNvSpPr/>
          <p:nvPr/>
        </p:nvSpPr>
        <p:spPr>
          <a:xfrm>
            <a:off x="4109884" y="2235019"/>
            <a:ext cx="5171768" cy="1247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3FBB11A-551D-7DE5-F0F2-6425C36F6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7402" y="1736155"/>
            <a:ext cx="938719" cy="93871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D84080DC-DE0B-5B02-2154-145161B2C3C7}"/>
              </a:ext>
            </a:extLst>
          </p:cNvPr>
          <p:cNvSpPr txBox="1"/>
          <p:nvPr/>
        </p:nvSpPr>
        <p:spPr>
          <a:xfrm>
            <a:off x="10429564" y="1736155"/>
            <a:ext cx="938719" cy="2616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100" b="1" dirty="0" err="1"/>
              <a:t>wos.bib</a:t>
            </a:r>
            <a:endParaRPr lang="es-US" sz="11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26F16BC-84C7-CC49-245D-BE44B608A794}"/>
              </a:ext>
            </a:extLst>
          </p:cNvPr>
          <p:cNvSpPr txBox="1"/>
          <p:nvPr/>
        </p:nvSpPr>
        <p:spPr>
          <a:xfrm>
            <a:off x="10438166" y="2290115"/>
            <a:ext cx="938719" cy="2616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100" b="1" dirty="0"/>
              <a:t>wos.txt</a:t>
            </a:r>
            <a:endParaRPr lang="es-US" sz="11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CD52510-81A5-824F-B0C1-07FD5DBE7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910" y="2991875"/>
            <a:ext cx="7576851" cy="383118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85980AE-7C65-E9A8-05C0-DB617913115B}"/>
              </a:ext>
            </a:extLst>
          </p:cNvPr>
          <p:cNvSpPr txBox="1"/>
          <p:nvPr/>
        </p:nvSpPr>
        <p:spPr>
          <a:xfrm>
            <a:off x="10438166" y="2807879"/>
            <a:ext cx="938719" cy="2616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100" b="1" dirty="0"/>
              <a:t>wos.csv</a:t>
            </a:r>
            <a:endParaRPr lang="es-US" sz="110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5F2B6DC-2A6B-277E-C938-E0CC5A47519D}"/>
              </a:ext>
            </a:extLst>
          </p:cNvPr>
          <p:cNvSpPr/>
          <p:nvPr/>
        </p:nvSpPr>
        <p:spPr>
          <a:xfrm>
            <a:off x="4935795" y="5047534"/>
            <a:ext cx="403122" cy="2323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F78C07F-8DD6-51DF-732B-4754FE4F7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301" y="3701622"/>
            <a:ext cx="4334919" cy="27778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02E1007-066A-6B7D-1660-6334C3B83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0179" y="3140333"/>
            <a:ext cx="1648055" cy="35342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61DBAE38-8AE1-07B5-51D1-6245EECF41D7}"/>
              </a:ext>
            </a:extLst>
          </p:cNvPr>
          <p:cNvSpPr/>
          <p:nvPr/>
        </p:nvSpPr>
        <p:spPr>
          <a:xfrm>
            <a:off x="5735213" y="4024261"/>
            <a:ext cx="773742" cy="2626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8D5E9914-CF0B-FDBF-9F89-F507FFF11F05}"/>
              </a:ext>
            </a:extLst>
          </p:cNvPr>
          <p:cNvSpPr/>
          <p:nvPr/>
        </p:nvSpPr>
        <p:spPr>
          <a:xfrm rot="18794220">
            <a:off x="5057220" y="4535054"/>
            <a:ext cx="894655" cy="22147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33F7BF45-99F6-A2FE-B669-88B438753F20}"/>
              </a:ext>
            </a:extLst>
          </p:cNvPr>
          <p:cNvSpPr/>
          <p:nvPr/>
        </p:nvSpPr>
        <p:spPr>
          <a:xfrm>
            <a:off x="6573989" y="4123504"/>
            <a:ext cx="1075507" cy="12053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053924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74B610-7300-25C6-8C7F-BA8EEE2B2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US" sz="4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Identificación de revistas objetivo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5FDB36-2F87-923D-E9F1-F9ECD34A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77" y="2507225"/>
            <a:ext cx="5493774" cy="2684208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s-US" dirty="0" err="1">
                <a:hlinkClick r:id="rId2"/>
              </a:rPr>
              <a:t>Publindex</a:t>
            </a:r>
            <a:r>
              <a:rPr lang="es-US" dirty="0"/>
              <a:t> </a:t>
            </a:r>
          </a:p>
          <a:p>
            <a:pPr marL="0" indent="0">
              <a:buNone/>
            </a:pPr>
            <a:endParaRPr lang="es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s-US" dirty="0" err="1">
                <a:hlinkClick r:id="rId3"/>
              </a:rPr>
              <a:t>Journal</a:t>
            </a:r>
            <a:r>
              <a:rPr lang="es-US" dirty="0">
                <a:hlinkClick r:id="rId3"/>
              </a:rPr>
              <a:t> </a:t>
            </a:r>
            <a:r>
              <a:rPr lang="es-US" dirty="0" err="1">
                <a:hlinkClick r:id="rId3"/>
              </a:rPr>
              <a:t>citation</a:t>
            </a:r>
            <a:r>
              <a:rPr lang="es-US" dirty="0">
                <a:hlinkClick r:id="rId3"/>
              </a:rPr>
              <a:t> </a:t>
            </a:r>
            <a:r>
              <a:rPr lang="es-US" dirty="0" err="1">
                <a:hlinkClick r:id="rId3"/>
              </a:rPr>
              <a:t>reports</a:t>
            </a:r>
            <a:endParaRPr lang="es-US" dirty="0"/>
          </a:p>
          <a:p>
            <a:pPr marL="0" indent="0">
              <a:buNone/>
            </a:pPr>
            <a:endParaRPr lang="es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s-US" dirty="0" err="1">
                <a:hlinkClick r:id="rId4"/>
              </a:rPr>
              <a:t>Scimago</a:t>
            </a:r>
            <a:r>
              <a:rPr lang="es-US" dirty="0">
                <a:hlinkClick r:id="rId4"/>
              </a:rPr>
              <a:t> </a:t>
            </a:r>
            <a:r>
              <a:rPr lang="es-US" dirty="0" err="1">
                <a:hlinkClick r:id="rId4"/>
              </a:rPr>
              <a:t>Journal</a:t>
            </a:r>
            <a:r>
              <a:rPr lang="es-US" dirty="0">
                <a:hlinkClick r:id="rId4"/>
              </a:rPr>
              <a:t> &amp; Country Rank</a:t>
            </a:r>
            <a:endParaRPr lang="es-U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29F4611-7788-0C11-B5E5-827CE72B9E23}"/>
              </a:ext>
            </a:extLst>
          </p:cNvPr>
          <p:cNvCxnSpPr/>
          <p:nvPr/>
        </p:nvCxnSpPr>
        <p:spPr>
          <a:xfrm>
            <a:off x="6331974" y="1809135"/>
            <a:ext cx="0" cy="444418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DCD73A3E-26A4-AC3A-7A13-B3329D13F38F}"/>
              </a:ext>
            </a:extLst>
          </p:cNvPr>
          <p:cNvSpPr txBox="1">
            <a:spLocks/>
          </p:cNvSpPr>
          <p:nvPr/>
        </p:nvSpPr>
        <p:spPr>
          <a:xfrm>
            <a:off x="6599904" y="2507225"/>
            <a:ext cx="5493774" cy="2684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s-US" dirty="0" err="1">
                <a:hlinkClick r:id="rId5"/>
              </a:rPr>
              <a:t>Journal</a:t>
            </a:r>
            <a:r>
              <a:rPr lang="es-US" dirty="0">
                <a:hlinkClick r:id="rId5"/>
              </a:rPr>
              <a:t> Finder </a:t>
            </a:r>
            <a:endParaRPr lang="es-US" dirty="0"/>
          </a:p>
          <a:p>
            <a:pPr marL="0" indent="0">
              <a:buFont typeface="Arial" panose="020B0604020202020204" pitchFamily="34" charset="0"/>
              <a:buNone/>
            </a:pPr>
            <a:endParaRPr lang="es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s-US" dirty="0">
                <a:hlinkClick r:id="rId6"/>
              </a:rPr>
              <a:t>Springer </a:t>
            </a:r>
            <a:r>
              <a:rPr lang="es-US" dirty="0" err="1">
                <a:hlinkClick r:id="rId6"/>
              </a:rPr>
              <a:t>Nature</a:t>
            </a:r>
            <a:r>
              <a:rPr lang="es-US" dirty="0">
                <a:hlinkClick r:id="rId6"/>
              </a:rPr>
              <a:t> Link</a:t>
            </a:r>
            <a:endParaRPr lang="es-US" dirty="0"/>
          </a:p>
          <a:p>
            <a:pPr marL="0" indent="0">
              <a:buFont typeface="Arial" panose="020B0604020202020204" pitchFamily="34" charset="0"/>
              <a:buNone/>
            </a:pPr>
            <a:endParaRPr lang="es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s-US" dirty="0" err="1">
                <a:hlinkClick r:id="rId7"/>
              </a:rPr>
              <a:t>Researcher.life</a:t>
            </a: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774697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EF17468-0AD3-8F59-82EA-5AF9DBF76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174" y="2113936"/>
            <a:ext cx="6983829" cy="366651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EE117FEA-AFA9-A2E9-BAC7-2F7F548E9AB0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US" sz="7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Análisis de </a:t>
            </a:r>
            <a:r>
              <a:rPr lang="es-US" sz="7200" b="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paper</a:t>
            </a:r>
            <a:endParaRPr lang="es-US" sz="72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42E5FAC-1C5A-BC7D-CA21-67DCC933C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55" y="2423386"/>
            <a:ext cx="3572350" cy="377383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s-US" dirty="0">
                <a:hlinkClick r:id="rId3"/>
              </a:rPr>
              <a:t>JENNI</a:t>
            </a:r>
            <a:endParaRPr lang="es-US" dirty="0"/>
          </a:p>
          <a:p>
            <a:pPr marL="0" indent="0">
              <a:buNone/>
            </a:pPr>
            <a:endParaRPr lang="es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E81B6A9-1568-51E4-CBAA-977C1B9D8745}"/>
              </a:ext>
            </a:extLst>
          </p:cNvPr>
          <p:cNvSpPr txBox="1"/>
          <p:nvPr/>
        </p:nvSpPr>
        <p:spPr>
          <a:xfrm>
            <a:off x="540997" y="4514221"/>
            <a:ext cx="2212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2638204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D8A1A-A85D-FFC7-A611-DA4ECC8A0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2555C9-B2AA-CF6E-DCF5-6F351CA606D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US" sz="7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Análisis de datos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E5150A2-89D6-8364-8794-BEB7C0839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55" y="2423386"/>
            <a:ext cx="3572350" cy="377383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s-US" dirty="0">
                <a:hlinkClick r:id="rId2"/>
              </a:rPr>
              <a:t>JULIUS AI</a:t>
            </a:r>
            <a:endParaRPr lang="es-US" dirty="0"/>
          </a:p>
          <a:p>
            <a:pPr marL="0" indent="0">
              <a:buNone/>
            </a:pPr>
            <a:endParaRPr lang="es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27B4601-09B3-1191-10CA-11F4B88C5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510" y="2423386"/>
            <a:ext cx="8275348" cy="381848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4385DC7-C94D-AB6A-6E87-4D98A5E50DB5}"/>
              </a:ext>
            </a:extLst>
          </p:cNvPr>
          <p:cNvSpPr txBox="1"/>
          <p:nvPr/>
        </p:nvSpPr>
        <p:spPr>
          <a:xfrm>
            <a:off x="540997" y="4514221"/>
            <a:ext cx="2212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37570956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</TotalTime>
  <Words>743</Words>
  <Application>Microsoft Office PowerPoint</Application>
  <PresentationFormat>Panorámica</PresentationFormat>
  <Paragraphs>173</Paragraphs>
  <Slides>22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3" baseType="lpstr">
      <vt:lpstr>ADLaM Display</vt:lpstr>
      <vt:lpstr>Aharoni</vt:lpstr>
      <vt:lpstr>Anton</vt:lpstr>
      <vt:lpstr>Aptos</vt:lpstr>
      <vt:lpstr>Aptos Display</vt:lpstr>
      <vt:lpstr>Arial</vt:lpstr>
      <vt:lpstr>Calibri</vt:lpstr>
      <vt:lpstr>Courier New</vt:lpstr>
      <vt:lpstr>Google Sans</vt:lpstr>
      <vt:lpstr>Noto Sans Symbols</vt:lpstr>
      <vt:lpstr>Tema de Office</vt:lpstr>
      <vt:lpstr>Presentación de PowerPoint</vt:lpstr>
      <vt:lpstr>Presentación de PowerPoint</vt:lpstr>
      <vt:lpstr>Experiencia en Investigación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Hasta ahora</vt:lpstr>
      <vt:lpstr>Lo que sigue</vt:lpstr>
      <vt:lpstr>Presentación de PowerPoint</vt:lpstr>
      <vt:lpstr>Instalar herramientas</vt:lpstr>
      <vt:lpstr>Herramientas de hoy</vt:lpstr>
      <vt:lpstr>Herramientas de hoy</vt:lpstr>
      <vt:lpstr>Descargar las referencias</vt:lpstr>
      <vt:lpstr>Descargar las referencias</vt:lpstr>
      <vt:lpstr>Descargar las referencias</vt:lpstr>
      <vt:lpstr>Descargar las referencias</vt:lpstr>
      <vt:lpstr>Descargar las referencias</vt:lpstr>
      <vt:lpstr>Identificación de revistas objetivo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Ivan Vargas Pineda</dc:creator>
  <cp:lastModifiedBy>Oscar Ivan Vargas Pineda</cp:lastModifiedBy>
  <cp:revision>34</cp:revision>
  <dcterms:created xsi:type="dcterms:W3CDTF">2026-06-01T17:50:35Z</dcterms:created>
  <dcterms:modified xsi:type="dcterms:W3CDTF">2026-06-24T22:43:39Z</dcterms:modified>
</cp:coreProperties>
</file>