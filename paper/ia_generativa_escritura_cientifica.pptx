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6" Type="http://schemas.openxmlformats.org/officeDocument/2006/relationships/image" Target="../media/image-26-6.png"/><Relationship Id="rId7" Type="http://schemas.openxmlformats.org/officeDocument/2006/relationships/image" Target="../media/image-2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image" Target="../media/image-33-4.png"/><Relationship Id="rId5" Type="http://schemas.openxmlformats.org/officeDocument/2006/relationships/image" Target="../media/image-33-5.png"/><Relationship Id="rId6" Type="http://schemas.openxmlformats.org/officeDocument/2006/relationships/image" Target="../media/image-33-6.png"/><Relationship Id="rId7" Type="http://schemas.openxmlformats.org/officeDocument/2006/relationships/image" Target="../media/image-3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7315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CIENTÍFICO  ·  MASTERCLASS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234440"/>
            <a:ext cx="10515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IA generativa</a:t>
            </a:r>
            <a:endParaRPr lang="en-US" sz="5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 escribir tu artículo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822960" y="35204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Cómo iniciar, mejorar y revisar cada apartado con prompts que funcionan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425196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guía agnóstica con ejemplos listos para usar en Claude, ChatGPT, Gemini o cualquier modelo de lenguaje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5029200"/>
            <a:ext cx="9875520" cy="77724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502920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ENFOQUE  ·  </a:t>
            </a:r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IA es tu asistente, no tu reemplazo. Tú decides, ella sugiere.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6080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Oscar Iván Vargas Pineda, PhD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Scientist · Docente Universitario · @TCientifico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DE LA MASTERCLASS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Los 7 bloques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11247120" cy="566928"/>
          </a:xfrm>
          <a:prstGeom prst="rect">
            <a:avLst/>
          </a:prstGeom>
          <a:solidFill>
            <a:srgbClr val="F7F4ED"/>
          </a:solidFill>
          <a:ln w="12700">
            <a:solidFill>
              <a:srgbClr val="D9D2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91640"/>
            <a:ext cx="91440" cy="56692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691640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325880" y="176479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Fundamentos: cómo funciona un buen prompt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25880" y="201168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Anatomía de prompts efectivos.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359152"/>
            <a:ext cx="11247120" cy="566928"/>
          </a:xfrm>
          <a:prstGeom prst="rect">
            <a:avLst/>
          </a:prstGeom>
          <a:solidFill>
            <a:srgbClr val="F7F4ED"/>
          </a:solidFill>
          <a:ln w="12700">
            <a:solidFill>
              <a:srgbClr val="D9D2C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359152"/>
            <a:ext cx="91440" cy="56692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359152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325880" y="243230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Tres usos de la IA: iniciar, mejorar, revisar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325880" y="2679192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Distinción que cambia todo.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026664"/>
            <a:ext cx="11247120" cy="566928"/>
          </a:xfrm>
          <a:prstGeom prst="rect">
            <a:avLst/>
          </a:prstGeom>
          <a:solidFill>
            <a:srgbClr val="F7F4ED"/>
          </a:solidFill>
          <a:ln w="12700">
            <a:solidFill>
              <a:srgbClr val="D9D2C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026664"/>
            <a:ext cx="91440" cy="56692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026664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325880" y="309981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Prompts por apartado del artículo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25880" y="3346704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Introducción, Métodos, Resultados, Discusión, Conclusiones.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694176"/>
            <a:ext cx="11247120" cy="566928"/>
          </a:xfrm>
          <a:prstGeom prst="rect">
            <a:avLst/>
          </a:prstGeom>
          <a:solidFill>
            <a:srgbClr val="F7F4ED"/>
          </a:solidFill>
          <a:ln w="12700">
            <a:solidFill>
              <a:srgbClr val="D9D2C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694176"/>
            <a:ext cx="91440" cy="56692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3694176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325880" y="37673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Prompts transversales: título, resumen, keywords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325880" y="4014216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cierra y abre tu artículo.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361688"/>
            <a:ext cx="11247120" cy="566928"/>
          </a:xfrm>
          <a:prstGeom prst="rect">
            <a:avLst/>
          </a:prstGeom>
          <a:solidFill>
            <a:srgbClr val="F7F4ED"/>
          </a:solidFill>
          <a:ln w="12700">
            <a:solidFill>
              <a:srgbClr val="D9D2C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4361688"/>
            <a:ext cx="91440" cy="56692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4361688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1325880" y="44348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Iteración: cómo refinar respuestas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325880" y="4681728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sola pregunta rara vez basta.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5029200"/>
            <a:ext cx="11247120" cy="566928"/>
          </a:xfrm>
          <a:prstGeom prst="rect">
            <a:avLst/>
          </a:prstGeom>
          <a:solidFill>
            <a:srgbClr val="F7F4ED"/>
          </a:solidFill>
          <a:ln w="12700">
            <a:solidFill>
              <a:srgbClr val="D9D2C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5029200"/>
            <a:ext cx="91440" cy="56692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" y="5029200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1325880" y="510235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Ética y declaración de uso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1325880" y="534924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las revistas exigen en 2025–2026.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5696712"/>
            <a:ext cx="11247120" cy="566928"/>
          </a:xfrm>
          <a:prstGeom prst="rect">
            <a:avLst/>
          </a:prstGeom>
          <a:solidFill>
            <a:srgbClr val="F7F4ED"/>
          </a:solidFill>
          <a:ln w="12700">
            <a:solidFill>
              <a:srgbClr val="D9D2C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7200" y="5696712"/>
            <a:ext cx="91440" cy="56692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5800" y="5696712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1325880" y="576986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Errores frecuentes y entregable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1325880" y="6016752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propio kit de prompts personalizados.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Científico · @TCientifico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33856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3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2194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 DE 7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269748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Fundamentos del prompt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822960" y="42519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separa una respuesta útil de una respuesta inservible.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ANATOMÍA DE UN BUEN PROMPT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Cinco componentes que toda instrucción debe tener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11247120" cy="841248"/>
          </a:xfrm>
          <a:prstGeom prst="rect">
            <a:avLst/>
          </a:prstGeom>
          <a:solidFill>
            <a:srgbClr val="F7F4ED"/>
          </a:solidFill>
          <a:ln w="12700">
            <a:solidFill>
              <a:srgbClr val="D9D2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856232"/>
            <a:ext cx="502920" cy="50292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1984248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76479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Rol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325880" y="207568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 es la IA en este momento.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4663440" y="1856232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5F6B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"Actúa como editor de una revista Q1 en ciencias agronómicas."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2624328"/>
            <a:ext cx="11247120" cy="841248"/>
          </a:xfrm>
          <a:prstGeom prst="rect">
            <a:avLst/>
          </a:prstGeom>
          <a:solidFill>
            <a:srgbClr val="F7F4ED"/>
          </a:solidFill>
          <a:ln w="12700">
            <a:solidFill>
              <a:srgbClr val="D9D2C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0080" y="2788920"/>
            <a:ext cx="502920" cy="50292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2916936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325880" y="26974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Tarea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325880" y="300837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quieres que haga, en verbo concreto.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4663440" y="2788920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5F6B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"Revisa este párrafo y sugiere tres mejoras."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57200" y="3557016"/>
            <a:ext cx="11247120" cy="841248"/>
          </a:xfrm>
          <a:prstGeom prst="rect">
            <a:avLst/>
          </a:prstGeom>
          <a:solidFill>
            <a:srgbClr val="F7F4ED"/>
          </a:solidFill>
          <a:ln w="12700">
            <a:solidFill>
              <a:srgbClr val="D9D2C0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40080" y="3721608"/>
            <a:ext cx="502920" cy="50292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3849624"/>
            <a:ext cx="256032" cy="25603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325880" y="36301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Contexto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1325880" y="394106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de fondo necesaria.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4663440" y="3721608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5F6B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"El artículo es sobre BAL aisladas de cacao en Colombia."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457200" y="4489704"/>
            <a:ext cx="11247120" cy="841248"/>
          </a:xfrm>
          <a:prstGeom prst="rect">
            <a:avLst/>
          </a:prstGeom>
          <a:solidFill>
            <a:srgbClr val="F7F4ED"/>
          </a:solidFill>
          <a:ln w="12700">
            <a:solidFill>
              <a:srgbClr val="D9D2C0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40080" y="4654296"/>
            <a:ext cx="502920" cy="50292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" y="4782312"/>
            <a:ext cx="256032" cy="25603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325880" y="456285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Formato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1325880" y="487375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quieres la respuesta.</a:t>
            </a:r>
            <a:endParaRPr lang="en-US" sz="1150" dirty="0"/>
          </a:p>
        </p:txBody>
      </p:sp>
      <p:sp>
        <p:nvSpPr>
          <p:cNvPr id="27" name="Text 21"/>
          <p:cNvSpPr/>
          <p:nvPr/>
        </p:nvSpPr>
        <p:spPr>
          <a:xfrm>
            <a:off x="4663440" y="4654296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5F6B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"Devuelve una lista numerada con 3 ítems."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457200" y="5422392"/>
            <a:ext cx="11247120" cy="841248"/>
          </a:xfrm>
          <a:prstGeom prst="rect">
            <a:avLst/>
          </a:prstGeom>
          <a:solidFill>
            <a:srgbClr val="F7F4ED"/>
          </a:solidFill>
          <a:ln w="12700">
            <a:solidFill>
              <a:srgbClr val="D9D2C0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640080" y="5586984"/>
            <a:ext cx="502920" cy="50292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096" y="5715000"/>
            <a:ext cx="256032" cy="25603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325880" y="549554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Restricciones</a:t>
            </a:r>
            <a:endParaRPr lang="en-US" sz="1300" dirty="0"/>
          </a:p>
        </p:txBody>
      </p:sp>
      <p:sp>
        <p:nvSpPr>
          <p:cNvPr id="32" name="Text 25"/>
          <p:cNvSpPr/>
          <p:nvPr/>
        </p:nvSpPr>
        <p:spPr>
          <a:xfrm>
            <a:off x="1325880" y="5806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NO debe hacer.</a:t>
            </a:r>
            <a:endParaRPr lang="en-US" sz="1150" dirty="0"/>
          </a:p>
        </p:txBody>
      </p:sp>
      <p:sp>
        <p:nvSpPr>
          <p:cNvPr id="33" name="Text 26"/>
          <p:cNvSpPr/>
          <p:nvPr/>
        </p:nvSpPr>
        <p:spPr>
          <a:xfrm>
            <a:off x="4663440" y="5586984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5F6B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 inventes referencias. No cambies el significado."</a:t>
            </a:r>
            <a:endParaRPr lang="en-US" sz="1100" dirty="0"/>
          </a:p>
        </p:txBody>
      </p:sp>
      <p:sp>
        <p:nvSpPr>
          <p:cNvPr id="34" name="Text 27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Científico · @TCientifico</a:t>
            </a:r>
            <a:endParaRPr lang="en-US" sz="900" dirty="0"/>
          </a:p>
        </p:txBody>
      </p:sp>
      <p:sp>
        <p:nvSpPr>
          <p:cNvPr id="35" name="Text 28"/>
          <p:cNvSpPr/>
          <p:nvPr/>
        </p:nvSpPr>
        <p:spPr>
          <a:xfrm>
            <a:off x="1133856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35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VAGO VS. ESPECÍFICO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mismo objetivo, resultados radicalmente distintos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5532120" cy="457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B8651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691640"/>
            <a:ext cx="5532120" cy="548640"/>
          </a:xfrm>
          <a:prstGeom prst="rect">
            <a:avLst/>
          </a:prstGeom>
          <a:solidFill>
            <a:srgbClr val="B8651A"/>
          </a:solidFill>
          <a:ln w="12700">
            <a:solidFill>
              <a:srgbClr val="B8651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2880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16916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VAGO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85800" y="2514600"/>
            <a:ext cx="5074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"Mejora mi introducción del artículo de cacao."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85800" y="374904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6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85800" y="4069080"/>
            <a:ext cx="5074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IA inventa contexto, no sabe qué objetivos perseguías, reescribe en estilo genérico y posiblemente cambia el sentido.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172200" y="1691640"/>
            <a:ext cx="5532120" cy="457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2C5F2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172200" y="1691640"/>
            <a:ext cx="5532120" cy="54864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82880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720840" y="16916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ESPECÍFICO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6400800" y="2331720"/>
            <a:ext cx="50749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"Actúa como revisor de una revista Q1 en microbiología alimentaria. Lee la introducción que te paso y dime: (1) si el vacío de conocimiento está claro, (2) si el objetivo es medible, (3) tres mejoras concretas. No reescribas el texto."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Científico · @TCientifico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133856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35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F3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2194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 DE 7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269748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Tres usos de la IA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822960" y="42519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Iniciar · Mejorar · Revisar — cada uno con su lógica.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TRES USOS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Saber cuál estás haciendo cambia el prompt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3703320" cy="4434840"/>
          </a:xfrm>
          <a:prstGeom prst="rect">
            <a:avLst/>
          </a:prstGeom>
          <a:solidFill>
            <a:srgbClr val="F7F4ED"/>
          </a:solidFill>
          <a:ln w="12700">
            <a:solidFill>
              <a:srgbClr val="D9D2C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783080"/>
            <a:ext cx="3703320" cy="109728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011680"/>
            <a:ext cx="594360" cy="594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9202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INICIAR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463040" y="23317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Generar borrador desde cero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85800" y="3017520"/>
            <a:ext cx="3246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todavía no tienes texto. La IA propone estructura y primer borrador.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85800" y="475488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Verbos típicos: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85800" y="5029200"/>
            <a:ext cx="3246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1F3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"Genera…" · "Propón…" · "Estructura…"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297680" y="1783080"/>
            <a:ext cx="3703320" cy="4434840"/>
          </a:xfrm>
          <a:prstGeom prst="rect">
            <a:avLst/>
          </a:prstGeom>
          <a:solidFill>
            <a:srgbClr val="F7F4ED"/>
          </a:solidFill>
          <a:ln w="12700">
            <a:solidFill>
              <a:srgbClr val="D9D2C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297680" y="1783080"/>
            <a:ext cx="3703320" cy="109728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011680"/>
            <a:ext cx="594360" cy="5943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303520" y="19202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MEJORAR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5303520" y="23317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Pulir texto que ya escribiste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4526280" y="3017520"/>
            <a:ext cx="3246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ya tienes un borrador. La IA reescribe, simplifica o reorganiza.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4526280" y="475488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Verbos típicos: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4526280" y="5029200"/>
            <a:ext cx="3246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1F3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"Reescribe…" · "Simplifica…" · "Reorganiza…"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8138160" y="1783080"/>
            <a:ext cx="3703320" cy="4434840"/>
          </a:xfrm>
          <a:prstGeom prst="rect">
            <a:avLst/>
          </a:prstGeom>
          <a:solidFill>
            <a:srgbClr val="F7F4ED"/>
          </a:solidFill>
          <a:ln w="12700">
            <a:solidFill>
              <a:srgbClr val="D9D2C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8138160" y="1783080"/>
            <a:ext cx="3703320" cy="109728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2011680"/>
            <a:ext cx="594360" cy="59436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9144000" y="19202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9144000" y="23317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Detectar problemas sin modificar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8366760" y="3017520"/>
            <a:ext cx="3246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quieres una crítica como la de un revisor. La IA evalúa, no reescribe.</a:t>
            </a:r>
            <a:endParaRPr lang="en-US" sz="1250" dirty="0"/>
          </a:p>
        </p:txBody>
      </p:sp>
      <p:sp>
        <p:nvSpPr>
          <p:cNvPr id="26" name="Text 21"/>
          <p:cNvSpPr/>
          <p:nvPr/>
        </p:nvSpPr>
        <p:spPr>
          <a:xfrm>
            <a:off x="8366760" y="475488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Verbos típicos: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8366760" y="5029200"/>
            <a:ext cx="3246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1F3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"Identifica…" · "Evalúa…" · "Critica…"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Científico · @TCientifico</a:t>
            </a:r>
            <a:endParaRPr lang="en-US" sz="900" dirty="0"/>
          </a:p>
        </p:txBody>
      </p:sp>
      <p:sp>
        <p:nvSpPr>
          <p:cNvPr id="29" name="Text 24"/>
          <p:cNvSpPr/>
          <p:nvPr/>
        </p:nvSpPr>
        <p:spPr>
          <a:xfrm>
            <a:off x="1133856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35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3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914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DE ORO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10515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IA propone.</a:t>
            </a:r>
            <a:endParaRPr lang="en-US" sz="6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Tú decides.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822960" y="3931920"/>
            <a:ext cx="10332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Nunca aceptes una sugerencia sin verificarla. La IA puede inventar referencias, malinterpretar tu campo, exagerar afirmaciones o reescribir cambiando el significado. Cada palabra que termina en tu manuscrito es tu responsabilidad.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5486400"/>
            <a:ext cx="10332720" cy="86868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548640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no entiendes una sugerencia, no la uses. Si no puedes defenderla en una revisión por pares, no la uses.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3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2194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3 DE 7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269748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Prompts por apartado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822960" y="42519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· Métodos · Resultados · Discusión · Conclusiones.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 ·  INICIAR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Generar un primer borrador desde tus notas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11247120" cy="4526280"/>
          </a:xfrm>
          <a:prstGeom prst="rect">
            <a:avLst/>
          </a:prstGeom>
          <a:solidFill>
            <a:srgbClr val="F4F1E8"/>
          </a:solidFill>
          <a:ln w="12700">
            <a:solidFill>
              <a:srgbClr val="D9D2C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691640"/>
            <a:ext cx="91440" cy="452628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7830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PARA INICIAR INTRODUCCIÓN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2103120"/>
            <a:ext cx="108813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Actúa como un investigador en [campo] que escribe para revistas Q1.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 paso mis notas dispersas sobre el tema: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[Pega aquí tus notas crudas, 5–15 líneas]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 tarea: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Propón una estructura en 5 párrafos siguiendo el embudo: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contexto amplio → estado del arte → vacío de conocimiento → 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justificación → objetivo.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Para cada párrafo, escribe 2-3 frases de borrador.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Marca con [CITAR] los lugares donde necesitaría yo agregar 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una referencia bibliográfica.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Marca con [VERIFICAR] cualquier dato numérico que hayas usado.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inventes referencias bibliográficas. NO uses comillas. 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Devuelve el texto en español académico neutro.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Científico · @TCientifico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33856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35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 ·  MEJORAR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Pulir el borrador que ya escribiste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11247120" cy="4526280"/>
          </a:xfrm>
          <a:prstGeom prst="rect">
            <a:avLst/>
          </a:prstGeom>
          <a:solidFill>
            <a:srgbClr val="F4F1E8"/>
          </a:solidFill>
          <a:ln w="12700">
            <a:solidFill>
              <a:srgbClr val="D9D2C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691640"/>
            <a:ext cx="91440" cy="452628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7830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PARA MEJORAR INTRODUCCIÓN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2103120"/>
            <a:ext cx="108813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Actúa como editor de una revista Q1 en [campo].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 paso mi Introducción actual: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[Pega aquí tu texto]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 tarea: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Reescribe el párrafo del vacío de conocimiento usando conectores 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explícitos ("Sin embargo, hasta donde sabemos…", "A pesar de…").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Reescribe el objetivo final usando verbos medibles 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(evaluar, determinar, cuantificar) y la estructura 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"verbo + qué + cómo + dónde".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Mantén el español académico, voz pasiva o impersonal.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NO cambies el significado de mis afirmaciones.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Conserva todas mis citas bibliográficas exactamente como están.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Devuelve solo los párrafos modificados, marcando los cambios.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Científico · @TCientifico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33856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35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 ·  REVISAR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Recibir una crítica sin que reescriba nada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11247120" cy="4526280"/>
          </a:xfrm>
          <a:prstGeom prst="rect">
            <a:avLst/>
          </a:prstGeom>
          <a:solidFill>
            <a:srgbClr val="F4F1E8"/>
          </a:solidFill>
          <a:ln w="12700">
            <a:solidFill>
              <a:srgbClr val="D9D2C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691640"/>
            <a:ext cx="91440" cy="452628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7830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PARA REVISAR INTRODUCCIÓN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2103120"/>
            <a:ext cx="108813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Actúa como un revisor por pares estricto de una revista Q1.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 paso mi Introducción: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[Pega aquí tu texto]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 tarea es evaluar (NO reescribir):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¿La estructura del embudo está completa? Identifica qué etapa falta 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o está débil.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¿Hay un vacío de conocimiento EXPLÍCITO? Cítame la frase exacta 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donde aparece, o dime que no la encuentras.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¿El objetivo es medible y específico? ¿Usa verbo activo?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¿Hay generalidades vacías o frases de cliché?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¿Las citas (si están) parecen recientes y relevantes?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Devuelve un reporte con 5 secciones, una por pregunta. 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Sé directo. No me felicites. No suavices.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Científico · @TCientifico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33856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35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MATERIALES Y MÉTODOS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Iniciar y mejorar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5532120" cy="4526280"/>
          </a:xfrm>
          <a:prstGeom prst="rect">
            <a:avLst/>
          </a:prstGeom>
          <a:solidFill>
            <a:srgbClr val="F4F1E8"/>
          </a:solidFill>
          <a:ln w="12700">
            <a:solidFill>
              <a:srgbClr val="D9D2C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691640"/>
            <a:ext cx="91440" cy="452628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78308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INICIAR  ·  Borrador desde lista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2103120"/>
            <a:ext cx="51663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Actúa como autor en [campo].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 paso una lista de lo que hice: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[Procedimientos, equipos, software, 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diseño estadístico, n, fechas, lugar]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 tarea: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Estructura en 5 subapartados: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sitio, materiales, procedimiento, 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variables, análisis estadístico.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Redacta en pasado y voz pasiva.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Marca con [VERIFICAR] los datos 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que crees podrían faltar.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inventes equipos ni marcas.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agregues procedimientos que 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estén en mi lista.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172200" y="1691640"/>
            <a:ext cx="5532120" cy="4526280"/>
          </a:xfrm>
          <a:prstGeom prst="rect">
            <a:avLst/>
          </a:prstGeom>
          <a:solidFill>
            <a:srgbClr val="F4F1E8"/>
          </a:solidFill>
          <a:ln w="12700">
            <a:solidFill>
              <a:srgbClr val="D9D2C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172200" y="1691640"/>
            <a:ext cx="91440" cy="452628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78308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MEJORAR  ·  Replicabilidad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0" y="2103120"/>
            <a:ext cx="51663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Actúa como editor metodológico.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 paso mi sección de Métodos: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[Pega aquí tu texto]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 tarea: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Identifica frases vagas que 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impiden replicar el estudio 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("adecuado", "estándar", 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"condiciones óptimas").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Para cada una, proponme una 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pregunta concreta que me ayude 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a especificarla.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Sugiere si falta alguno de: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coordenadas, temperatura, 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tiempo, marca de equipos, 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versión de software.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reescribas. Solo identifica.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Científico · @TCientifico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33856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35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MATERIALES Y MÉTODOS  ·  REVISAR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Auditar la replicabilidad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11247120" cy="4526280"/>
          </a:xfrm>
          <a:prstGeom prst="rect">
            <a:avLst/>
          </a:prstGeom>
          <a:solidFill>
            <a:srgbClr val="F4F1E8"/>
          </a:solidFill>
          <a:ln w="12700">
            <a:solidFill>
              <a:srgbClr val="D9D2C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691640"/>
            <a:ext cx="91440" cy="452628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7830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PARA REVISAR REPLICABILIDAD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2103120"/>
            <a:ext cx="108813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Actúa como un revisor metodológico estricto de una revista Q1 en [campo].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 paso mi sección de Materiales y Métodos: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[Pega aquí tu texto]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Aplica el "test del investigador desconocido": imagina que alguien sin 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acceso a mi laboratorio y sin contactarme intenta repetir este estudio.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 tarea es responder: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¿Qué información FALTA para que pueda replicar exactamente?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Lista cada hueco como un ítem.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¿Hay condiciones críticas (T, pH, tiempo, RPM) sin valores exactos?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¿Falta alguna marca, modelo, lote, casa comercial?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¿El diseño experimental se enuncia ANTES del análisis estadístico?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¿Se reporta software con versión y paquetes?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 ¿Se verifican supuestos estadísticos (normalidad, homocedasticidad)?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Devuelve un checklist con SÍ/NO/PARCIAL y justifica cada respuesta.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Científico · @TCientifico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33856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35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 ·  INICIAR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Diseñar figuras y redactar el texto que las acompaña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5532120" cy="4526280"/>
          </a:xfrm>
          <a:prstGeom prst="rect">
            <a:avLst/>
          </a:prstGeom>
          <a:solidFill>
            <a:srgbClr val="F4F1E8"/>
          </a:solidFill>
          <a:ln w="12700">
            <a:solidFill>
              <a:srgbClr val="D9D2C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691640"/>
            <a:ext cx="91440" cy="452628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78308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FIGURAS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2103120"/>
            <a:ext cx="51663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Actúa como diseñador de 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visualizaciones científicas.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Mis datos / variables: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[Describe variables, grupos, 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tamaño muestral, qué quieres 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comparar]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 tarea: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Propón 3 tipos de figura 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apropiados (barras, líneas, 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boxplot, etc.) con justificación.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Para la mejor opción, dame: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- ejes con unidades exactas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- leyenda sugerida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- tipo de barra de error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- caption autocontenido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Sugiere código en R (ggplot2) 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o Python (matplotlib) si aplica.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inventes valores numéricos.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172200" y="1691640"/>
            <a:ext cx="5532120" cy="4526280"/>
          </a:xfrm>
          <a:prstGeom prst="rect">
            <a:avLst/>
          </a:prstGeom>
          <a:solidFill>
            <a:srgbClr val="F4F1E8"/>
          </a:solidFill>
          <a:ln w="12700">
            <a:solidFill>
              <a:srgbClr val="D9D2C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172200" y="1691640"/>
            <a:ext cx="91440" cy="452628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78308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REDACTAR TEXTO DE RESULTADOS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0" y="2103120"/>
            <a:ext cx="51663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Actúa como autor en [campo].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 paso mis hallazgos clave: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[Lista los principales valores con 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sus estadísticos: media ± DE, 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p, F, n por grupo]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 tarea: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Redacta un párrafo por hallazgo 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en pasado, sin interpretar.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Cada párrafo debe APUNTAR a una 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figura o tabla ("Figura X muestra…").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Resalta el valor más alto / bajo y 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las diferencias significativas.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Reporta F, gl, p exacto y tamaño 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de efecto donde aplique.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interpretes. NO cites literatura. 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uses "esto demuestra que…".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Científico · @TCientifico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33856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35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 ·  REVISAR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Detectar interpretación que se cuela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11247120" cy="4526280"/>
          </a:xfrm>
          <a:prstGeom prst="rect">
            <a:avLst/>
          </a:prstGeom>
          <a:solidFill>
            <a:srgbClr val="F4F1E8"/>
          </a:solidFill>
          <a:ln w="12700">
            <a:solidFill>
              <a:srgbClr val="D9D2C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691640"/>
            <a:ext cx="91440" cy="452628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7830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PARA AUDITAR RESULTADOS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2103120"/>
            <a:ext cx="108813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Actúa como un revisor estricto de Resultados de una revista Q1.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 paso mi sección de Resultados: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[Pega aquí tu texto]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 tarea es responder, frase por frase: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¿Alguna frase INTERPRETA en lugar de describir? 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Identifícala y márcala como "INTERPRETACIÓN".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¿Alguna frase REPITE en texto los números que ya están en tabla/figura?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Márcala como "REDUNDANCIA".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¿Alguna cita bibliográfica aparece aquí (no debería)?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¿Falta referencia explícita a alguna figura o tabla?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¿Los estadísticos están reportados con: F, gl, p exacto, tamaño 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de efecto, IC 95 %?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 cada problema, cita la frase exacta y propón a qué apartado 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(Métodos / Discusión) pertenece, o cómo simplificarla.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reescribas el texto.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Científico · @TCientifico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33856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35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DISCUSIÓN  ·  INICIAR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Estructurar los 7 movimientos de la pirámide invertida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11247120" cy="4526280"/>
          </a:xfrm>
          <a:prstGeom prst="rect">
            <a:avLst/>
          </a:prstGeom>
          <a:solidFill>
            <a:srgbClr val="F4F1E8"/>
          </a:solidFill>
          <a:ln w="12700">
            <a:solidFill>
              <a:srgbClr val="D9D2C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691640"/>
            <a:ext cx="91440" cy="452628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7830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PARA INICIAR DISCUSIÓN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2103120"/>
            <a:ext cx="108813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Actúa como autor experimentado en [campo].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 paso: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Mis hallazgos principales: [lista 3-5 frases]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- 3-5 referencias clave con sus hallazgos: [cita: hallazgo de cada una]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Mis limitaciones reconocidas: [lista]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 tarea: redacta un borrador de Discusión siguiendo la pirámide 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invertida en 7 párrafos cortos: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Hallazgo principal (1 frase, sin números)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Interpretación: qué significan biológica/técnicamente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Comparación con literatura previa (concuerda con / difiere de)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Mecanismo o causa probable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Implicaciones prácticas concretas para el sector [X]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 Limitaciones específicas (no genéricas)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7. Líneas futuras concretas y accionables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REGLAS: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NO inventes referencias. Usa solo las que te pasé.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Marca con [CITAR: ...] dónde podría agregar más referencias.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NO sobreinterpretes ("prueba definitivamente" → "sugiere que").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Científico · @TCientifico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33856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35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DISCUSIÓN  ·  MEJORAR Y REVISAR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Pulir y auditar el diálogo con la literatura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5532120" cy="4526280"/>
          </a:xfrm>
          <a:prstGeom prst="rect">
            <a:avLst/>
          </a:prstGeom>
          <a:solidFill>
            <a:srgbClr val="F4F1E8"/>
          </a:solidFill>
          <a:ln w="12700">
            <a:solidFill>
              <a:srgbClr val="D9D2C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691640"/>
            <a:ext cx="91440" cy="452628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78308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MEJORAR  ·  Diálogo con literatura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2103120"/>
            <a:ext cx="51663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Actúa como editor académico.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 paso mi Discusión: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[Pega aquí]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 tarea: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Identifica párrafos donde solo 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listo autores sin dialogar 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("X, 2022; Y, 2023; Z, 2024").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Para cada uno, propón una 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reescritura que muestre 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concordancia, discrepancia o 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contribución específica.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Identifica afirmaciones 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sobreinterpretadas ("prueba", 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"demuestra definitivamente") y 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propón versiones más cautas.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cambies referencias.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agregues autores nuevos.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172200" y="1691640"/>
            <a:ext cx="5532120" cy="4526280"/>
          </a:xfrm>
          <a:prstGeom prst="rect">
            <a:avLst/>
          </a:prstGeom>
          <a:solidFill>
            <a:srgbClr val="F4F1E8"/>
          </a:solidFill>
          <a:ln w="12700">
            <a:solidFill>
              <a:srgbClr val="D9D2C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172200" y="1691640"/>
            <a:ext cx="91440" cy="452628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78308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 ·  Estructura completa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0" y="2103120"/>
            <a:ext cx="51663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Actúa como revisor estricto.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 paso mi Discusión: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[Pega aquí]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 tarea: evaluar cada uno de los 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elementos de la pirámide invertida.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 cada uno responde: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¿Aparece SÍ / NO / PARCIAL?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Si aparece, cita la frase exacta.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Si falta, sugiere qué falta.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Adicionalmente: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¿Hay limitaciones explícitas?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¿Las líneas futuras son concretas 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(no "se requiere más investigación")?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¿Cada limitación tiene su línea 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futura correspondiente?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reescribas. Solo evalúa.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Científico · @TCientifico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33856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35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  ·  INICIAR, MEJORAR, REVISAR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apartado más corto — y el que más se confunde con Resumen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3703320" cy="4526280"/>
          </a:xfrm>
          <a:prstGeom prst="rect">
            <a:avLst/>
          </a:prstGeom>
          <a:solidFill>
            <a:srgbClr val="F4F1E8"/>
          </a:solidFill>
          <a:ln w="12700">
            <a:solidFill>
              <a:srgbClr val="D9D2C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691640"/>
            <a:ext cx="91440" cy="452628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78308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2103120"/>
            <a:ext cx="33375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Actúa como autor.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 paso: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Mis objetivos: 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[lista los objetivos]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Mis hallazgos: 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[lista hallazgos]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 tarea: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Redacta Conclusiones en 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100-200 palabras con UNA 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conclusión por objetivo. 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Cierra con una implicación 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práctica concreta.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uses números nuevos.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uses citas.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termines con "se requiere 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más investigación".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51960" y="1691640"/>
            <a:ext cx="3703320" cy="4526280"/>
          </a:xfrm>
          <a:prstGeom prst="rect">
            <a:avLst/>
          </a:prstGeom>
          <a:solidFill>
            <a:srgbClr val="F4F1E8"/>
          </a:solidFill>
          <a:ln w="12700">
            <a:solidFill>
              <a:srgbClr val="D9D2C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251960" y="1691640"/>
            <a:ext cx="91440" cy="452628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80560" y="178308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480560" y="2103120"/>
            <a:ext cx="33375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 paso mis Conclusiones: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[Pega aquí]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 tarea: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Elimina cualquier dato 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numérico, estadístico (F, p) 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o cita bibliográfica.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Elimina descripción de 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métodos o resultados.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Asegúrate de que cada 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objetivo tenga su 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conclusión correspondiente.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Pule la última frase para 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que sea una implicación 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concreta, no una promesa 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vaga.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cambies los hallazgos 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 fondo.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01000" y="1691640"/>
            <a:ext cx="3703320" cy="4526280"/>
          </a:xfrm>
          <a:prstGeom prst="rect">
            <a:avLst/>
          </a:prstGeom>
          <a:solidFill>
            <a:srgbClr val="F4F1E8"/>
          </a:solidFill>
          <a:ln w="12700">
            <a:solidFill>
              <a:srgbClr val="D9D2C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001000" y="1691640"/>
            <a:ext cx="91440" cy="452628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178308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229600" y="2103120"/>
            <a:ext cx="33375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Actúa como revisor.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 paso mis Conclusiones 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junto con mis objetivos.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 tarea: responde 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 SÍ/NO/PARCIAL: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¿Cada objetivo tiene 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conclusión?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¿Hay datos nuevos?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¿Hay citas nuevas?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¿Hay descripción de 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métodos o resultados?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¿Termina con implicación 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concreta?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 ¿Total 100-200 palabras?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Cita las frases problemáticas.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reescribas.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Científico · @TCientifico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33856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35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F3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2194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4 DE 7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269748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Prompts transversales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822960" y="42519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Título · Resumen · Palabras clave · Cover letter.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TÍTULO Y PALABRAS CLAVE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 que el algoritmo lee primero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5532120" cy="4526280"/>
          </a:xfrm>
          <a:prstGeom prst="rect">
            <a:avLst/>
          </a:prstGeom>
          <a:solidFill>
            <a:srgbClr val="F4F1E8"/>
          </a:solidFill>
          <a:ln w="12700">
            <a:solidFill>
              <a:srgbClr val="D9D2C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691640"/>
            <a:ext cx="91440" cy="452628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78308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TÍTULO  ·  Generar 5 versiones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2103120"/>
            <a:ext cx="51663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Actúa como editor de revistas Q1.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 paso: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Hallazgo principal del estudio: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[una frase]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Especie / sistema / técnica clave: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[valores]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Región o contexto: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[lugar]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 tarea: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Propón 5 versiones de título de 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10–15 palabras cada uno, todas 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con: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variable principal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especie / sistema con nombre 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científico cuando aplique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región o contexto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 cada uno, explica en una 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frase su fortaleza (atractivo, 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indexable, específico).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uses preguntas. NO uses 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abreviaturas no estándar.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172200" y="1691640"/>
            <a:ext cx="5532120" cy="4526280"/>
          </a:xfrm>
          <a:prstGeom prst="rect">
            <a:avLst/>
          </a:prstGeom>
          <a:solidFill>
            <a:srgbClr val="F4F1E8"/>
          </a:solidFill>
          <a:ln w="12700">
            <a:solidFill>
              <a:srgbClr val="D9D2C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172200" y="1691640"/>
            <a:ext cx="91440" cy="452628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78308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PALABRAS CLAVE  ·  AGROVOC / MeSH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0" y="2103120"/>
            <a:ext cx="51663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Actúa como bibliotecario 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especializado en bases de datos.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 paso mi título y resumen: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[Pega aquí]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 tarea: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Propón 6-7 palabras clave 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indexables que NO repitan 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las del título.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Para cada una, indica si 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existe en AGROVOC (FAO) 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o MeSH (NCBI).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Prioriza términos específicos 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sobre genéricos 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("deshidratación osmótica" 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mejor que "procesamiento").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inventes términos AGROVOC. 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 no estás seguro de si un 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término existe, márcalo con 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[VERIFICAR EN AGROVOC].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Científico · @TCientifico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33856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35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/ ABSTRACT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Generar y refinar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11247120" cy="4526280"/>
          </a:xfrm>
          <a:prstGeom prst="rect">
            <a:avLst/>
          </a:prstGeom>
          <a:solidFill>
            <a:srgbClr val="F4F1E8"/>
          </a:solidFill>
          <a:ln w="12700">
            <a:solidFill>
              <a:srgbClr val="D9D2C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691640"/>
            <a:ext cx="91440" cy="452628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7830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PARA GENERAR ABSTRACT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2103120"/>
            <a:ext cx="108813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Actúa como autor experimentado en revistas Q1 de [campo].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 paso mi artículo completo / sus apartados: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[Pega aquí el manuscrito o los apartados clave]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 tarea: redacta un abstract estructurado de 200-250 palabras con 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exactamente estas 5 partes (sin encabezados visibles):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Contexto: una frase sobre por qué importa el tema.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Objetivo: qué te propusiste responder, verbo medible.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Métodos: brevísimo - diseño, lugar, técnica clave, n.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Resultados: hallazgos principales CON números clave (incluye 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medias ± DE, valores p relevantes).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Conclusión: implicación práctica concreta.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REGLAS estrictas: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Sin citas bibliográficas.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Sin abreviaturas no definidas.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Sin copiar frases textuales de la Introducción.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Pasado para métodos y resultados.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- 200-250 palabras totales.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Devuelve también una versión en inglés académico neutro.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Científico · @TCientifico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33856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35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LETTER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carta que decide si tu manuscrito pasa a revisión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11247120" cy="4526280"/>
          </a:xfrm>
          <a:prstGeom prst="rect">
            <a:avLst/>
          </a:prstGeom>
          <a:solidFill>
            <a:srgbClr val="F4F1E8"/>
          </a:solidFill>
          <a:ln w="12700">
            <a:solidFill>
              <a:srgbClr val="D9D2C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691640"/>
            <a:ext cx="91440" cy="452628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7830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PARA COVER LETTER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2103120"/>
            <a:ext cx="108813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Actúa como autor que va a someter un manuscrito a [Nombre revista].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 paso: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Título del manuscrito: [pega aquí]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Abstract: [pega aquí]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Scope de la revista: [pega el scope copiado de la web]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Tipo de manuscrito: [Original / Review / Short communication]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Conflictos de interés: [Sí / No, especifica]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Financiación: [agencia, código de proyecto]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 tarea: redacta una cover letter de 250-350 palabras en inglés, 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estructurada así: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Saludo formal al Editor-in-Chief.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Frase de propuesta: título + tipo de manuscrito + por qué encaja 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con el scope de la revista (cita el scope literalmente).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Novedad del estudio en 2-3 frases (qué aporta).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Por qué importa para la audiencia de la revista.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Declaración de originalidad: no enviado a otra revista, todos los 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autores aprobaron.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 Conflictos de interés y declaración de uso de IA si aplica.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7. Cierre formal con datos del autor de correspondencia.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Tono profesional, sin adjetivos excesivos.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Científico · @TCientifico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33856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35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F3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2194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5 DE 7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269748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Iteración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822960" y="42519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Refinar respuestas hasta llegar al texto que necesitas.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ITERACIÓN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Cuatro movimientos para refinar cualquier respuesta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5532120" cy="2011680"/>
          </a:xfrm>
          <a:prstGeom prst="rect">
            <a:avLst/>
          </a:prstGeom>
          <a:solidFill>
            <a:srgbClr val="F7F4ED"/>
          </a:solidFill>
          <a:ln w="12700">
            <a:solidFill>
              <a:srgbClr val="D9D2C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2103120"/>
            <a:ext cx="685800" cy="68580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2221992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10312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Reformula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600200" y="2560320"/>
            <a:ext cx="4206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"Hazlo más corto / más formal / con voz pasiva / en estilo X."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172200" y="1783080"/>
            <a:ext cx="5532120" cy="2011680"/>
          </a:xfrm>
          <a:prstGeom prst="rect">
            <a:avLst/>
          </a:prstGeom>
          <a:solidFill>
            <a:srgbClr val="F7F4ED"/>
          </a:solidFill>
          <a:ln w="12700">
            <a:solidFill>
              <a:srgbClr val="D9D2C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46520" y="2103120"/>
            <a:ext cx="685800" cy="68580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392" y="2221992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15200" y="210312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Pide ejemplos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7315200" y="2560320"/>
            <a:ext cx="4206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"Dame 3 versiones alternativas con diferentes tonos."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457200" y="3977640"/>
            <a:ext cx="5532120" cy="2011680"/>
          </a:xfrm>
          <a:prstGeom prst="rect">
            <a:avLst/>
          </a:prstGeom>
          <a:solidFill>
            <a:srgbClr val="F7F4ED"/>
          </a:solidFill>
          <a:ln w="12700">
            <a:solidFill>
              <a:srgbClr val="D9D2C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31520" y="4297680"/>
            <a:ext cx="685800" cy="68580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4416552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429768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Compara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1600200" y="4754880"/>
            <a:ext cx="4206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"¿Cuál de estas dos versiones es más fuerte y por qué?"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172200" y="3977640"/>
            <a:ext cx="5532120" cy="2011680"/>
          </a:xfrm>
          <a:prstGeom prst="rect">
            <a:avLst/>
          </a:prstGeom>
          <a:solidFill>
            <a:srgbClr val="F7F4ED"/>
          </a:solidFill>
          <a:ln w="12700">
            <a:solidFill>
              <a:srgbClr val="D9D2C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46520" y="4297680"/>
            <a:ext cx="685800" cy="68580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5392" y="4416552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15200" y="429768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Restringe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7315200" y="4754880"/>
            <a:ext cx="4206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"Mismo prompt pero sin usar la palabra X y máximo 150 palabras."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Científico · @TCientifico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33856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35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FRASES LISTAS PARA REFINAR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Plantillas que ahorran tiempo en cada conversación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11247120" cy="530352"/>
          </a:xfrm>
          <a:prstGeom prst="rect">
            <a:avLst/>
          </a:prstGeom>
          <a:solidFill>
            <a:srgbClr val="F4F1E8"/>
          </a:solidFill>
          <a:ln w="12700">
            <a:solidFill>
              <a:srgbClr val="D9D2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91640"/>
            <a:ext cx="73152" cy="53035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810512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1691640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F3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"Hazlo 30 % más corto manteniendo todos los datos numéricos."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57200" y="2313432"/>
            <a:ext cx="11247120" cy="530352"/>
          </a:xfrm>
          <a:prstGeom prst="rect">
            <a:avLst/>
          </a:prstGeom>
          <a:solidFill>
            <a:srgbClr val="F4F1E8"/>
          </a:solidFill>
          <a:ln w="12700">
            <a:solidFill>
              <a:srgbClr val="D9D2C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" y="2313432"/>
            <a:ext cx="73152" cy="53035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432304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97280" y="2313432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F3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"Reescribe esto en voz pasiva, español académico neutro."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457200" y="2935224"/>
            <a:ext cx="11247120" cy="530352"/>
          </a:xfrm>
          <a:prstGeom prst="rect">
            <a:avLst/>
          </a:prstGeom>
          <a:solidFill>
            <a:srgbClr val="F4F1E8"/>
          </a:solidFill>
          <a:ln w="12700">
            <a:solidFill>
              <a:srgbClr val="D9D2C0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57200" y="2935224"/>
            <a:ext cx="73152" cy="53035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054096"/>
            <a:ext cx="292608" cy="29260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97280" y="2935224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F3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"Identifica las 3 palabras más vagas y propón alternativas."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457200" y="3557016"/>
            <a:ext cx="11247120" cy="530352"/>
          </a:xfrm>
          <a:prstGeom prst="rect">
            <a:avLst/>
          </a:prstGeom>
          <a:solidFill>
            <a:srgbClr val="F4F1E8"/>
          </a:solidFill>
          <a:ln w="12700">
            <a:solidFill>
              <a:srgbClr val="D9D2C0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457200" y="3557016"/>
            <a:ext cx="73152" cy="53035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675888"/>
            <a:ext cx="292608" cy="29260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097280" y="3557016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F3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"Esto tiene 250 palabras. Necesito 180 sin perder la idea principal."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457200" y="4178808"/>
            <a:ext cx="11247120" cy="530352"/>
          </a:xfrm>
          <a:prstGeom prst="rect">
            <a:avLst/>
          </a:prstGeom>
          <a:solidFill>
            <a:srgbClr val="F4F1E8"/>
          </a:solidFill>
          <a:ln w="12700">
            <a:solidFill>
              <a:srgbClr val="D9D2C0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457200" y="4178808"/>
            <a:ext cx="73152" cy="53035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4297680"/>
            <a:ext cx="292608" cy="29260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097280" y="4178808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F3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"¿Qué información falta que un revisor exigiría?"</a:t>
            </a:r>
            <a:endParaRPr lang="en-US" sz="1250" dirty="0"/>
          </a:p>
        </p:txBody>
      </p:sp>
      <p:sp>
        <p:nvSpPr>
          <p:cNvPr id="24" name="Shape 17"/>
          <p:cNvSpPr/>
          <p:nvPr/>
        </p:nvSpPr>
        <p:spPr>
          <a:xfrm>
            <a:off x="457200" y="4800600"/>
            <a:ext cx="11247120" cy="530352"/>
          </a:xfrm>
          <a:prstGeom prst="rect">
            <a:avLst/>
          </a:prstGeom>
          <a:solidFill>
            <a:srgbClr val="F4F1E8"/>
          </a:solidFill>
          <a:ln w="12700">
            <a:solidFill>
              <a:srgbClr val="D9D2C0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457200" y="4800600"/>
            <a:ext cx="73152" cy="53035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4919472"/>
            <a:ext cx="292608" cy="29260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1097280" y="4800600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F3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"Convierte esto en una tabla de 3 columnas: variable, valor, unidad."</a:t>
            </a:r>
            <a:endParaRPr lang="en-US" sz="1250" dirty="0"/>
          </a:p>
        </p:txBody>
      </p:sp>
      <p:sp>
        <p:nvSpPr>
          <p:cNvPr id="28" name="Shape 20"/>
          <p:cNvSpPr/>
          <p:nvPr/>
        </p:nvSpPr>
        <p:spPr>
          <a:xfrm>
            <a:off x="457200" y="5422392"/>
            <a:ext cx="11247120" cy="530352"/>
          </a:xfrm>
          <a:prstGeom prst="rect">
            <a:avLst/>
          </a:prstGeom>
          <a:solidFill>
            <a:srgbClr val="F4F1E8"/>
          </a:solidFill>
          <a:ln w="12700">
            <a:solidFill>
              <a:srgbClr val="D9D2C0"/>
            </a:solidFill>
            <a:prstDash val="solid"/>
          </a:ln>
        </p:spPr>
      </p:sp>
      <p:sp>
        <p:nvSpPr>
          <p:cNvPr id="29" name="Shape 21"/>
          <p:cNvSpPr/>
          <p:nvPr/>
        </p:nvSpPr>
        <p:spPr>
          <a:xfrm>
            <a:off x="457200" y="5422392"/>
            <a:ext cx="73152" cy="53035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5541264"/>
            <a:ext cx="292608" cy="292608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1097280" y="5422392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F3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"Genera 3 versiones: una formal, una neutra, una accesible."</a:t>
            </a:r>
            <a:endParaRPr lang="en-US" sz="1250" dirty="0"/>
          </a:p>
        </p:txBody>
      </p:sp>
      <p:sp>
        <p:nvSpPr>
          <p:cNvPr id="32" name="Text 23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Científico · @TCientifico</a:t>
            </a:r>
            <a:endParaRPr lang="en-US" sz="900" dirty="0"/>
          </a:p>
        </p:txBody>
      </p:sp>
      <p:sp>
        <p:nvSpPr>
          <p:cNvPr id="33" name="Text 24"/>
          <p:cNvSpPr/>
          <p:nvPr/>
        </p:nvSpPr>
        <p:spPr>
          <a:xfrm>
            <a:off x="1133856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35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F3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2194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6 DE 7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269748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Ética y declaración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822960" y="42519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las revistas exigen sobre el uso de IA en 2025–2026.</a:t>
            </a:r>
            <a:endParaRPr lang="en-US" sz="1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LA IA SÍ Y NO DEBE HACER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Línea ética según ICMJE, COPE y editores Q1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5532120" cy="4572000"/>
          </a:xfrm>
          <a:prstGeom prst="rect">
            <a:avLst/>
          </a:prstGeom>
          <a:solidFill>
            <a:srgbClr val="F7F4ED"/>
          </a:solidFill>
          <a:ln w="12700">
            <a:solidFill>
              <a:srgbClr val="D9D2C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691640"/>
            <a:ext cx="5532120" cy="9144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92024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69164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USOS ACEPTADOS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85800" y="2788920"/>
            <a:ext cx="507492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Mejorar redacción y gramática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Reordenar párrafos para claridad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Sugerir estructura de apartados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Detectar inconsistencias internas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Traducir tu propio texto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Resumir literatura que TÚ leíste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172200" y="1691640"/>
            <a:ext cx="5532120" cy="4572000"/>
          </a:xfrm>
          <a:prstGeom prst="rect">
            <a:avLst/>
          </a:prstGeom>
          <a:solidFill>
            <a:srgbClr val="F7F4ED"/>
          </a:solidFill>
          <a:ln w="12700">
            <a:solidFill>
              <a:srgbClr val="D9D2C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172200" y="1691640"/>
            <a:ext cx="5532120" cy="914400"/>
          </a:xfrm>
          <a:prstGeom prst="rect">
            <a:avLst/>
          </a:prstGeom>
          <a:solidFill>
            <a:srgbClr val="B8651A"/>
          </a:solidFill>
          <a:ln w="12700">
            <a:solidFill>
              <a:srgbClr val="B8651A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92024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86600" y="169164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USOS NO ACEPTADOS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400800" y="2788920"/>
            <a:ext cx="507492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 datos o referencias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Listar la IA como coautor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Generar resultados sin tu análisis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Citar artículos que no leíste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Reemplazar tu juicio científico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Ocultar el uso al editor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Científico · @TCientifico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33856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35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PRINCIPIOS ÉTICOS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 no negociable según ICMJE y COPE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3703320" cy="4434840"/>
          </a:xfrm>
          <a:prstGeom prst="rect">
            <a:avLst/>
          </a:prstGeom>
          <a:solidFill>
            <a:srgbClr val="F7F4ED"/>
          </a:solidFill>
          <a:ln w="12700">
            <a:solidFill>
              <a:srgbClr val="D9D2C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783080"/>
            <a:ext cx="3703320" cy="100584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01168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063240" y="192024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685800" y="297180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Autoría humana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85800" y="3520440"/>
            <a:ext cx="3246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IA no puede ser autor. No tiene responsabilidad legal ni capacidad de aprobar el manuscrito final. Los autores son las personas.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297680" y="1783080"/>
            <a:ext cx="3703320" cy="4434840"/>
          </a:xfrm>
          <a:prstGeom prst="rect">
            <a:avLst/>
          </a:prstGeom>
          <a:solidFill>
            <a:srgbClr val="F7F4ED"/>
          </a:solidFill>
          <a:ln w="12700">
            <a:solidFill>
              <a:srgbClr val="D9D2C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297680" y="1783080"/>
            <a:ext cx="3703320" cy="100584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011680"/>
            <a:ext cx="548640" cy="5486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03720" y="192024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600" dirty="0"/>
          </a:p>
        </p:txBody>
      </p:sp>
      <p:sp>
        <p:nvSpPr>
          <p:cNvPr id="14" name="Text 10"/>
          <p:cNvSpPr/>
          <p:nvPr/>
        </p:nvSpPr>
        <p:spPr>
          <a:xfrm>
            <a:off x="4526280" y="297180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Transparencia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4526280" y="3520440"/>
            <a:ext cx="3246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Debes declarar el uso de IA: qué modelo, para qué tarea, en qué partes del manuscrito. La declaración va en Métodos o en sección "Acknowledgments".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8138160" y="1783080"/>
            <a:ext cx="3703320" cy="4434840"/>
          </a:xfrm>
          <a:prstGeom prst="rect">
            <a:avLst/>
          </a:prstGeom>
          <a:solidFill>
            <a:srgbClr val="F7F4ED"/>
          </a:solidFill>
          <a:ln w="12700">
            <a:solidFill>
              <a:srgbClr val="D9D2C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138160" y="1783080"/>
            <a:ext cx="3703320" cy="100584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2011680"/>
            <a:ext cx="548640" cy="5486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744200" y="192024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600" dirty="0"/>
          </a:p>
        </p:txBody>
      </p:sp>
      <p:sp>
        <p:nvSpPr>
          <p:cNvPr id="20" name="Text 15"/>
          <p:cNvSpPr/>
          <p:nvPr/>
        </p:nvSpPr>
        <p:spPr>
          <a:xfrm>
            <a:off x="8366760" y="297180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Responsabilidad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8366760" y="3520440"/>
            <a:ext cx="3246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Eres responsable de cada palabra. Verifica datos, citas y afirmaciones. Si la IA inventó una referencia y tú la dejaste, la falta es tuya.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Científico · @TCientifico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33856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35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PLANTILLA DE DECLARACIÓN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Cómo escribir la declaración de uso de IA en tu manuscrito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11247120" cy="4572000"/>
          </a:xfrm>
          <a:prstGeom prst="rect">
            <a:avLst/>
          </a:prstGeom>
          <a:solidFill>
            <a:srgbClr val="F4F1E8"/>
          </a:solidFill>
          <a:ln w="12700">
            <a:solidFill>
              <a:srgbClr val="D9D2C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691640"/>
            <a:ext cx="91440" cy="45720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82880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DECLARACIÓN  ·  Para la sección de Métodos o Acknowledgments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2286000"/>
            <a:ext cx="106070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ESPAÑOL:
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"Durante la preparación de este manuscrito, los autores utilizaron [nombre del modelo, ej. Claude 4.5 / ChatGPT-4o] para [tarea específica: mejorar la redacción / sugerir estructura / traducir secciones / revisar gramática]. Tras usar esta herramienta, los autores revisaron y editaron el contenido según fue necesario y asumen plena responsabilidad por el contenido del manuscrito publicado."
</a:t>
            </a:r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INGLÉS  ·  Plantilla oficial Elsevier:
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"During the preparation of this work the author(s) used [NAME OF TOOL / SERVICE] in order to [REASON]. After using this tool/service, the author(s) reviewed and edited the content as needed and take(s) full responsibility for the content of the published article."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Científico · @TCientifico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33856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/ 35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DICEN LAS GRANDES EDITORIALES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Resumen de políticas vigentes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2468880" cy="4572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828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Editorial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926080" y="1828800"/>
            <a:ext cx="2468880" cy="4572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17520" y="1828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Autoría IA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394960" y="1828800"/>
            <a:ext cx="3200400" cy="4572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0" y="18288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Declaración requerida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595360" y="1828800"/>
            <a:ext cx="3108960" cy="4572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0" y="18288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Dónde declarar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286000"/>
            <a:ext cx="2468880" cy="548640"/>
          </a:xfrm>
          <a:prstGeom prst="rect">
            <a:avLst/>
          </a:prstGeom>
          <a:solidFill>
            <a:srgbClr val="F7F4ED"/>
          </a:solidFill>
          <a:ln w="6350">
            <a:solidFill>
              <a:srgbClr val="D9D2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2860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Elsevier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926080" y="2286000"/>
            <a:ext cx="2468880" cy="548640"/>
          </a:xfrm>
          <a:prstGeom prst="rect">
            <a:avLst/>
          </a:prstGeom>
          <a:solidFill>
            <a:srgbClr val="F7F4ED"/>
          </a:solidFill>
          <a:ln w="6350">
            <a:solidFill>
              <a:srgbClr val="D9D2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17520" y="22860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permitida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394960" y="2286000"/>
            <a:ext cx="3200400" cy="548640"/>
          </a:xfrm>
          <a:prstGeom prst="rect">
            <a:avLst/>
          </a:prstGeom>
          <a:solidFill>
            <a:srgbClr val="F7F4ED"/>
          </a:solidFill>
          <a:ln w="6350">
            <a:solidFill>
              <a:srgbClr val="D9D2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0" y="22860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Sí, obligatoria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595360" y="2286000"/>
            <a:ext cx="3108960" cy="548640"/>
          </a:xfrm>
          <a:prstGeom prst="rect">
            <a:avLst/>
          </a:prstGeom>
          <a:solidFill>
            <a:srgbClr val="F7F4ED"/>
          </a:solidFill>
          <a:ln w="6350">
            <a:solidFill>
              <a:srgbClr val="D9D2C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0" y="22860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Declaration of generative AI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" y="2834640"/>
            <a:ext cx="24688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28346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Springer Nature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926080" y="2834640"/>
            <a:ext cx="24688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017520" y="28346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permitida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394960" y="2834640"/>
            <a:ext cx="32004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0" y="28346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 (excepto copyedit)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595360" y="2834640"/>
            <a:ext cx="31089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86800" y="28346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57200" y="3383280"/>
            <a:ext cx="2468880" cy="548640"/>
          </a:xfrm>
          <a:prstGeom prst="rect">
            <a:avLst/>
          </a:prstGeom>
          <a:solidFill>
            <a:srgbClr val="F7F4ED"/>
          </a:solidFill>
          <a:ln w="6350">
            <a:solidFill>
              <a:srgbClr val="D9D2C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33832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Wiley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2926080" y="3383280"/>
            <a:ext cx="2468880" cy="548640"/>
          </a:xfrm>
          <a:prstGeom prst="rect">
            <a:avLst/>
          </a:prstGeom>
          <a:solidFill>
            <a:srgbClr val="F7F4ED"/>
          </a:solidFill>
          <a:ln w="6350">
            <a:solidFill>
              <a:srgbClr val="D9D2C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017520" y="33832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permitida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394960" y="3383280"/>
            <a:ext cx="3200400" cy="548640"/>
          </a:xfrm>
          <a:prstGeom prst="rect">
            <a:avLst/>
          </a:prstGeom>
          <a:solidFill>
            <a:srgbClr val="F7F4ED"/>
          </a:solidFill>
          <a:ln w="6350">
            <a:solidFill>
              <a:srgbClr val="D9D2C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0" y="33832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Sí, obligatoria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8595360" y="3383280"/>
            <a:ext cx="3108960" cy="548640"/>
          </a:xfrm>
          <a:prstGeom prst="rect">
            <a:avLst/>
          </a:prstGeom>
          <a:solidFill>
            <a:srgbClr val="F7F4ED"/>
          </a:solidFill>
          <a:ln w="6350">
            <a:solidFill>
              <a:srgbClr val="D9D2C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686800" y="33832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o Acknowledgments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457200" y="3931920"/>
            <a:ext cx="24688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39319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Nature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2926080" y="3931920"/>
            <a:ext cx="24688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017520" y="39319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permitida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5394960" y="3931920"/>
            <a:ext cx="32004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0" y="39319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Sí, obligatoria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8595360" y="3931920"/>
            <a:ext cx="31089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686800" y="39319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457200" y="4480560"/>
            <a:ext cx="2468880" cy="548640"/>
          </a:xfrm>
          <a:prstGeom prst="rect">
            <a:avLst/>
          </a:prstGeom>
          <a:solidFill>
            <a:srgbClr val="F7F4ED"/>
          </a:solidFill>
          <a:ln w="6350">
            <a:solidFill>
              <a:srgbClr val="D9D2C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8640" y="44805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Taylor &amp; Francis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2926080" y="4480560"/>
            <a:ext cx="2468880" cy="548640"/>
          </a:xfrm>
          <a:prstGeom prst="rect">
            <a:avLst/>
          </a:prstGeom>
          <a:solidFill>
            <a:srgbClr val="F7F4ED"/>
          </a:solidFill>
          <a:ln w="6350">
            <a:solidFill>
              <a:srgbClr val="D9D2C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017520" y="44805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permitida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5394960" y="4480560"/>
            <a:ext cx="3200400" cy="548640"/>
          </a:xfrm>
          <a:prstGeom prst="rect">
            <a:avLst/>
          </a:prstGeom>
          <a:solidFill>
            <a:srgbClr val="F7F4ED"/>
          </a:solidFill>
          <a:ln w="6350">
            <a:solidFill>
              <a:srgbClr val="D9D2C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486400" y="44805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Sí, obligatoria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8595360" y="4480560"/>
            <a:ext cx="3108960" cy="548640"/>
          </a:xfrm>
          <a:prstGeom prst="rect">
            <a:avLst/>
          </a:prstGeom>
          <a:solidFill>
            <a:srgbClr val="F7F4ED"/>
          </a:solidFill>
          <a:ln w="6350">
            <a:solidFill>
              <a:srgbClr val="D9D2C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686800" y="44805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Acknowledgments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457200" y="5029200"/>
            <a:ext cx="24688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48640" y="50292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MDPI / Frontiers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2926080" y="5029200"/>
            <a:ext cx="24688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017520" y="50292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permitida</a:t>
            </a:r>
            <a:endParaRPr lang="en-US" sz="1150" dirty="0"/>
          </a:p>
        </p:txBody>
      </p:sp>
      <p:sp>
        <p:nvSpPr>
          <p:cNvPr id="56" name="Shape 54"/>
          <p:cNvSpPr/>
          <p:nvPr/>
        </p:nvSpPr>
        <p:spPr>
          <a:xfrm>
            <a:off x="5394960" y="5029200"/>
            <a:ext cx="32004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486400" y="50292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Sí, obligatoria</a:t>
            </a:r>
            <a:endParaRPr lang="en-US" sz="1150" dirty="0"/>
          </a:p>
        </p:txBody>
      </p:sp>
      <p:sp>
        <p:nvSpPr>
          <p:cNvPr id="58" name="Shape 56"/>
          <p:cNvSpPr/>
          <p:nvPr/>
        </p:nvSpPr>
        <p:spPr>
          <a:xfrm>
            <a:off x="8595360" y="5029200"/>
            <a:ext cx="31089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686800" y="50292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Acknowledgments</a:t>
            </a:r>
            <a:endParaRPr lang="en-US" sz="1150" dirty="0"/>
          </a:p>
        </p:txBody>
      </p:sp>
      <p:sp>
        <p:nvSpPr>
          <p:cNvPr id="60" name="Text 58"/>
          <p:cNvSpPr/>
          <p:nvPr/>
        </p:nvSpPr>
        <p:spPr>
          <a:xfrm>
            <a:off x="457200" y="576072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 consistente: la IA NUNCA puede ser coautora. Las políticas evolucionan rápido — verifica el author guide específico de tu revista antes de cada envío.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Científico · @TCientifico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1133856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/ 35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F3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2194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7 DE 7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269748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Errores y entregable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822960" y="42519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propio kit de prompts personalizados.</a:t>
            </a:r>
            <a:endParaRPr lang="en-US" sz="1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 FRECUENTES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Los 7 más comunes al usar IA para escribir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5532120" cy="960120"/>
          </a:xfrm>
          <a:prstGeom prst="rect">
            <a:avLst/>
          </a:prstGeom>
          <a:solidFill>
            <a:srgbClr val="F7F4ED"/>
          </a:solidFill>
          <a:ln w="12700">
            <a:solidFill>
              <a:srgbClr val="D9D2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783080"/>
            <a:ext cx="73152" cy="960120"/>
          </a:xfrm>
          <a:prstGeom prst="rect">
            <a:avLst/>
          </a:prstGeom>
          <a:solidFill>
            <a:srgbClr val="B8651A"/>
          </a:solidFill>
          <a:ln w="12700">
            <a:solidFill>
              <a:srgbClr val="B8651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075688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783080"/>
            <a:ext cx="4663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Aceptar texto sin verificar — sobre todo citas que la IA puede inventar.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57200" y="2880360"/>
            <a:ext cx="5532120" cy="960120"/>
          </a:xfrm>
          <a:prstGeom prst="rect">
            <a:avLst/>
          </a:prstGeom>
          <a:solidFill>
            <a:srgbClr val="F7F4ED"/>
          </a:solidFill>
          <a:ln w="12700">
            <a:solidFill>
              <a:srgbClr val="D9D2C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" y="2880360"/>
            <a:ext cx="73152" cy="960120"/>
          </a:xfrm>
          <a:prstGeom prst="rect">
            <a:avLst/>
          </a:prstGeom>
          <a:solidFill>
            <a:srgbClr val="B8651A"/>
          </a:solidFill>
          <a:ln w="12700">
            <a:solidFill>
              <a:srgbClr val="B8651A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172968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34440" y="2880360"/>
            <a:ext cx="4663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vagos: "mejora esto" sin contexto ni rol.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457200" y="3977640"/>
            <a:ext cx="5532120" cy="960120"/>
          </a:xfrm>
          <a:prstGeom prst="rect">
            <a:avLst/>
          </a:prstGeom>
          <a:solidFill>
            <a:srgbClr val="F7F4ED"/>
          </a:solidFill>
          <a:ln w="12700">
            <a:solidFill>
              <a:srgbClr val="D9D2C0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57200" y="3977640"/>
            <a:ext cx="73152" cy="960120"/>
          </a:xfrm>
          <a:prstGeom prst="rect">
            <a:avLst/>
          </a:prstGeom>
          <a:solidFill>
            <a:srgbClr val="B8651A"/>
          </a:solidFill>
          <a:ln w="12700">
            <a:solidFill>
              <a:srgbClr val="B8651A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270248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34440" y="3977640"/>
            <a:ext cx="4663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Pegar el manuscrito completo sin especificar qué apartado revisar.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457200" y="5074920"/>
            <a:ext cx="5532120" cy="960120"/>
          </a:xfrm>
          <a:prstGeom prst="rect">
            <a:avLst/>
          </a:prstGeom>
          <a:solidFill>
            <a:srgbClr val="F7F4ED"/>
          </a:solidFill>
          <a:ln w="12700">
            <a:solidFill>
              <a:srgbClr val="D9D2C0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457200" y="5074920"/>
            <a:ext cx="73152" cy="960120"/>
          </a:xfrm>
          <a:prstGeom prst="rect">
            <a:avLst/>
          </a:prstGeom>
          <a:solidFill>
            <a:srgbClr val="B8651A"/>
          </a:solidFill>
          <a:ln w="12700">
            <a:solidFill>
              <a:srgbClr val="B8651A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5367528"/>
            <a:ext cx="365760" cy="3657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234440" y="5074920"/>
            <a:ext cx="4663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Pedir reescritura cuando solo necesitabas revisión.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6217920" y="1783080"/>
            <a:ext cx="5532120" cy="960120"/>
          </a:xfrm>
          <a:prstGeom prst="rect">
            <a:avLst/>
          </a:prstGeom>
          <a:solidFill>
            <a:srgbClr val="F7F4ED"/>
          </a:solidFill>
          <a:ln w="12700">
            <a:solidFill>
              <a:srgbClr val="D9D2C0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6217920" y="1783080"/>
            <a:ext cx="73152" cy="960120"/>
          </a:xfrm>
          <a:prstGeom prst="rect">
            <a:avLst/>
          </a:prstGeom>
          <a:solidFill>
            <a:srgbClr val="B8651A"/>
          </a:solidFill>
          <a:ln w="12700">
            <a:solidFill>
              <a:srgbClr val="B8651A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2075688"/>
            <a:ext cx="365760" cy="36576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995160" y="1783080"/>
            <a:ext cx="4663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iterar: aceptar la primera respuesta como definitiva.</a:t>
            </a:r>
            <a:endParaRPr lang="en-US" sz="1150" dirty="0"/>
          </a:p>
        </p:txBody>
      </p:sp>
      <p:sp>
        <p:nvSpPr>
          <p:cNvPr id="24" name="Shape 17"/>
          <p:cNvSpPr/>
          <p:nvPr/>
        </p:nvSpPr>
        <p:spPr>
          <a:xfrm>
            <a:off x="6217920" y="2880360"/>
            <a:ext cx="5532120" cy="960120"/>
          </a:xfrm>
          <a:prstGeom prst="rect">
            <a:avLst/>
          </a:prstGeom>
          <a:solidFill>
            <a:srgbClr val="F7F4ED"/>
          </a:solidFill>
          <a:ln w="12700">
            <a:solidFill>
              <a:srgbClr val="D9D2C0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6217920" y="2880360"/>
            <a:ext cx="73152" cy="960120"/>
          </a:xfrm>
          <a:prstGeom prst="rect">
            <a:avLst/>
          </a:prstGeom>
          <a:solidFill>
            <a:srgbClr val="B8651A"/>
          </a:solidFill>
          <a:ln w="12700">
            <a:solidFill>
              <a:srgbClr val="B8651A"/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6520" y="3172968"/>
            <a:ext cx="365760" cy="36576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995160" y="2880360"/>
            <a:ext cx="4663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Ocultar el uso de IA al editor — riesgo de retracción.</a:t>
            </a:r>
            <a:endParaRPr lang="en-US" sz="1150" dirty="0"/>
          </a:p>
        </p:txBody>
      </p:sp>
      <p:sp>
        <p:nvSpPr>
          <p:cNvPr id="28" name="Shape 20"/>
          <p:cNvSpPr/>
          <p:nvPr/>
        </p:nvSpPr>
        <p:spPr>
          <a:xfrm>
            <a:off x="6217920" y="3977640"/>
            <a:ext cx="5532120" cy="960120"/>
          </a:xfrm>
          <a:prstGeom prst="rect">
            <a:avLst/>
          </a:prstGeom>
          <a:solidFill>
            <a:srgbClr val="F7F4ED"/>
          </a:solidFill>
          <a:ln w="12700">
            <a:solidFill>
              <a:srgbClr val="D9D2C0"/>
            </a:solidFill>
            <a:prstDash val="solid"/>
          </a:ln>
        </p:spPr>
      </p:sp>
      <p:sp>
        <p:nvSpPr>
          <p:cNvPr id="29" name="Shape 21"/>
          <p:cNvSpPr/>
          <p:nvPr/>
        </p:nvSpPr>
        <p:spPr>
          <a:xfrm>
            <a:off x="6217920" y="3977640"/>
            <a:ext cx="73152" cy="960120"/>
          </a:xfrm>
          <a:prstGeom prst="rect">
            <a:avLst/>
          </a:prstGeom>
          <a:solidFill>
            <a:srgbClr val="B8651A"/>
          </a:solidFill>
          <a:ln w="12700">
            <a:solidFill>
              <a:srgbClr val="B8651A"/>
            </a:solidFill>
            <a:prstDash val="solid"/>
          </a:ln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6520" y="4270248"/>
            <a:ext cx="365760" cy="36576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6995160" y="3977640"/>
            <a:ext cx="4663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IA para generar análisis estadístico que no entiendes.</a:t>
            </a:r>
            <a:endParaRPr lang="en-US" sz="1150" dirty="0"/>
          </a:p>
        </p:txBody>
      </p:sp>
      <p:sp>
        <p:nvSpPr>
          <p:cNvPr id="32" name="Text 23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Científico · @TCientifico</a:t>
            </a:r>
            <a:endParaRPr lang="en-US" sz="900" dirty="0"/>
          </a:p>
        </p:txBody>
      </p:sp>
      <p:sp>
        <p:nvSpPr>
          <p:cNvPr id="33" name="Text 24"/>
          <p:cNvSpPr/>
          <p:nvPr/>
        </p:nvSpPr>
        <p:spPr>
          <a:xfrm>
            <a:off x="1133856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/ 35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 DE LA MASTERCLASS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Construye tu propio kit de prompts personalizados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11247120" cy="4572000"/>
          </a:xfrm>
          <a:prstGeom prst="rect">
            <a:avLst/>
          </a:prstGeom>
          <a:solidFill>
            <a:srgbClr val="FFFFFF"/>
          </a:solidFill>
          <a:ln w="25400">
            <a:solidFill>
              <a:srgbClr val="2C5F2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92024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8745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 kit en 5 pasos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685800" y="260604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188720" y="26334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ESCOGE TU CASO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188720" y="2898648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 un manuscrito propio (tesis, borrador o publicado) y trabaja sobre él.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85800" y="3319272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188720" y="334670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 5 PROMPTS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188720" y="361188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los presentados, adapta uno por apartado a tu campo, especie y contexto.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85800" y="4032504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1188720" y="405993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Y AJUSTA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188720" y="4325112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 cada prompt. Si la respuesta no sirve, refina el prompt — no la respuesta.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85800" y="4745736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1188720" y="47731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TU LIBRERÍA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188720" y="5038344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un documento con tus prompts probados. Es tu activo profesional.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85800" y="5458968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1188720" y="54864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REDACTA TU DECLARACIÓN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1188720" y="5751576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 la plantilla de la slide 30 a tu uso real. Tenla lista antes de someter.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57200" y="6355080"/>
            <a:ext cx="11247120" cy="32004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7200" y="63550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Entregable: tu librería de 5+ prompts adaptados, listos para tu próximo manuscrito.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F3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91440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spc="1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GRACIAS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822960" y="2240280"/>
            <a:ext cx="10424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1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IA escribe rápido. Tú escribes bien. La combinación correcta acelera tu carrera científica — sin reemplazar tu juicio.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822960" y="3703320"/>
            <a:ext cx="10424160" cy="224028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3840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SEGUIR APRENDIENDO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97280" y="4206240"/>
            <a:ext cx="100584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Elsevier ·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policies for authors (elsevier.com/about/policies)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COPE ·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Authorship and AI tools (publicationethics.org)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WAME · </a:t>
            </a:r>
            <a:pPr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on Chatbots and Generative AI in Scholarly Publications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docs.claude.com  ·  platform.openai.com/docs  ·  ai.google.dev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Científico (YouTube) ·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playlist de IA para investigadores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22960" y="617220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Oscar Iván Vargas Pineda, PhD  ·  Trabajo Científico  ·  @TCientifico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IA generativa para escritura científica</dc:title>
  <dc:subject>PptxGenJS Presentation</dc:subject>
  <dc:creator>Oscar Iván Vargas Pineda · Trabajo Científico</dc:creator>
  <cp:lastModifiedBy>Oscar Iván Vargas Pineda · Trabajo Científico</cp:lastModifiedBy>
  <cp:revision>1</cp:revision>
  <dcterms:created xsi:type="dcterms:W3CDTF">2026-05-12T12:09:51Z</dcterms:created>
  <dcterms:modified xsi:type="dcterms:W3CDTF">2026-05-12T12:09:51Z</dcterms:modified>
</cp:coreProperties>
</file>