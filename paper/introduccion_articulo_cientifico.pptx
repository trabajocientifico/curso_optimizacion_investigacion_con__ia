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 ·  TALLER ESPECIALIZADO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Introducción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apartado que decide si te leen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construir una introducción que sobreviva al desk reject — del contexto al objetivo en cinco movimientos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8961120" cy="7772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75488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GUÍA  · 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Bacterias ácido-lácticas nativas en cacao fermentado del Piedemonte llanero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080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Iván Vargas Pineda, PhD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 · Docente Universitario · @TCientifico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SESIÓN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cubriremos hoy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1247120" cy="7315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91440" cy="7315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1732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la Introducción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1945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editor lee primero — y por qué decide allí.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11247120" cy="7315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51760"/>
            <a:ext cx="91440" cy="7315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6517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41732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estructura del embudo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3063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movimientos de lo general a lo específico.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520440"/>
            <a:ext cx="91440" cy="7315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5204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41732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vacío de conocimiento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3931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encontrarlo, cómo redactarlo.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389120"/>
            <a:ext cx="11247120" cy="7315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389120"/>
            <a:ext cx="91440" cy="7315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3891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417320" y="4480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 e hipótesis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4800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Frases medibles que cierran el embudo.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257800"/>
            <a:ext cx="11247120" cy="7315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257800"/>
            <a:ext cx="91440" cy="7315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2578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1417320" y="5349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Ejercicios prácticos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17320" y="56692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propia introducción al final del taller.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DE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la Introducción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4251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editor decide en los dos primeros párrafos. No en los últimos.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razones por las que la Introducción decide tu artículo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703320" cy="43891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783080"/>
            <a:ext cx="3703320" cy="10058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116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063240" y="19202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85800" y="297180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 lo segundo que se lee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800" y="3886200"/>
            <a:ext cx="3246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del título y el resumen, el editor lee la introducción para decidir si envía a revisión por pares o aplica desk reject.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7680" y="1783080"/>
            <a:ext cx="3703320" cy="43891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97680" y="1783080"/>
            <a:ext cx="3703320" cy="10058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01168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03720" y="19202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4526280" y="297180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Vende la novedad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526280" y="3886200"/>
            <a:ext cx="3246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donde demuestras que tu estudio llena un vacío real — no donde describes lo que sabes del tema.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38160" y="1783080"/>
            <a:ext cx="3703320" cy="43891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38160" y="1783080"/>
            <a:ext cx="3703320" cy="10058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01168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744200" y="19202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20" name="Text 15"/>
          <p:cNvSpPr/>
          <p:nvPr/>
        </p:nvSpPr>
        <p:spPr>
          <a:xfrm>
            <a:off x="8366760" y="297180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Marca el contrato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366760" y="3886200"/>
            <a:ext cx="3246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que pones aquí es lo que los revisores van a buscar en Resultados y Discusión.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REALIDAD EDITORIAL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Desk reject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rechazo sin revisión por pares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revistas de alto impacto, una fracción muy significativa de los manuscritos se rechaza antes de salir del escritorio del editor. La proporción exacta varía por disciplina y revista, pero el patrón es consistente: muchos artículos no pasan el primer filtro.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10332720" cy="8686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53492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Introducción es una de las razones más frecuentes por las que un editor cierra el manuscrito antes de leer los Métodos.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DE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estructura del embudo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4251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 más amplio del campo hasta tu objetivo concreto — en cinco pasos.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Cinco movimientos, una sola historia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737360" y="1691640"/>
            <a:ext cx="8686800" cy="7772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37360" y="1764792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Contexto amplio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737360" y="2093976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 general del tema en tu disciplina.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423160" y="2560320"/>
            <a:ext cx="7315200" cy="777240"/>
          </a:xfrm>
          <a:prstGeom prst="rect">
            <a:avLst/>
          </a:prstGeom>
          <a:solidFill>
            <a:srgbClr val="7DA552"/>
          </a:solidFill>
          <a:ln w="12700">
            <a:solidFill>
              <a:srgbClr val="7DA5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26334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Estado del arte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423160" y="296265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ya se sabe — síntesis de literatura previa.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08960" y="3429000"/>
            <a:ext cx="5943600" cy="777240"/>
          </a:xfrm>
          <a:prstGeom prst="rect">
            <a:avLst/>
          </a:prstGeom>
          <a:solidFill>
            <a:srgbClr val="5F8A3D"/>
          </a:solidFill>
          <a:ln w="12700">
            <a:solidFill>
              <a:srgbClr val="5F8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350215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Vacío de conocimiento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08960" y="383133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NO se sabe todavía. El corazón del embudo.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794760" y="4297680"/>
            <a:ext cx="4572000" cy="777240"/>
          </a:xfrm>
          <a:prstGeom prst="rect">
            <a:avLst/>
          </a:prstGeom>
          <a:solidFill>
            <a:srgbClr val="447128"/>
          </a:solidFill>
          <a:ln w="12700">
            <a:solidFill>
              <a:srgbClr val="4471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437083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Justificación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94760" y="470001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 cerrar ese vacío AHORA.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80560" y="5166360"/>
            <a:ext cx="3200400" cy="7772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523951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Objetivo · hipótesis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80560" y="556869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7F4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pregunta de investigación, medible.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párrafo de tu Introducción debe pertenecer a UNA sola etapa del embudo. Si un párrafo mezcla dos, el lector se pierde.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· CONTEXTO AMPLIO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Abre con relevancia, no con generalidades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SÍ poner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estadística reciente y citable del problema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alcance económico, social o ambiental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el tema es relevante AHORA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accesible para lectores de otras áreas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NO poner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51206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Frases de cliché tipo "desde tiempos remotos"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Definiciones de libro de texto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hace 20 años o sin fuente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440680" cy="457200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828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GUÍA  ·  Párrafo 1 modelo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Contexto amplio sobre el cacao y la fermentación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60604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"Colombia es el décimo productor mundial de cacao (Theobroma cacao), con una producción que alcanzó 67 000 t en 2023 (Fedecacao, 2024). La calidad sensorial del grano —factor determinante en el precio de exportación— depende críticamente de la fermentación, una etapa post-cosecha donde la sucesión microbiana natural transforma los precursores aromáticos del cotiledón."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5760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con un dato, define el contexto y conecta con la calidad — sin clichés.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· ESTADO DEL ARTE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Sintetiza, no inventaríes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reglas para sintetizar literatura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91440" cy="10972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por idea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autores que digan lo mismo: "Varios estudios han demostrado X (A, 2022; B, 2023; C, 2024)".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91440" cy="10972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 por temas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7490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 autores. El protagonista es la idea, no el apellido.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617720"/>
            <a:ext cx="91440" cy="10972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617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 lo reciente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49834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Mayoría de los últimos 5 años. Clásicos solo si son fundacionales.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1691640"/>
            <a:ext cx="5440680" cy="457200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1828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GUÍA  ·  Párrafo 2 modelo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Estado del arte sobre BAL en cacao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260604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"Estudios recientes han caracterizado la microbiota del cacao en Ecuador (Pérez et al., 2022), Ghana (Mensah et al., 2023) y Brasil (Silva et al., 2024), identificando a Lactiplantibacillus plantarum y Limosilactobacillus fermentum como especies dominantes en la fase ácido-láctica. Algunas cepas de estos géneros han mostrado actividad probiótica en otras matrices alimentarias (Hernández et al., 2023), incluyendo tolerancia a sales biliares y producción de bacteriocinas."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DE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vacío de conocimiento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4251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movimiento que separa una introducción aceptada de una rechazada.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exactamente un vacío de conocimiento?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532120" cy="4572000"/>
          </a:xfrm>
          <a:prstGeom prst="rect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606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Vacío de conocimiento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77240" y="324612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pregunta legítima, importante y todavía sin respuesta clara en la literatura científica — que tu estudio puede contestar con sus datos.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6364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tipos de vacío que sí funcionan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2148840"/>
            <a:ext cx="5440680" cy="11887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2423160"/>
            <a:ext cx="594360" cy="5943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2423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178040" y="231343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Geográfico / contextual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178040" y="267919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conocido en otra región no se ha estudiado en la tuya.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63640" y="3474720"/>
            <a:ext cx="5440680" cy="11887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46520" y="3749040"/>
            <a:ext cx="594360" cy="5943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6520" y="3749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178040" y="363931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Metodológico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178040" y="400507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ha aplicado X técnica al problema Y.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263640" y="4800600"/>
            <a:ext cx="5440680" cy="11887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46520" y="5074920"/>
            <a:ext cx="594360" cy="5943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46520" y="5074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7178040" y="49651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variable o factor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178040" y="533095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ha evaluado el efecto de Z sobre el sistema.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ENCONTRARLO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estrategias para detectar un vacío real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532120" cy="201168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103120"/>
            <a:ext cx="685800" cy="6858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2103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sections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256032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la sección "Limitations" o "Future research" de papers recientes — los autores literalmente te dicen qué falta.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532120" cy="201168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103120"/>
            <a:ext cx="685800" cy="6858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0" y="2103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Revisiones sistemáticas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0" y="256032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revisiones de los últimos 2 años suelen cerrar diciendo qué áreas siguen sin evidencia.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5532120" cy="201168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4297680"/>
            <a:ext cx="685800" cy="6858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97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0200" y="42976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Mapeo bibliométrico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00200" y="475488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VOSviewer o Bibliometrix para ver qué clusters están poco conectados.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977640"/>
            <a:ext cx="5532120" cy="201168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297680"/>
            <a:ext cx="685800" cy="6858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297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15200" y="42976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Pregunta al sector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315200" y="475488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Hablar con productores o gremios revela problemas reales sin literatura aún.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REDACTARLO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Conectores que hacen visible el vacío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editor debe identificar el vacío en UNA frase. Usa conectores que lo señalen explícitamente.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11247120" cy="64008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240280"/>
            <a:ext cx="73152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04872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2240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"Sin embargo, hasta donde sabemos, no existen reportes sobre…"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3017520"/>
            <a:ext cx="11247120" cy="64008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3017520"/>
            <a:ext cx="73152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18211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3017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"Aunque X ha sido caracterizado en A y B, su comportamiento en C permanece sin estudiar."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3794760"/>
            <a:ext cx="11247120" cy="64008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7200" y="3794760"/>
            <a:ext cx="73152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59352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3794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pesar de los avances en Y, persiste un vacío respecto a Z."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457200" y="4572000"/>
            <a:ext cx="11247120" cy="64008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57200" y="4572000"/>
            <a:ext cx="73152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736592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97280" y="4572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"Pocos estudios han evaluado simultáneamente A y B en condiciones de…"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457200" y="5349240"/>
            <a:ext cx="11247120" cy="64008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57200" y="5349240"/>
            <a:ext cx="73152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513832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97280" y="5349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"La evidencia disponible es contradictoria, lo que justifica nuevos estudios sobre…"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GUÍA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vacío de conocimiento de nuestro estudio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5321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651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5532120" cy="54864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691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VACÍO INVISIBLE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2423160"/>
            <a:ext cx="5074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"Existen muchos estudios sobre bacterias ácido-lácticas en cacao. Sin embargo, hace falta seguir investigando este tema en Colombia, especialmente en la región del Piedemonte llanero."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49834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53035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"Hace falta investigar" no es un vacío — es una intención. Falta decir QUÉ falta y POR QUÉ importa que falte.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1691640"/>
            <a:ext cx="55321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1691640"/>
            <a:ext cx="553212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2880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20840" y="1691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VACÍO EXPLÍCITO Y JUSTIFICADO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00800" y="2377440"/>
            <a:ext cx="5074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"Aunque las especies dominantes en la fase ácido-láctica del cacao han sido caracterizadas en Ecuador, Ghana y Brasil, el potencial probiótico de las cepas nativas colombianas —cuya estructura microbiana podría diferir por las condiciones de altitud (300–500 msnm) y humedad relativa (&gt;80 %) del Piedemonte llanero— no ha sido evaluado. Esta brecha limita el desarrollo de cultivos iniciadores autóctonos para estandarizar la fermentación regional."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  ·  15 MINUTOS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Identifica el vacío en tu propia investigación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74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Instrucciones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7240" y="26060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80160" y="26517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en una sola frase el tema general de tu investigación.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2461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280160" y="32918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3 estudios recientes sobre ese tema (últimos 5 años).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3886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280160" y="39319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Pregúntate: ¿qué hicieron ellos que NO hice yo? ¿qué tengo yo que ellos no?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7240" y="4526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280160" y="45720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 tu vacío usando uno de los conectores de la slide 13.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77240" y="5166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280160" y="52120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con tu compañero — ¿le queda claro qué falta y por qué importa?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una frase con tu vacío de conocimiento, con conector explícito.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DE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 e hipótesis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4251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cierre del embudo. Lo que los revisores van a buscar en tus Resultados.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Anatomía de un objetivo bien escrito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Verbo medible  +  qué  +  cómo  +  dónde / cuándo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1645920" cy="10972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7F4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48840" y="2514600"/>
            <a:ext cx="2926080" cy="1097280"/>
          </a:xfrm>
          <a:prstGeom prst="rect">
            <a:avLst/>
          </a:prstGeom>
          <a:solidFill>
            <a:srgbClr val="7DA552"/>
          </a:solidFill>
          <a:ln w="12700">
            <a:solidFill>
              <a:srgbClr val="7DA5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40280" y="3017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7F4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potencial probiótico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20640" y="2514600"/>
            <a:ext cx="4114800" cy="1097280"/>
          </a:xfrm>
          <a:prstGeom prst="rect">
            <a:avLst/>
          </a:prstGeom>
          <a:solidFill>
            <a:srgbClr val="5F8A3D"/>
          </a:solidFill>
          <a:ln w="12700">
            <a:solidFill>
              <a:srgbClr val="5F8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30175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7F4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mediante tolerancia a sales biliares y pH ácido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81160" y="2514600"/>
            <a:ext cx="3017520" cy="1097280"/>
          </a:xfrm>
          <a:prstGeom prst="rect">
            <a:avLst/>
          </a:prstGeom>
          <a:solidFill>
            <a:srgbClr val="447128"/>
          </a:solidFill>
          <a:ln w="12700">
            <a:solidFill>
              <a:srgbClr val="4471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8116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72600" y="30175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7F4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BAL aisladas de cacao del Piedemonte llanero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11247120" cy="123444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40690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COMPLETO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43434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"Evaluar el potencial probiótico de bacterias ácido-lácticas, mediante pruebas de tolerancia a sales biliares y pH ácido, en cepas aisladas de fermentación tradicional de cacao en el Piedemonte llanero colombiano."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54406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medibles  →  evaluar · determinar · cuantificar · comparar · modelar · estimar · caracterizar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verbos vagos como  →  estudiar · conocer · analizar · investigar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Cuándo incluirla y cómo redactarla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necesitas hipótesis?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Estudios experimentales con grupos a comparar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contrastas teorías o predicciones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revista lo exige explícitamente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NO la necesitas?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34340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Estudios descriptivos o de caracterización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Estudios exploratorios sin teoría previa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Algunos diseños cualitativos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440680" cy="457200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GUÍA  ·  Hipótesis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Formato: "Se espera que… porque…"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69748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 espera que las cepas de Lactiplantibacillus plantarum aisladas de cacao del Piedemonte llanero exhiban mayor tolerancia a pH 2.5 y sales biliares al 0.3 % que las cepas comerciales de referencia, debido a la presión selectiva del ambiente ácido de la fermentación tradicional regional."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5440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+ mecanismo. Contrastable con datos.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DEL CASO GUÍA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Introducción completa, etapa por etapa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691640" cy="84124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CONTEXTO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48840" y="1691640"/>
            <a:ext cx="9555480" cy="841248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1728216"/>
            <a:ext cx="9326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 es el décimo productor mundial de cacao, con 67 000 t en 2023. La calidad sensorial del grano depende críticamente de la fermentación, donde la sucesión microbiana natural transforma los precursores aromáticos.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691640" cy="841248"/>
          </a:xfrm>
          <a:prstGeom prst="rect">
            <a:avLst/>
          </a:prstGeom>
          <a:solidFill>
            <a:srgbClr val="7DA552"/>
          </a:solidFill>
          <a:ln w="12700">
            <a:solidFill>
              <a:srgbClr val="7DA5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06040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ESTADO DEL ARTE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48840" y="2606040"/>
            <a:ext cx="9555480" cy="841248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2642616"/>
            <a:ext cx="9326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Estudios en Ecuador, Ghana y Brasil identifican a L. plantarum y L. fermentum como dominantes en la fase ácido-láctica. Algunas cepas muestran actividad probiótica en otras matrices alimentarias.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1691640" cy="841248"/>
          </a:xfrm>
          <a:prstGeom prst="rect">
            <a:avLst/>
          </a:prstGeom>
          <a:solidFill>
            <a:srgbClr val="5F8A3D"/>
          </a:solidFill>
          <a:ln w="12700">
            <a:solidFill>
              <a:srgbClr val="5F8A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520440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VACÍO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48840" y="3520440"/>
            <a:ext cx="9555480" cy="841248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3557016"/>
            <a:ext cx="9326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embargo, el potencial probiótico de cepas nativas colombianas —cuya estructura podría diferir por condiciones de altitud y humedad del Piedemonte llanero— no ha sido evaluado.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434840"/>
            <a:ext cx="1691640" cy="841248"/>
          </a:xfrm>
          <a:prstGeom prst="rect">
            <a:avLst/>
          </a:prstGeom>
          <a:solidFill>
            <a:srgbClr val="447128"/>
          </a:solidFill>
          <a:ln w="12700">
            <a:solidFill>
              <a:srgbClr val="4471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34840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JUSTIFICACIÓN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48840" y="4434840"/>
            <a:ext cx="9555480" cy="841248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4471416"/>
            <a:ext cx="9326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brecha limita el desarrollo de cultivos iniciadores autóctonos para estandarizar la fermentación y agregar valor al cacao regional.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349240"/>
            <a:ext cx="1691640" cy="84124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349240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OBJETIVO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48840" y="5349240"/>
            <a:ext cx="9555480" cy="841248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0" y="5385816"/>
            <a:ext cx="9326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de este estudio fue evaluar el potencial probiótico de bacterias ácido-lácticas aisladas de fermentación tradicional de cacao del Piedemonte llanero, mediante pruebas de tolerancia a sales biliares y pH ácido.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 DE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Errores frecuentes y ejercicios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4251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tumba introducciones — y cómo evitarlo en la tuya.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FRECUENTES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7 que generan desk reject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532120" cy="9601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73152" cy="96012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7568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78308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Empezar con frases tipo "desde tiempos remotos…"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880360"/>
            <a:ext cx="5532120" cy="9601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2880360"/>
            <a:ext cx="73152" cy="96012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17296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88036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la introducción en revisión bibliográfica extensa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3977640"/>
            <a:ext cx="5532120" cy="9601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7200" y="3977640"/>
            <a:ext cx="73152" cy="96012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27024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97764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vacío de conocimiento explícito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5074920"/>
            <a:ext cx="5532120" cy="9601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57200" y="5074920"/>
            <a:ext cx="73152" cy="96012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367528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507492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Citar literatura de hace más de 10 años como si fuera reciente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217920" y="1783080"/>
            <a:ext cx="5532120" cy="9601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217920" y="1783080"/>
            <a:ext cx="73152" cy="96012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2075688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995160" y="178308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vagos con verbos como "estudiar" o "conocer"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217920" y="2880360"/>
            <a:ext cx="5532120" cy="9601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217920" y="2880360"/>
            <a:ext cx="73152" cy="96012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172968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95160" y="288036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Mezclar objetivos con metodología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6217920" y="3977640"/>
            <a:ext cx="5532120" cy="9601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217920" y="3977640"/>
            <a:ext cx="73152" cy="96012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4270248"/>
            <a:ext cx="365760" cy="36576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995160" y="397764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conectar el contexto regional con el problema global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  ·  20 MINUTOS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Diagnostica esta Introducción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68580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651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6858000" cy="45720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DIAGNOSTICAR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6400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cacao es una planta muy importante desde tiempos antiguos. Se cultiva en muchos países tropicales. En Colombia el cacao se ha cultivado por mucho tiempo y genera empleo. Existen varios microorganismos en la fermentación del cacao, entre ellos las bacterias ácido-lácticas, que han sido estudiadas por muchos autores en diferentes contextos. Algunos autores han encontrado que estas bacterias pueden ser probióticas. Por lo tanto, el presente trabajo busca conocer y estudiar las bacterias ácido-lácticas del cacao en el Meta para ver si pueden servir como probióticos."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0" y="1691640"/>
            <a:ext cx="411480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81812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tarea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818120" y="2331720"/>
            <a:ext cx="3703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cuál es el contexto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Subraya el estado del arte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¿Aparece el vacío? ¿Dónde?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justificación clara?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objetivo es medible?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3 errores de la slide anterior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Discutiremos las respuestas en plenaria — siguiente slide.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DEL EJERCICIO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falla en esa Introducción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331720" cy="841248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88920" y="1691640"/>
            <a:ext cx="8915400" cy="841248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71800" y="1728216"/>
            <a:ext cx="8641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pero es genérico: "tiempos antiguos", "muy importante". Sin datos ni cifras.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2331720" cy="841248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06040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ARTE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88920" y="2606040"/>
            <a:ext cx="8915400" cy="841248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2642616"/>
            <a:ext cx="8641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Mencionado en una sola frase: "varios autores". No hay síntesis ni autores específicos.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2331720" cy="841248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520440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VACÍO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88920" y="3520440"/>
            <a:ext cx="8915400" cy="841248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3557016"/>
            <a:ext cx="8641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AUSENTE. No dice qué falta saber ni por qué importa que falte.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434840"/>
            <a:ext cx="2331720" cy="841248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34840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88920" y="4434840"/>
            <a:ext cx="8915400" cy="841248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0" y="4471416"/>
            <a:ext cx="8641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existe. No conecta el problema regional con el global.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349240"/>
            <a:ext cx="2331720" cy="841248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349240"/>
            <a:ext cx="2331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88920" y="5349240"/>
            <a:ext cx="8915400" cy="841248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71800" y="5385816"/>
            <a:ext cx="8641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"Conocer y estudiar" — verbos vagos. No es medible.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con la Introducción modelo de la slide 19. Esa funciona. Esta no.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3  ·  PARA LLEVAR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Escribe tu propia Introducción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74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Plantilla en 5 frases (una por etapa del embudo)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85800" y="26060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88720" y="26334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88720" y="2898648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[Tu tema] representa [dato económico/social/ambiental] en [tu región]. Su [aspecto crítico] depende de [proceso/factor].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331927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88720" y="33467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ARTE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88720" y="36118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Estudios en [región A], [región B] y [región C] han caracterizado [variable], identificando [hallazgo principal].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" y="403250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188720" y="40599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VACÍO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88720" y="432511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embargo, [tu variable de interés] en [tu contexto específico] no ha sido [verbo: evaluado/cuantificado/caracterizado].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5800" y="474573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188720" y="4773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88720" y="5038344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brecha limita [aplicación práctica o decisión técnica].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5800" y="545896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188720" y="5486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188720" y="5751576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tanto, el objetivo fue [verbo medible] [qué] mediante [cómo] en [dónde].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 de la sesión: 5 frases. Una página máximo. Envíalo en la próxima clase.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1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buena Introducción no se improvisa. Se diseña — un movimiento a la vez.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4023360"/>
            <a:ext cx="10424160" cy="1783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4160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SEGUIR APRENDIENDO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452628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Hilary Glasman-Deal · </a:t>
            </a:r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Research Writing for Native and Non-Native Speakers (cap. 1)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Swales &amp; Feak ·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Writing for Graduate Students — modelo CARS para introducciones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(YouTube) ·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 de escritura científica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1722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Iván Vargas Pineda, PhD  ·  Trabajo Científico  ·  @TCientifico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Cómo escribir la Introducción de un artículo científico</dc:title>
  <dc:subject>PptxGenJS Presentation</dc:subject>
  <dc:creator>Oscar Iván Vargas Pineda · Trabajo Científico</dc:creator>
  <cp:lastModifiedBy>Oscar Iván Vargas Pineda · Trabajo Científico</cp:lastModifiedBy>
  <cp:revision>1</cp:revision>
  <dcterms:created xsi:type="dcterms:W3CDTF">2026-05-11T21:46:40Z</dcterms:created>
  <dcterms:modified xsi:type="dcterms:W3CDTF">2026-05-11T21:46:40Z</dcterms:modified>
</cp:coreProperties>
</file>