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°Brix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Estado 2</c:v>
                  </c:pt>
                  <c:pt idx="1">
                    <c:v>Estado 3</c:v>
                  </c:pt>
                  <c:pt idx="2">
                    <c:v>Estado 4</c:v>
                  </c:pt>
                  <c:pt idx="3">
                    <c:v>Estado 5</c:v>
                  </c:pt>
                  <c:pt idx="4">
                    <c:v>Estado 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9.8</c:v>
                </c:pt>
                <c:pt idx="1">
                  <c:v>11.4</c:v>
                </c:pt>
                <c:pt idx="2">
                  <c:v>13.6</c:v>
                </c:pt>
                <c:pt idx="3">
                  <c:v>15.2</c:v>
                </c:pt>
                <c:pt idx="4">
                  <c:v>16.1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D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6B5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F6B5A"/>
                    </a:solidFill>
                    <a:latin typeface="Arial"/>
                  </a:rPr>
                  <a:t>Sólidos solubles (°Brix)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 ·  TALLER FORMATIVO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escribir un artículo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científico para revistas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alto impacto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paso a paso del orden de escritura, qué debe contener cada apartado y cómo NO escribirlo — con ejemplos agroindustriales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5349240"/>
            <a:ext cx="4297680" cy="5029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3492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ingenieros agroindustriales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Iván Vargas Pineda, PhD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· Docente Universitario · @TCientifico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publicar en revistas de alto impacto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no es lo mismo que divulgar. Un artículo en una revista de alto impacto pasa por revisión por pares, queda indexado en bases reconocidas (Scopus, WoS) y se vuelve evidencia citable para la comunidad científica y el sector productivo.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un ingeniero agroindustrial significa: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internacional de tu trabajo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convocatorias y financiación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para escalafón docente e investigador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tecnológica al sector productivo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75120" y="1691640"/>
            <a:ext cx="5029200" cy="457200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037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Cuartiles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240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mide el impacto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903720" y="2971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75320" y="304495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 superior de su área — la meta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03720" y="37490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75320" y="382219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25 % y 50 % — muy bueno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03720" y="4526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JCR / SJR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75320" y="459943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que ordenan las revistas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3720" y="5303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Índice h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75320" y="537667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tu producción acumulada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artículo NO se escribe en el orden en que se lee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LECTURA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486400" cy="411480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402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Título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Resumen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Introducción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Métodos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Resultados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Discusión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Conclusiones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93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ESCRITURA RECOMENDADO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2103120"/>
            <a:ext cx="5486400" cy="411480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22402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Métodos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Resultados (figuras primero)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Discusión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Conclusiones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Introducción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Resumen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Título · Palabras clave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solo después de conocer tus métodos y resultados sabes exactamente qué historia debe contar la introducción.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UNIVERSAL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esqueleto IMRyD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743200" cy="42976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828800"/>
            <a:ext cx="2743200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187452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68580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Introducción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85800" y="37490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sabe? ¿Qué falta saber? ¿Por qué este estudio?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1828800"/>
            <a:ext cx="2743200" cy="42976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828800"/>
            <a:ext cx="2743200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0116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187452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5600" dirty="0"/>
          </a:p>
        </p:txBody>
      </p:sp>
      <p:sp>
        <p:nvSpPr>
          <p:cNvPr id="14" name="Text 10"/>
          <p:cNvSpPr/>
          <p:nvPr/>
        </p:nvSpPr>
        <p:spPr>
          <a:xfrm>
            <a:off x="356616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Métodos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566160" y="37490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hiciste? Con detalle suficiente para que sea replicable.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7920" y="1828800"/>
            <a:ext cx="2743200" cy="42976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828800"/>
            <a:ext cx="2743200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01168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09560" y="187452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5600" dirty="0"/>
          </a:p>
        </p:txBody>
      </p:sp>
      <p:sp>
        <p:nvSpPr>
          <p:cNvPr id="20" name="Text 15"/>
          <p:cNvSpPr/>
          <p:nvPr/>
        </p:nvSpPr>
        <p:spPr>
          <a:xfrm>
            <a:off x="644652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6446520" y="37490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encontraste? Hechos, figuras y tablas — sin interpretar.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098280" y="1828800"/>
            <a:ext cx="2743200" cy="42976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098280" y="1828800"/>
            <a:ext cx="2743200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01168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89920" y="187452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5600" dirty="0"/>
          </a:p>
        </p:txBody>
      </p:sp>
      <p:sp>
        <p:nvSpPr>
          <p:cNvPr id="26" name="Text 20"/>
          <p:cNvSpPr/>
          <p:nvPr/>
        </p:nvSpPr>
        <p:spPr>
          <a:xfrm>
            <a:off x="932688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Discusión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9326880" y="37490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significa? Interpretación, comparación e implicaciones.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Variantes: algunas revistas combinan Resultados y Discusión; otras exigen Highlights o sección de Significancia.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DE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Métodos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apartado que se escribe — y el más auditable.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debe contener · Cómo escribirlo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17602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691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 CONTENER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240280"/>
            <a:ext cx="5577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experimental y unidad muestral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geográfica con coordenadas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Materiales: cultivar, lote, reactivos (marca, pureza)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Equipos: marca, modelo, calibración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 paso a paso y variables medidas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estadístico, versión y paquetes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estadístico y nivel de significancia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55080" y="1691640"/>
            <a:ext cx="5349240" cy="466344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836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ESCRIBIRLO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4 reglas no negociables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8368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Tiempo verbal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0" y="30815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pasado: "se determinó", "se cuantificó".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83680" y="3657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Replicabilidad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83680" y="39502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investigador debe poder repetirlo solo leyéndote.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583680" y="4526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Subapartados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583680" y="481888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de estudio · Procedimiento · Análisis estadístico.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583680" y="5394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Citas de métodos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583680" y="56875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métodos previos en lugar de copiarlos.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· EJEMPLO AGROINDUSTRIAL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Caracterización fisicoquímica de pulpa de gulupa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321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65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5532120" cy="54864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691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NO ESCRIBIRLO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423160"/>
            <a:ext cx="5074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tomaron frutos de gulupa y se midió su calidad. La pulpa se procesó en el laboratorio y se realizaron análisis para conocer sus propiedades. Los datos se procesaron estadísticamente."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47548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está mal: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507492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dice qué variables se midieron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lugar, equipos ni protocolo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"Estadísticamente" no es un método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72200" y="1691640"/>
            <a:ext cx="55321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1691640"/>
            <a:ext cx="553212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288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20840" y="1691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SÍ ESCRIBIRLO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00800" y="2377440"/>
            <a:ext cx="5074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"Frutos de Passiflora edulis Sims var. Sims se cosecharon en estado 5 de madurez (NTC 4101) en un cultivo de Lejanías, Meta (3°31′N, 73°59′W, 480 msnm). En 30 frutos se determinaron pH (potenciómetro Hanna HI2210), sólidos solubles (refractómetro Atago PAL-1, 0–53° Brix) y acidez titulable (NaOH 0.1 N, AOAC 942.15). El análisis se realizó con un DCA en R 4.4.1 (α = 0.05)."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400800" y="557784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funciona: variables, normas, equipos con modelo, sitio georreferenciado y análisis estadístico explícito.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DE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y tablas primero. El texto las acompaña, no las repite.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Diseña la figura primero, luego escribe el texto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73152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0756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 los hallazgos en el mismo orden de los objetivos.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73152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Autocontenidas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9443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y figuras se entienden sin leer el texto.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73152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520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repitas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8130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guía, no reproduce los números de la tabla.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73152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389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interpretes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6817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interpretación va en Discusión, no aquí.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257800"/>
            <a:ext cx="73152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257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5504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p, IC 95 % y tamaño de efecto, no solo p.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1. Sólidos solubles (°Brix) por estado de madurez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080760" y="2057400"/>
          <a:ext cx="57607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6080760" y="61264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correcto: "Los sólidos solubles aumentaron de 9.8 a 16.1 °Brix entre los estados 2 y 6 de madurez (Figura 1)."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DE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Discusión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sección más difícil — y la que decide si te aceptan.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pirámide de 7 pasos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828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 el hallazgo principal en una frase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50008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39572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cada resultado relevante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16936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96265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con la literatura previa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483864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52958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el mecanismo o causa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50792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409651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 implicaciones prácticas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61772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46634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 limitaciones del estudio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5184648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1560" y="523036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 líneas futuras concretas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178040" y="1783080"/>
            <a:ext cx="4526280" cy="457200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2011680"/>
            <a:ext cx="365760" cy="36576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406640" y="2514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QUE GENERAN RECHAZO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406640" y="29260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resultados sin interpretarlos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Especular sin soporte bibliográfico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estudios que te contradicen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mencionar limitaciones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 viejas o de baja calidad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 · EJEMPLO AGROINDUSTRIAL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Fermentación de cacao en el Piedemonte llanero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321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65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5532120" cy="54864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691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 RESULTADOS, NO DISCUTE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2423160"/>
            <a:ext cx="5074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pH descendió de 6.5 a 4.7 en 96 h. La temperatura aumentó hasta 48 °C. El índice de fermentación fue 0.94. Estos resultados demuestran que la fermentación fue exitosa."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45720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489204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interpretación, no compara con literatura ni explica por qué bajó el pH. Solo parafrasea los Resultados.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1691640"/>
            <a:ext cx="55321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1691640"/>
            <a:ext cx="553212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288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20840" y="1691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INTERPRETA, COMPARA, EXPLICA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00800" y="2377440"/>
            <a:ext cx="5074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descenso de pH a 4.7 refleja la transición de la fase alcohólica a la acética, asociada a la oxidación de etanol por Acetobacter spp. y a la difusión de ácidos hacia el cotiledón. Este valor coincide con el reportado por Hernández et al. (2023) en cacao colombiano (pH 4.6–4.8) y supera lo descrito para clones CCN-51 fermentados sin remoción (5.1; García, 2022), lo que sugiere que la frecuencia de volteo cada 24 h favoreció una fermentación más completa en condiciones del Piedemonte llanero."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DE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conclusión por objetivo. Ni más, ni menos.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Breves, sin números nuevos, sin citas nuevas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para conclusiones que aprueban revisores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 directamente a los objetivos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conclusión por objetivo planteado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 ni resultados que no aparecieron antes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citas bibliográficas nuevas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frases vacías como "se requiere más investigación"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691640"/>
            <a:ext cx="5440680" cy="457200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 ·  Deshidratación osmótica de piña MD2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22402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evaluar el efecto de la concentración de sacarosa y el tiempo sobre la pérdida de agua en piña.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3017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bien escrita: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333756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concentración de sacarosa al 60 °Brix combinada con 4 h de inmersión maximizó la pérdida de agua (38 %) sin afectar la firmeza del producto, lo que la convierte en una condición operativa viable para procesadores de piña MD2 del Meta."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5760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frase. Responde al objetivo. Termina con implicación práctica.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DE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Introducción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escribe al final — porque ya sabes qué historia contar.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estructura del embudo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423160" y="1828800"/>
            <a:ext cx="7315200" cy="7315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188366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Contexto amplio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23160" y="22128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del tema agroindustrial.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71800" y="2633472"/>
            <a:ext cx="6217920" cy="731520"/>
          </a:xfrm>
          <a:prstGeom prst="rect">
            <a:avLst/>
          </a:prstGeom>
          <a:solidFill>
            <a:srgbClr val="7DA552"/>
          </a:solidFill>
          <a:ln w="12700">
            <a:solidFill>
              <a:srgbClr val="7DA5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2688336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Estado del arte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71800" y="301752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ya se sabe sobre el tema?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3438144"/>
            <a:ext cx="5120640" cy="731520"/>
          </a:xfrm>
          <a:prstGeom prst="rect">
            <a:avLst/>
          </a:prstGeom>
          <a:solidFill>
            <a:srgbClr val="5F8A3D"/>
          </a:solidFill>
          <a:ln w="12700">
            <a:solidFill>
              <a:srgbClr val="5F8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349300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Vacío de conocimiento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38221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NO se sabe todavía?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69080" y="4242816"/>
            <a:ext cx="4023360" cy="731520"/>
          </a:xfrm>
          <a:prstGeom prst="rect">
            <a:avLst/>
          </a:prstGeom>
          <a:solidFill>
            <a:srgbClr val="447128"/>
          </a:solidFill>
          <a:ln w="12700">
            <a:solidFill>
              <a:srgbClr val="4471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69080" y="42976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Justificación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69080" y="462686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 llenarlo?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5047488"/>
            <a:ext cx="2926080" cy="7315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51023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Objetivo · hipótesis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7720" y="54315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hiciste exactamente.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solidFill>
            <a:srgbClr val="F7F4ED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89320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97280" y="58978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revisión bibliográfica extensa. Es una historia con un vacío de conocimiento explícito.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· EJEMPLO AGROINDUSTRIAL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Subproductos de palma de aceite en los Llanos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321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65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5532120" cy="54864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691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VACÍO, SIN OBJETIVO CLARO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2423160"/>
            <a:ext cx="5074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palma de aceite es un cultivo muy importante en Colombia y el mundo. Genera empleo y produce muchos subproductos. En este trabajo se estudian los subproductos de la palma de aceite."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48006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falla: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51206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Generalidades, sin estado del arte, sin vacío de conocimiento y sin objetivo medible.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1691640"/>
            <a:ext cx="55321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1691640"/>
            <a:ext cx="553212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288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20840" y="1691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 ·  VACÍO  ·  OBJETIVO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00800" y="2377440"/>
            <a:ext cx="5074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extracción de aceite de palma genera ~22 % de cuesco y ~14 % de fibra como residuos sólidos (Fedepalma, 2024). Aunque su valorización energética ha sido caracterizada en Malasia y Brasil, las propiedades fisicoquímicas del cuesco de variedades híbridas OxG cultivadas en el Piedemonte llanero —donde la humedad y la edad del cultivo difieren— no han sido reportadas. Este estudio determinó el poder calorífico, contenido de cenizas y composición lignocelulósica del cuesco OxG en tres núcleos palmeros del Meta."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 DE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 (Abstract)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200–300 palabras que deciden si te leen o no.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5 frases que toda revista espera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7647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frase sobre por qué importa el tema.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24328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8986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te propusiste responder.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65576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4472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7398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Brevísimo: diseño, lugar, técnica clave.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306824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306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28853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5811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principales CON números.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148072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148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51297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54223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 práctica o teórica.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1691640"/>
            <a:ext cx="5440680" cy="420624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 ·  Aceite de almendra de marañón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224028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Contexto.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marañón (Anacardium occidentale) es un cultivo promisorio en sabanas del Vichada, pero su almendra se exporta sin valor agregado.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Objetivo.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Caracterizar el rendimiento y perfil de ácidos grasos del aceite extraído por prensado en frío.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Métodos.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procesaron 60 muestras en una prensa hidráulica a 30 MPa; el perfil se determinó por CG-FID.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Resultados.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rendimiento fue 42.1 ± 1.8 % con predominio de ácido oleico (61 %) y linoleico (18 %).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Conclusión.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aceite presenta un perfil comparable al de oliva, viable para usos alimentarios premium.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5989320"/>
            <a:ext cx="5440680" cy="41148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598932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uses citas · NO uses abreviaturas sin definir · NO copies frases de la intro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7 DE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Título y palabras clave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último que escribes. Lo primero que el algoritmo lee.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versiones, una decisión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tres versiones del título y elige la que combine especificidad + atractivo + palabras indexables.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1247120" cy="128016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94560"/>
            <a:ext cx="109728" cy="128016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317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286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DEMASIADO GENERAL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2606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Estudio sobre frutas tropicales en Colombia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1089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variable, sin sitio, sin método. No indexable.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611880"/>
            <a:ext cx="11247120" cy="128016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3611880"/>
            <a:ext cx="109728" cy="128016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490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3703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DEMASIADO LARGO Y TÉCNICO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31520" y="40233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Determinación experimental mediante técnicas analíticas avanzadas del contenido de sólidos solubles, pH y acidez titulable en frutos de Passiflora edulis Sims var. Sims cosechados en condiciones agroecológicas del departamento del Meta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31520" y="45262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palabras. El lector se pierde antes del verbo.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7200" y="5029200"/>
            <a:ext cx="109728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16636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5120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ESPECÍFICO, BREVE, INDEXABLE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31520" y="54406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Calidad fisicoquímica de gulupa (Passiflora edulis) en cinco estados de madurez en el Piedemonte llanero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31520" y="59436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palabras. Variable, especie, factor experimental y región.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CLAVE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a 7 términos que NO repiten el título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73152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0756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5 y 7 términos.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73152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repitas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9443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título dice "gulupa", no la pongas como keyword.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73152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520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tesauros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8130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AGROVOC para temas agroindustriales; MeSH si aplica.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73152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389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SEO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6817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buscaría alguien que necesita tu artículo?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257800"/>
            <a:ext cx="73152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257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5504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"Deshidratación osmótica" mejor que "procesamiento".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· Artículo sobre cuesco de palma OxG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original incluye: cuesco · palma OxG · Piedemonte llanero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274320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743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valorización energética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38160" y="274320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2743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biomasa lignocelulósica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012680" y="274320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12680" y="2743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calorífico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342900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4290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 agroindustriales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42900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0" y="34290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agroenergía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012680" y="342900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12680" y="34290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Elaeis oleifera × guineensis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63640" y="44348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palabra clave repite las del título. Todas son indexables en AGROVOC.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Reglas mínimas para no caer en desk reject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532120" cy="128016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gestor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331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Zotero o Mendeley. Nunca a mano.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532120" cy="128016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96596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Respeta el estilo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2331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APA, Vancouver, Elsevier numeric — el que pida la revista.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5532120" cy="128016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Recientes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749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de los últimos 5 años (salvo clásicos).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200400"/>
            <a:ext cx="5532120" cy="128016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338328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primarias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3749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Q1/Q2 indexadas — evita blogs y tesis sin revisión.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617720"/>
            <a:ext cx="5532120" cy="128016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80060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DOI roto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5166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cada DOI antes de enviar.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4617720"/>
            <a:ext cx="5532120" cy="128016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480060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4088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Auto-citas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40880" y="5166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son pertinentes. Más de 3-4 es señal de alerta.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ASPECTOS TRANSVERSALES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 letter y selección de revista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32120" cy="457200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92024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99339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920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 letter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25603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de presentación al editor. Decide si tu manuscrito pasa a revisión por pares.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33375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revista (alineación con scope)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Cuál es la novedad de tu estudio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para la audiencia de la revista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Declaración: trabajo original, no en otra revista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Conflictos de interés y financiación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532120" cy="457200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92024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99339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1920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Selección de revista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400800" y="25603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la revista ANTES de redactar — define formato y enfoque.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00800" y="33375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Scimago Journal Rank · JCR · Scope Match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Elsevier / Wiley Journal Finder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que esté en Scopus y/o WoS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Author Guide completo antes de redactar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depredadoras (criterios COPE, Beall)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EN PUBLICACIÓN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puede tumbarte el artículo después de publicado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532120" cy="20116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103120"/>
            <a:ext cx="685800" cy="685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22199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Autoría ICMJE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00200" y="25603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es autor quien contribuyó sustancialmente al diseño, análisis o redacción.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532120" cy="20116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103120"/>
            <a:ext cx="685800" cy="685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22199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Plagio y autoplagio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315200" y="25603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con Turnitin / iThenticate. Tu propia tesis también cuenta.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977640"/>
            <a:ext cx="5532120" cy="20116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4297680"/>
            <a:ext cx="685800" cy="685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441655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97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Conflictos de interés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600200" y="4754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 financiación, vínculos comerciales y datos compartidos.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977640"/>
            <a:ext cx="5532120" cy="20116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297680"/>
            <a:ext cx="685800" cy="685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41655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297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Uso responsable de IA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315200" y="4754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 si usaste Claude, ChatGPT u otros LLM en redacción.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EDITORIAL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viaje del manuscrito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657600" cy="20116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057400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Envías el manuscrito + cover letter por la plataforma.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783080"/>
            <a:ext cx="3657600" cy="20116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057400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1208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 check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2697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scope, formato y novedad. Aquí cae el desk reject.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657600" cy="20116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2057400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00684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 review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2697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revisores externos evalúan. 6–12 semanas en promedio.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3657600" cy="20116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4251960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251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Decisión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4892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Aceptado · Cambios menores · Cambios mayores · Rechazado.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51960" y="3977640"/>
            <a:ext cx="3657600" cy="20116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4251960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4251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1208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Respuesta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26280" y="4892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Point-by-point response: agradece, responde y modifica con humildad.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977640"/>
            <a:ext cx="3657600" cy="20116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4251960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4251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00684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Publicación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21040" y="4892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galera, DOI asignado y registro en bases indexadas.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FINAL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de presionar Submit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5623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76479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corto (10–15 palabras), específico, indexable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496312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569464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47802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estructurado en 5 frases, con números clave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3209544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28269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319125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palabras clave que NO repiten el título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57200" y="3922776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995928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390448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con vacío de conocimiento explícito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57200" y="4636008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4709160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0120" y="46177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replicables: lugar, equipos, software, estadística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57200" y="5349240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5422392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60120" y="533095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con figuras de calidad de publicación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6217920" y="1783080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072" y="1856232"/>
            <a:ext cx="219456" cy="21945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720840" y="176479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Discusión: interpretación + comparación + limitaciones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6217920" y="2496312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2569464"/>
            <a:ext cx="219456" cy="21945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720840" y="247802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que responden a cada objetivo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6217920" y="3209544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072" y="3282696"/>
            <a:ext cx="219456" cy="219456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720840" y="319125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formateadas con gestor y DOIs verificados</a:t>
            </a:r>
            <a:endParaRPr lang="en-US" sz="1200" dirty="0"/>
          </a:p>
        </p:txBody>
      </p:sp>
      <p:sp>
        <p:nvSpPr>
          <p:cNvPr id="31" name="Shape 20"/>
          <p:cNvSpPr/>
          <p:nvPr/>
        </p:nvSpPr>
        <p:spPr>
          <a:xfrm>
            <a:off x="6217920" y="3922776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1072" y="3995928"/>
            <a:ext cx="219456" cy="219456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720840" y="390448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 alineada con el scope de la revista</a:t>
            </a:r>
            <a:endParaRPr lang="en-US" sz="1200" dirty="0"/>
          </a:p>
        </p:txBody>
      </p:sp>
      <p:sp>
        <p:nvSpPr>
          <p:cNvPr id="34" name="Shape 22"/>
          <p:cNvSpPr/>
          <p:nvPr/>
        </p:nvSpPr>
        <p:spPr>
          <a:xfrm>
            <a:off x="6217920" y="4636008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1072" y="4709160"/>
            <a:ext cx="219456" cy="219456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720840" y="46177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Declaración de conflictos, financiación y uso de IA</a:t>
            </a:r>
            <a:endParaRPr lang="en-US" sz="1200" dirty="0"/>
          </a:p>
        </p:txBody>
      </p:sp>
      <p:sp>
        <p:nvSpPr>
          <p:cNvPr id="37" name="Shape 24"/>
          <p:cNvSpPr/>
          <p:nvPr/>
        </p:nvSpPr>
        <p:spPr>
          <a:xfrm>
            <a:off x="6217920" y="5349240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1072" y="5422392"/>
            <a:ext cx="219456" cy="219456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6720840" y="533095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Plagio &lt; 15 % (Turnitin / iThenticate)</a:t>
            </a:r>
            <a:endParaRPr lang="en-US" sz="1200" dirty="0"/>
          </a:p>
        </p:txBody>
      </p:sp>
      <p:sp>
        <p:nvSpPr>
          <p:cNvPr id="40" name="Text 2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41" name="Text 27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manuscrito ya tiene la estructura. Ahora falta lo que ningún taller te puede dar: empezar a escribir.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10424160" cy="1783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RECOMENDADOS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452628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&amp; Gastel · </a:t>
            </a:r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Write and Publish a Scientific Paper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Elsevier Researcher Academy ·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researcheracademy.elsevier.com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Network ·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de reporte (PRISMA, CONSORT, STROBE)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Tesauros ·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AGROVOC (FAO), MeSH (NCBI)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1722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Iván Vargas Pineda, PhD  ·  Trabajo Científico  ·  @TCientifico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escribir un artículo científico para revistas de alto impacto</dc:title>
  <dc:subject>PptxGenJS Presentation</dc:subject>
  <dc:creator>Oscar Iván Vargas Pineda · Trabajo Científico</dc:creator>
  <cp:lastModifiedBy>Oscar Iván Vargas Pineda · Trabajo Científico</cp:lastModifiedBy>
  <cp:revision>1</cp:revision>
  <dcterms:created xsi:type="dcterms:W3CDTF">2026-05-11T12:49:14Z</dcterms:created>
  <dcterms:modified xsi:type="dcterms:W3CDTF">2026-05-11T12:49:14Z</dcterms:modified>
</cp:coreProperties>
</file>