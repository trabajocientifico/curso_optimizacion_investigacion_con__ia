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82296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TRABAJO CIENTÍFICO  ·  TALLER ESPECIALIZADO</a:t>
            </a:r>
            <a:endParaRPr lang="en-US" sz="1300" dirty="0"/>
          </a:p>
        </p:txBody>
      </p:sp>
      <p:sp>
        <p:nvSpPr>
          <p:cNvPr id="4" name="Text 2"/>
          <p:cNvSpPr/>
          <p:nvPr/>
        </p:nvSpPr>
        <p:spPr>
          <a:xfrm>
            <a:off x="822960" y="1371600"/>
            <a:ext cx="10515600" cy="118872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Materiales y Métodos</a:t>
            </a:r>
            <a:endParaRPr lang="en-US" sz="6000" dirty="0"/>
          </a:p>
        </p:txBody>
      </p:sp>
      <p:sp>
        <p:nvSpPr>
          <p:cNvPr id="5" name="Text 3"/>
          <p:cNvSpPr/>
          <p:nvPr/>
        </p:nvSpPr>
        <p:spPr>
          <a:xfrm>
            <a:off x="822960" y="2606040"/>
            <a:ext cx="10515600" cy="822960"/>
          </a:xfrm>
          <a:prstGeom prst="rect">
            <a:avLst/>
          </a:prstGeom>
          <a:noFill/>
          <a:ln/>
        </p:spPr>
        <p:txBody>
          <a:bodyPr wrap="square" lIns="0" tIns="0" rIns="0" bIns="0" rtlCol="0" anchor="ctr"/>
          <a:lstStyle/>
          <a:p>
            <a:pPr indent="0" marL="0">
              <a:buNone/>
            </a:pPr>
            <a:r>
              <a:rPr lang="en-US" sz="3000" i="1" dirty="0">
                <a:solidFill>
                  <a:srgbClr val="97BC62"/>
                </a:solidFill>
                <a:latin typeface="Georgia" pitchFamily="34" charset="0"/>
                <a:ea typeface="Georgia" pitchFamily="34" charset="-122"/>
                <a:cs typeface="Georgia" pitchFamily="34" charset="-120"/>
              </a:rPr>
              <a:t>El apartado donde tu ciencia se vuelve replicable</a:t>
            </a:r>
            <a:endParaRPr lang="en-US" sz="3000" dirty="0"/>
          </a:p>
        </p:txBody>
      </p:sp>
      <p:sp>
        <p:nvSpPr>
          <p:cNvPr id="6" name="Text 4"/>
          <p:cNvSpPr/>
          <p:nvPr/>
        </p:nvSpPr>
        <p:spPr>
          <a:xfrm>
            <a:off x="822960" y="3657600"/>
            <a:ext cx="10332720" cy="82296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Cómo escribir métodos que un revisor crea — y que otro investigador pueda repetir paso a paso</a:t>
            </a:r>
            <a:endParaRPr lang="en-US" sz="1700" dirty="0"/>
          </a:p>
        </p:txBody>
      </p:sp>
      <p:sp>
        <p:nvSpPr>
          <p:cNvPr id="7" name="Shape 5"/>
          <p:cNvSpPr/>
          <p:nvPr/>
        </p:nvSpPr>
        <p:spPr>
          <a:xfrm>
            <a:off x="822960" y="4754880"/>
            <a:ext cx="9875520" cy="777240"/>
          </a:xfrm>
          <a:prstGeom prst="rect">
            <a:avLst/>
          </a:prstGeom>
          <a:solidFill>
            <a:srgbClr val="FFFFFF">
              <a:alpha val="12000"/>
            </a:srgbClr>
          </a:solidFill>
          <a:ln w="12700">
            <a:solidFill>
              <a:srgbClr val="97BC62"/>
            </a:solidFill>
            <a:prstDash val="solid"/>
          </a:ln>
        </p:spPr>
      </p:sp>
      <p:sp>
        <p:nvSpPr>
          <p:cNvPr id="8" name="Text 6"/>
          <p:cNvSpPr/>
          <p:nvPr/>
        </p:nvSpPr>
        <p:spPr>
          <a:xfrm>
            <a:off x="1005840" y="4754880"/>
            <a:ext cx="9692640" cy="7772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CASO GUÍA  ·  </a:t>
            </a:r>
            <a:pPr indent="0" marL="0">
              <a:buNone/>
            </a:pPr>
            <a:r>
              <a:rPr lang="en-US" sz="1300" i="1" dirty="0">
                <a:solidFill>
                  <a:srgbClr val="FFFFFF"/>
                </a:solidFill>
                <a:latin typeface="Calibri" pitchFamily="34" charset="0"/>
                <a:ea typeface="Calibri" pitchFamily="34" charset="-122"/>
                <a:cs typeface="Calibri" pitchFamily="34" charset="-120"/>
              </a:rPr>
              <a:t>Continuamos con bacterias ácido-lácticas en cacao del Piedemonte llanero</a:t>
            </a:r>
            <a:endParaRPr lang="en-US" sz="1300" dirty="0"/>
          </a:p>
        </p:txBody>
      </p:sp>
      <p:sp>
        <p:nvSpPr>
          <p:cNvPr id="9" name="Text 7"/>
          <p:cNvSpPr/>
          <p:nvPr/>
        </p:nvSpPr>
        <p:spPr>
          <a:xfrm>
            <a:off x="822960" y="608076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Oscar Iván Vargas Pineda, PhD</a:t>
            </a:r>
            <a:endParaRPr lang="en-US" sz="1400" dirty="0"/>
          </a:p>
        </p:txBody>
      </p:sp>
      <p:sp>
        <p:nvSpPr>
          <p:cNvPr id="10" name="Text 8"/>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Data Scientist · Docente Universitario · @TCientifico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AGENDA DE LA SESIÓN</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cubriremos hoy</a:t>
            </a:r>
            <a:endParaRPr lang="en-US" sz="3000" dirty="0"/>
          </a:p>
        </p:txBody>
      </p:sp>
      <p:sp>
        <p:nvSpPr>
          <p:cNvPr id="4" name="Shape 2"/>
          <p:cNvSpPr/>
          <p:nvPr/>
        </p:nvSpPr>
        <p:spPr>
          <a:xfrm>
            <a:off x="457200" y="1783080"/>
            <a:ext cx="11247120" cy="731520"/>
          </a:xfrm>
          <a:prstGeom prst="rect">
            <a:avLst/>
          </a:prstGeom>
          <a:solidFill>
            <a:srgbClr val="F7F4ED"/>
          </a:solidFill>
          <a:ln w="12700">
            <a:solidFill>
              <a:srgbClr val="D9D2C0"/>
            </a:solidFill>
            <a:prstDash val="solid"/>
          </a:ln>
        </p:spPr>
      </p:sp>
      <p:sp>
        <p:nvSpPr>
          <p:cNvPr id="5" name="Shape 3"/>
          <p:cNvSpPr/>
          <p:nvPr/>
        </p:nvSpPr>
        <p:spPr>
          <a:xfrm>
            <a:off x="457200" y="1783080"/>
            <a:ext cx="91440" cy="731520"/>
          </a:xfrm>
          <a:prstGeom prst="rect">
            <a:avLst/>
          </a:prstGeom>
          <a:solidFill>
            <a:srgbClr val="2C5F2D"/>
          </a:solidFill>
          <a:ln w="12700">
            <a:solidFill>
              <a:srgbClr val="2C5F2D"/>
            </a:solidFill>
            <a:prstDash val="solid"/>
          </a:ln>
        </p:spPr>
      </p:sp>
      <p:sp>
        <p:nvSpPr>
          <p:cNvPr id="6" name="Text 4"/>
          <p:cNvSpPr/>
          <p:nvPr/>
        </p:nvSpPr>
        <p:spPr>
          <a:xfrm>
            <a:off x="685800" y="178308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17320" y="187452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Por qué Métodos es el apartado más auditable</a:t>
            </a:r>
            <a:endParaRPr lang="en-US" sz="1800" dirty="0"/>
          </a:p>
        </p:txBody>
      </p:sp>
      <p:sp>
        <p:nvSpPr>
          <p:cNvPr id="8" name="Text 6"/>
          <p:cNvSpPr/>
          <p:nvPr/>
        </p:nvSpPr>
        <p:spPr>
          <a:xfrm>
            <a:off x="1417320" y="219456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 que los revisores miran con lupa.</a:t>
            </a:r>
            <a:endParaRPr lang="en-US" sz="1200" dirty="0"/>
          </a:p>
        </p:txBody>
      </p:sp>
      <p:sp>
        <p:nvSpPr>
          <p:cNvPr id="9" name="Shape 7"/>
          <p:cNvSpPr/>
          <p:nvPr/>
        </p:nvSpPr>
        <p:spPr>
          <a:xfrm>
            <a:off x="457200" y="2651760"/>
            <a:ext cx="11247120" cy="731520"/>
          </a:xfrm>
          <a:prstGeom prst="rect">
            <a:avLst/>
          </a:prstGeom>
          <a:solidFill>
            <a:srgbClr val="F7F4ED"/>
          </a:solidFill>
          <a:ln w="12700">
            <a:solidFill>
              <a:srgbClr val="D9D2C0"/>
            </a:solidFill>
            <a:prstDash val="solid"/>
          </a:ln>
        </p:spPr>
      </p:sp>
      <p:sp>
        <p:nvSpPr>
          <p:cNvPr id="10" name="Shape 8"/>
          <p:cNvSpPr/>
          <p:nvPr/>
        </p:nvSpPr>
        <p:spPr>
          <a:xfrm>
            <a:off x="457200" y="2651760"/>
            <a:ext cx="91440" cy="731520"/>
          </a:xfrm>
          <a:prstGeom prst="rect">
            <a:avLst/>
          </a:prstGeom>
          <a:solidFill>
            <a:srgbClr val="2C5F2D"/>
          </a:solidFill>
          <a:ln w="12700">
            <a:solidFill>
              <a:srgbClr val="2C5F2D"/>
            </a:solidFill>
            <a:prstDash val="solid"/>
          </a:ln>
        </p:spPr>
      </p:sp>
      <p:sp>
        <p:nvSpPr>
          <p:cNvPr id="11" name="Text 9"/>
          <p:cNvSpPr/>
          <p:nvPr/>
        </p:nvSpPr>
        <p:spPr>
          <a:xfrm>
            <a:off x="685800" y="265176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1417320" y="274320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Replicabilidad: el principio rector</a:t>
            </a:r>
            <a:endParaRPr lang="en-US" sz="1800" dirty="0"/>
          </a:p>
        </p:txBody>
      </p:sp>
      <p:sp>
        <p:nvSpPr>
          <p:cNvPr id="13" name="Text 11"/>
          <p:cNvSpPr/>
          <p:nvPr/>
        </p:nvSpPr>
        <p:spPr>
          <a:xfrm>
            <a:off x="1417320" y="306324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El test del investigador independiente.</a:t>
            </a:r>
            <a:endParaRPr lang="en-US" sz="1200" dirty="0"/>
          </a:p>
        </p:txBody>
      </p:sp>
      <p:sp>
        <p:nvSpPr>
          <p:cNvPr id="14" name="Shape 12"/>
          <p:cNvSpPr/>
          <p:nvPr/>
        </p:nvSpPr>
        <p:spPr>
          <a:xfrm>
            <a:off x="457200" y="3520440"/>
            <a:ext cx="11247120" cy="731520"/>
          </a:xfrm>
          <a:prstGeom prst="rect">
            <a:avLst/>
          </a:prstGeom>
          <a:solidFill>
            <a:srgbClr val="F7F4ED"/>
          </a:solidFill>
          <a:ln w="12700">
            <a:solidFill>
              <a:srgbClr val="D9D2C0"/>
            </a:solidFill>
            <a:prstDash val="solid"/>
          </a:ln>
        </p:spPr>
      </p:sp>
      <p:sp>
        <p:nvSpPr>
          <p:cNvPr id="15" name="Shape 13"/>
          <p:cNvSpPr/>
          <p:nvPr/>
        </p:nvSpPr>
        <p:spPr>
          <a:xfrm>
            <a:off x="457200" y="3520440"/>
            <a:ext cx="91440" cy="731520"/>
          </a:xfrm>
          <a:prstGeom prst="rect">
            <a:avLst/>
          </a:prstGeom>
          <a:solidFill>
            <a:srgbClr val="2C5F2D"/>
          </a:solidFill>
          <a:ln w="12700">
            <a:solidFill>
              <a:srgbClr val="2C5F2D"/>
            </a:solidFill>
            <a:prstDash val="solid"/>
          </a:ln>
        </p:spPr>
      </p:sp>
      <p:sp>
        <p:nvSpPr>
          <p:cNvPr id="16" name="Text 14"/>
          <p:cNvSpPr/>
          <p:nvPr/>
        </p:nvSpPr>
        <p:spPr>
          <a:xfrm>
            <a:off x="685800" y="352044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3</a:t>
            </a:r>
            <a:endParaRPr lang="en-US" sz="3000" dirty="0"/>
          </a:p>
        </p:txBody>
      </p:sp>
      <p:sp>
        <p:nvSpPr>
          <p:cNvPr id="17" name="Text 15"/>
          <p:cNvSpPr/>
          <p:nvPr/>
        </p:nvSpPr>
        <p:spPr>
          <a:xfrm>
            <a:off x="1417320" y="361188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Los cinco subapartados típicos</a:t>
            </a:r>
            <a:endParaRPr lang="en-US" sz="1800" dirty="0"/>
          </a:p>
        </p:txBody>
      </p:sp>
      <p:sp>
        <p:nvSpPr>
          <p:cNvPr id="18" name="Text 16"/>
          <p:cNvSpPr/>
          <p:nvPr/>
        </p:nvSpPr>
        <p:spPr>
          <a:xfrm>
            <a:off x="1417320" y="393192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Sitio, materiales, procedimiento, variables, análisis.</a:t>
            </a:r>
            <a:endParaRPr lang="en-US" sz="1200" dirty="0"/>
          </a:p>
        </p:txBody>
      </p:sp>
      <p:sp>
        <p:nvSpPr>
          <p:cNvPr id="19" name="Shape 17"/>
          <p:cNvSpPr/>
          <p:nvPr/>
        </p:nvSpPr>
        <p:spPr>
          <a:xfrm>
            <a:off x="457200" y="4389120"/>
            <a:ext cx="11247120" cy="731520"/>
          </a:xfrm>
          <a:prstGeom prst="rect">
            <a:avLst/>
          </a:prstGeom>
          <a:solidFill>
            <a:srgbClr val="F7F4ED"/>
          </a:solidFill>
          <a:ln w="12700">
            <a:solidFill>
              <a:srgbClr val="D9D2C0"/>
            </a:solidFill>
            <a:prstDash val="solid"/>
          </a:ln>
        </p:spPr>
      </p:sp>
      <p:sp>
        <p:nvSpPr>
          <p:cNvPr id="20" name="Shape 18"/>
          <p:cNvSpPr/>
          <p:nvPr/>
        </p:nvSpPr>
        <p:spPr>
          <a:xfrm>
            <a:off x="457200" y="4389120"/>
            <a:ext cx="91440" cy="731520"/>
          </a:xfrm>
          <a:prstGeom prst="rect">
            <a:avLst/>
          </a:prstGeom>
          <a:solidFill>
            <a:srgbClr val="2C5F2D"/>
          </a:solidFill>
          <a:ln w="12700">
            <a:solidFill>
              <a:srgbClr val="2C5F2D"/>
            </a:solidFill>
            <a:prstDash val="solid"/>
          </a:ln>
        </p:spPr>
      </p:sp>
      <p:sp>
        <p:nvSpPr>
          <p:cNvPr id="21" name="Text 19"/>
          <p:cNvSpPr/>
          <p:nvPr/>
        </p:nvSpPr>
        <p:spPr>
          <a:xfrm>
            <a:off x="685800" y="438912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1417320" y="448056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Reporte estadístico y software</a:t>
            </a:r>
            <a:endParaRPr lang="en-US" sz="1800" dirty="0"/>
          </a:p>
        </p:txBody>
      </p:sp>
      <p:sp>
        <p:nvSpPr>
          <p:cNvPr id="23" name="Text 21"/>
          <p:cNvSpPr/>
          <p:nvPr/>
        </p:nvSpPr>
        <p:spPr>
          <a:xfrm>
            <a:off x="1417320" y="480060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Diseño, modelo, supuestos, versiones.</a:t>
            </a:r>
            <a:endParaRPr lang="en-US" sz="1200" dirty="0"/>
          </a:p>
        </p:txBody>
      </p:sp>
      <p:sp>
        <p:nvSpPr>
          <p:cNvPr id="24" name="Shape 22"/>
          <p:cNvSpPr/>
          <p:nvPr/>
        </p:nvSpPr>
        <p:spPr>
          <a:xfrm>
            <a:off x="457200" y="5257800"/>
            <a:ext cx="11247120" cy="731520"/>
          </a:xfrm>
          <a:prstGeom prst="rect">
            <a:avLst/>
          </a:prstGeom>
          <a:solidFill>
            <a:srgbClr val="F7F4ED"/>
          </a:solidFill>
          <a:ln w="12700">
            <a:solidFill>
              <a:srgbClr val="D9D2C0"/>
            </a:solidFill>
            <a:prstDash val="solid"/>
          </a:ln>
        </p:spPr>
      </p:sp>
      <p:sp>
        <p:nvSpPr>
          <p:cNvPr id="25" name="Shape 23"/>
          <p:cNvSpPr/>
          <p:nvPr/>
        </p:nvSpPr>
        <p:spPr>
          <a:xfrm>
            <a:off x="457200" y="5257800"/>
            <a:ext cx="91440" cy="731520"/>
          </a:xfrm>
          <a:prstGeom prst="rect">
            <a:avLst/>
          </a:prstGeom>
          <a:solidFill>
            <a:srgbClr val="2C5F2D"/>
          </a:solidFill>
          <a:ln w="12700">
            <a:solidFill>
              <a:srgbClr val="2C5F2D"/>
            </a:solidFill>
            <a:prstDash val="solid"/>
          </a:ln>
        </p:spPr>
      </p:sp>
      <p:sp>
        <p:nvSpPr>
          <p:cNvPr id="26" name="Text 24"/>
          <p:cNvSpPr/>
          <p:nvPr/>
        </p:nvSpPr>
        <p:spPr>
          <a:xfrm>
            <a:off x="685800" y="525780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5</a:t>
            </a:r>
            <a:endParaRPr lang="en-US" sz="3000" dirty="0"/>
          </a:p>
        </p:txBody>
      </p:sp>
      <p:sp>
        <p:nvSpPr>
          <p:cNvPr id="27" name="Text 25"/>
          <p:cNvSpPr/>
          <p:nvPr/>
        </p:nvSpPr>
        <p:spPr>
          <a:xfrm>
            <a:off x="1417320" y="534924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Errores frecuentes y ejercicios</a:t>
            </a:r>
            <a:endParaRPr lang="en-US" sz="1800" dirty="0"/>
          </a:p>
        </p:txBody>
      </p:sp>
      <p:sp>
        <p:nvSpPr>
          <p:cNvPr id="28" name="Text 26"/>
          <p:cNvSpPr/>
          <p:nvPr/>
        </p:nvSpPr>
        <p:spPr>
          <a:xfrm>
            <a:off x="1417320" y="566928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Aplicación al caso guía y a tu propio estudio.</a:t>
            </a:r>
            <a:endParaRPr lang="en-US" sz="1200" dirty="0"/>
          </a:p>
        </p:txBody>
      </p:sp>
      <p:sp>
        <p:nvSpPr>
          <p:cNvPr id="29" name="Text 2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1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Por qué Métodos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Es el apartado donde los revisores buscan razones para rechazar — o para creerte.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IMPORTANCIA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Tres razones por las que Métodos decide tu credibilidad</a:t>
            </a:r>
            <a:endParaRPr lang="en-US" sz="3000" dirty="0"/>
          </a:p>
        </p:txBody>
      </p:sp>
      <p:sp>
        <p:nvSpPr>
          <p:cNvPr id="4" name="Shape 2"/>
          <p:cNvSpPr/>
          <p:nvPr/>
        </p:nvSpPr>
        <p:spPr>
          <a:xfrm>
            <a:off x="45720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783080"/>
            <a:ext cx="3703320" cy="100584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7" name="Text 4"/>
          <p:cNvSpPr/>
          <p:nvPr/>
        </p:nvSpPr>
        <p:spPr>
          <a:xfrm>
            <a:off x="306324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01</a:t>
            </a:r>
            <a:endParaRPr lang="en-US" sz="3600" dirty="0"/>
          </a:p>
        </p:txBody>
      </p:sp>
      <p:sp>
        <p:nvSpPr>
          <p:cNvPr id="8" name="Text 5"/>
          <p:cNvSpPr/>
          <p:nvPr/>
        </p:nvSpPr>
        <p:spPr>
          <a:xfrm>
            <a:off x="68580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Replicabilidad</a:t>
            </a:r>
            <a:endParaRPr lang="en-US" sz="1800" dirty="0"/>
          </a:p>
        </p:txBody>
      </p:sp>
      <p:sp>
        <p:nvSpPr>
          <p:cNvPr id="9" name="Text 6"/>
          <p:cNvSpPr/>
          <p:nvPr/>
        </p:nvSpPr>
        <p:spPr>
          <a:xfrm>
            <a:off x="68580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Si otro investigador no puede repetir lo que hiciste leyendo tu artículo, tu ciencia no es ciencia — es anécdota.</a:t>
            </a:r>
            <a:endParaRPr lang="en-US" sz="1300" dirty="0"/>
          </a:p>
        </p:txBody>
      </p:sp>
      <p:sp>
        <p:nvSpPr>
          <p:cNvPr id="10" name="Shape 7"/>
          <p:cNvSpPr/>
          <p:nvPr/>
        </p:nvSpPr>
        <p:spPr>
          <a:xfrm>
            <a:off x="429768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297680" y="1783080"/>
            <a:ext cx="3703320" cy="100584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4572000" y="2011680"/>
            <a:ext cx="548640" cy="548640"/>
          </a:xfrm>
          <a:prstGeom prst="rect">
            <a:avLst/>
          </a:prstGeom>
        </p:spPr>
      </p:pic>
      <p:sp>
        <p:nvSpPr>
          <p:cNvPr id="13" name="Text 9"/>
          <p:cNvSpPr/>
          <p:nvPr/>
        </p:nvSpPr>
        <p:spPr>
          <a:xfrm>
            <a:off x="690372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02</a:t>
            </a:r>
            <a:endParaRPr lang="en-US" sz="3600" dirty="0"/>
          </a:p>
        </p:txBody>
      </p:sp>
      <p:sp>
        <p:nvSpPr>
          <p:cNvPr id="14" name="Text 10"/>
          <p:cNvSpPr/>
          <p:nvPr/>
        </p:nvSpPr>
        <p:spPr>
          <a:xfrm>
            <a:off x="452628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Auditabilidad</a:t>
            </a:r>
            <a:endParaRPr lang="en-US" sz="1800" dirty="0"/>
          </a:p>
        </p:txBody>
      </p:sp>
      <p:sp>
        <p:nvSpPr>
          <p:cNvPr id="15" name="Text 11"/>
          <p:cNvSpPr/>
          <p:nvPr/>
        </p:nvSpPr>
        <p:spPr>
          <a:xfrm>
            <a:off x="452628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Los revisores buscan aquí los huecos: muestreo sesgado, controles ausentes, supuestos estadísticos no verificados.</a:t>
            </a:r>
            <a:endParaRPr lang="en-US" sz="1300" dirty="0"/>
          </a:p>
        </p:txBody>
      </p:sp>
      <p:sp>
        <p:nvSpPr>
          <p:cNvPr id="16" name="Shape 12"/>
          <p:cNvSpPr/>
          <p:nvPr/>
        </p:nvSpPr>
        <p:spPr>
          <a:xfrm>
            <a:off x="813816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138160" y="1783080"/>
            <a:ext cx="3703320" cy="1005840"/>
          </a:xfrm>
          <a:prstGeom prst="rect">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412480" y="2011680"/>
            <a:ext cx="548640" cy="548640"/>
          </a:xfrm>
          <a:prstGeom prst="rect">
            <a:avLst/>
          </a:prstGeom>
        </p:spPr>
      </p:pic>
      <p:sp>
        <p:nvSpPr>
          <p:cNvPr id="19" name="Text 14"/>
          <p:cNvSpPr/>
          <p:nvPr/>
        </p:nvSpPr>
        <p:spPr>
          <a:xfrm>
            <a:off x="1074420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03</a:t>
            </a:r>
            <a:endParaRPr lang="en-US" sz="3600" dirty="0"/>
          </a:p>
        </p:txBody>
      </p:sp>
      <p:sp>
        <p:nvSpPr>
          <p:cNvPr id="20" name="Text 15"/>
          <p:cNvSpPr/>
          <p:nvPr/>
        </p:nvSpPr>
        <p:spPr>
          <a:xfrm>
            <a:off x="836676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Citabilidad metodológica</a:t>
            </a:r>
            <a:endParaRPr lang="en-US" sz="1800" dirty="0"/>
          </a:p>
        </p:txBody>
      </p:sp>
      <p:sp>
        <p:nvSpPr>
          <p:cNvPr id="21" name="Text 16"/>
          <p:cNvSpPr/>
          <p:nvPr/>
        </p:nvSpPr>
        <p:spPr>
          <a:xfrm>
            <a:off x="836676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Un método bien descrito puede ser citado por otros estudios — y aumenta tu impacto más allá de los resultados.</a:t>
            </a:r>
            <a:endParaRPr lang="en-US" sz="1300" dirty="0"/>
          </a:p>
        </p:txBody>
      </p:sp>
      <p:sp>
        <p:nvSpPr>
          <p:cNvPr id="22"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3" name="Text 1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91440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EL PRINCIPIO RECTOR</a:t>
            </a:r>
            <a:endParaRPr lang="en-US" sz="1300" dirty="0"/>
          </a:p>
        </p:txBody>
      </p:sp>
      <p:sp>
        <p:nvSpPr>
          <p:cNvPr id="4" name="Text 2"/>
          <p:cNvSpPr/>
          <p:nvPr/>
        </p:nvSpPr>
        <p:spPr>
          <a:xfrm>
            <a:off x="822960" y="1371600"/>
            <a:ext cx="10515600" cy="2011680"/>
          </a:xfrm>
          <a:prstGeom prst="rect">
            <a:avLst/>
          </a:prstGeom>
          <a:noFill/>
          <a:ln/>
        </p:spPr>
        <p:txBody>
          <a:bodyPr wrap="square" lIns="0" tIns="0" rIns="0" bIns="0" rtlCol="0" anchor="ctr"/>
          <a:lstStyle/>
          <a:p>
            <a:pPr indent="0" marL="0">
              <a:lnSpc>
                <a:spcPct val="105000"/>
              </a:lnSpc>
              <a:buNone/>
            </a:pPr>
            <a:r>
              <a:rPr lang="en-US" sz="5000" b="1" dirty="0">
                <a:solidFill>
                  <a:srgbClr val="FFFFFF"/>
                </a:solidFill>
                <a:latin typeface="Georgia" pitchFamily="34" charset="0"/>
                <a:ea typeface="Georgia" pitchFamily="34" charset="-122"/>
                <a:cs typeface="Georgia" pitchFamily="34" charset="-120"/>
              </a:rPr>
              <a:t>El test del</a:t>
            </a:r>
            <a:endParaRPr lang="en-US" sz="5000" dirty="0"/>
          </a:p>
          <a:p>
            <a:pPr indent="0" marL="0">
              <a:lnSpc>
                <a:spcPct val="105000"/>
              </a:lnSpc>
              <a:buNone/>
            </a:pPr>
            <a:r>
              <a:rPr lang="en-US" sz="5000" b="1" dirty="0">
                <a:solidFill>
                  <a:srgbClr val="FFFFFF"/>
                </a:solidFill>
                <a:latin typeface="Georgia" pitchFamily="34" charset="0"/>
                <a:ea typeface="Georgia" pitchFamily="34" charset="-122"/>
                <a:cs typeface="Georgia" pitchFamily="34" charset="-120"/>
              </a:rPr>
              <a:t>investigador desconocido</a:t>
            </a:r>
            <a:endParaRPr lang="en-US" sz="5000" dirty="0"/>
          </a:p>
        </p:txBody>
      </p:sp>
      <p:sp>
        <p:nvSpPr>
          <p:cNvPr id="5" name="Text 3"/>
          <p:cNvSpPr/>
          <p:nvPr/>
        </p:nvSpPr>
        <p:spPr>
          <a:xfrm>
            <a:off x="822960" y="3657600"/>
            <a:ext cx="10332720" cy="1463040"/>
          </a:xfrm>
          <a:prstGeom prst="rect">
            <a:avLst/>
          </a:prstGeom>
          <a:noFill/>
          <a:ln/>
        </p:spPr>
        <p:txBody>
          <a:bodyPr wrap="square" lIns="0" tIns="0" rIns="0" bIns="0" rtlCol="0" anchor="ctr"/>
          <a:lstStyle/>
          <a:p>
            <a:pPr indent="0" marL="0">
              <a:lnSpc>
                <a:spcPct val="130000"/>
              </a:lnSpc>
              <a:buNone/>
            </a:pPr>
            <a:r>
              <a:rPr lang="en-US" sz="2000" i="1" dirty="0">
                <a:solidFill>
                  <a:srgbClr val="CADCFC"/>
                </a:solidFill>
                <a:latin typeface="Georgia" pitchFamily="34" charset="0"/>
                <a:ea typeface="Georgia" pitchFamily="34" charset="-122"/>
                <a:cs typeface="Georgia" pitchFamily="34" charset="-120"/>
              </a:rPr>
              <a:t>Imagina que un investigador en Vietnam, sin acceso a tu laboratorio y sin contacto contigo, intenta repetir tu estudio exactamente. ¿Tu sección de Métodos le basta?</a:t>
            </a:r>
            <a:endParaRPr lang="en-US" sz="2000" dirty="0"/>
          </a:p>
        </p:txBody>
      </p:sp>
      <p:sp>
        <p:nvSpPr>
          <p:cNvPr id="6" name="Shape 4"/>
          <p:cNvSpPr/>
          <p:nvPr/>
        </p:nvSpPr>
        <p:spPr>
          <a:xfrm>
            <a:off x="822960" y="5349240"/>
            <a:ext cx="10332720" cy="868680"/>
          </a:xfrm>
          <a:prstGeom prst="rect">
            <a:avLst/>
          </a:prstGeom>
          <a:solidFill>
            <a:srgbClr val="97BC62"/>
          </a:solidFill>
          <a:ln w="12700">
            <a:solidFill>
              <a:srgbClr val="97BC62"/>
            </a:solidFill>
            <a:prstDash val="solid"/>
          </a:ln>
        </p:spPr>
      </p:sp>
      <p:sp>
        <p:nvSpPr>
          <p:cNvPr id="7" name="Text 5"/>
          <p:cNvSpPr/>
          <p:nvPr/>
        </p:nvSpPr>
        <p:spPr>
          <a:xfrm>
            <a:off x="1005840" y="5349240"/>
            <a:ext cx="10058400" cy="86868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Si la respuesta es "no, le faltan detalles", entonces aún no terminaste de escribir Métodos.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2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Los cinco subapartados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Una organización clara le ahorra trabajo al revisor — y a ti.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ESTRUCTURA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Los cinco subapartados típicos de Métodos</a:t>
            </a:r>
            <a:endParaRPr lang="en-US" sz="3000" dirty="0"/>
          </a:p>
        </p:txBody>
      </p:sp>
      <p:sp>
        <p:nvSpPr>
          <p:cNvPr id="4" name="Shape 2"/>
          <p:cNvSpPr/>
          <p:nvPr/>
        </p:nvSpPr>
        <p:spPr>
          <a:xfrm>
            <a:off x="457200" y="1828800"/>
            <a:ext cx="2194560" cy="4297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828800"/>
            <a:ext cx="2194560" cy="128016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1325880" y="2011680"/>
            <a:ext cx="457200" cy="457200"/>
          </a:xfrm>
          <a:prstGeom prst="rect">
            <a:avLst/>
          </a:prstGeom>
        </p:spPr>
      </p:pic>
      <p:sp>
        <p:nvSpPr>
          <p:cNvPr id="7" name="Text 4"/>
          <p:cNvSpPr/>
          <p:nvPr/>
        </p:nvSpPr>
        <p:spPr>
          <a:xfrm>
            <a:off x="457200" y="2560320"/>
            <a:ext cx="2194560" cy="411480"/>
          </a:xfrm>
          <a:prstGeom prst="rect">
            <a:avLst/>
          </a:prstGeom>
          <a:noFill/>
          <a:ln/>
        </p:spPr>
        <p:txBody>
          <a:bodyPr wrap="square" lIns="0" tIns="0" rIns="0" bIns="0" rtlCol="0" anchor="ctr"/>
          <a:lstStyle/>
          <a:p>
            <a:pPr algn="ctr" indent="0" marL="0">
              <a:buNone/>
            </a:pPr>
            <a:r>
              <a:rPr lang="en-US" sz="1800" b="1" dirty="0">
                <a:solidFill>
                  <a:srgbClr val="97BC62"/>
                </a:solidFill>
                <a:latin typeface="Georgia" pitchFamily="34" charset="0"/>
                <a:ea typeface="Georgia" pitchFamily="34" charset="-122"/>
                <a:cs typeface="Georgia" pitchFamily="34" charset="-120"/>
              </a:rPr>
              <a:t>2.1</a:t>
            </a:r>
            <a:endParaRPr lang="en-US" sz="1800" dirty="0"/>
          </a:p>
        </p:txBody>
      </p:sp>
      <p:sp>
        <p:nvSpPr>
          <p:cNvPr id="8" name="Text 5"/>
          <p:cNvSpPr/>
          <p:nvPr/>
        </p:nvSpPr>
        <p:spPr>
          <a:xfrm>
            <a:off x="594360" y="3246120"/>
            <a:ext cx="192024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1F3A2E"/>
                </a:solidFill>
                <a:latin typeface="Georgia" pitchFamily="34" charset="0"/>
                <a:ea typeface="Georgia" pitchFamily="34" charset="-122"/>
                <a:cs typeface="Georgia" pitchFamily="34" charset="-120"/>
              </a:rPr>
              <a:t>Sitio de estudio</a:t>
            </a:r>
            <a:endParaRPr lang="en-US" sz="1500" dirty="0"/>
          </a:p>
        </p:txBody>
      </p:sp>
      <p:sp>
        <p:nvSpPr>
          <p:cNvPr id="9" name="Text 6"/>
          <p:cNvSpPr/>
          <p:nvPr/>
        </p:nvSpPr>
        <p:spPr>
          <a:xfrm>
            <a:off x="594360" y="4160520"/>
            <a:ext cx="1920240" cy="1737360"/>
          </a:xfrm>
          <a:prstGeom prst="rect">
            <a:avLst/>
          </a:prstGeom>
          <a:noFill/>
          <a:ln/>
        </p:spPr>
        <p:txBody>
          <a:bodyPr wrap="square" lIns="0" tIns="0" rIns="0" bIns="0" rtlCol="0" anchor="ctr"/>
          <a:lstStyle/>
          <a:p>
            <a:pPr algn="ctr" indent="0" marL="0">
              <a:lnSpc>
                <a:spcPct val="125000"/>
              </a:lnSpc>
              <a:buNone/>
            </a:pPr>
            <a:r>
              <a:rPr lang="en-US" sz="1150" dirty="0">
                <a:solidFill>
                  <a:srgbClr val="1A1A1A"/>
                </a:solidFill>
                <a:latin typeface="Calibri" pitchFamily="34" charset="0"/>
                <a:ea typeface="Calibri" pitchFamily="34" charset="-122"/>
                <a:cs typeface="Calibri" pitchFamily="34" charset="-120"/>
              </a:rPr>
              <a:t>Dónde, cuándo y bajo qué condiciones.</a:t>
            </a:r>
            <a:endParaRPr lang="en-US" sz="1150" dirty="0"/>
          </a:p>
        </p:txBody>
      </p:sp>
      <p:sp>
        <p:nvSpPr>
          <p:cNvPr id="10" name="Shape 7"/>
          <p:cNvSpPr/>
          <p:nvPr/>
        </p:nvSpPr>
        <p:spPr>
          <a:xfrm>
            <a:off x="2752344" y="1828800"/>
            <a:ext cx="2194560" cy="4297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752344" y="1828800"/>
            <a:ext cx="2194560" cy="128016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3621024" y="2011680"/>
            <a:ext cx="457200" cy="457200"/>
          </a:xfrm>
          <a:prstGeom prst="rect">
            <a:avLst/>
          </a:prstGeom>
        </p:spPr>
      </p:pic>
      <p:sp>
        <p:nvSpPr>
          <p:cNvPr id="13" name="Text 9"/>
          <p:cNvSpPr/>
          <p:nvPr/>
        </p:nvSpPr>
        <p:spPr>
          <a:xfrm>
            <a:off x="2752344" y="2560320"/>
            <a:ext cx="2194560" cy="411480"/>
          </a:xfrm>
          <a:prstGeom prst="rect">
            <a:avLst/>
          </a:prstGeom>
          <a:noFill/>
          <a:ln/>
        </p:spPr>
        <p:txBody>
          <a:bodyPr wrap="square" lIns="0" tIns="0" rIns="0" bIns="0" rtlCol="0" anchor="ctr"/>
          <a:lstStyle/>
          <a:p>
            <a:pPr algn="ctr" indent="0" marL="0">
              <a:buNone/>
            </a:pPr>
            <a:r>
              <a:rPr lang="en-US" sz="1800" b="1" dirty="0">
                <a:solidFill>
                  <a:srgbClr val="97BC62"/>
                </a:solidFill>
                <a:latin typeface="Georgia" pitchFamily="34" charset="0"/>
                <a:ea typeface="Georgia" pitchFamily="34" charset="-122"/>
                <a:cs typeface="Georgia" pitchFamily="34" charset="-120"/>
              </a:rPr>
              <a:t>2.2</a:t>
            </a:r>
            <a:endParaRPr lang="en-US" sz="1800" dirty="0"/>
          </a:p>
        </p:txBody>
      </p:sp>
      <p:sp>
        <p:nvSpPr>
          <p:cNvPr id="14" name="Text 10"/>
          <p:cNvSpPr/>
          <p:nvPr/>
        </p:nvSpPr>
        <p:spPr>
          <a:xfrm>
            <a:off x="2889504" y="3246120"/>
            <a:ext cx="192024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1F3A2E"/>
                </a:solidFill>
                <a:latin typeface="Georgia" pitchFamily="34" charset="0"/>
                <a:ea typeface="Georgia" pitchFamily="34" charset="-122"/>
                <a:cs typeface="Georgia" pitchFamily="34" charset="-120"/>
              </a:rPr>
              <a:t>Materiales</a:t>
            </a:r>
            <a:endParaRPr lang="en-US" sz="1500" dirty="0"/>
          </a:p>
        </p:txBody>
      </p:sp>
      <p:sp>
        <p:nvSpPr>
          <p:cNvPr id="15" name="Text 11"/>
          <p:cNvSpPr/>
          <p:nvPr/>
        </p:nvSpPr>
        <p:spPr>
          <a:xfrm>
            <a:off x="2889504" y="4160520"/>
            <a:ext cx="1920240" cy="1737360"/>
          </a:xfrm>
          <a:prstGeom prst="rect">
            <a:avLst/>
          </a:prstGeom>
          <a:noFill/>
          <a:ln/>
        </p:spPr>
        <p:txBody>
          <a:bodyPr wrap="square" lIns="0" tIns="0" rIns="0" bIns="0" rtlCol="0" anchor="ctr"/>
          <a:lstStyle/>
          <a:p>
            <a:pPr algn="ctr" indent="0" marL="0">
              <a:lnSpc>
                <a:spcPct val="125000"/>
              </a:lnSpc>
              <a:buNone/>
            </a:pPr>
            <a:r>
              <a:rPr lang="en-US" sz="1150" dirty="0">
                <a:solidFill>
                  <a:srgbClr val="1A1A1A"/>
                </a:solidFill>
                <a:latin typeface="Calibri" pitchFamily="34" charset="0"/>
                <a:ea typeface="Calibri" pitchFamily="34" charset="-122"/>
                <a:cs typeface="Calibri" pitchFamily="34" charset="-120"/>
              </a:rPr>
              <a:t>Qué usaste: muestras, reactivos, equipos.</a:t>
            </a:r>
            <a:endParaRPr lang="en-US" sz="1150" dirty="0"/>
          </a:p>
        </p:txBody>
      </p:sp>
      <p:sp>
        <p:nvSpPr>
          <p:cNvPr id="16" name="Shape 12"/>
          <p:cNvSpPr/>
          <p:nvPr/>
        </p:nvSpPr>
        <p:spPr>
          <a:xfrm>
            <a:off x="5047488" y="1828800"/>
            <a:ext cx="2194560" cy="4297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5047488" y="1828800"/>
            <a:ext cx="2194560" cy="1280160"/>
          </a:xfrm>
          <a:prstGeom prst="rect">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5916168" y="2011680"/>
            <a:ext cx="457200" cy="457200"/>
          </a:xfrm>
          <a:prstGeom prst="rect">
            <a:avLst/>
          </a:prstGeom>
        </p:spPr>
      </p:pic>
      <p:sp>
        <p:nvSpPr>
          <p:cNvPr id="19" name="Text 14"/>
          <p:cNvSpPr/>
          <p:nvPr/>
        </p:nvSpPr>
        <p:spPr>
          <a:xfrm>
            <a:off x="5047488" y="2560320"/>
            <a:ext cx="2194560" cy="411480"/>
          </a:xfrm>
          <a:prstGeom prst="rect">
            <a:avLst/>
          </a:prstGeom>
          <a:noFill/>
          <a:ln/>
        </p:spPr>
        <p:txBody>
          <a:bodyPr wrap="square" lIns="0" tIns="0" rIns="0" bIns="0" rtlCol="0" anchor="ctr"/>
          <a:lstStyle/>
          <a:p>
            <a:pPr algn="ctr" indent="0" marL="0">
              <a:buNone/>
            </a:pPr>
            <a:r>
              <a:rPr lang="en-US" sz="1800" b="1" dirty="0">
                <a:solidFill>
                  <a:srgbClr val="97BC62"/>
                </a:solidFill>
                <a:latin typeface="Georgia" pitchFamily="34" charset="0"/>
                <a:ea typeface="Georgia" pitchFamily="34" charset="-122"/>
                <a:cs typeface="Georgia" pitchFamily="34" charset="-120"/>
              </a:rPr>
              <a:t>2.3</a:t>
            </a:r>
            <a:endParaRPr lang="en-US" sz="1800" dirty="0"/>
          </a:p>
        </p:txBody>
      </p:sp>
      <p:sp>
        <p:nvSpPr>
          <p:cNvPr id="20" name="Text 15"/>
          <p:cNvSpPr/>
          <p:nvPr/>
        </p:nvSpPr>
        <p:spPr>
          <a:xfrm>
            <a:off x="5184648" y="3246120"/>
            <a:ext cx="192024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1F3A2E"/>
                </a:solidFill>
                <a:latin typeface="Georgia" pitchFamily="34" charset="0"/>
                <a:ea typeface="Georgia" pitchFamily="34" charset="-122"/>
                <a:cs typeface="Georgia" pitchFamily="34" charset="-120"/>
              </a:rPr>
              <a:t>Procedimiento experimental</a:t>
            </a:r>
            <a:endParaRPr lang="en-US" sz="1500" dirty="0"/>
          </a:p>
        </p:txBody>
      </p:sp>
      <p:sp>
        <p:nvSpPr>
          <p:cNvPr id="21" name="Text 16"/>
          <p:cNvSpPr/>
          <p:nvPr/>
        </p:nvSpPr>
        <p:spPr>
          <a:xfrm>
            <a:off x="5184648" y="4160520"/>
            <a:ext cx="1920240" cy="1737360"/>
          </a:xfrm>
          <a:prstGeom prst="rect">
            <a:avLst/>
          </a:prstGeom>
          <a:noFill/>
          <a:ln/>
        </p:spPr>
        <p:txBody>
          <a:bodyPr wrap="square" lIns="0" tIns="0" rIns="0" bIns="0" rtlCol="0" anchor="ctr"/>
          <a:lstStyle/>
          <a:p>
            <a:pPr algn="ctr" indent="0" marL="0">
              <a:lnSpc>
                <a:spcPct val="125000"/>
              </a:lnSpc>
              <a:buNone/>
            </a:pPr>
            <a:r>
              <a:rPr lang="en-US" sz="1150" dirty="0">
                <a:solidFill>
                  <a:srgbClr val="1A1A1A"/>
                </a:solidFill>
                <a:latin typeface="Calibri" pitchFamily="34" charset="0"/>
                <a:ea typeface="Calibri" pitchFamily="34" charset="-122"/>
                <a:cs typeface="Calibri" pitchFamily="34" charset="-120"/>
              </a:rPr>
              <a:t>Cómo lo hiciste, paso a paso.</a:t>
            </a:r>
            <a:endParaRPr lang="en-US" sz="1150" dirty="0"/>
          </a:p>
        </p:txBody>
      </p:sp>
      <p:sp>
        <p:nvSpPr>
          <p:cNvPr id="22" name="Shape 17"/>
          <p:cNvSpPr/>
          <p:nvPr/>
        </p:nvSpPr>
        <p:spPr>
          <a:xfrm>
            <a:off x="7342632" y="1828800"/>
            <a:ext cx="2194560" cy="4297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7342632" y="1828800"/>
            <a:ext cx="2194560" cy="1280160"/>
          </a:xfrm>
          <a:prstGeom prst="rect">
            <a:avLst/>
          </a:prstGeom>
          <a:solidFill>
            <a:srgbClr val="2C5F2D"/>
          </a:solidFill>
          <a:ln w="12700">
            <a:solidFill>
              <a:srgbClr val="2C5F2D"/>
            </a:solidFill>
            <a:prstDash val="solid"/>
          </a:ln>
        </p:spPr>
      </p:sp>
      <p:pic>
        <p:nvPicPr>
          <p:cNvPr id="24" name="Image 3" descr="preencoded.png">    </p:cNvPr>
          <p:cNvPicPr>
            <a:picLocks noChangeAspect="1"/>
          </p:cNvPicPr>
          <p:nvPr/>
        </p:nvPicPr>
        <p:blipFill>
          <a:blip r:embed="rId4"/>
          <a:stretch>
            <a:fillRect/>
          </a:stretch>
        </p:blipFill>
        <p:spPr>
          <a:xfrm>
            <a:off x="8211312" y="2011680"/>
            <a:ext cx="457200" cy="457200"/>
          </a:xfrm>
          <a:prstGeom prst="rect">
            <a:avLst/>
          </a:prstGeom>
        </p:spPr>
      </p:pic>
      <p:sp>
        <p:nvSpPr>
          <p:cNvPr id="25" name="Text 19"/>
          <p:cNvSpPr/>
          <p:nvPr/>
        </p:nvSpPr>
        <p:spPr>
          <a:xfrm>
            <a:off x="7342632" y="2560320"/>
            <a:ext cx="2194560" cy="411480"/>
          </a:xfrm>
          <a:prstGeom prst="rect">
            <a:avLst/>
          </a:prstGeom>
          <a:noFill/>
          <a:ln/>
        </p:spPr>
        <p:txBody>
          <a:bodyPr wrap="square" lIns="0" tIns="0" rIns="0" bIns="0" rtlCol="0" anchor="ctr"/>
          <a:lstStyle/>
          <a:p>
            <a:pPr algn="ctr" indent="0" marL="0">
              <a:buNone/>
            </a:pPr>
            <a:r>
              <a:rPr lang="en-US" sz="1800" b="1" dirty="0">
                <a:solidFill>
                  <a:srgbClr val="97BC62"/>
                </a:solidFill>
                <a:latin typeface="Georgia" pitchFamily="34" charset="0"/>
                <a:ea typeface="Georgia" pitchFamily="34" charset="-122"/>
                <a:cs typeface="Georgia" pitchFamily="34" charset="-120"/>
              </a:rPr>
              <a:t>2.4</a:t>
            </a:r>
            <a:endParaRPr lang="en-US" sz="1800" dirty="0"/>
          </a:p>
        </p:txBody>
      </p:sp>
      <p:sp>
        <p:nvSpPr>
          <p:cNvPr id="26" name="Text 20"/>
          <p:cNvSpPr/>
          <p:nvPr/>
        </p:nvSpPr>
        <p:spPr>
          <a:xfrm>
            <a:off x="7479792" y="3246120"/>
            <a:ext cx="192024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1F3A2E"/>
                </a:solidFill>
                <a:latin typeface="Georgia" pitchFamily="34" charset="0"/>
                <a:ea typeface="Georgia" pitchFamily="34" charset="-122"/>
                <a:cs typeface="Georgia" pitchFamily="34" charset="-120"/>
              </a:rPr>
              <a:t>Variables y mediciones</a:t>
            </a:r>
            <a:endParaRPr lang="en-US" sz="1500" dirty="0"/>
          </a:p>
        </p:txBody>
      </p:sp>
      <p:sp>
        <p:nvSpPr>
          <p:cNvPr id="27" name="Text 21"/>
          <p:cNvSpPr/>
          <p:nvPr/>
        </p:nvSpPr>
        <p:spPr>
          <a:xfrm>
            <a:off x="7479792" y="4160520"/>
            <a:ext cx="1920240" cy="1737360"/>
          </a:xfrm>
          <a:prstGeom prst="rect">
            <a:avLst/>
          </a:prstGeom>
          <a:noFill/>
          <a:ln/>
        </p:spPr>
        <p:txBody>
          <a:bodyPr wrap="square" lIns="0" tIns="0" rIns="0" bIns="0" rtlCol="0" anchor="ctr"/>
          <a:lstStyle/>
          <a:p>
            <a:pPr algn="ctr" indent="0" marL="0">
              <a:lnSpc>
                <a:spcPct val="125000"/>
              </a:lnSpc>
              <a:buNone/>
            </a:pPr>
            <a:r>
              <a:rPr lang="en-US" sz="1150" dirty="0">
                <a:solidFill>
                  <a:srgbClr val="1A1A1A"/>
                </a:solidFill>
                <a:latin typeface="Calibri" pitchFamily="34" charset="0"/>
                <a:ea typeface="Calibri" pitchFamily="34" charset="-122"/>
                <a:cs typeface="Calibri" pitchFamily="34" charset="-120"/>
              </a:rPr>
              <a:t>Qué mediste y con qué precisión.</a:t>
            </a:r>
            <a:endParaRPr lang="en-US" sz="1150" dirty="0"/>
          </a:p>
        </p:txBody>
      </p:sp>
      <p:sp>
        <p:nvSpPr>
          <p:cNvPr id="28" name="Shape 22"/>
          <p:cNvSpPr/>
          <p:nvPr/>
        </p:nvSpPr>
        <p:spPr>
          <a:xfrm>
            <a:off x="9637776" y="1828800"/>
            <a:ext cx="2194560" cy="4297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9637776" y="1828800"/>
            <a:ext cx="2194560" cy="1280160"/>
          </a:xfrm>
          <a:prstGeom prst="rect">
            <a:avLst/>
          </a:prstGeom>
          <a:solidFill>
            <a:srgbClr val="2C5F2D"/>
          </a:solidFill>
          <a:ln w="12700">
            <a:solidFill>
              <a:srgbClr val="2C5F2D"/>
            </a:solidFill>
            <a:prstDash val="solid"/>
          </a:ln>
        </p:spPr>
      </p:sp>
      <p:pic>
        <p:nvPicPr>
          <p:cNvPr id="30" name="Image 4" descr="preencoded.png">    </p:cNvPr>
          <p:cNvPicPr>
            <a:picLocks noChangeAspect="1"/>
          </p:cNvPicPr>
          <p:nvPr/>
        </p:nvPicPr>
        <p:blipFill>
          <a:blip r:embed="rId5"/>
          <a:stretch>
            <a:fillRect/>
          </a:stretch>
        </p:blipFill>
        <p:spPr>
          <a:xfrm>
            <a:off x="10506456" y="2011680"/>
            <a:ext cx="457200" cy="457200"/>
          </a:xfrm>
          <a:prstGeom prst="rect">
            <a:avLst/>
          </a:prstGeom>
        </p:spPr>
      </p:pic>
      <p:sp>
        <p:nvSpPr>
          <p:cNvPr id="31" name="Text 24"/>
          <p:cNvSpPr/>
          <p:nvPr/>
        </p:nvSpPr>
        <p:spPr>
          <a:xfrm>
            <a:off x="9637776" y="2560320"/>
            <a:ext cx="2194560" cy="411480"/>
          </a:xfrm>
          <a:prstGeom prst="rect">
            <a:avLst/>
          </a:prstGeom>
          <a:noFill/>
          <a:ln/>
        </p:spPr>
        <p:txBody>
          <a:bodyPr wrap="square" lIns="0" tIns="0" rIns="0" bIns="0" rtlCol="0" anchor="ctr"/>
          <a:lstStyle/>
          <a:p>
            <a:pPr algn="ctr" indent="0" marL="0">
              <a:buNone/>
            </a:pPr>
            <a:r>
              <a:rPr lang="en-US" sz="1800" b="1" dirty="0">
                <a:solidFill>
                  <a:srgbClr val="97BC62"/>
                </a:solidFill>
                <a:latin typeface="Georgia" pitchFamily="34" charset="0"/>
                <a:ea typeface="Georgia" pitchFamily="34" charset="-122"/>
                <a:cs typeface="Georgia" pitchFamily="34" charset="-120"/>
              </a:rPr>
              <a:t>2.5</a:t>
            </a:r>
            <a:endParaRPr lang="en-US" sz="1800" dirty="0"/>
          </a:p>
        </p:txBody>
      </p:sp>
      <p:sp>
        <p:nvSpPr>
          <p:cNvPr id="32" name="Text 25"/>
          <p:cNvSpPr/>
          <p:nvPr/>
        </p:nvSpPr>
        <p:spPr>
          <a:xfrm>
            <a:off x="9774936" y="3246120"/>
            <a:ext cx="192024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1F3A2E"/>
                </a:solidFill>
                <a:latin typeface="Georgia" pitchFamily="34" charset="0"/>
                <a:ea typeface="Georgia" pitchFamily="34" charset="-122"/>
                <a:cs typeface="Georgia" pitchFamily="34" charset="-120"/>
              </a:rPr>
              <a:t>Análisis estadístico</a:t>
            </a:r>
            <a:endParaRPr lang="en-US" sz="1500" dirty="0"/>
          </a:p>
        </p:txBody>
      </p:sp>
      <p:sp>
        <p:nvSpPr>
          <p:cNvPr id="33" name="Text 26"/>
          <p:cNvSpPr/>
          <p:nvPr/>
        </p:nvSpPr>
        <p:spPr>
          <a:xfrm>
            <a:off x="9774936" y="4160520"/>
            <a:ext cx="1920240" cy="1737360"/>
          </a:xfrm>
          <a:prstGeom prst="rect">
            <a:avLst/>
          </a:prstGeom>
          <a:noFill/>
          <a:ln/>
        </p:spPr>
        <p:txBody>
          <a:bodyPr wrap="square" lIns="0" tIns="0" rIns="0" bIns="0" rtlCol="0" anchor="ctr"/>
          <a:lstStyle/>
          <a:p>
            <a:pPr algn="ctr" indent="0" marL="0">
              <a:lnSpc>
                <a:spcPct val="125000"/>
              </a:lnSpc>
              <a:buNone/>
            </a:pPr>
            <a:r>
              <a:rPr lang="en-US" sz="1150" dirty="0">
                <a:solidFill>
                  <a:srgbClr val="1A1A1A"/>
                </a:solidFill>
                <a:latin typeface="Calibri" pitchFamily="34" charset="0"/>
                <a:ea typeface="Calibri" pitchFamily="34" charset="-122"/>
                <a:cs typeface="Calibri" pitchFamily="34" charset="-120"/>
              </a:rPr>
              <a:t>Cómo procesaste los datos y por qué.</a:t>
            </a:r>
            <a:endParaRPr lang="en-US" sz="1150" dirty="0"/>
          </a:p>
        </p:txBody>
      </p:sp>
      <p:sp>
        <p:nvSpPr>
          <p:cNvPr id="34" name="Text 27"/>
          <p:cNvSpPr/>
          <p:nvPr/>
        </p:nvSpPr>
        <p:spPr>
          <a:xfrm>
            <a:off x="457200" y="6263640"/>
            <a:ext cx="11247120" cy="36576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El orden importa: del contexto general a la operación específica, y de la observación al análisis.</a:t>
            </a:r>
            <a:endParaRPr lang="en-US" sz="1200" dirty="0"/>
          </a:p>
        </p:txBody>
      </p:sp>
      <p:sp>
        <p:nvSpPr>
          <p:cNvPr id="35" name="Text 28"/>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6" name="Text 29"/>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2.1 · SITIO DE ESTUDIO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Dónde, cuándo y bajo qué condiciones</a:t>
            </a:r>
            <a:endParaRPr lang="en-US" sz="3000" dirty="0"/>
          </a:p>
        </p:txBody>
      </p:sp>
      <p:sp>
        <p:nvSpPr>
          <p:cNvPr id="4" name="Text 2"/>
          <p:cNvSpPr/>
          <p:nvPr/>
        </p:nvSpPr>
        <p:spPr>
          <a:xfrm>
            <a:off x="457200" y="1691640"/>
            <a:ext cx="5486400" cy="365760"/>
          </a:xfrm>
          <a:prstGeom prst="rect">
            <a:avLst/>
          </a:prstGeom>
          <a:noFill/>
          <a:ln/>
        </p:spPr>
        <p:txBody>
          <a:bodyPr wrap="square" lIns="0" tIns="0" rIns="0" bIns="0" rtlCol="0" anchor="ctr"/>
          <a:lstStyle/>
          <a:p>
            <a:pPr indent="0" marL="0">
              <a:buNone/>
            </a:pPr>
            <a:r>
              <a:rPr lang="en-US" sz="1300" b="1" spc="300" kern="0" dirty="0">
                <a:solidFill>
                  <a:srgbClr val="2C5F2D"/>
                </a:solidFill>
                <a:latin typeface="Calibri" pitchFamily="34" charset="0"/>
                <a:ea typeface="Calibri" pitchFamily="34" charset="-122"/>
                <a:cs typeface="Calibri" pitchFamily="34" charset="-120"/>
              </a:rPr>
              <a:t>Qué SÍ incluir</a:t>
            </a:r>
            <a:endParaRPr lang="en-US" sz="1300" dirty="0"/>
          </a:p>
        </p:txBody>
      </p:sp>
      <p:sp>
        <p:nvSpPr>
          <p:cNvPr id="5" name="Text 3"/>
          <p:cNvSpPr/>
          <p:nvPr/>
        </p:nvSpPr>
        <p:spPr>
          <a:xfrm>
            <a:off x="457200" y="2148840"/>
            <a:ext cx="5486400" cy="228600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Coordenadas geográficas (latitud, longitud)</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Altitud y municipio</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Periodo de muestreo (fechas y duración)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Condiciones ambientales relevantes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Características del cultivo o sistema</a:t>
            </a:r>
            <a:endParaRPr lang="en-US" sz="1300" dirty="0"/>
          </a:p>
        </p:txBody>
      </p:sp>
      <p:sp>
        <p:nvSpPr>
          <p:cNvPr id="6" name="Text 4"/>
          <p:cNvSpPr/>
          <p:nvPr/>
        </p:nvSpPr>
        <p:spPr>
          <a:xfrm>
            <a:off x="457200" y="4663440"/>
            <a:ext cx="5486400" cy="365760"/>
          </a:xfrm>
          <a:prstGeom prst="rect">
            <a:avLst/>
          </a:prstGeom>
          <a:noFill/>
          <a:ln/>
        </p:spPr>
        <p:txBody>
          <a:bodyPr wrap="square" lIns="0" tIns="0" rIns="0" bIns="0" rtlCol="0" anchor="ctr"/>
          <a:lstStyle/>
          <a:p>
            <a:pPr indent="0" marL="0">
              <a:buNone/>
            </a:pPr>
            <a:r>
              <a:rPr lang="en-US" sz="1300" b="1" spc="300" kern="0" dirty="0">
                <a:solidFill>
                  <a:srgbClr val="B8651A"/>
                </a:solidFill>
                <a:latin typeface="Calibri" pitchFamily="34" charset="0"/>
                <a:ea typeface="Calibri" pitchFamily="34" charset="-122"/>
                <a:cs typeface="Calibri" pitchFamily="34" charset="-120"/>
              </a:rPr>
              <a:t>Qué NO incluir</a:t>
            </a:r>
            <a:endParaRPr lang="en-US" sz="1300" dirty="0"/>
          </a:p>
        </p:txBody>
      </p:sp>
      <p:sp>
        <p:nvSpPr>
          <p:cNvPr id="7" name="Text 5"/>
          <p:cNvSpPr/>
          <p:nvPr/>
        </p:nvSpPr>
        <p:spPr>
          <a:xfrm>
            <a:off x="457200" y="5120640"/>
            <a:ext cx="548640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Frases vagas como "en una región tropical"</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Datos sin fuente verificable</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Justificaciones que pertenecen a la Discusión</a:t>
            </a:r>
            <a:endParaRPr lang="en-US" sz="1200" dirty="0"/>
          </a:p>
        </p:txBody>
      </p:sp>
      <p:sp>
        <p:nvSpPr>
          <p:cNvPr id="8" name="Shape 6"/>
          <p:cNvSpPr/>
          <p:nvPr/>
        </p:nvSpPr>
        <p:spPr>
          <a:xfrm>
            <a:off x="6263640" y="1691640"/>
            <a:ext cx="544068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6492240" y="1828800"/>
            <a:ext cx="502920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CASO GUÍA  ·  Sitio de estudio</a:t>
            </a:r>
            <a:endParaRPr lang="en-US" sz="1100" dirty="0"/>
          </a:p>
        </p:txBody>
      </p:sp>
      <p:sp>
        <p:nvSpPr>
          <p:cNvPr id="10" name="Text 8"/>
          <p:cNvSpPr/>
          <p:nvPr/>
        </p:nvSpPr>
        <p:spPr>
          <a:xfrm>
            <a:off x="6492240" y="2148840"/>
            <a:ext cx="5029200" cy="365760"/>
          </a:xfrm>
          <a:prstGeom prst="rect">
            <a:avLst/>
          </a:prstGeom>
          <a:noFill/>
          <a:ln/>
        </p:spPr>
        <p:txBody>
          <a:bodyPr wrap="square" lIns="0" tIns="0" rIns="0" bIns="0" rtlCol="0" anchor="ctr"/>
          <a:lstStyle/>
          <a:p>
            <a:pPr indent="0" marL="0">
              <a:buNone/>
            </a:pPr>
            <a:r>
              <a:rPr lang="en-US" sz="1400" i="1" dirty="0">
                <a:solidFill>
                  <a:srgbClr val="5F6B5A"/>
                </a:solidFill>
                <a:latin typeface="Georgia" pitchFamily="34" charset="0"/>
                <a:ea typeface="Georgia" pitchFamily="34" charset="-122"/>
                <a:cs typeface="Georgia" pitchFamily="34" charset="-120"/>
              </a:rPr>
              <a:t>Fermentación de cacao en Lejanías, Meta</a:t>
            </a:r>
            <a:endParaRPr lang="en-US" sz="1400" dirty="0"/>
          </a:p>
        </p:txBody>
      </p:sp>
      <p:sp>
        <p:nvSpPr>
          <p:cNvPr id="11" name="Text 9"/>
          <p:cNvSpPr/>
          <p:nvPr/>
        </p:nvSpPr>
        <p:spPr>
          <a:xfrm>
            <a:off x="6492240" y="2606040"/>
            <a:ext cx="5029200" cy="3474720"/>
          </a:xfrm>
          <a:prstGeom prst="rect">
            <a:avLst/>
          </a:prstGeom>
          <a:noFill/>
          <a:ln/>
        </p:spPr>
        <p:txBody>
          <a:bodyPr wrap="square" lIns="0" tIns="0" rIns="0" bIns="0" rtlCol="0" anchor="ctr"/>
          <a:lstStyle/>
          <a:p>
            <a:pPr indent="0" marL="0">
              <a:lnSpc>
                <a:spcPct val="118000"/>
              </a:lnSpc>
              <a:buNone/>
            </a:pPr>
            <a:r>
              <a:rPr lang="en-US" sz="1150" dirty="0">
                <a:solidFill>
                  <a:srgbClr val="1A1A1A"/>
                </a:solidFill>
                <a:latin typeface="Calibri" pitchFamily="34" charset="0"/>
                <a:ea typeface="Calibri" pitchFamily="34" charset="-122"/>
                <a:cs typeface="Calibri" pitchFamily="34" charset="-120"/>
              </a:rPr>
              <a:t>"El muestreo se realizó entre febrero y abril de 2024 en cuatro fincas cacaoteras del municipio de Lejanías, departamento del Meta (3°31′N, 73°59′W, altitud 480–520 msnm). La zona se caracteriza por temperatura promedio anual de 26 °C, humedad relativa superior al 80 % y precipitación de 3 200 mm anuales (IDEAM, 2023). Los cultivos seleccionados correspondían a clones CCN-51 e ICS-95 de 6–8 años de edad, en sistemas agroforestales con sombra de plátano y maderables."</a:t>
            </a:r>
            <a:endParaRPr lang="en-US" sz="1150" dirty="0"/>
          </a:p>
        </p:txBody>
      </p:sp>
      <p:sp>
        <p:nvSpPr>
          <p:cNvPr id="12" name="Text 1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3" name="Text 11"/>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2.2 · MATERIALES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Marca, modelo, pureza, lote — sin excepciones</a:t>
            </a:r>
            <a:endParaRPr lang="en-US" sz="3000" dirty="0"/>
          </a:p>
        </p:txBody>
      </p:sp>
      <p:sp>
        <p:nvSpPr>
          <p:cNvPr id="4" name="Text 2"/>
          <p:cNvSpPr/>
          <p:nvPr/>
        </p:nvSpPr>
        <p:spPr>
          <a:xfrm>
            <a:off x="457200" y="1691640"/>
            <a:ext cx="548640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Tres reglas para listar materiales</a:t>
            </a:r>
            <a:endParaRPr lang="en-US" sz="1300" dirty="0"/>
          </a:p>
        </p:txBody>
      </p:sp>
      <p:sp>
        <p:nvSpPr>
          <p:cNvPr id="5" name="Shape 3"/>
          <p:cNvSpPr/>
          <p:nvPr/>
        </p:nvSpPr>
        <p:spPr>
          <a:xfrm>
            <a:off x="457200" y="2148840"/>
            <a:ext cx="91440" cy="1097280"/>
          </a:xfrm>
          <a:prstGeom prst="rect">
            <a:avLst/>
          </a:prstGeom>
          <a:solidFill>
            <a:srgbClr val="97BC62"/>
          </a:solidFill>
          <a:ln w="12700">
            <a:solidFill>
              <a:srgbClr val="97BC62"/>
            </a:solidFill>
            <a:prstDash val="solid"/>
          </a:ln>
        </p:spPr>
      </p:sp>
      <p:sp>
        <p:nvSpPr>
          <p:cNvPr id="6" name="Text 4"/>
          <p:cNvSpPr/>
          <p:nvPr/>
        </p:nvSpPr>
        <p:spPr>
          <a:xfrm>
            <a:off x="685800" y="2148840"/>
            <a:ext cx="5029200" cy="36576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Reactivos</a:t>
            </a:r>
            <a:endParaRPr lang="en-US" sz="1400" dirty="0"/>
          </a:p>
        </p:txBody>
      </p:sp>
      <p:sp>
        <p:nvSpPr>
          <p:cNvPr id="7" name="Text 5"/>
          <p:cNvSpPr/>
          <p:nvPr/>
        </p:nvSpPr>
        <p:spPr>
          <a:xfrm>
            <a:off x="685800" y="2514600"/>
            <a:ext cx="5029200" cy="77724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Marca, pureza, ciudad y país del fabricante. Ej.: "NaOH 99 % (Merck, Darmstadt, Alemania)".</a:t>
            </a:r>
            <a:endParaRPr lang="en-US" sz="1200" dirty="0"/>
          </a:p>
        </p:txBody>
      </p:sp>
      <p:sp>
        <p:nvSpPr>
          <p:cNvPr id="8" name="Shape 6"/>
          <p:cNvSpPr/>
          <p:nvPr/>
        </p:nvSpPr>
        <p:spPr>
          <a:xfrm>
            <a:off x="457200" y="3383280"/>
            <a:ext cx="91440" cy="1097280"/>
          </a:xfrm>
          <a:prstGeom prst="rect">
            <a:avLst/>
          </a:prstGeom>
          <a:solidFill>
            <a:srgbClr val="97BC62"/>
          </a:solidFill>
          <a:ln w="12700">
            <a:solidFill>
              <a:srgbClr val="97BC62"/>
            </a:solidFill>
            <a:prstDash val="solid"/>
          </a:ln>
        </p:spPr>
      </p:sp>
      <p:sp>
        <p:nvSpPr>
          <p:cNvPr id="9" name="Text 7"/>
          <p:cNvSpPr/>
          <p:nvPr/>
        </p:nvSpPr>
        <p:spPr>
          <a:xfrm>
            <a:off x="685800" y="3383280"/>
            <a:ext cx="5029200" cy="36576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Equipos</a:t>
            </a:r>
            <a:endParaRPr lang="en-US" sz="1400" dirty="0"/>
          </a:p>
        </p:txBody>
      </p:sp>
      <p:sp>
        <p:nvSpPr>
          <p:cNvPr id="10" name="Text 8"/>
          <p:cNvSpPr/>
          <p:nvPr/>
        </p:nvSpPr>
        <p:spPr>
          <a:xfrm>
            <a:off x="685800" y="3749040"/>
            <a:ext cx="5029200" cy="77724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Marca, modelo y país. Ej.: "refractómetro Atago PAL-1 (Tokio, Japón)".</a:t>
            </a:r>
            <a:endParaRPr lang="en-US" sz="1200" dirty="0"/>
          </a:p>
        </p:txBody>
      </p:sp>
      <p:sp>
        <p:nvSpPr>
          <p:cNvPr id="11" name="Shape 9"/>
          <p:cNvSpPr/>
          <p:nvPr/>
        </p:nvSpPr>
        <p:spPr>
          <a:xfrm>
            <a:off x="457200" y="4617720"/>
            <a:ext cx="91440" cy="1097280"/>
          </a:xfrm>
          <a:prstGeom prst="rect">
            <a:avLst/>
          </a:prstGeom>
          <a:solidFill>
            <a:srgbClr val="97BC62"/>
          </a:solidFill>
          <a:ln w="12700">
            <a:solidFill>
              <a:srgbClr val="97BC62"/>
            </a:solidFill>
            <a:prstDash val="solid"/>
          </a:ln>
        </p:spPr>
      </p:sp>
      <p:sp>
        <p:nvSpPr>
          <p:cNvPr id="12" name="Text 10"/>
          <p:cNvSpPr/>
          <p:nvPr/>
        </p:nvSpPr>
        <p:spPr>
          <a:xfrm>
            <a:off x="685800" y="4617720"/>
            <a:ext cx="5029200" cy="36576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Muestras biológicas</a:t>
            </a:r>
            <a:endParaRPr lang="en-US" sz="1400" dirty="0"/>
          </a:p>
        </p:txBody>
      </p:sp>
      <p:sp>
        <p:nvSpPr>
          <p:cNvPr id="13" name="Text 11"/>
          <p:cNvSpPr/>
          <p:nvPr/>
        </p:nvSpPr>
        <p:spPr>
          <a:xfrm>
            <a:off x="685800" y="4983480"/>
            <a:ext cx="5029200" cy="77724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Origen, cantidad, criterios de selección. Para cepas: código de cepario.</a:t>
            </a:r>
            <a:endParaRPr lang="en-US" sz="1200" dirty="0"/>
          </a:p>
        </p:txBody>
      </p:sp>
      <p:sp>
        <p:nvSpPr>
          <p:cNvPr id="14" name="Shape 12"/>
          <p:cNvSpPr/>
          <p:nvPr/>
        </p:nvSpPr>
        <p:spPr>
          <a:xfrm>
            <a:off x="6263640" y="1691640"/>
            <a:ext cx="544068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5" name="Text 13"/>
          <p:cNvSpPr/>
          <p:nvPr/>
        </p:nvSpPr>
        <p:spPr>
          <a:xfrm>
            <a:off x="6492240" y="1828800"/>
            <a:ext cx="502920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CASO GUÍA  ·  Materiales</a:t>
            </a:r>
            <a:endParaRPr lang="en-US" sz="1100" dirty="0"/>
          </a:p>
        </p:txBody>
      </p:sp>
      <p:sp>
        <p:nvSpPr>
          <p:cNvPr id="16" name="Text 14"/>
          <p:cNvSpPr/>
          <p:nvPr/>
        </p:nvSpPr>
        <p:spPr>
          <a:xfrm>
            <a:off x="6492240" y="2148840"/>
            <a:ext cx="5029200" cy="365760"/>
          </a:xfrm>
          <a:prstGeom prst="rect">
            <a:avLst/>
          </a:prstGeom>
          <a:noFill/>
          <a:ln/>
        </p:spPr>
        <p:txBody>
          <a:bodyPr wrap="square" lIns="0" tIns="0" rIns="0" bIns="0" rtlCol="0" anchor="ctr"/>
          <a:lstStyle/>
          <a:p>
            <a:pPr indent="0" marL="0">
              <a:buNone/>
            </a:pPr>
            <a:r>
              <a:rPr lang="en-US" sz="1400" i="1" dirty="0">
                <a:solidFill>
                  <a:srgbClr val="5F6B5A"/>
                </a:solidFill>
                <a:latin typeface="Georgia" pitchFamily="34" charset="0"/>
                <a:ea typeface="Georgia" pitchFamily="34" charset="-122"/>
                <a:cs typeface="Georgia" pitchFamily="34" charset="-120"/>
              </a:rPr>
              <a:t>Cepas, medios y reactivos</a:t>
            </a:r>
            <a:endParaRPr lang="en-US" sz="1400" dirty="0"/>
          </a:p>
        </p:txBody>
      </p:sp>
      <p:sp>
        <p:nvSpPr>
          <p:cNvPr id="17" name="Text 15"/>
          <p:cNvSpPr/>
          <p:nvPr/>
        </p:nvSpPr>
        <p:spPr>
          <a:xfrm>
            <a:off x="6492240" y="2606040"/>
            <a:ext cx="5029200" cy="3657600"/>
          </a:xfrm>
          <a:prstGeom prst="rect">
            <a:avLst/>
          </a:prstGeom>
          <a:noFill/>
          <a:ln/>
        </p:spPr>
        <p:txBody>
          <a:bodyPr wrap="square" lIns="0" tIns="0" rIns="0" bIns="0" rtlCol="0" anchor="ctr"/>
          <a:lstStyle/>
          <a:p>
            <a:pPr indent="0" marL="0">
              <a:lnSpc>
                <a:spcPct val="118000"/>
              </a:lnSpc>
              <a:buNone/>
            </a:pPr>
            <a:r>
              <a:rPr lang="en-US" sz="1150" dirty="0">
                <a:solidFill>
                  <a:srgbClr val="1A1A1A"/>
                </a:solidFill>
                <a:latin typeface="Calibri" pitchFamily="34" charset="0"/>
                <a:ea typeface="Calibri" pitchFamily="34" charset="-122"/>
                <a:cs typeface="Calibri" pitchFamily="34" charset="-120"/>
              </a:rPr>
              <a:t>"Se aislaron 24 cepas presuntivas de BAL a partir de cajas fermentadoras de cacao. Como cepa de referencia se utilizó Lactiplantibacillus plantarum ATCC 14917. El medio de cultivo fue agar MRS (Oxoid CM0361, Basingstoke, Reino Unido) suplementado con CaCO₃ 1 % (Merck 102066). Para las pruebas probióticas se emplearon sales biliares 0.3 % (Sigma-Aldrich B8756) y pepsina porcina (Sigma P7012, ≥250 U/mg)."</a:t>
            </a:r>
            <a:endParaRPr lang="en-US" sz="1150" dirty="0"/>
          </a:p>
        </p:txBody>
      </p:sp>
      <p:sp>
        <p:nvSpPr>
          <p:cNvPr id="18" name="Text 16"/>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9" name="Text 17"/>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2.3 · PROCEDIMIENTO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El paso a paso debe leerse como una receta</a:t>
            </a:r>
            <a:endParaRPr lang="en-US" sz="3000" dirty="0"/>
          </a:p>
        </p:txBody>
      </p:sp>
      <p:sp>
        <p:nvSpPr>
          <p:cNvPr id="4" name="Text 2"/>
          <p:cNvSpPr/>
          <p:nvPr/>
        </p:nvSpPr>
        <p:spPr>
          <a:xfrm>
            <a:off x="457200" y="1691640"/>
            <a:ext cx="11247120" cy="365760"/>
          </a:xfrm>
          <a:prstGeom prst="rect">
            <a:avLst/>
          </a:prstGeom>
          <a:noFill/>
          <a:ln/>
        </p:spPr>
        <p:txBody>
          <a:bodyPr wrap="square" lIns="0" tIns="0" rIns="0" bIns="0" rtlCol="0" anchor="ctr"/>
          <a:lstStyle/>
          <a:p>
            <a:pPr indent="0" marL="0">
              <a:buNone/>
            </a:pPr>
            <a:r>
              <a:rPr lang="en-US" sz="1300" i="1" dirty="0">
                <a:solidFill>
                  <a:srgbClr val="5F6B5A"/>
                </a:solidFill>
                <a:latin typeface="Calibri" pitchFamily="34" charset="0"/>
                <a:ea typeface="Calibri" pitchFamily="34" charset="-122"/>
                <a:cs typeface="Calibri" pitchFamily="34" charset="-120"/>
              </a:rPr>
              <a:t>Estructura el procedimiento como un flujo. Si tu método es complejo, considera incluir un diagrama.</a:t>
            </a:r>
            <a:endParaRPr lang="en-US" sz="1300" dirty="0"/>
          </a:p>
        </p:txBody>
      </p:sp>
      <p:sp>
        <p:nvSpPr>
          <p:cNvPr id="5" name="Shape 3"/>
          <p:cNvSpPr/>
          <p:nvPr/>
        </p:nvSpPr>
        <p:spPr>
          <a:xfrm>
            <a:off x="502920" y="2286000"/>
            <a:ext cx="2103120" cy="2103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1280160" y="2423160"/>
            <a:ext cx="548640" cy="548640"/>
          </a:xfrm>
          <a:prstGeom prst="ellipse">
            <a:avLst/>
          </a:prstGeom>
          <a:solidFill>
            <a:srgbClr val="2C5F2D"/>
          </a:solidFill>
          <a:ln w="12700">
            <a:solidFill>
              <a:srgbClr val="2C5F2D"/>
            </a:solidFill>
            <a:prstDash val="solid"/>
          </a:ln>
        </p:spPr>
      </p:sp>
      <p:sp>
        <p:nvSpPr>
          <p:cNvPr id="7" name="Text 5"/>
          <p:cNvSpPr/>
          <p:nvPr/>
        </p:nvSpPr>
        <p:spPr>
          <a:xfrm>
            <a:off x="128016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594360" y="3108960"/>
            <a:ext cx="1920240" cy="411480"/>
          </a:xfrm>
          <a:prstGeom prst="rect">
            <a:avLst/>
          </a:prstGeom>
          <a:noFill/>
          <a:ln/>
        </p:spPr>
        <p:txBody>
          <a:bodyPr wrap="square" lIns="0" tIns="0" rIns="0" bIns="0" rtlCol="0" anchor="ctr"/>
          <a:lstStyle/>
          <a:p>
            <a:pPr algn="ctr" indent="0" marL="0">
              <a:buNone/>
            </a:pPr>
            <a:r>
              <a:rPr lang="en-US" sz="1400" b="1" dirty="0">
                <a:solidFill>
                  <a:srgbClr val="1F3A2E"/>
                </a:solidFill>
                <a:latin typeface="Georgia" pitchFamily="34" charset="0"/>
                <a:ea typeface="Georgia" pitchFamily="34" charset="-122"/>
                <a:cs typeface="Georgia" pitchFamily="34" charset="-120"/>
              </a:rPr>
              <a:t>Muestreo</a:t>
            </a:r>
            <a:endParaRPr lang="en-US" sz="1400" dirty="0"/>
          </a:p>
        </p:txBody>
      </p:sp>
      <p:sp>
        <p:nvSpPr>
          <p:cNvPr id="9" name="Text 7"/>
          <p:cNvSpPr/>
          <p:nvPr/>
        </p:nvSpPr>
        <p:spPr>
          <a:xfrm>
            <a:off x="594360" y="3566160"/>
            <a:ext cx="1920240" cy="731520"/>
          </a:xfrm>
          <a:prstGeom prst="rect">
            <a:avLst/>
          </a:prstGeom>
          <a:noFill/>
          <a:ln/>
        </p:spPr>
        <p:txBody>
          <a:bodyPr wrap="square" lIns="0" tIns="0" rIns="0" bIns="0" rtlCol="0" anchor="ctr"/>
          <a:lstStyle/>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30 g por finca</a:t>
            </a:r>
            <a:endParaRPr lang="en-US" sz="1100" dirty="0"/>
          </a:p>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4 fincas</a:t>
            </a:r>
            <a:endParaRPr lang="en-US" sz="1100" dirty="0"/>
          </a:p>
        </p:txBody>
      </p:sp>
      <p:sp>
        <p:nvSpPr>
          <p:cNvPr id="10" name="Text 8"/>
          <p:cNvSpPr/>
          <p:nvPr/>
        </p:nvSpPr>
        <p:spPr>
          <a:xfrm>
            <a:off x="2560320" y="3063240"/>
            <a:ext cx="274320" cy="548640"/>
          </a:xfrm>
          <a:prstGeom prst="rect">
            <a:avLst/>
          </a:prstGeom>
          <a:noFill/>
          <a:ln/>
        </p:spPr>
        <p:txBody>
          <a:bodyPr wrap="square" lIns="0" tIns="0" rIns="0" bIns="0" rtlCol="0" anchor="ctr"/>
          <a:lstStyle/>
          <a:p>
            <a:pPr algn="ctr" indent="0" marL="0">
              <a:buNone/>
            </a:pPr>
            <a:r>
              <a:rPr lang="en-US" sz="4000" b="1" dirty="0">
                <a:solidFill>
                  <a:srgbClr val="97BC62"/>
                </a:solidFill>
                <a:latin typeface="Georgia" pitchFamily="34" charset="0"/>
                <a:ea typeface="Georgia" pitchFamily="34" charset="-122"/>
                <a:cs typeface="Georgia" pitchFamily="34" charset="-120"/>
              </a:rPr>
              <a:t>›</a:t>
            </a:r>
            <a:endParaRPr lang="en-US" sz="4000" dirty="0"/>
          </a:p>
        </p:txBody>
      </p:sp>
      <p:sp>
        <p:nvSpPr>
          <p:cNvPr id="11" name="Shape 9"/>
          <p:cNvSpPr/>
          <p:nvPr/>
        </p:nvSpPr>
        <p:spPr>
          <a:xfrm>
            <a:off x="2788920" y="2286000"/>
            <a:ext cx="2103120" cy="2103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3566160" y="2423160"/>
            <a:ext cx="548640" cy="548640"/>
          </a:xfrm>
          <a:prstGeom prst="ellipse">
            <a:avLst/>
          </a:prstGeom>
          <a:solidFill>
            <a:srgbClr val="2C5F2D"/>
          </a:solidFill>
          <a:ln w="12700">
            <a:solidFill>
              <a:srgbClr val="2C5F2D"/>
            </a:solidFill>
            <a:prstDash val="solid"/>
          </a:ln>
        </p:spPr>
      </p:sp>
      <p:sp>
        <p:nvSpPr>
          <p:cNvPr id="13" name="Text 11"/>
          <p:cNvSpPr/>
          <p:nvPr/>
        </p:nvSpPr>
        <p:spPr>
          <a:xfrm>
            <a:off x="356616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2880360" y="3108960"/>
            <a:ext cx="1920240" cy="411480"/>
          </a:xfrm>
          <a:prstGeom prst="rect">
            <a:avLst/>
          </a:prstGeom>
          <a:noFill/>
          <a:ln/>
        </p:spPr>
        <p:txBody>
          <a:bodyPr wrap="square" lIns="0" tIns="0" rIns="0" bIns="0" rtlCol="0" anchor="ctr"/>
          <a:lstStyle/>
          <a:p>
            <a:pPr algn="ctr" indent="0" marL="0">
              <a:buNone/>
            </a:pPr>
            <a:r>
              <a:rPr lang="en-US" sz="1400" b="1" dirty="0">
                <a:solidFill>
                  <a:srgbClr val="1F3A2E"/>
                </a:solidFill>
                <a:latin typeface="Georgia" pitchFamily="34" charset="0"/>
                <a:ea typeface="Georgia" pitchFamily="34" charset="-122"/>
                <a:cs typeface="Georgia" pitchFamily="34" charset="-120"/>
              </a:rPr>
              <a:t>Aislamiento</a:t>
            </a:r>
            <a:endParaRPr lang="en-US" sz="1400" dirty="0"/>
          </a:p>
        </p:txBody>
      </p:sp>
      <p:sp>
        <p:nvSpPr>
          <p:cNvPr id="15" name="Text 13"/>
          <p:cNvSpPr/>
          <p:nvPr/>
        </p:nvSpPr>
        <p:spPr>
          <a:xfrm>
            <a:off x="2880360" y="3566160"/>
            <a:ext cx="1920240" cy="731520"/>
          </a:xfrm>
          <a:prstGeom prst="rect">
            <a:avLst/>
          </a:prstGeom>
          <a:noFill/>
          <a:ln/>
        </p:spPr>
        <p:txBody>
          <a:bodyPr wrap="square" lIns="0" tIns="0" rIns="0" bIns="0" rtlCol="0" anchor="ctr"/>
          <a:lstStyle/>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MRS + CaCO₃</a:t>
            </a:r>
            <a:endParaRPr lang="en-US" sz="1100" dirty="0"/>
          </a:p>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37 °C / 48 h</a:t>
            </a:r>
            <a:endParaRPr lang="en-US" sz="1100" dirty="0"/>
          </a:p>
        </p:txBody>
      </p:sp>
      <p:sp>
        <p:nvSpPr>
          <p:cNvPr id="16" name="Text 14"/>
          <p:cNvSpPr/>
          <p:nvPr/>
        </p:nvSpPr>
        <p:spPr>
          <a:xfrm>
            <a:off x="4846320" y="3063240"/>
            <a:ext cx="274320" cy="548640"/>
          </a:xfrm>
          <a:prstGeom prst="rect">
            <a:avLst/>
          </a:prstGeom>
          <a:noFill/>
          <a:ln/>
        </p:spPr>
        <p:txBody>
          <a:bodyPr wrap="square" lIns="0" tIns="0" rIns="0" bIns="0" rtlCol="0" anchor="ctr"/>
          <a:lstStyle/>
          <a:p>
            <a:pPr algn="ctr" indent="0" marL="0">
              <a:buNone/>
            </a:pPr>
            <a:r>
              <a:rPr lang="en-US" sz="4000" b="1" dirty="0">
                <a:solidFill>
                  <a:srgbClr val="97BC62"/>
                </a:solidFill>
                <a:latin typeface="Georgia" pitchFamily="34" charset="0"/>
                <a:ea typeface="Georgia" pitchFamily="34" charset="-122"/>
                <a:cs typeface="Georgia" pitchFamily="34" charset="-120"/>
              </a:rPr>
              <a:t>›</a:t>
            </a:r>
            <a:endParaRPr lang="en-US" sz="4000" dirty="0"/>
          </a:p>
        </p:txBody>
      </p:sp>
      <p:sp>
        <p:nvSpPr>
          <p:cNvPr id="17" name="Shape 15"/>
          <p:cNvSpPr/>
          <p:nvPr/>
        </p:nvSpPr>
        <p:spPr>
          <a:xfrm>
            <a:off x="5074920" y="2286000"/>
            <a:ext cx="2103120" cy="2103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5852160" y="2423160"/>
            <a:ext cx="548640" cy="548640"/>
          </a:xfrm>
          <a:prstGeom prst="ellipse">
            <a:avLst/>
          </a:prstGeom>
          <a:solidFill>
            <a:srgbClr val="2C5F2D"/>
          </a:solidFill>
          <a:ln w="12700">
            <a:solidFill>
              <a:srgbClr val="2C5F2D"/>
            </a:solidFill>
            <a:prstDash val="solid"/>
          </a:ln>
        </p:spPr>
      </p:sp>
      <p:sp>
        <p:nvSpPr>
          <p:cNvPr id="19" name="Text 17"/>
          <p:cNvSpPr/>
          <p:nvPr/>
        </p:nvSpPr>
        <p:spPr>
          <a:xfrm>
            <a:off x="585216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5166360" y="3108960"/>
            <a:ext cx="1920240" cy="411480"/>
          </a:xfrm>
          <a:prstGeom prst="rect">
            <a:avLst/>
          </a:prstGeom>
          <a:noFill/>
          <a:ln/>
        </p:spPr>
        <p:txBody>
          <a:bodyPr wrap="square" lIns="0" tIns="0" rIns="0" bIns="0" rtlCol="0" anchor="ctr"/>
          <a:lstStyle/>
          <a:p>
            <a:pPr algn="ctr" indent="0" marL="0">
              <a:buNone/>
            </a:pPr>
            <a:r>
              <a:rPr lang="en-US" sz="1400" b="1" dirty="0">
                <a:solidFill>
                  <a:srgbClr val="1F3A2E"/>
                </a:solidFill>
                <a:latin typeface="Georgia" pitchFamily="34" charset="0"/>
                <a:ea typeface="Georgia" pitchFamily="34" charset="-122"/>
                <a:cs typeface="Georgia" pitchFamily="34" charset="-120"/>
              </a:rPr>
              <a:t>Identificación</a:t>
            </a:r>
            <a:endParaRPr lang="en-US" sz="1400" dirty="0"/>
          </a:p>
        </p:txBody>
      </p:sp>
      <p:sp>
        <p:nvSpPr>
          <p:cNvPr id="21" name="Text 19"/>
          <p:cNvSpPr/>
          <p:nvPr/>
        </p:nvSpPr>
        <p:spPr>
          <a:xfrm>
            <a:off x="5166360" y="3566160"/>
            <a:ext cx="1920240" cy="731520"/>
          </a:xfrm>
          <a:prstGeom prst="rect">
            <a:avLst/>
          </a:prstGeom>
          <a:noFill/>
          <a:ln/>
        </p:spPr>
        <p:txBody>
          <a:bodyPr wrap="square" lIns="0" tIns="0" rIns="0" bIns="0" rtlCol="0" anchor="ctr"/>
          <a:lstStyle/>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Gram, catalasa</a:t>
            </a:r>
            <a:endParaRPr lang="en-US" sz="1100" dirty="0"/>
          </a:p>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16S rRNA</a:t>
            </a:r>
            <a:endParaRPr lang="en-US" sz="1100" dirty="0"/>
          </a:p>
        </p:txBody>
      </p:sp>
      <p:sp>
        <p:nvSpPr>
          <p:cNvPr id="22" name="Text 20"/>
          <p:cNvSpPr/>
          <p:nvPr/>
        </p:nvSpPr>
        <p:spPr>
          <a:xfrm>
            <a:off x="7132320" y="3063240"/>
            <a:ext cx="274320" cy="548640"/>
          </a:xfrm>
          <a:prstGeom prst="rect">
            <a:avLst/>
          </a:prstGeom>
          <a:noFill/>
          <a:ln/>
        </p:spPr>
        <p:txBody>
          <a:bodyPr wrap="square" lIns="0" tIns="0" rIns="0" bIns="0" rtlCol="0" anchor="ctr"/>
          <a:lstStyle/>
          <a:p>
            <a:pPr algn="ctr" indent="0" marL="0">
              <a:buNone/>
            </a:pPr>
            <a:r>
              <a:rPr lang="en-US" sz="4000" b="1" dirty="0">
                <a:solidFill>
                  <a:srgbClr val="97BC62"/>
                </a:solidFill>
                <a:latin typeface="Georgia" pitchFamily="34" charset="0"/>
                <a:ea typeface="Georgia" pitchFamily="34" charset="-122"/>
                <a:cs typeface="Georgia" pitchFamily="34" charset="-120"/>
              </a:rPr>
              <a:t>›</a:t>
            </a:r>
            <a:endParaRPr lang="en-US" sz="4000" dirty="0"/>
          </a:p>
        </p:txBody>
      </p:sp>
      <p:sp>
        <p:nvSpPr>
          <p:cNvPr id="23" name="Shape 21"/>
          <p:cNvSpPr/>
          <p:nvPr/>
        </p:nvSpPr>
        <p:spPr>
          <a:xfrm>
            <a:off x="7360920" y="2286000"/>
            <a:ext cx="2103120" cy="2103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4" name="Shape 22"/>
          <p:cNvSpPr/>
          <p:nvPr/>
        </p:nvSpPr>
        <p:spPr>
          <a:xfrm>
            <a:off x="8138160" y="2423160"/>
            <a:ext cx="548640" cy="548640"/>
          </a:xfrm>
          <a:prstGeom prst="ellipse">
            <a:avLst/>
          </a:prstGeom>
          <a:solidFill>
            <a:srgbClr val="2C5F2D"/>
          </a:solidFill>
          <a:ln w="12700">
            <a:solidFill>
              <a:srgbClr val="2C5F2D"/>
            </a:solidFill>
            <a:prstDash val="solid"/>
          </a:ln>
        </p:spPr>
      </p:sp>
      <p:sp>
        <p:nvSpPr>
          <p:cNvPr id="25" name="Text 23"/>
          <p:cNvSpPr/>
          <p:nvPr/>
        </p:nvSpPr>
        <p:spPr>
          <a:xfrm>
            <a:off x="813816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6" name="Text 24"/>
          <p:cNvSpPr/>
          <p:nvPr/>
        </p:nvSpPr>
        <p:spPr>
          <a:xfrm>
            <a:off x="7452360" y="3108960"/>
            <a:ext cx="1920240" cy="411480"/>
          </a:xfrm>
          <a:prstGeom prst="rect">
            <a:avLst/>
          </a:prstGeom>
          <a:noFill/>
          <a:ln/>
        </p:spPr>
        <p:txBody>
          <a:bodyPr wrap="square" lIns="0" tIns="0" rIns="0" bIns="0" rtlCol="0" anchor="ctr"/>
          <a:lstStyle/>
          <a:p>
            <a:pPr algn="ctr" indent="0" marL="0">
              <a:buNone/>
            </a:pPr>
            <a:r>
              <a:rPr lang="en-US" sz="1400" b="1" dirty="0">
                <a:solidFill>
                  <a:srgbClr val="1F3A2E"/>
                </a:solidFill>
                <a:latin typeface="Georgia" pitchFamily="34" charset="0"/>
                <a:ea typeface="Georgia" pitchFamily="34" charset="-122"/>
                <a:cs typeface="Georgia" pitchFamily="34" charset="-120"/>
              </a:rPr>
              <a:t>Pruebas probióticas</a:t>
            </a:r>
            <a:endParaRPr lang="en-US" sz="1400" dirty="0"/>
          </a:p>
        </p:txBody>
      </p:sp>
      <p:sp>
        <p:nvSpPr>
          <p:cNvPr id="27" name="Text 25"/>
          <p:cNvSpPr/>
          <p:nvPr/>
        </p:nvSpPr>
        <p:spPr>
          <a:xfrm>
            <a:off x="7452360" y="3566160"/>
            <a:ext cx="1920240" cy="731520"/>
          </a:xfrm>
          <a:prstGeom prst="rect">
            <a:avLst/>
          </a:prstGeom>
          <a:noFill/>
          <a:ln/>
        </p:spPr>
        <p:txBody>
          <a:bodyPr wrap="square" lIns="0" tIns="0" rIns="0" bIns="0" rtlCol="0" anchor="ctr"/>
          <a:lstStyle/>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Tolerancia</a:t>
            </a:r>
            <a:endParaRPr lang="en-US" sz="1100" dirty="0"/>
          </a:p>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pH y biliares</a:t>
            </a:r>
            <a:endParaRPr lang="en-US" sz="1100" dirty="0"/>
          </a:p>
        </p:txBody>
      </p:sp>
      <p:sp>
        <p:nvSpPr>
          <p:cNvPr id="28" name="Text 26"/>
          <p:cNvSpPr/>
          <p:nvPr/>
        </p:nvSpPr>
        <p:spPr>
          <a:xfrm>
            <a:off x="9418320" y="3063240"/>
            <a:ext cx="274320" cy="548640"/>
          </a:xfrm>
          <a:prstGeom prst="rect">
            <a:avLst/>
          </a:prstGeom>
          <a:noFill/>
          <a:ln/>
        </p:spPr>
        <p:txBody>
          <a:bodyPr wrap="square" lIns="0" tIns="0" rIns="0" bIns="0" rtlCol="0" anchor="ctr"/>
          <a:lstStyle/>
          <a:p>
            <a:pPr algn="ctr" indent="0" marL="0">
              <a:buNone/>
            </a:pPr>
            <a:r>
              <a:rPr lang="en-US" sz="4000" b="1" dirty="0">
                <a:solidFill>
                  <a:srgbClr val="97BC62"/>
                </a:solidFill>
                <a:latin typeface="Georgia" pitchFamily="34" charset="0"/>
                <a:ea typeface="Georgia" pitchFamily="34" charset="-122"/>
                <a:cs typeface="Georgia" pitchFamily="34" charset="-120"/>
              </a:rPr>
              <a:t>›</a:t>
            </a:r>
            <a:endParaRPr lang="en-US" sz="4000" dirty="0"/>
          </a:p>
        </p:txBody>
      </p:sp>
      <p:sp>
        <p:nvSpPr>
          <p:cNvPr id="29" name="Shape 27"/>
          <p:cNvSpPr/>
          <p:nvPr/>
        </p:nvSpPr>
        <p:spPr>
          <a:xfrm>
            <a:off x="9646920" y="2286000"/>
            <a:ext cx="2103120" cy="2103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30" name="Shape 28"/>
          <p:cNvSpPr/>
          <p:nvPr/>
        </p:nvSpPr>
        <p:spPr>
          <a:xfrm>
            <a:off x="10424160" y="2423160"/>
            <a:ext cx="548640" cy="548640"/>
          </a:xfrm>
          <a:prstGeom prst="ellipse">
            <a:avLst/>
          </a:prstGeom>
          <a:solidFill>
            <a:srgbClr val="2C5F2D"/>
          </a:solidFill>
          <a:ln w="12700">
            <a:solidFill>
              <a:srgbClr val="2C5F2D"/>
            </a:solidFill>
            <a:prstDash val="solid"/>
          </a:ln>
        </p:spPr>
      </p:sp>
      <p:sp>
        <p:nvSpPr>
          <p:cNvPr id="31" name="Text 29"/>
          <p:cNvSpPr/>
          <p:nvPr/>
        </p:nvSpPr>
        <p:spPr>
          <a:xfrm>
            <a:off x="1042416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2" name="Text 30"/>
          <p:cNvSpPr/>
          <p:nvPr/>
        </p:nvSpPr>
        <p:spPr>
          <a:xfrm>
            <a:off x="9738360" y="3108960"/>
            <a:ext cx="1920240" cy="411480"/>
          </a:xfrm>
          <a:prstGeom prst="rect">
            <a:avLst/>
          </a:prstGeom>
          <a:noFill/>
          <a:ln/>
        </p:spPr>
        <p:txBody>
          <a:bodyPr wrap="square" lIns="0" tIns="0" rIns="0" bIns="0" rtlCol="0" anchor="ctr"/>
          <a:lstStyle/>
          <a:p>
            <a:pPr algn="ctr" indent="0" marL="0">
              <a:buNone/>
            </a:pPr>
            <a:r>
              <a:rPr lang="en-US" sz="1400" b="1" dirty="0">
                <a:solidFill>
                  <a:srgbClr val="1F3A2E"/>
                </a:solidFill>
                <a:latin typeface="Georgia" pitchFamily="34" charset="0"/>
                <a:ea typeface="Georgia" pitchFamily="34" charset="-122"/>
                <a:cs typeface="Georgia" pitchFamily="34" charset="-120"/>
              </a:rPr>
              <a:t>Conservación</a:t>
            </a:r>
            <a:endParaRPr lang="en-US" sz="1400" dirty="0"/>
          </a:p>
        </p:txBody>
      </p:sp>
      <p:sp>
        <p:nvSpPr>
          <p:cNvPr id="33" name="Text 31"/>
          <p:cNvSpPr/>
          <p:nvPr/>
        </p:nvSpPr>
        <p:spPr>
          <a:xfrm>
            <a:off x="9738360" y="3566160"/>
            <a:ext cx="1920240" cy="731520"/>
          </a:xfrm>
          <a:prstGeom prst="rect">
            <a:avLst/>
          </a:prstGeom>
          <a:noFill/>
          <a:ln/>
        </p:spPr>
        <p:txBody>
          <a:bodyPr wrap="square" lIns="0" tIns="0" rIns="0" bIns="0" rtlCol="0" anchor="ctr"/>
          <a:lstStyle/>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Glicerol 30 %</a:t>
            </a:r>
            <a:endParaRPr lang="en-US" sz="1100" dirty="0"/>
          </a:p>
          <a:p>
            <a:pPr algn="ctr" indent="0" marL="0">
              <a:lnSpc>
                <a:spcPct val="120000"/>
              </a:lnSpc>
              <a:buNone/>
            </a:pPr>
            <a:r>
              <a:rPr lang="en-US" sz="1100" dirty="0">
                <a:solidFill>
                  <a:srgbClr val="1A1A1A"/>
                </a:solidFill>
                <a:latin typeface="Calibri" pitchFamily="34" charset="0"/>
                <a:ea typeface="Calibri" pitchFamily="34" charset="-122"/>
                <a:cs typeface="Calibri" pitchFamily="34" charset="-120"/>
              </a:rPr>
              <a:t>−80 °C</a:t>
            </a:r>
            <a:endParaRPr lang="en-US" sz="1100" dirty="0"/>
          </a:p>
        </p:txBody>
      </p:sp>
      <p:sp>
        <p:nvSpPr>
          <p:cNvPr id="34" name="Shape 32"/>
          <p:cNvSpPr/>
          <p:nvPr/>
        </p:nvSpPr>
        <p:spPr>
          <a:xfrm>
            <a:off x="457200" y="4846320"/>
            <a:ext cx="11247120" cy="1508760"/>
          </a:xfrm>
          <a:prstGeom prst="rect">
            <a:avLst/>
          </a:prstGeom>
          <a:solidFill>
            <a:srgbClr val="F7F4ED"/>
          </a:solidFill>
          <a:ln w="12700">
            <a:solidFill>
              <a:srgbClr val="D9D2C0"/>
            </a:solidFill>
            <a:prstDash val="solid"/>
          </a:ln>
        </p:spPr>
      </p:sp>
      <p:sp>
        <p:nvSpPr>
          <p:cNvPr id="35" name="Text 33"/>
          <p:cNvSpPr/>
          <p:nvPr/>
        </p:nvSpPr>
        <p:spPr>
          <a:xfrm>
            <a:off x="685800" y="4937760"/>
            <a:ext cx="10789920" cy="3200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Tres principios al redactar el procedimiento</a:t>
            </a:r>
            <a:endParaRPr lang="en-US" sz="1300" dirty="0"/>
          </a:p>
        </p:txBody>
      </p:sp>
      <p:sp>
        <p:nvSpPr>
          <p:cNvPr id="36" name="Text 34"/>
          <p:cNvSpPr/>
          <p:nvPr/>
        </p:nvSpPr>
        <p:spPr>
          <a:xfrm>
            <a:off x="685800" y="5285232"/>
            <a:ext cx="10789920" cy="1005840"/>
          </a:xfrm>
          <a:prstGeom prst="rect">
            <a:avLst/>
          </a:prstGeom>
          <a:noFill/>
          <a:ln/>
        </p:spPr>
        <p:txBody>
          <a:bodyPr wrap="square"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Usa pasado: "se inoculó", "se incubó", "se centrifugó".</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Si replicas un método publicado, cítalo y describe solo las modificaciones.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Las condiciones críticas (temperatura, pH, tiempo, RPM) van con valores exactos.</a:t>
            </a:r>
            <a:endParaRPr lang="en-US" sz="1200" dirty="0"/>
          </a:p>
        </p:txBody>
      </p:sp>
      <p:sp>
        <p:nvSpPr>
          <p:cNvPr id="37" name="Text 35"/>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8" name="Text 36"/>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2.4 · VARIABLES Y MEDICIONES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 que mediste, cómo y con qué precisión</a:t>
            </a:r>
            <a:endParaRPr lang="en-US" sz="3000" dirty="0"/>
          </a:p>
        </p:txBody>
      </p:sp>
      <p:sp>
        <p:nvSpPr>
          <p:cNvPr id="4" name="Text 2"/>
          <p:cNvSpPr/>
          <p:nvPr/>
        </p:nvSpPr>
        <p:spPr>
          <a:xfrm>
            <a:off x="457200" y="1691640"/>
            <a:ext cx="1124712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Para cada variable medida, especifica:</a:t>
            </a:r>
            <a:endParaRPr lang="en-US" sz="1300" dirty="0"/>
          </a:p>
        </p:txBody>
      </p:sp>
      <p:sp>
        <p:nvSpPr>
          <p:cNvPr id="5" name="Shape 3"/>
          <p:cNvSpPr/>
          <p:nvPr/>
        </p:nvSpPr>
        <p:spPr>
          <a:xfrm>
            <a:off x="457200" y="2194560"/>
            <a:ext cx="2560320" cy="502920"/>
          </a:xfrm>
          <a:prstGeom prst="rect">
            <a:avLst/>
          </a:prstGeom>
          <a:solidFill>
            <a:srgbClr val="2C5F2D"/>
          </a:solidFill>
          <a:ln w="12700">
            <a:solidFill>
              <a:srgbClr val="2C5F2D"/>
            </a:solidFill>
            <a:prstDash val="solid"/>
          </a:ln>
        </p:spPr>
      </p:sp>
      <p:sp>
        <p:nvSpPr>
          <p:cNvPr id="6" name="Text 4"/>
          <p:cNvSpPr/>
          <p:nvPr/>
        </p:nvSpPr>
        <p:spPr>
          <a:xfrm>
            <a:off x="530352" y="2194560"/>
            <a:ext cx="241401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7" name="Shape 5"/>
          <p:cNvSpPr/>
          <p:nvPr/>
        </p:nvSpPr>
        <p:spPr>
          <a:xfrm>
            <a:off x="3017520" y="2194560"/>
            <a:ext cx="1645920" cy="502920"/>
          </a:xfrm>
          <a:prstGeom prst="rect">
            <a:avLst/>
          </a:prstGeom>
          <a:solidFill>
            <a:srgbClr val="2C5F2D"/>
          </a:solidFill>
          <a:ln w="12700">
            <a:solidFill>
              <a:srgbClr val="2C5F2D"/>
            </a:solidFill>
            <a:prstDash val="solid"/>
          </a:ln>
        </p:spPr>
      </p:sp>
      <p:sp>
        <p:nvSpPr>
          <p:cNvPr id="8" name="Text 6"/>
          <p:cNvSpPr/>
          <p:nvPr/>
        </p:nvSpPr>
        <p:spPr>
          <a:xfrm>
            <a:off x="3090672" y="2194560"/>
            <a:ext cx="149961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Unidad</a:t>
            </a:r>
            <a:endParaRPr lang="en-US" sz="1200" dirty="0"/>
          </a:p>
        </p:txBody>
      </p:sp>
      <p:sp>
        <p:nvSpPr>
          <p:cNvPr id="9" name="Shape 7"/>
          <p:cNvSpPr/>
          <p:nvPr/>
        </p:nvSpPr>
        <p:spPr>
          <a:xfrm>
            <a:off x="4663440" y="2194560"/>
            <a:ext cx="3657600" cy="502920"/>
          </a:xfrm>
          <a:prstGeom prst="rect">
            <a:avLst/>
          </a:prstGeom>
          <a:solidFill>
            <a:srgbClr val="2C5F2D"/>
          </a:solidFill>
          <a:ln w="12700">
            <a:solidFill>
              <a:srgbClr val="2C5F2D"/>
            </a:solidFill>
            <a:prstDash val="solid"/>
          </a:ln>
        </p:spPr>
      </p:sp>
      <p:sp>
        <p:nvSpPr>
          <p:cNvPr id="10" name="Text 8"/>
          <p:cNvSpPr/>
          <p:nvPr/>
        </p:nvSpPr>
        <p:spPr>
          <a:xfrm>
            <a:off x="4736592" y="2194560"/>
            <a:ext cx="351129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Método / norma</a:t>
            </a:r>
            <a:endParaRPr lang="en-US" sz="1200" dirty="0"/>
          </a:p>
        </p:txBody>
      </p:sp>
      <p:sp>
        <p:nvSpPr>
          <p:cNvPr id="11" name="Shape 9"/>
          <p:cNvSpPr/>
          <p:nvPr/>
        </p:nvSpPr>
        <p:spPr>
          <a:xfrm>
            <a:off x="8321040" y="2194560"/>
            <a:ext cx="3383280" cy="502920"/>
          </a:xfrm>
          <a:prstGeom prst="rect">
            <a:avLst/>
          </a:prstGeom>
          <a:solidFill>
            <a:srgbClr val="2C5F2D"/>
          </a:solidFill>
          <a:ln w="12700">
            <a:solidFill>
              <a:srgbClr val="2C5F2D"/>
            </a:solidFill>
            <a:prstDash val="solid"/>
          </a:ln>
        </p:spPr>
      </p:sp>
      <p:sp>
        <p:nvSpPr>
          <p:cNvPr id="12" name="Text 10"/>
          <p:cNvSpPr/>
          <p:nvPr/>
        </p:nvSpPr>
        <p:spPr>
          <a:xfrm>
            <a:off x="8394192" y="2194560"/>
            <a:ext cx="323697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Equipo / cálculo</a:t>
            </a:r>
            <a:endParaRPr lang="en-US" sz="1200" dirty="0"/>
          </a:p>
        </p:txBody>
      </p:sp>
      <p:sp>
        <p:nvSpPr>
          <p:cNvPr id="13" name="Shape 11"/>
          <p:cNvSpPr/>
          <p:nvPr/>
        </p:nvSpPr>
        <p:spPr>
          <a:xfrm>
            <a:off x="457200" y="2697480"/>
            <a:ext cx="2560320" cy="685800"/>
          </a:xfrm>
          <a:prstGeom prst="rect">
            <a:avLst/>
          </a:prstGeom>
          <a:solidFill>
            <a:srgbClr val="F7F4ED"/>
          </a:solidFill>
          <a:ln w="6350">
            <a:solidFill>
              <a:srgbClr val="D9D2C0"/>
            </a:solidFill>
            <a:prstDash val="solid"/>
          </a:ln>
        </p:spPr>
      </p:sp>
      <p:sp>
        <p:nvSpPr>
          <p:cNvPr id="14" name="Text 12"/>
          <p:cNvSpPr/>
          <p:nvPr/>
        </p:nvSpPr>
        <p:spPr>
          <a:xfrm>
            <a:off x="530352" y="2697480"/>
            <a:ext cx="24140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pH</a:t>
            </a:r>
            <a:endParaRPr lang="en-US" sz="1150" dirty="0"/>
          </a:p>
        </p:txBody>
      </p:sp>
      <p:sp>
        <p:nvSpPr>
          <p:cNvPr id="15" name="Shape 13"/>
          <p:cNvSpPr/>
          <p:nvPr/>
        </p:nvSpPr>
        <p:spPr>
          <a:xfrm>
            <a:off x="3017520" y="2697480"/>
            <a:ext cx="1645920" cy="685800"/>
          </a:xfrm>
          <a:prstGeom prst="rect">
            <a:avLst/>
          </a:prstGeom>
          <a:solidFill>
            <a:srgbClr val="F7F4ED"/>
          </a:solidFill>
          <a:ln w="6350">
            <a:solidFill>
              <a:srgbClr val="D9D2C0"/>
            </a:solidFill>
            <a:prstDash val="solid"/>
          </a:ln>
        </p:spPr>
      </p:sp>
      <p:sp>
        <p:nvSpPr>
          <p:cNvPr id="16" name="Text 14"/>
          <p:cNvSpPr/>
          <p:nvPr/>
        </p:nvSpPr>
        <p:spPr>
          <a:xfrm>
            <a:off x="3090672" y="2697480"/>
            <a:ext cx="14996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a:t>
            </a:r>
            <a:endParaRPr lang="en-US" sz="1150" dirty="0"/>
          </a:p>
        </p:txBody>
      </p:sp>
      <p:sp>
        <p:nvSpPr>
          <p:cNvPr id="17" name="Shape 15"/>
          <p:cNvSpPr/>
          <p:nvPr/>
        </p:nvSpPr>
        <p:spPr>
          <a:xfrm>
            <a:off x="4663440" y="2697480"/>
            <a:ext cx="3657600" cy="685800"/>
          </a:xfrm>
          <a:prstGeom prst="rect">
            <a:avLst/>
          </a:prstGeom>
          <a:solidFill>
            <a:srgbClr val="F7F4ED"/>
          </a:solidFill>
          <a:ln w="6350">
            <a:solidFill>
              <a:srgbClr val="D9D2C0"/>
            </a:solidFill>
            <a:prstDash val="solid"/>
          </a:ln>
        </p:spPr>
      </p:sp>
      <p:sp>
        <p:nvSpPr>
          <p:cNvPr id="18" name="Text 16"/>
          <p:cNvSpPr/>
          <p:nvPr/>
        </p:nvSpPr>
        <p:spPr>
          <a:xfrm>
            <a:off x="4736592" y="2697480"/>
            <a:ext cx="351129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Potenciometría</a:t>
            </a:r>
            <a:endParaRPr lang="en-US" sz="1150" dirty="0"/>
          </a:p>
        </p:txBody>
      </p:sp>
      <p:sp>
        <p:nvSpPr>
          <p:cNvPr id="19" name="Shape 17"/>
          <p:cNvSpPr/>
          <p:nvPr/>
        </p:nvSpPr>
        <p:spPr>
          <a:xfrm>
            <a:off x="8321040" y="2697480"/>
            <a:ext cx="3383280" cy="685800"/>
          </a:xfrm>
          <a:prstGeom prst="rect">
            <a:avLst/>
          </a:prstGeom>
          <a:solidFill>
            <a:srgbClr val="F7F4ED"/>
          </a:solidFill>
          <a:ln w="6350">
            <a:solidFill>
              <a:srgbClr val="D9D2C0"/>
            </a:solidFill>
            <a:prstDash val="solid"/>
          </a:ln>
        </p:spPr>
      </p:sp>
      <p:sp>
        <p:nvSpPr>
          <p:cNvPr id="20" name="Text 18"/>
          <p:cNvSpPr/>
          <p:nvPr/>
        </p:nvSpPr>
        <p:spPr>
          <a:xfrm>
            <a:off x="8394192" y="2697480"/>
            <a:ext cx="323697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pH-metro Hanna HI2210</a:t>
            </a:r>
            <a:endParaRPr lang="en-US" sz="1150" dirty="0"/>
          </a:p>
        </p:txBody>
      </p:sp>
      <p:sp>
        <p:nvSpPr>
          <p:cNvPr id="21" name="Shape 19"/>
          <p:cNvSpPr/>
          <p:nvPr/>
        </p:nvSpPr>
        <p:spPr>
          <a:xfrm>
            <a:off x="457200" y="3383280"/>
            <a:ext cx="2560320" cy="685800"/>
          </a:xfrm>
          <a:prstGeom prst="rect">
            <a:avLst/>
          </a:prstGeom>
          <a:solidFill>
            <a:srgbClr val="FFFFFF"/>
          </a:solidFill>
          <a:ln w="6350">
            <a:solidFill>
              <a:srgbClr val="D9D2C0"/>
            </a:solidFill>
            <a:prstDash val="solid"/>
          </a:ln>
        </p:spPr>
      </p:sp>
      <p:sp>
        <p:nvSpPr>
          <p:cNvPr id="22" name="Text 20"/>
          <p:cNvSpPr/>
          <p:nvPr/>
        </p:nvSpPr>
        <p:spPr>
          <a:xfrm>
            <a:off x="530352" y="3383280"/>
            <a:ext cx="24140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Tolerancia a sales biliares</a:t>
            </a:r>
            <a:endParaRPr lang="en-US" sz="1150" dirty="0"/>
          </a:p>
        </p:txBody>
      </p:sp>
      <p:sp>
        <p:nvSpPr>
          <p:cNvPr id="23" name="Shape 21"/>
          <p:cNvSpPr/>
          <p:nvPr/>
        </p:nvSpPr>
        <p:spPr>
          <a:xfrm>
            <a:off x="3017520" y="3383280"/>
            <a:ext cx="1645920" cy="685800"/>
          </a:xfrm>
          <a:prstGeom prst="rect">
            <a:avLst/>
          </a:prstGeom>
          <a:solidFill>
            <a:srgbClr val="FFFFFF"/>
          </a:solidFill>
          <a:ln w="6350">
            <a:solidFill>
              <a:srgbClr val="D9D2C0"/>
            </a:solidFill>
            <a:prstDash val="solid"/>
          </a:ln>
        </p:spPr>
      </p:sp>
      <p:sp>
        <p:nvSpPr>
          <p:cNvPr id="24" name="Text 22"/>
          <p:cNvSpPr/>
          <p:nvPr/>
        </p:nvSpPr>
        <p:spPr>
          <a:xfrm>
            <a:off x="3090672" y="3383280"/>
            <a:ext cx="14996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 supervivencia</a:t>
            </a:r>
            <a:endParaRPr lang="en-US" sz="1150" dirty="0"/>
          </a:p>
        </p:txBody>
      </p:sp>
      <p:sp>
        <p:nvSpPr>
          <p:cNvPr id="25" name="Shape 23"/>
          <p:cNvSpPr/>
          <p:nvPr/>
        </p:nvSpPr>
        <p:spPr>
          <a:xfrm>
            <a:off x="4663440" y="3383280"/>
            <a:ext cx="3657600" cy="685800"/>
          </a:xfrm>
          <a:prstGeom prst="rect">
            <a:avLst/>
          </a:prstGeom>
          <a:solidFill>
            <a:srgbClr val="FFFFFF"/>
          </a:solidFill>
          <a:ln w="6350">
            <a:solidFill>
              <a:srgbClr val="D9D2C0"/>
            </a:solidFill>
            <a:prstDash val="solid"/>
          </a:ln>
        </p:spPr>
      </p:sp>
      <p:sp>
        <p:nvSpPr>
          <p:cNvPr id="26" name="Text 24"/>
          <p:cNvSpPr/>
          <p:nvPr/>
        </p:nvSpPr>
        <p:spPr>
          <a:xfrm>
            <a:off x="4736592" y="3383280"/>
            <a:ext cx="351129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Modificado de Gilliland (1984)</a:t>
            </a:r>
            <a:endParaRPr lang="en-US" sz="1150" dirty="0"/>
          </a:p>
        </p:txBody>
      </p:sp>
      <p:sp>
        <p:nvSpPr>
          <p:cNvPr id="27" name="Shape 25"/>
          <p:cNvSpPr/>
          <p:nvPr/>
        </p:nvSpPr>
        <p:spPr>
          <a:xfrm>
            <a:off x="8321040" y="3383280"/>
            <a:ext cx="3383280" cy="685800"/>
          </a:xfrm>
          <a:prstGeom prst="rect">
            <a:avLst/>
          </a:prstGeom>
          <a:solidFill>
            <a:srgbClr val="FFFFFF"/>
          </a:solidFill>
          <a:ln w="6350">
            <a:solidFill>
              <a:srgbClr val="D9D2C0"/>
            </a:solidFill>
            <a:prstDash val="solid"/>
          </a:ln>
        </p:spPr>
      </p:sp>
      <p:sp>
        <p:nvSpPr>
          <p:cNvPr id="28" name="Text 26"/>
          <p:cNvSpPr/>
          <p:nvPr/>
        </p:nvSpPr>
        <p:spPr>
          <a:xfrm>
            <a:off x="8394192" y="3383280"/>
            <a:ext cx="323697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Espectrofotómetro UV-Vis 600 nm</a:t>
            </a:r>
            <a:endParaRPr lang="en-US" sz="1150" dirty="0"/>
          </a:p>
        </p:txBody>
      </p:sp>
      <p:sp>
        <p:nvSpPr>
          <p:cNvPr id="29" name="Shape 27"/>
          <p:cNvSpPr/>
          <p:nvPr/>
        </p:nvSpPr>
        <p:spPr>
          <a:xfrm>
            <a:off x="457200" y="4069080"/>
            <a:ext cx="2560320" cy="685800"/>
          </a:xfrm>
          <a:prstGeom prst="rect">
            <a:avLst/>
          </a:prstGeom>
          <a:solidFill>
            <a:srgbClr val="F7F4ED"/>
          </a:solidFill>
          <a:ln w="6350">
            <a:solidFill>
              <a:srgbClr val="D9D2C0"/>
            </a:solidFill>
            <a:prstDash val="solid"/>
          </a:ln>
        </p:spPr>
      </p:sp>
      <p:sp>
        <p:nvSpPr>
          <p:cNvPr id="30" name="Text 28"/>
          <p:cNvSpPr/>
          <p:nvPr/>
        </p:nvSpPr>
        <p:spPr>
          <a:xfrm>
            <a:off x="530352" y="4069080"/>
            <a:ext cx="24140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Tolerancia a pH ácido</a:t>
            </a:r>
            <a:endParaRPr lang="en-US" sz="1150" dirty="0"/>
          </a:p>
        </p:txBody>
      </p:sp>
      <p:sp>
        <p:nvSpPr>
          <p:cNvPr id="31" name="Shape 29"/>
          <p:cNvSpPr/>
          <p:nvPr/>
        </p:nvSpPr>
        <p:spPr>
          <a:xfrm>
            <a:off x="3017520" y="4069080"/>
            <a:ext cx="1645920" cy="685800"/>
          </a:xfrm>
          <a:prstGeom prst="rect">
            <a:avLst/>
          </a:prstGeom>
          <a:solidFill>
            <a:srgbClr val="F7F4ED"/>
          </a:solidFill>
          <a:ln w="6350">
            <a:solidFill>
              <a:srgbClr val="D9D2C0"/>
            </a:solidFill>
            <a:prstDash val="solid"/>
          </a:ln>
        </p:spPr>
      </p:sp>
      <p:sp>
        <p:nvSpPr>
          <p:cNvPr id="32" name="Text 30"/>
          <p:cNvSpPr/>
          <p:nvPr/>
        </p:nvSpPr>
        <p:spPr>
          <a:xfrm>
            <a:off x="3090672" y="4069080"/>
            <a:ext cx="14996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log UFC/mL</a:t>
            </a:r>
            <a:endParaRPr lang="en-US" sz="1150" dirty="0"/>
          </a:p>
        </p:txBody>
      </p:sp>
      <p:sp>
        <p:nvSpPr>
          <p:cNvPr id="33" name="Shape 31"/>
          <p:cNvSpPr/>
          <p:nvPr/>
        </p:nvSpPr>
        <p:spPr>
          <a:xfrm>
            <a:off x="4663440" y="4069080"/>
            <a:ext cx="3657600" cy="685800"/>
          </a:xfrm>
          <a:prstGeom prst="rect">
            <a:avLst/>
          </a:prstGeom>
          <a:solidFill>
            <a:srgbClr val="F7F4ED"/>
          </a:solidFill>
          <a:ln w="6350">
            <a:solidFill>
              <a:srgbClr val="D9D2C0"/>
            </a:solidFill>
            <a:prstDash val="solid"/>
          </a:ln>
        </p:spPr>
      </p:sp>
      <p:sp>
        <p:nvSpPr>
          <p:cNvPr id="34" name="Text 32"/>
          <p:cNvSpPr/>
          <p:nvPr/>
        </p:nvSpPr>
        <p:spPr>
          <a:xfrm>
            <a:off x="4736592" y="4069080"/>
            <a:ext cx="351129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Incubación 3 h en pH 2.5</a:t>
            </a:r>
            <a:endParaRPr lang="en-US" sz="1150" dirty="0"/>
          </a:p>
        </p:txBody>
      </p:sp>
      <p:sp>
        <p:nvSpPr>
          <p:cNvPr id="35" name="Shape 33"/>
          <p:cNvSpPr/>
          <p:nvPr/>
        </p:nvSpPr>
        <p:spPr>
          <a:xfrm>
            <a:off x="8321040" y="4069080"/>
            <a:ext cx="3383280" cy="685800"/>
          </a:xfrm>
          <a:prstGeom prst="rect">
            <a:avLst/>
          </a:prstGeom>
          <a:solidFill>
            <a:srgbClr val="F7F4ED"/>
          </a:solidFill>
          <a:ln w="6350">
            <a:solidFill>
              <a:srgbClr val="D9D2C0"/>
            </a:solidFill>
            <a:prstDash val="solid"/>
          </a:ln>
        </p:spPr>
      </p:sp>
      <p:sp>
        <p:nvSpPr>
          <p:cNvPr id="36" name="Text 34"/>
          <p:cNvSpPr/>
          <p:nvPr/>
        </p:nvSpPr>
        <p:spPr>
          <a:xfrm>
            <a:off x="8394192" y="4069080"/>
            <a:ext cx="323697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Recuento en placa MRS</a:t>
            </a:r>
            <a:endParaRPr lang="en-US" sz="1150" dirty="0"/>
          </a:p>
        </p:txBody>
      </p:sp>
      <p:sp>
        <p:nvSpPr>
          <p:cNvPr id="37" name="Shape 35"/>
          <p:cNvSpPr/>
          <p:nvPr/>
        </p:nvSpPr>
        <p:spPr>
          <a:xfrm>
            <a:off x="457200" y="4754880"/>
            <a:ext cx="2560320" cy="685800"/>
          </a:xfrm>
          <a:prstGeom prst="rect">
            <a:avLst/>
          </a:prstGeom>
          <a:solidFill>
            <a:srgbClr val="FFFFFF"/>
          </a:solidFill>
          <a:ln w="6350">
            <a:solidFill>
              <a:srgbClr val="D9D2C0"/>
            </a:solidFill>
            <a:prstDash val="solid"/>
          </a:ln>
        </p:spPr>
      </p:sp>
      <p:sp>
        <p:nvSpPr>
          <p:cNvPr id="38" name="Text 36"/>
          <p:cNvSpPr/>
          <p:nvPr/>
        </p:nvSpPr>
        <p:spPr>
          <a:xfrm>
            <a:off x="530352" y="4754880"/>
            <a:ext cx="24140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Producción de bacteriocinas</a:t>
            </a:r>
            <a:endParaRPr lang="en-US" sz="1150" dirty="0"/>
          </a:p>
        </p:txBody>
      </p:sp>
      <p:sp>
        <p:nvSpPr>
          <p:cNvPr id="39" name="Shape 37"/>
          <p:cNvSpPr/>
          <p:nvPr/>
        </p:nvSpPr>
        <p:spPr>
          <a:xfrm>
            <a:off x="3017520" y="4754880"/>
            <a:ext cx="1645920" cy="685800"/>
          </a:xfrm>
          <a:prstGeom prst="rect">
            <a:avLst/>
          </a:prstGeom>
          <a:solidFill>
            <a:srgbClr val="FFFFFF"/>
          </a:solidFill>
          <a:ln w="6350">
            <a:solidFill>
              <a:srgbClr val="D9D2C0"/>
            </a:solidFill>
            <a:prstDash val="solid"/>
          </a:ln>
        </p:spPr>
      </p:sp>
      <p:sp>
        <p:nvSpPr>
          <p:cNvPr id="40" name="Text 38"/>
          <p:cNvSpPr/>
          <p:nvPr/>
        </p:nvSpPr>
        <p:spPr>
          <a:xfrm>
            <a:off x="3090672" y="4754880"/>
            <a:ext cx="149961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mm halo inhibición</a:t>
            </a:r>
            <a:endParaRPr lang="en-US" sz="1150" dirty="0"/>
          </a:p>
        </p:txBody>
      </p:sp>
      <p:sp>
        <p:nvSpPr>
          <p:cNvPr id="41" name="Shape 39"/>
          <p:cNvSpPr/>
          <p:nvPr/>
        </p:nvSpPr>
        <p:spPr>
          <a:xfrm>
            <a:off x="4663440" y="4754880"/>
            <a:ext cx="3657600" cy="685800"/>
          </a:xfrm>
          <a:prstGeom prst="rect">
            <a:avLst/>
          </a:prstGeom>
          <a:solidFill>
            <a:srgbClr val="FFFFFF"/>
          </a:solidFill>
          <a:ln w="6350">
            <a:solidFill>
              <a:srgbClr val="D9D2C0"/>
            </a:solidFill>
            <a:prstDash val="solid"/>
          </a:ln>
        </p:spPr>
      </p:sp>
      <p:sp>
        <p:nvSpPr>
          <p:cNvPr id="42" name="Text 40"/>
          <p:cNvSpPr/>
          <p:nvPr/>
        </p:nvSpPr>
        <p:spPr>
          <a:xfrm>
            <a:off x="4736592" y="4754880"/>
            <a:ext cx="351129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Difusión en agar</a:t>
            </a:r>
            <a:endParaRPr lang="en-US" sz="1150" dirty="0"/>
          </a:p>
        </p:txBody>
      </p:sp>
      <p:sp>
        <p:nvSpPr>
          <p:cNvPr id="43" name="Shape 41"/>
          <p:cNvSpPr/>
          <p:nvPr/>
        </p:nvSpPr>
        <p:spPr>
          <a:xfrm>
            <a:off x="8321040" y="4754880"/>
            <a:ext cx="3383280" cy="685800"/>
          </a:xfrm>
          <a:prstGeom prst="rect">
            <a:avLst/>
          </a:prstGeom>
          <a:solidFill>
            <a:srgbClr val="FFFFFF"/>
          </a:solidFill>
          <a:ln w="6350">
            <a:solidFill>
              <a:srgbClr val="D9D2C0"/>
            </a:solidFill>
            <a:prstDash val="solid"/>
          </a:ln>
        </p:spPr>
      </p:sp>
      <p:sp>
        <p:nvSpPr>
          <p:cNvPr id="44" name="Text 42"/>
          <p:cNvSpPr/>
          <p:nvPr/>
        </p:nvSpPr>
        <p:spPr>
          <a:xfrm>
            <a:off x="8394192" y="4754880"/>
            <a:ext cx="3236976" cy="6858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Regla calibrada ± 0.5 mm</a:t>
            </a:r>
            <a:endParaRPr lang="en-US" sz="1150" dirty="0"/>
          </a:p>
        </p:txBody>
      </p:sp>
      <p:sp>
        <p:nvSpPr>
          <p:cNvPr id="45" name="Text 43"/>
          <p:cNvSpPr/>
          <p:nvPr/>
        </p:nvSpPr>
        <p:spPr>
          <a:xfrm>
            <a:off x="457200" y="5760720"/>
            <a:ext cx="11247120" cy="365760"/>
          </a:xfrm>
          <a:prstGeom prst="rect">
            <a:avLst/>
          </a:prstGeom>
          <a:noFill/>
          <a:ln/>
        </p:spPr>
        <p:txBody>
          <a:bodyPr wrap="square" lIns="0" tIns="0" rIns="0" bIns="0" rtlCol="0" anchor="ctr"/>
          <a:lstStyle/>
          <a:p>
            <a:pPr algn="ctr" indent="0" marL="0">
              <a:buNone/>
            </a:pPr>
            <a:r>
              <a:rPr lang="en-US" sz="1100" i="1" dirty="0">
                <a:solidFill>
                  <a:srgbClr val="5F6B5A"/>
                </a:solidFill>
                <a:latin typeface="Calibri" pitchFamily="34" charset="0"/>
                <a:ea typeface="Calibri" pitchFamily="34" charset="-122"/>
                <a:cs typeface="Calibri" pitchFamily="34" charset="-120"/>
              </a:rPr>
              <a:t>Tabla 1 del manuscrito. Lo que va en texto: describir el procedimiento, no repetir la tabla.</a:t>
            </a:r>
            <a:endParaRPr lang="en-US" sz="1100" dirty="0"/>
          </a:p>
        </p:txBody>
      </p:sp>
      <p:sp>
        <p:nvSpPr>
          <p:cNvPr id="46" name="Text 44"/>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47" name="Text 45"/>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3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Análisis estadístico</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El subapartado donde más manuscritos pierden credibilidad.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2.5 · ANÁLISIS ESTADÍSTICO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Seis elementos que NO pueden faltar</a:t>
            </a:r>
            <a:endParaRPr lang="en-US" sz="3000" dirty="0"/>
          </a:p>
        </p:txBody>
      </p:sp>
      <p:sp>
        <p:nvSpPr>
          <p:cNvPr id="4" name="Shape 2"/>
          <p:cNvSpPr/>
          <p:nvPr/>
        </p:nvSpPr>
        <p:spPr>
          <a:xfrm>
            <a:off x="45720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85800" y="2057400"/>
            <a:ext cx="640080" cy="640080"/>
          </a:xfrm>
          <a:prstGeom prst="ellipse">
            <a:avLst/>
          </a:prstGeom>
          <a:solidFill>
            <a:srgbClr val="2C5F2D"/>
          </a:solidFill>
          <a:ln w="12700">
            <a:solidFill>
              <a:srgbClr val="2C5F2D"/>
            </a:solidFill>
            <a:prstDash val="solid"/>
          </a:ln>
        </p:spPr>
      </p:sp>
      <p:sp>
        <p:nvSpPr>
          <p:cNvPr id="6" name="Text 4"/>
          <p:cNvSpPr/>
          <p:nvPr/>
        </p:nvSpPr>
        <p:spPr>
          <a:xfrm>
            <a:off x="68580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46304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Diseño</a:t>
            </a:r>
            <a:endParaRPr lang="en-US" sz="1700" dirty="0"/>
          </a:p>
        </p:txBody>
      </p:sp>
      <p:sp>
        <p:nvSpPr>
          <p:cNvPr id="8" name="Text 6"/>
          <p:cNvSpPr/>
          <p:nvPr/>
        </p:nvSpPr>
        <p:spPr>
          <a:xfrm>
            <a:off x="685800" y="274320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DCA, DBCA, factorial, panel, etc.: declara el diseño antes del análisis.</a:t>
            </a:r>
            <a:endParaRPr lang="en-US" sz="1150" dirty="0"/>
          </a:p>
        </p:txBody>
      </p:sp>
      <p:sp>
        <p:nvSpPr>
          <p:cNvPr id="9" name="Shape 7"/>
          <p:cNvSpPr/>
          <p:nvPr/>
        </p:nvSpPr>
        <p:spPr>
          <a:xfrm>
            <a:off x="429768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4526280" y="2057400"/>
            <a:ext cx="640080" cy="640080"/>
          </a:xfrm>
          <a:prstGeom prst="ellipse">
            <a:avLst/>
          </a:prstGeom>
          <a:solidFill>
            <a:srgbClr val="2C5F2D"/>
          </a:solidFill>
          <a:ln w="12700">
            <a:solidFill>
              <a:srgbClr val="2C5F2D"/>
            </a:solidFill>
            <a:prstDash val="solid"/>
          </a:ln>
        </p:spPr>
      </p:sp>
      <p:sp>
        <p:nvSpPr>
          <p:cNvPr id="11" name="Text 9"/>
          <p:cNvSpPr/>
          <p:nvPr/>
        </p:nvSpPr>
        <p:spPr>
          <a:xfrm>
            <a:off x="452628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530352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Variables</a:t>
            </a:r>
            <a:endParaRPr lang="en-US" sz="1700" dirty="0"/>
          </a:p>
        </p:txBody>
      </p:sp>
      <p:sp>
        <p:nvSpPr>
          <p:cNvPr id="13" name="Text 11"/>
          <p:cNvSpPr/>
          <p:nvPr/>
        </p:nvSpPr>
        <p:spPr>
          <a:xfrm>
            <a:off x="4526280" y="274320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Diferencia clara entre dependientes, independientes y covariables.</a:t>
            </a:r>
            <a:endParaRPr lang="en-US" sz="1150" dirty="0"/>
          </a:p>
        </p:txBody>
      </p:sp>
      <p:sp>
        <p:nvSpPr>
          <p:cNvPr id="14" name="Shape 12"/>
          <p:cNvSpPr/>
          <p:nvPr/>
        </p:nvSpPr>
        <p:spPr>
          <a:xfrm>
            <a:off x="813816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8366760" y="2057400"/>
            <a:ext cx="640080" cy="640080"/>
          </a:xfrm>
          <a:prstGeom prst="ellipse">
            <a:avLst/>
          </a:prstGeom>
          <a:solidFill>
            <a:srgbClr val="2C5F2D"/>
          </a:solidFill>
          <a:ln w="12700">
            <a:solidFill>
              <a:srgbClr val="2C5F2D"/>
            </a:solidFill>
            <a:prstDash val="solid"/>
          </a:ln>
        </p:spPr>
      </p:sp>
      <p:sp>
        <p:nvSpPr>
          <p:cNvPr id="16" name="Text 14"/>
          <p:cNvSpPr/>
          <p:nvPr/>
        </p:nvSpPr>
        <p:spPr>
          <a:xfrm>
            <a:off x="836676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914400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Modelo</a:t>
            </a:r>
            <a:endParaRPr lang="en-US" sz="1700" dirty="0"/>
          </a:p>
        </p:txBody>
      </p:sp>
      <p:sp>
        <p:nvSpPr>
          <p:cNvPr id="18" name="Text 16"/>
          <p:cNvSpPr/>
          <p:nvPr/>
        </p:nvSpPr>
        <p:spPr>
          <a:xfrm>
            <a:off x="8366760" y="274320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ANOVA, regresión, GLM, modelos mixtos: especifica forma y supuestos.</a:t>
            </a:r>
            <a:endParaRPr lang="en-US" sz="1150" dirty="0"/>
          </a:p>
        </p:txBody>
      </p:sp>
      <p:sp>
        <p:nvSpPr>
          <p:cNvPr id="19" name="Shape 17"/>
          <p:cNvSpPr/>
          <p:nvPr/>
        </p:nvSpPr>
        <p:spPr>
          <a:xfrm>
            <a:off x="457200" y="397764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685800" y="4251960"/>
            <a:ext cx="640080" cy="640080"/>
          </a:xfrm>
          <a:prstGeom prst="ellipse">
            <a:avLst/>
          </a:prstGeom>
          <a:solidFill>
            <a:srgbClr val="2C5F2D"/>
          </a:solidFill>
          <a:ln w="12700">
            <a:solidFill>
              <a:srgbClr val="2C5F2D"/>
            </a:solidFill>
            <a:prstDash val="solid"/>
          </a:ln>
        </p:spPr>
      </p:sp>
      <p:sp>
        <p:nvSpPr>
          <p:cNvPr id="21" name="Text 19"/>
          <p:cNvSpPr/>
          <p:nvPr/>
        </p:nvSpPr>
        <p:spPr>
          <a:xfrm>
            <a:off x="68580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1463040" y="425196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Pruebas post-hoc</a:t>
            </a:r>
            <a:endParaRPr lang="en-US" sz="1700" dirty="0"/>
          </a:p>
        </p:txBody>
      </p:sp>
      <p:sp>
        <p:nvSpPr>
          <p:cNvPr id="23" name="Text 21"/>
          <p:cNvSpPr/>
          <p:nvPr/>
        </p:nvSpPr>
        <p:spPr>
          <a:xfrm>
            <a:off x="685800" y="493776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Tukey, Duncan, Dunnett, etc., con su nivel de significancia.</a:t>
            </a:r>
            <a:endParaRPr lang="en-US" sz="1150" dirty="0"/>
          </a:p>
        </p:txBody>
      </p:sp>
      <p:sp>
        <p:nvSpPr>
          <p:cNvPr id="24" name="Shape 22"/>
          <p:cNvSpPr/>
          <p:nvPr/>
        </p:nvSpPr>
        <p:spPr>
          <a:xfrm>
            <a:off x="4297680" y="397764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4526280" y="4251960"/>
            <a:ext cx="640080" cy="640080"/>
          </a:xfrm>
          <a:prstGeom prst="ellipse">
            <a:avLst/>
          </a:prstGeom>
          <a:solidFill>
            <a:srgbClr val="2C5F2D"/>
          </a:solidFill>
          <a:ln w="12700">
            <a:solidFill>
              <a:srgbClr val="2C5F2D"/>
            </a:solidFill>
            <a:prstDash val="solid"/>
          </a:ln>
        </p:spPr>
      </p:sp>
      <p:sp>
        <p:nvSpPr>
          <p:cNvPr id="26" name="Text 24"/>
          <p:cNvSpPr/>
          <p:nvPr/>
        </p:nvSpPr>
        <p:spPr>
          <a:xfrm>
            <a:off x="452628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7" name="Text 25"/>
          <p:cNvSpPr/>
          <p:nvPr/>
        </p:nvSpPr>
        <p:spPr>
          <a:xfrm>
            <a:off x="5303520" y="425196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Supuestos</a:t>
            </a:r>
            <a:endParaRPr lang="en-US" sz="1700" dirty="0"/>
          </a:p>
        </p:txBody>
      </p:sp>
      <p:sp>
        <p:nvSpPr>
          <p:cNvPr id="28" name="Text 26"/>
          <p:cNvSpPr/>
          <p:nvPr/>
        </p:nvSpPr>
        <p:spPr>
          <a:xfrm>
            <a:off x="4526280" y="493776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Normalidad (Shapiro-Wilk), homocedasticidad (Levene), independencia.</a:t>
            </a:r>
            <a:endParaRPr lang="en-US" sz="1150" dirty="0"/>
          </a:p>
        </p:txBody>
      </p:sp>
      <p:sp>
        <p:nvSpPr>
          <p:cNvPr id="29" name="Shape 27"/>
          <p:cNvSpPr/>
          <p:nvPr/>
        </p:nvSpPr>
        <p:spPr>
          <a:xfrm>
            <a:off x="8138160" y="397764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30" name="Shape 28"/>
          <p:cNvSpPr/>
          <p:nvPr/>
        </p:nvSpPr>
        <p:spPr>
          <a:xfrm>
            <a:off x="8366760" y="4251960"/>
            <a:ext cx="640080" cy="640080"/>
          </a:xfrm>
          <a:prstGeom prst="ellipse">
            <a:avLst/>
          </a:prstGeom>
          <a:solidFill>
            <a:srgbClr val="2C5F2D"/>
          </a:solidFill>
          <a:ln w="12700">
            <a:solidFill>
              <a:srgbClr val="2C5F2D"/>
            </a:solidFill>
            <a:prstDash val="solid"/>
          </a:ln>
        </p:spPr>
      </p:sp>
      <p:sp>
        <p:nvSpPr>
          <p:cNvPr id="31" name="Text 29"/>
          <p:cNvSpPr/>
          <p:nvPr/>
        </p:nvSpPr>
        <p:spPr>
          <a:xfrm>
            <a:off x="836676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32" name="Text 30"/>
          <p:cNvSpPr/>
          <p:nvPr/>
        </p:nvSpPr>
        <p:spPr>
          <a:xfrm>
            <a:off x="9144000" y="425196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Software</a:t>
            </a:r>
            <a:endParaRPr lang="en-US" sz="1700" dirty="0"/>
          </a:p>
        </p:txBody>
      </p:sp>
      <p:sp>
        <p:nvSpPr>
          <p:cNvPr id="33" name="Text 31"/>
          <p:cNvSpPr/>
          <p:nvPr/>
        </p:nvSpPr>
        <p:spPr>
          <a:xfrm>
            <a:off x="8366760" y="4937760"/>
            <a:ext cx="3337560" cy="960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Nombre, versión y paquetes específicos. Ej.: R 4.4.1, agricolae 1.3-7.</a:t>
            </a:r>
            <a:endParaRPr lang="en-US" sz="1150" dirty="0"/>
          </a:p>
        </p:txBody>
      </p:sp>
      <p:sp>
        <p:nvSpPr>
          <p:cNvPr id="34" name="Text 3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5" name="Text 3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CASO GUÍA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Análisis estadístico — párrafo modelo</a:t>
            </a:r>
            <a:endParaRPr lang="en-US" sz="3000" dirty="0"/>
          </a:p>
        </p:txBody>
      </p:sp>
      <p:sp>
        <p:nvSpPr>
          <p:cNvPr id="4" name="Shape 2"/>
          <p:cNvSpPr/>
          <p:nvPr/>
        </p:nvSpPr>
        <p:spPr>
          <a:xfrm>
            <a:off x="457200" y="1691640"/>
            <a:ext cx="11247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685800" y="1874520"/>
            <a:ext cx="1078992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PÁRRAFO COMPLETO  ·  Cómo se ve en el manuscrito final</a:t>
            </a:r>
            <a:endParaRPr lang="en-US" sz="1100" dirty="0"/>
          </a:p>
        </p:txBody>
      </p:sp>
      <p:sp>
        <p:nvSpPr>
          <p:cNvPr id="6" name="Text 4"/>
          <p:cNvSpPr/>
          <p:nvPr/>
        </p:nvSpPr>
        <p:spPr>
          <a:xfrm>
            <a:off x="777240" y="2286000"/>
            <a:ext cx="10607040" cy="3840480"/>
          </a:xfrm>
          <a:prstGeom prst="rect">
            <a:avLst/>
          </a:prstGeom>
          <a:noFill/>
          <a:ln/>
        </p:spPr>
        <p:txBody>
          <a:bodyPr wrap="square" lIns="0" tIns="0" rIns="0" bIns="0" rtlCol="0" anchor="ctr"/>
          <a:lstStyle/>
          <a:p>
            <a:pPr indent="0" marL="0">
              <a:lnSpc>
                <a:spcPct val="130000"/>
              </a:lnSpc>
              <a:buNone/>
            </a:pPr>
            <a:r>
              <a:rPr lang="en-US" sz="1300" b="1" dirty="0">
                <a:solidFill>
                  <a:srgbClr val="2C5F2D"/>
                </a:solidFill>
                <a:latin typeface="Calibri" pitchFamily="34" charset="0"/>
                <a:ea typeface="Calibri" pitchFamily="34" charset="-122"/>
                <a:cs typeface="Calibri" pitchFamily="34" charset="-120"/>
              </a:rPr>
              <a:t>Diseño y unidad experimental.  </a:t>
            </a:r>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Las pruebas de tolerancia se ejecutaron bajo un diseño completamente al azar (DCA) con cinco repeticiones por cepa. La unidad experimental fue un tubo de cultivo de 10 mL. </a:t>
            </a:r>
            <a:pPr indent="0" marL="0">
              <a:lnSpc>
                <a:spcPct val="130000"/>
              </a:lnSpc>
              <a:buNone/>
            </a:pPr>
            <a:r>
              <a:rPr lang="en-US" sz="1300" b="1" dirty="0">
                <a:solidFill>
                  <a:srgbClr val="2C5F2D"/>
                </a:solidFill>
                <a:latin typeface="Calibri" pitchFamily="34" charset="0"/>
                <a:ea typeface="Calibri" pitchFamily="34" charset="-122"/>
                <a:cs typeface="Calibri" pitchFamily="34" charset="-120"/>
              </a:rPr>
              <a:t>Modelo.  </a:t>
            </a:r>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El efecto de la concentración de sales biliares (0, 0.15, 0.30 %) sobre el porcentaje de supervivencia se evaluó con un ANOVA de una vía. Los datos se transformaron mediante arcoseno-raíz cuadrada antes del análisis. </a:t>
            </a:r>
            <a:pPr indent="0" marL="0">
              <a:lnSpc>
                <a:spcPct val="130000"/>
              </a:lnSpc>
              <a:buNone/>
            </a:pPr>
            <a:r>
              <a:rPr lang="en-US" sz="1300" b="1" dirty="0">
                <a:solidFill>
                  <a:srgbClr val="2C5F2D"/>
                </a:solidFill>
                <a:latin typeface="Calibri" pitchFamily="34" charset="0"/>
                <a:ea typeface="Calibri" pitchFamily="34" charset="-122"/>
                <a:cs typeface="Calibri" pitchFamily="34" charset="-120"/>
              </a:rPr>
              <a:t>Supuestos.  </a:t>
            </a:r>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La normalidad se verificó con Shapiro-Wilk (α = 0.05) y la homocedasticidad con la prueba de Levene. </a:t>
            </a:r>
            <a:pPr indent="0" marL="0">
              <a:lnSpc>
                <a:spcPct val="130000"/>
              </a:lnSpc>
              <a:buNone/>
            </a:pPr>
            <a:r>
              <a:rPr lang="en-US" sz="1300" b="1" dirty="0">
                <a:solidFill>
                  <a:srgbClr val="2C5F2D"/>
                </a:solidFill>
                <a:latin typeface="Calibri" pitchFamily="34" charset="0"/>
                <a:ea typeface="Calibri" pitchFamily="34" charset="-122"/>
                <a:cs typeface="Calibri" pitchFamily="34" charset="-120"/>
              </a:rPr>
              <a:t>Pruebas post-hoc.  </a:t>
            </a:r>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Las comparaciones múltiples se realizaron con la prueba de Tukey (α = 0.05). Adicionalmente se reportaron tamaños de efecto (η² parcial) e intervalos de confianza al 95 %. </a:t>
            </a:r>
            <a:pPr indent="0" marL="0">
              <a:lnSpc>
                <a:spcPct val="130000"/>
              </a:lnSpc>
              <a:buNone/>
            </a:pPr>
            <a:r>
              <a:rPr lang="en-US" sz="1300" b="1" dirty="0">
                <a:solidFill>
                  <a:srgbClr val="2C5F2D"/>
                </a:solidFill>
                <a:latin typeface="Calibri" pitchFamily="34" charset="0"/>
                <a:ea typeface="Calibri" pitchFamily="34" charset="-122"/>
                <a:cs typeface="Calibri" pitchFamily="34" charset="-120"/>
              </a:rPr>
              <a:t>Software.  </a:t>
            </a:r>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Todos los análisis se ejecutaron en R 4.4.1 con los paquetes agricolae 1.3-7, car 3.1-2 y emmeans 1.10.4.</a:t>
            </a:r>
            <a:endParaRPr lang="en-US" sz="1300" dirty="0"/>
          </a:p>
        </p:txBody>
      </p:sp>
      <p:sp>
        <p:nvSpPr>
          <p:cNvPr id="7" name="Text 5"/>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8" name="Text 6"/>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CÓMO REPORTAR RESULTADOS ESTADÍSTICOS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Convenciones que sí esperan los revisores</a:t>
            </a:r>
            <a:endParaRPr lang="en-US" sz="3000" dirty="0"/>
          </a:p>
        </p:txBody>
      </p:sp>
      <p:sp>
        <p:nvSpPr>
          <p:cNvPr id="4" name="Shape 2"/>
          <p:cNvSpPr/>
          <p:nvPr/>
        </p:nvSpPr>
        <p:spPr>
          <a:xfrm>
            <a:off x="457200" y="1691640"/>
            <a:ext cx="553212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54864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40080" y="1828800"/>
            <a:ext cx="274320" cy="274320"/>
          </a:xfrm>
          <a:prstGeom prst="rect">
            <a:avLst/>
          </a:prstGeom>
        </p:spPr>
      </p:pic>
      <p:sp>
        <p:nvSpPr>
          <p:cNvPr id="7" name="Text 4"/>
          <p:cNvSpPr/>
          <p:nvPr/>
        </p:nvSpPr>
        <p:spPr>
          <a:xfrm>
            <a:off x="1005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CÓMO NO REPORTAR</a:t>
            </a:r>
            <a:endParaRPr lang="en-US" sz="1300" dirty="0"/>
          </a:p>
        </p:txBody>
      </p:sp>
      <p:sp>
        <p:nvSpPr>
          <p:cNvPr id="8" name="Text 5"/>
          <p:cNvSpPr/>
          <p:nvPr/>
        </p:nvSpPr>
        <p:spPr>
          <a:xfrm>
            <a:off x="685800" y="2423160"/>
            <a:ext cx="5074920" cy="3657600"/>
          </a:xfrm>
          <a:prstGeom prst="rect">
            <a:avLst/>
          </a:prstGeom>
          <a:noFill/>
          <a:ln/>
        </p:spPr>
        <p:txBody>
          <a:bodyPr wrap="square"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"Hubo diferencias significativas."</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"p &lt; 0.05"  (sin valor exacto)</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"La media fue 4.7."  (sin DE ni n)</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"Se usó SPSS."  (sin versión)</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Solo p, sin tamaño de efecto.</a:t>
            </a:r>
            <a:endParaRPr lang="en-US" sz="1300" dirty="0"/>
          </a:p>
        </p:txBody>
      </p:sp>
      <p:sp>
        <p:nvSpPr>
          <p:cNvPr id="9" name="Shape 6"/>
          <p:cNvSpPr/>
          <p:nvPr/>
        </p:nvSpPr>
        <p:spPr>
          <a:xfrm>
            <a:off x="6172200" y="1691640"/>
            <a:ext cx="5532120" cy="4572000"/>
          </a:xfrm>
          <a:prstGeom prst="rect">
            <a:avLst/>
          </a:prstGeom>
          <a:solidFill>
            <a:srgbClr val="FFFFFF"/>
          </a:solidFill>
          <a:ln w="19050">
            <a:solidFill>
              <a:srgbClr val="2C5F2D"/>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172200" y="1691640"/>
            <a:ext cx="5532120" cy="548640"/>
          </a:xfrm>
          <a:prstGeom prst="rect">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6355080" y="1828800"/>
            <a:ext cx="274320" cy="274320"/>
          </a:xfrm>
          <a:prstGeom prst="rect">
            <a:avLst/>
          </a:prstGeom>
        </p:spPr>
      </p:pic>
      <p:sp>
        <p:nvSpPr>
          <p:cNvPr id="12" name="Text 8"/>
          <p:cNvSpPr/>
          <p:nvPr/>
        </p:nvSpPr>
        <p:spPr>
          <a:xfrm>
            <a:off x="6720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CÓMO SÍ REPORTAR</a:t>
            </a:r>
            <a:endParaRPr lang="en-US" sz="1300" dirty="0"/>
          </a:p>
        </p:txBody>
      </p:sp>
      <p:sp>
        <p:nvSpPr>
          <p:cNvPr id="13" name="Text 9"/>
          <p:cNvSpPr/>
          <p:nvPr/>
        </p:nvSpPr>
        <p:spPr>
          <a:xfrm>
            <a:off x="6400800" y="2423160"/>
            <a:ext cx="5074920" cy="3657600"/>
          </a:xfrm>
          <a:prstGeom prst="rect">
            <a:avLst/>
          </a:prstGeom>
          <a:noFill/>
          <a:ln/>
        </p:spPr>
        <p:txBody>
          <a:bodyPr wrap="square"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"F(2, 12) = 18.4; p = 0.003"</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"Media = 4.70 ± 0.32 (n = 5)"</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"η² parcial = 0.45; IC 95 % [3.1, 6.3]"</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"R 4.4.1 (paquete agricolae 1.3-7)"</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Reporta p exacto, salvo cuando p &lt; 0.001.</a:t>
            </a:r>
            <a:endParaRPr lang="en-US" sz="1300" dirty="0"/>
          </a:p>
        </p:txBody>
      </p:sp>
      <p:sp>
        <p:nvSpPr>
          <p:cNvPr id="14" name="Text 1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5" name="Text 11"/>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4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Replicabilidad y transparencia</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Lo que separa una metodología profesional de una amateur.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CHECKLIST DE REPLICABILIDAD</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Diez preguntas que tu método debe responder</a:t>
            </a:r>
            <a:endParaRPr lang="en-US" sz="3000" dirty="0"/>
          </a:p>
        </p:txBody>
      </p:sp>
      <p:sp>
        <p:nvSpPr>
          <p:cNvPr id="4" name="Shape 2"/>
          <p:cNvSpPr/>
          <p:nvPr/>
        </p:nvSpPr>
        <p:spPr>
          <a:xfrm>
            <a:off x="457200" y="1783080"/>
            <a:ext cx="411480" cy="411480"/>
          </a:xfrm>
          <a:prstGeom prst="ellipse">
            <a:avLst/>
          </a:prstGeom>
          <a:solidFill>
            <a:srgbClr val="2C5F2D"/>
          </a:solidFill>
          <a:ln w="12700">
            <a:solidFill>
              <a:srgbClr val="2C5F2D"/>
            </a:solidFill>
            <a:prstDash val="solid"/>
          </a:ln>
        </p:spPr>
      </p:sp>
      <p:pic>
        <p:nvPicPr>
          <p:cNvPr id="5" name="Image 0" descr="preencoded.png">    </p:cNvPr>
          <p:cNvPicPr>
            <a:picLocks noChangeAspect="1"/>
          </p:cNvPicPr>
          <p:nvPr/>
        </p:nvPicPr>
        <p:blipFill>
          <a:blip r:embed="rId1"/>
          <a:stretch>
            <a:fillRect/>
          </a:stretch>
        </p:blipFill>
        <p:spPr>
          <a:xfrm>
            <a:off x="530352" y="1856232"/>
            <a:ext cx="265176" cy="265176"/>
          </a:xfrm>
          <a:prstGeom prst="rect">
            <a:avLst/>
          </a:prstGeom>
        </p:spPr>
      </p:pic>
      <p:sp>
        <p:nvSpPr>
          <p:cNvPr id="6" name="Text 3"/>
          <p:cNvSpPr/>
          <p:nvPr/>
        </p:nvSpPr>
        <p:spPr>
          <a:xfrm>
            <a:off x="1005840" y="176479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¿Dónde se realizó el estudio (coordenadas, fechas)?</a:t>
            </a:r>
            <a:endParaRPr lang="en-US" sz="1250" dirty="0"/>
          </a:p>
        </p:txBody>
      </p:sp>
      <p:sp>
        <p:nvSpPr>
          <p:cNvPr id="7" name="Shape 4"/>
          <p:cNvSpPr/>
          <p:nvPr/>
        </p:nvSpPr>
        <p:spPr>
          <a:xfrm>
            <a:off x="457200" y="2651760"/>
            <a:ext cx="411480" cy="411480"/>
          </a:xfrm>
          <a:prstGeom prst="ellipse">
            <a:avLst/>
          </a:prstGeom>
          <a:solidFill>
            <a:srgbClr val="2C5F2D"/>
          </a:solidFill>
          <a:ln w="12700">
            <a:solidFill>
              <a:srgbClr val="2C5F2D"/>
            </a:solidFill>
            <a:prstDash val="solid"/>
          </a:ln>
        </p:spPr>
      </p:sp>
      <p:pic>
        <p:nvPicPr>
          <p:cNvPr id="8" name="Image 1" descr="preencoded.png">    </p:cNvPr>
          <p:cNvPicPr>
            <a:picLocks noChangeAspect="1"/>
          </p:cNvPicPr>
          <p:nvPr/>
        </p:nvPicPr>
        <p:blipFill>
          <a:blip r:embed="rId2"/>
          <a:stretch>
            <a:fillRect/>
          </a:stretch>
        </p:blipFill>
        <p:spPr>
          <a:xfrm>
            <a:off x="530352" y="2724912"/>
            <a:ext cx="265176" cy="265176"/>
          </a:xfrm>
          <a:prstGeom prst="rect">
            <a:avLst/>
          </a:prstGeom>
        </p:spPr>
      </p:pic>
      <p:sp>
        <p:nvSpPr>
          <p:cNvPr id="9" name="Text 5"/>
          <p:cNvSpPr/>
          <p:nvPr/>
        </p:nvSpPr>
        <p:spPr>
          <a:xfrm>
            <a:off x="1005840" y="263347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¿Cuál fue el tamaño muestral y cómo se calculó?</a:t>
            </a:r>
            <a:endParaRPr lang="en-US" sz="1250" dirty="0"/>
          </a:p>
        </p:txBody>
      </p:sp>
      <p:sp>
        <p:nvSpPr>
          <p:cNvPr id="10" name="Shape 6"/>
          <p:cNvSpPr/>
          <p:nvPr/>
        </p:nvSpPr>
        <p:spPr>
          <a:xfrm>
            <a:off x="457200" y="3520440"/>
            <a:ext cx="411480" cy="411480"/>
          </a:xfrm>
          <a:prstGeom prst="ellipse">
            <a:avLst/>
          </a:prstGeom>
          <a:solidFill>
            <a:srgbClr val="2C5F2D"/>
          </a:solidFill>
          <a:ln w="12700">
            <a:solidFill>
              <a:srgbClr val="2C5F2D"/>
            </a:solidFill>
            <a:prstDash val="solid"/>
          </a:ln>
        </p:spPr>
      </p:sp>
      <p:pic>
        <p:nvPicPr>
          <p:cNvPr id="11" name="Image 2" descr="preencoded.png">    </p:cNvPr>
          <p:cNvPicPr>
            <a:picLocks noChangeAspect="1"/>
          </p:cNvPicPr>
          <p:nvPr/>
        </p:nvPicPr>
        <p:blipFill>
          <a:blip r:embed="rId3"/>
          <a:stretch>
            <a:fillRect/>
          </a:stretch>
        </p:blipFill>
        <p:spPr>
          <a:xfrm>
            <a:off x="530352" y="3593592"/>
            <a:ext cx="265176" cy="265176"/>
          </a:xfrm>
          <a:prstGeom prst="rect">
            <a:avLst/>
          </a:prstGeom>
        </p:spPr>
      </p:pic>
      <p:sp>
        <p:nvSpPr>
          <p:cNvPr id="12" name="Text 7"/>
          <p:cNvSpPr/>
          <p:nvPr/>
        </p:nvSpPr>
        <p:spPr>
          <a:xfrm>
            <a:off x="1005840" y="350215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¿Cómo se seleccionaron las unidades experimentales?</a:t>
            </a:r>
            <a:endParaRPr lang="en-US" sz="1250" dirty="0"/>
          </a:p>
        </p:txBody>
      </p:sp>
      <p:sp>
        <p:nvSpPr>
          <p:cNvPr id="13" name="Shape 8"/>
          <p:cNvSpPr/>
          <p:nvPr/>
        </p:nvSpPr>
        <p:spPr>
          <a:xfrm>
            <a:off x="457200" y="4389120"/>
            <a:ext cx="411480" cy="411480"/>
          </a:xfrm>
          <a:prstGeom prst="ellipse">
            <a:avLst/>
          </a:prstGeom>
          <a:solidFill>
            <a:srgbClr val="2C5F2D"/>
          </a:solidFill>
          <a:ln w="12700">
            <a:solidFill>
              <a:srgbClr val="2C5F2D"/>
            </a:solidFill>
            <a:prstDash val="solid"/>
          </a:ln>
        </p:spPr>
      </p:sp>
      <p:pic>
        <p:nvPicPr>
          <p:cNvPr id="14" name="Image 3" descr="preencoded.png">    </p:cNvPr>
          <p:cNvPicPr>
            <a:picLocks noChangeAspect="1"/>
          </p:cNvPicPr>
          <p:nvPr/>
        </p:nvPicPr>
        <p:blipFill>
          <a:blip r:embed="rId4"/>
          <a:stretch>
            <a:fillRect/>
          </a:stretch>
        </p:blipFill>
        <p:spPr>
          <a:xfrm>
            <a:off x="530352" y="4462272"/>
            <a:ext cx="265176" cy="265176"/>
          </a:xfrm>
          <a:prstGeom prst="rect">
            <a:avLst/>
          </a:prstGeom>
        </p:spPr>
      </p:pic>
      <p:sp>
        <p:nvSpPr>
          <p:cNvPr id="15" name="Text 9"/>
          <p:cNvSpPr/>
          <p:nvPr/>
        </p:nvSpPr>
        <p:spPr>
          <a:xfrm>
            <a:off x="1005840" y="437083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¿Qué reactivos y equipos se usaron (marca, modelo)?</a:t>
            </a:r>
            <a:endParaRPr lang="en-US" sz="1250" dirty="0"/>
          </a:p>
        </p:txBody>
      </p:sp>
      <p:sp>
        <p:nvSpPr>
          <p:cNvPr id="16" name="Shape 10"/>
          <p:cNvSpPr/>
          <p:nvPr/>
        </p:nvSpPr>
        <p:spPr>
          <a:xfrm>
            <a:off x="457200" y="5257800"/>
            <a:ext cx="411480" cy="411480"/>
          </a:xfrm>
          <a:prstGeom prst="ellipse">
            <a:avLst/>
          </a:prstGeom>
          <a:solidFill>
            <a:srgbClr val="2C5F2D"/>
          </a:solidFill>
          <a:ln w="12700">
            <a:solidFill>
              <a:srgbClr val="2C5F2D"/>
            </a:solidFill>
            <a:prstDash val="solid"/>
          </a:ln>
        </p:spPr>
      </p:sp>
      <p:pic>
        <p:nvPicPr>
          <p:cNvPr id="17" name="Image 4" descr="preencoded.png">    </p:cNvPr>
          <p:cNvPicPr>
            <a:picLocks noChangeAspect="1"/>
          </p:cNvPicPr>
          <p:nvPr/>
        </p:nvPicPr>
        <p:blipFill>
          <a:blip r:embed="rId5"/>
          <a:stretch>
            <a:fillRect/>
          </a:stretch>
        </p:blipFill>
        <p:spPr>
          <a:xfrm>
            <a:off x="530352" y="5330952"/>
            <a:ext cx="265176" cy="265176"/>
          </a:xfrm>
          <a:prstGeom prst="rect">
            <a:avLst/>
          </a:prstGeom>
        </p:spPr>
      </p:pic>
      <p:sp>
        <p:nvSpPr>
          <p:cNvPr id="18" name="Text 11"/>
          <p:cNvSpPr/>
          <p:nvPr/>
        </p:nvSpPr>
        <p:spPr>
          <a:xfrm>
            <a:off x="1005840" y="523951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¿Qué condiciones operativas se aplicaron (T, pH, t)?</a:t>
            </a:r>
            <a:endParaRPr lang="en-US" sz="1250" dirty="0"/>
          </a:p>
        </p:txBody>
      </p:sp>
      <p:sp>
        <p:nvSpPr>
          <p:cNvPr id="19" name="Shape 12"/>
          <p:cNvSpPr/>
          <p:nvPr/>
        </p:nvSpPr>
        <p:spPr>
          <a:xfrm>
            <a:off x="6217920" y="1783080"/>
            <a:ext cx="411480" cy="411480"/>
          </a:xfrm>
          <a:prstGeom prst="ellipse">
            <a:avLst/>
          </a:prstGeom>
          <a:solidFill>
            <a:srgbClr val="2C5F2D"/>
          </a:solidFill>
          <a:ln w="12700">
            <a:solidFill>
              <a:srgbClr val="2C5F2D"/>
            </a:solidFill>
            <a:prstDash val="solid"/>
          </a:ln>
        </p:spPr>
      </p:sp>
      <p:pic>
        <p:nvPicPr>
          <p:cNvPr id="20" name="Image 5" descr="preencoded.png">    </p:cNvPr>
          <p:cNvPicPr>
            <a:picLocks noChangeAspect="1"/>
          </p:cNvPicPr>
          <p:nvPr/>
        </p:nvPicPr>
        <p:blipFill>
          <a:blip r:embed="rId6"/>
          <a:stretch>
            <a:fillRect/>
          </a:stretch>
        </p:blipFill>
        <p:spPr>
          <a:xfrm>
            <a:off x="6291072" y="1856232"/>
            <a:ext cx="265176" cy="265176"/>
          </a:xfrm>
          <a:prstGeom prst="rect">
            <a:avLst/>
          </a:prstGeom>
        </p:spPr>
      </p:pic>
      <p:sp>
        <p:nvSpPr>
          <p:cNvPr id="21" name="Text 13"/>
          <p:cNvSpPr/>
          <p:nvPr/>
        </p:nvSpPr>
        <p:spPr>
          <a:xfrm>
            <a:off x="6766560" y="176479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¿Qué normas o protocolos previos se siguieron?</a:t>
            </a:r>
            <a:endParaRPr lang="en-US" sz="1250" dirty="0"/>
          </a:p>
        </p:txBody>
      </p:sp>
      <p:sp>
        <p:nvSpPr>
          <p:cNvPr id="22" name="Shape 14"/>
          <p:cNvSpPr/>
          <p:nvPr/>
        </p:nvSpPr>
        <p:spPr>
          <a:xfrm>
            <a:off x="6217920" y="2651760"/>
            <a:ext cx="411480" cy="411480"/>
          </a:xfrm>
          <a:prstGeom prst="ellipse">
            <a:avLst/>
          </a:prstGeom>
          <a:solidFill>
            <a:srgbClr val="2C5F2D"/>
          </a:solidFill>
          <a:ln w="12700">
            <a:solidFill>
              <a:srgbClr val="2C5F2D"/>
            </a:solidFill>
            <a:prstDash val="solid"/>
          </a:ln>
        </p:spPr>
      </p:sp>
      <p:pic>
        <p:nvPicPr>
          <p:cNvPr id="23" name="Image 6" descr="preencoded.png">    </p:cNvPr>
          <p:cNvPicPr>
            <a:picLocks noChangeAspect="1"/>
          </p:cNvPicPr>
          <p:nvPr/>
        </p:nvPicPr>
        <p:blipFill>
          <a:blip r:embed="rId7"/>
          <a:stretch>
            <a:fillRect/>
          </a:stretch>
        </p:blipFill>
        <p:spPr>
          <a:xfrm>
            <a:off x="6291072" y="2724912"/>
            <a:ext cx="265176" cy="265176"/>
          </a:xfrm>
          <a:prstGeom prst="rect">
            <a:avLst/>
          </a:prstGeom>
        </p:spPr>
      </p:pic>
      <p:sp>
        <p:nvSpPr>
          <p:cNvPr id="24" name="Text 15"/>
          <p:cNvSpPr/>
          <p:nvPr/>
        </p:nvSpPr>
        <p:spPr>
          <a:xfrm>
            <a:off x="6766560" y="263347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¿Qué variables se midieron y con qué precisión?</a:t>
            </a:r>
            <a:endParaRPr lang="en-US" sz="1250" dirty="0"/>
          </a:p>
        </p:txBody>
      </p:sp>
      <p:sp>
        <p:nvSpPr>
          <p:cNvPr id="25" name="Shape 16"/>
          <p:cNvSpPr/>
          <p:nvPr/>
        </p:nvSpPr>
        <p:spPr>
          <a:xfrm>
            <a:off x="6217920" y="3520440"/>
            <a:ext cx="411480" cy="411480"/>
          </a:xfrm>
          <a:prstGeom prst="ellipse">
            <a:avLst/>
          </a:prstGeom>
          <a:solidFill>
            <a:srgbClr val="2C5F2D"/>
          </a:solidFill>
          <a:ln w="12700">
            <a:solidFill>
              <a:srgbClr val="2C5F2D"/>
            </a:solidFill>
            <a:prstDash val="solid"/>
          </a:ln>
        </p:spPr>
      </p:sp>
      <p:pic>
        <p:nvPicPr>
          <p:cNvPr id="26" name="Image 7" descr="preencoded.png">    </p:cNvPr>
          <p:cNvPicPr>
            <a:picLocks noChangeAspect="1"/>
          </p:cNvPicPr>
          <p:nvPr/>
        </p:nvPicPr>
        <p:blipFill>
          <a:blip r:embed="rId8"/>
          <a:stretch>
            <a:fillRect/>
          </a:stretch>
        </p:blipFill>
        <p:spPr>
          <a:xfrm>
            <a:off x="6291072" y="3593592"/>
            <a:ext cx="265176" cy="265176"/>
          </a:xfrm>
          <a:prstGeom prst="rect">
            <a:avLst/>
          </a:prstGeom>
        </p:spPr>
      </p:pic>
      <p:sp>
        <p:nvSpPr>
          <p:cNvPr id="27" name="Text 17"/>
          <p:cNvSpPr/>
          <p:nvPr/>
        </p:nvSpPr>
        <p:spPr>
          <a:xfrm>
            <a:off x="6766560" y="350215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¿Cuál fue el diseño experimental?</a:t>
            </a:r>
            <a:endParaRPr lang="en-US" sz="1250" dirty="0"/>
          </a:p>
        </p:txBody>
      </p:sp>
      <p:sp>
        <p:nvSpPr>
          <p:cNvPr id="28" name="Shape 18"/>
          <p:cNvSpPr/>
          <p:nvPr/>
        </p:nvSpPr>
        <p:spPr>
          <a:xfrm>
            <a:off x="6217920" y="4389120"/>
            <a:ext cx="411480" cy="411480"/>
          </a:xfrm>
          <a:prstGeom prst="ellipse">
            <a:avLst/>
          </a:prstGeom>
          <a:solidFill>
            <a:srgbClr val="2C5F2D"/>
          </a:solidFill>
          <a:ln w="12700">
            <a:solidFill>
              <a:srgbClr val="2C5F2D"/>
            </a:solidFill>
            <a:prstDash val="solid"/>
          </a:ln>
        </p:spPr>
      </p:sp>
      <p:pic>
        <p:nvPicPr>
          <p:cNvPr id="29" name="Image 8" descr="preencoded.png">    </p:cNvPr>
          <p:cNvPicPr>
            <a:picLocks noChangeAspect="1"/>
          </p:cNvPicPr>
          <p:nvPr/>
        </p:nvPicPr>
        <p:blipFill>
          <a:blip r:embed="rId9"/>
          <a:stretch>
            <a:fillRect/>
          </a:stretch>
        </p:blipFill>
        <p:spPr>
          <a:xfrm>
            <a:off x="6291072" y="4462272"/>
            <a:ext cx="265176" cy="265176"/>
          </a:xfrm>
          <a:prstGeom prst="rect">
            <a:avLst/>
          </a:prstGeom>
        </p:spPr>
      </p:pic>
      <p:sp>
        <p:nvSpPr>
          <p:cNvPr id="30" name="Text 19"/>
          <p:cNvSpPr/>
          <p:nvPr/>
        </p:nvSpPr>
        <p:spPr>
          <a:xfrm>
            <a:off x="6766560" y="437083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¿Qué modelo estadístico y software se usaron?</a:t>
            </a:r>
            <a:endParaRPr lang="en-US" sz="1250" dirty="0"/>
          </a:p>
        </p:txBody>
      </p:sp>
      <p:sp>
        <p:nvSpPr>
          <p:cNvPr id="31" name="Shape 20"/>
          <p:cNvSpPr/>
          <p:nvPr/>
        </p:nvSpPr>
        <p:spPr>
          <a:xfrm>
            <a:off x="6217920" y="5257800"/>
            <a:ext cx="411480" cy="411480"/>
          </a:xfrm>
          <a:prstGeom prst="ellipse">
            <a:avLst/>
          </a:prstGeom>
          <a:solidFill>
            <a:srgbClr val="2C5F2D"/>
          </a:solidFill>
          <a:ln w="12700">
            <a:solidFill>
              <a:srgbClr val="2C5F2D"/>
            </a:solidFill>
            <a:prstDash val="solid"/>
          </a:ln>
        </p:spPr>
      </p:sp>
      <p:pic>
        <p:nvPicPr>
          <p:cNvPr id="32" name="Image 9" descr="preencoded.png">    </p:cNvPr>
          <p:cNvPicPr>
            <a:picLocks noChangeAspect="1"/>
          </p:cNvPicPr>
          <p:nvPr/>
        </p:nvPicPr>
        <p:blipFill>
          <a:blip r:embed="rId10"/>
          <a:stretch>
            <a:fillRect/>
          </a:stretch>
        </p:blipFill>
        <p:spPr>
          <a:xfrm>
            <a:off x="6291072" y="5330952"/>
            <a:ext cx="265176" cy="265176"/>
          </a:xfrm>
          <a:prstGeom prst="rect">
            <a:avLst/>
          </a:prstGeom>
        </p:spPr>
      </p:pic>
      <p:sp>
        <p:nvSpPr>
          <p:cNvPr id="33" name="Text 21"/>
          <p:cNvSpPr/>
          <p:nvPr/>
        </p:nvSpPr>
        <p:spPr>
          <a:xfrm>
            <a:off x="6766560" y="5239512"/>
            <a:ext cx="521208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¿Los datos y código están disponibles públicamente?</a:t>
            </a:r>
            <a:endParaRPr lang="en-US" sz="1250" dirty="0"/>
          </a:p>
        </p:txBody>
      </p:sp>
      <p:sp>
        <p:nvSpPr>
          <p:cNvPr id="34" name="Text 2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5" name="Text 2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DATOS Y CÓDIGO ABIERTOS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 que cada vez más revistas Q1 te van a pedir</a:t>
            </a:r>
            <a:endParaRPr lang="en-US" sz="3000" dirty="0"/>
          </a:p>
        </p:txBody>
      </p:sp>
      <p:sp>
        <p:nvSpPr>
          <p:cNvPr id="4" name="Text 2"/>
          <p:cNvSpPr/>
          <p:nvPr/>
        </p:nvSpPr>
        <p:spPr>
          <a:xfrm>
            <a:off x="457200" y="1691640"/>
            <a:ext cx="11247120" cy="365760"/>
          </a:xfrm>
          <a:prstGeom prst="rect">
            <a:avLst/>
          </a:prstGeom>
          <a:noFill/>
          <a:ln/>
        </p:spPr>
        <p:txBody>
          <a:bodyPr wrap="square" lIns="0" tIns="0" rIns="0" bIns="0" rtlCol="0" anchor="ctr"/>
          <a:lstStyle/>
          <a:p>
            <a:pPr indent="0" marL="0">
              <a:buNone/>
            </a:pPr>
            <a:r>
              <a:rPr lang="en-US" sz="1300" i="1" dirty="0">
                <a:solidFill>
                  <a:srgbClr val="5F6B5A"/>
                </a:solidFill>
                <a:latin typeface="Calibri" pitchFamily="34" charset="0"/>
                <a:ea typeface="Calibri" pitchFamily="34" charset="-122"/>
                <a:cs typeface="Calibri" pitchFamily="34" charset="-120"/>
              </a:rPr>
              <a:t>Comparte lo que puedas — y declara dónde se encuentra.</a:t>
            </a:r>
            <a:endParaRPr lang="en-US" sz="1300" dirty="0"/>
          </a:p>
        </p:txBody>
      </p:sp>
      <p:sp>
        <p:nvSpPr>
          <p:cNvPr id="5" name="Shape 3"/>
          <p:cNvSpPr/>
          <p:nvPr/>
        </p:nvSpPr>
        <p:spPr>
          <a:xfrm>
            <a:off x="457200" y="2194560"/>
            <a:ext cx="5532120" cy="192024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731520" y="2514600"/>
            <a:ext cx="685800" cy="685800"/>
          </a:xfrm>
          <a:prstGeom prst="ellipse">
            <a:avLst/>
          </a:prstGeom>
          <a:solidFill>
            <a:srgbClr val="2C5F2D"/>
          </a:solidFill>
          <a:ln w="12700">
            <a:solidFill>
              <a:srgbClr val="2C5F2D"/>
            </a:solidFill>
            <a:prstDash val="solid"/>
          </a:ln>
        </p:spPr>
      </p:sp>
      <p:pic>
        <p:nvPicPr>
          <p:cNvPr id="7" name="Image 0" descr="preencoded.png">    </p:cNvPr>
          <p:cNvPicPr>
            <a:picLocks noChangeAspect="1"/>
          </p:cNvPicPr>
          <p:nvPr/>
        </p:nvPicPr>
        <p:blipFill>
          <a:blip r:embed="rId1"/>
          <a:stretch>
            <a:fillRect/>
          </a:stretch>
        </p:blipFill>
        <p:spPr>
          <a:xfrm>
            <a:off x="850392" y="2633472"/>
            <a:ext cx="457200" cy="457200"/>
          </a:xfrm>
          <a:prstGeom prst="rect">
            <a:avLst/>
          </a:prstGeom>
        </p:spPr>
      </p:pic>
      <p:sp>
        <p:nvSpPr>
          <p:cNvPr id="8" name="Text 5"/>
          <p:cNvSpPr/>
          <p:nvPr/>
        </p:nvSpPr>
        <p:spPr>
          <a:xfrm>
            <a:off x="1600200" y="2514600"/>
            <a:ext cx="4206240" cy="41148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Código de análisis</a:t>
            </a:r>
            <a:endParaRPr lang="en-US" sz="1700" dirty="0"/>
          </a:p>
        </p:txBody>
      </p:sp>
      <p:sp>
        <p:nvSpPr>
          <p:cNvPr id="9" name="Text 6"/>
          <p:cNvSpPr/>
          <p:nvPr/>
        </p:nvSpPr>
        <p:spPr>
          <a:xfrm>
            <a:off x="1600200" y="2971800"/>
            <a:ext cx="4206240" cy="109728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GitHub, GitLab o Zenodo con DOI. Incluye README, requirements y semilla aleatoria.</a:t>
            </a:r>
            <a:endParaRPr lang="en-US" sz="1200" dirty="0"/>
          </a:p>
        </p:txBody>
      </p:sp>
      <p:sp>
        <p:nvSpPr>
          <p:cNvPr id="10" name="Shape 7"/>
          <p:cNvSpPr/>
          <p:nvPr/>
        </p:nvSpPr>
        <p:spPr>
          <a:xfrm>
            <a:off x="6172200" y="2194560"/>
            <a:ext cx="5532120" cy="192024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446520" y="2514600"/>
            <a:ext cx="685800" cy="685800"/>
          </a:xfrm>
          <a:prstGeom prst="ellipse">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6565392" y="2633472"/>
            <a:ext cx="457200" cy="457200"/>
          </a:xfrm>
          <a:prstGeom prst="rect">
            <a:avLst/>
          </a:prstGeom>
        </p:spPr>
      </p:pic>
      <p:sp>
        <p:nvSpPr>
          <p:cNvPr id="13" name="Text 9"/>
          <p:cNvSpPr/>
          <p:nvPr/>
        </p:nvSpPr>
        <p:spPr>
          <a:xfrm>
            <a:off x="7315200" y="2514600"/>
            <a:ext cx="4206240" cy="41148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Datos crudos</a:t>
            </a:r>
            <a:endParaRPr lang="en-US" sz="1700" dirty="0"/>
          </a:p>
        </p:txBody>
      </p:sp>
      <p:sp>
        <p:nvSpPr>
          <p:cNvPr id="14" name="Text 10"/>
          <p:cNvSpPr/>
          <p:nvPr/>
        </p:nvSpPr>
        <p:spPr>
          <a:xfrm>
            <a:off x="7315200" y="2971800"/>
            <a:ext cx="4206240" cy="109728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Repositorios como Zenodo, Figshare, Dryad o Mendeley Data. Asigna licencia (CC-BY).</a:t>
            </a:r>
            <a:endParaRPr lang="en-US" sz="1200" dirty="0"/>
          </a:p>
        </p:txBody>
      </p:sp>
      <p:sp>
        <p:nvSpPr>
          <p:cNvPr id="15" name="Shape 11"/>
          <p:cNvSpPr/>
          <p:nvPr/>
        </p:nvSpPr>
        <p:spPr>
          <a:xfrm>
            <a:off x="457200" y="4297680"/>
            <a:ext cx="5532120" cy="192024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731520" y="4617720"/>
            <a:ext cx="685800" cy="685800"/>
          </a:xfrm>
          <a:prstGeom prst="ellipse">
            <a:avLst/>
          </a:prstGeom>
          <a:solidFill>
            <a:srgbClr val="2C5F2D"/>
          </a:solidFill>
          <a:ln w="12700">
            <a:solidFill>
              <a:srgbClr val="2C5F2D"/>
            </a:solidFill>
            <a:prstDash val="solid"/>
          </a:ln>
        </p:spPr>
      </p:sp>
      <p:pic>
        <p:nvPicPr>
          <p:cNvPr id="17" name="Image 2" descr="preencoded.png">    </p:cNvPr>
          <p:cNvPicPr>
            <a:picLocks noChangeAspect="1"/>
          </p:cNvPicPr>
          <p:nvPr/>
        </p:nvPicPr>
        <p:blipFill>
          <a:blip r:embed="rId3"/>
          <a:stretch>
            <a:fillRect/>
          </a:stretch>
        </p:blipFill>
        <p:spPr>
          <a:xfrm>
            <a:off x="850392" y="4736592"/>
            <a:ext cx="457200" cy="457200"/>
          </a:xfrm>
          <a:prstGeom prst="rect">
            <a:avLst/>
          </a:prstGeom>
        </p:spPr>
      </p:pic>
      <p:sp>
        <p:nvSpPr>
          <p:cNvPr id="18" name="Text 13"/>
          <p:cNvSpPr/>
          <p:nvPr/>
        </p:nvSpPr>
        <p:spPr>
          <a:xfrm>
            <a:off x="1600200" y="4617720"/>
            <a:ext cx="4206240" cy="41148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Protocolos detallados</a:t>
            </a:r>
            <a:endParaRPr lang="en-US" sz="1700" dirty="0"/>
          </a:p>
        </p:txBody>
      </p:sp>
      <p:sp>
        <p:nvSpPr>
          <p:cNvPr id="19" name="Text 14"/>
          <p:cNvSpPr/>
          <p:nvPr/>
        </p:nvSpPr>
        <p:spPr>
          <a:xfrm>
            <a:off x="1600200" y="5074920"/>
            <a:ext cx="4206240" cy="109728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Protocols.io para procedimientos paso a paso. Permite citar versiones específicas.</a:t>
            </a:r>
            <a:endParaRPr lang="en-US" sz="1200" dirty="0"/>
          </a:p>
        </p:txBody>
      </p:sp>
      <p:sp>
        <p:nvSpPr>
          <p:cNvPr id="20" name="Shape 15"/>
          <p:cNvSpPr/>
          <p:nvPr/>
        </p:nvSpPr>
        <p:spPr>
          <a:xfrm>
            <a:off x="6172200" y="4297680"/>
            <a:ext cx="5532120" cy="192024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6446520" y="4617720"/>
            <a:ext cx="685800" cy="685800"/>
          </a:xfrm>
          <a:prstGeom prst="ellipse">
            <a:avLst/>
          </a:prstGeom>
          <a:solidFill>
            <a:srgbClr val="2C5F2D"/>
          </a:solidFill>
          <a:ln w="12700">
            <a:solidFill>
              <a:srgbClr val="2C5F2D"/>
            </a:solidFill>
            <a:prstDash val="solid"/>
          </a:ln>
        </p:spPr>
      </p:sp>
      <p:pic>
        <p:nvPicPr>
          <p:cNvPr id="22" name="Image 3" descr="preencoded.png">    </p:cNvPr>
          <p:cNvPicPr>
            <a:picLocks noChangeAspect="1"/>
          </p:cNvPicPr>
          <p:nvPr/>
        </p:nvPicPr>
        <p:blipFill>
          <a:blip r:embed="rId4"/>
          <a:stretch>
            <a:fillRect/>
          </a:stretch>
        </p:blipFill>
        <p:spPr>
          <a:xfrm>
            <a:off x="6565392" y="4736592"/>
            <a:ext cx="457200" cy="457200"/>
          </a:xfrm>
          <a:prstGeom prst="rect">
            <a:avLst/>
          </a:prstGeom>
        </p:spPr>
      </p:pic>
      <p:sp>
        <p:nvSpPr>
          <p:cNvPr id="23" name="Text 17"/>
          <p:cNvSpPr/>
          <p:nvPr/>
        </p:nvSpPr>
        <p:spPr>
          <a:xfrm>
            <a:off x="7315200" y="4617720"/>
            <a:ext cx="4206240" cy="41148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Declaración explícita</a:t>
            </a:r>
            <a:endParaRPr lang="en-US" sz="1700" dirty="0"/>
          </a:p>
        </p:txBody>
      </p:sp>
      <p:sp>
        <p:nvSpPr>
          <p:cNvPr id="24" name="Text 18"/>
          <p:cNvSpPr/>
          <p:nvPr/>
        </p:nvSpPr>
        <p:spPr>
          <a:xfrm>
            <a:off x="7315200" y="5074920"/>
            <a:ext cx="4206240" cy="109728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Sección "Data availability" al final del manuscrito con enlaces y DOIs.</a:t>
            </a:r>
            <a:endParaRPr lang="en-US" sz="1200" dirty="0"/>
          </a:p>
        </p:txBody>
      </p:sp>
      <p:sp>
        <p:nvSpPr>
          <p:cNvPr id="25" name="Text 19"/>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6" name="Text 20"/>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CASO GUÍA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Un párrafo de Métodos, dos versiones</a:t>
            </a:r>
            <a:endParaRPr lang="en-US" sz="3000" dirty="0"/>
          </a:p>
        </p:txBody>
      </p:sp>
      <p:sp>
        <p:nvSpPr>
          <p:cNvPr id="4" name="Shape 2"/>
          <p:cNvSpPr/>
          <p:nvPr/>
        </p:nvSpPr>
        <p:spPr>
          <a:xfrm>
            <a:off x="457200" y="1691640"/>
            <a:ext cx="553212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54864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40080" y="1828800"/>
            <a:ext cx="274320" cy="274320"/>
          </a:xfrm>
          <a:prstGeom prst="rect">
            <a:avLst/>
          </a:prstGeom>
        </p:spPr>
      </p:pic>
      <p:sp>
        <p:nvSpPr>
          <p:cNvPr id="7" name="Text 4"/>
          <p:cNvSpPr/>
          <p:nvPr/>
        </p:nvSpPr>
        <p:spPr>
          <a:xfrm>
            <a:off x="1005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IRREPRODUCIBLE</a:t>
            </a:r>
            <a:endParaRPr lang="en-US" sz="1300" dirty="0"/>
          </a:p>
        </p:txBody>
      </p:sp>
      <p:sp>
        <p:nvSpPr>
          <p:cNvPr id="8" name="Text 5"/>
          <p:cNvSpPr/>
          <p:nvPr/>
        </p:nvSpPr>
        <p:spPr>
          <a:xfrm>
            <a:off x="685800" y="2423160"/>
            <a:ext cx="5074920" cy="2743200"/>
          </a:xfrm>
          <a:prstGeom prst="rect">
            <a:avLst/>
          </a:prstGeom>
          <a:noFill/>
          <a:ln/>
        </p:spPr>
        <p:txBody>
          <a:bodyPr wrap="square" lIns="0" tIns="0" rIns="0" bIns="0" rtlCol="0" anchor="ctr"/>
          <a:lstStyle/>
          <a:p>
            <a:pPr indent="0" marL="0">
              <a:lnSpc>
                <a:spcPct val="120000"/>
              </a:lnSpc>
              <a:buNone/>
            </a:pPr>
            <a:r>
              <a:rPr lang="en-US" sz="1250" i="1" dirty="0">
                <a:solidFill>
                  <a:srgbClr val="1A1A1A"/>
                </a:solidFill>
                <a:latin typeface="Calibri" pitchFamily="34" charset="0"/>
                <a:ea typeface="Calibri" pitchFamily="34" charset="-122"/>
                <a:cs typeface="Calibri" pitchFamily="34" charset="-120"/>
              </a:rPr>
              <a:t>"Las bacterias se cultivaron en medio adecuado en condiciones óptimas. Se evaluó su tolerancia a sales biliares en diferentes concentraciones. Los datos se analizaron estadísticamente para comparar las cepas. Se utilizó un software de análisis."</a:t>
            </a:r>
            <a:endParaRPr lang="en-US" sz="1250" dirty="0"/>
          </a:p>
        </p:txBody>
      </p:sp>
      <p:sp>
        <p:nvSpPr>
          <p:cNvPr id="9" name="Text 6"/>
          <p:cNvSpPr/>
          <p:nvPr/>
        </p:nvSpPr>
        <p:spPr>
          <a:xfrm>
            <a:off x="685800" y="5166360"/>
            <a:ext cx="5074920" cy="320040"/>
          </a:xfrm>
          <a:prstGeom prst="rect">
            <a:avLst/>
          </a:prstGeom>
          <a:noFill/>
          <a:ln/>
        </p:spPr>
        <p:txBody>
          <a:bodyPr wrap="square" lIns="0" tIns="0" rIns="0" bIns="0" rtlCol="0" anchor="ctr"/>
          <a:lstStyle/>
          <a:p>
            <a:pPr indent="0" marL="0">
              <a:buNone/>
            </a:pPr>
            <a:r>
              <a:rPr lang="en-US" sz="1200" b="1" dirty="0">
                <a:solidFill>
                  <a:srgbClr val="B8651A"/>
                </a:solidFill>
                <a:latin typeface="Calibri" pitchFamily="34" charset="0"/>
                <a:ea typeface="Calibri" pitchFamily="34" charset="-122"/>
                <a:cs typeface="Calibri" pitchFamily="34" charset="-120"/>
              </a:rPr>
              <a:t>Por qué falla:</a:t>
            </a:r>
            <a:endParaRPr lang="en-US" sz="1200" dirty="0"/>
          </a:p>
        </p:txBody>
      </p:sp>
      <p:sp>
        <p:nvSpPr>
          <p:cNvPr id="10" name="Text 7"/>
          <p:cNvSpPr/>
          <p:nvPr/>
        </p:nvSpPr>
        <p:spPr>
          <a:xfrm>
            <a:off x="685800" y="5486400"/>
            <a:ext cx="5074920" cy="77724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"Medio adecuado", "condiciones óptimas", "diferentes concentraciones" — todo es vago. Nadie podría replicar.</a:t>
            </a:r>
            <a:endParaRPr lang="en-US" sz="1150" dirty="0"/>
          </a:p>
        </p:txBody>
      </p:sp>
      <p:sp>
        <p:nvSpPr>
          <p:cNvPr id="11" name="Shape 8"/>
          <p:cNvSpPr/>
          <p:nvPr/>
        </p:nvSpPr>
        <p:spPr>
          <a:xfrm>
            <a:off x="6172200" y="1691640"/>
            <a:ext cx="5532120" cy="4572000"/>
          </a:xfrm>
          <a:prstGeom prst="rect">
            <a:avLst/>
          </a:prstGeom>
          <a:solidFill>
            <a:srgbClr val="FFFFFF"/>
          </a:solidFill>
          <a:ln w="19050">
            <a:solidFill>
              <a:srgbClr val="2C5F2D"/>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172200" y="1691640"/>
            <a:ext cx="5532120" cy="548640"/>
          </a:xfrm>
          <a:prstGeom prst="rect">
            <a:avLst/>
          </a:prstGeom>
          <a:solidFill>
            <a:srgbClr val="2C5F2D"/>
          </a:solidFill>
          <a:ln w="12700">
            <a:solidFill>
              <a:srgbClr val="2C5F2D"/>
            </a:solidFill>
            <a:prstDash val="solid"/>
          </a:ln>
        </p:spPr>
      </p:sp>
      <p:pic>
        <p:nvPicPr>
          <p:cNvPr id="13" name="Image 1" descr="preencoded.png">    </p:cNvPr>
          <p:cNvPicPr>
            <a:picLocks noChangeAspect="1"/>
          </p:cNvPicPr>
          <p:nvPr/>
        </p:nvPicPr>
        <p:blipFill>
          <a:blip r:embed="rId2"/>
          <a:stretch>
            <a:fillRect/>
          </a:stretch>
        </p:blipFill>
        <p:spPr>
          <a:xfrm>
            <a:off x="6355080" y="1828800"/>
            <a:ext cx="274320" cy="274320"/>
          </a:xfrm>
          <a:prstGeom prst="rect">
            <a:avLst/>
          </a:prstGeom>
        </p:spPr>
      </p:pic>
      <p:sp>
        <p:nvSpPr>
          <p:cNvPr id="14" name="Text 10"/>
          <p:cNvSpPr/>
          <p:nvPr/>
        </p:nvSpPr>
        <p:spPr>
          <a:xfrm>
            <a:off x="6720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REPLICABLE</a:t>
            </a:r>
            <a:endParaRPr lang="en-US" sz="1300" dirty="0"/>
          </a:p>
        </p:txBody>
      </p:sp>
      <p:sp>
        <p:nvSpPr>
          <p:cNvPr id="15" name="Text 11"/>
          <p:cNvSpPr/>
          <p:nvPr/>
        </p:nvSpPr>
        <p:spPr>
          <a:xfrm>
            <a:off x="6400800" y="2377440"/>
            <a:ext cx="5074920" cy="3840480"/>
          </a:xfrm>
          <a:prstGeom prst="rect">
            <a:avLst/>
          </a:prstGeom>
          <a:noFill/>
          <a:ln/>
        </p:spPr>
        <p:txBody>
          <a:bodyPr wrap="square" lIns="0" tIns="0" rIns="0" bIns="0" rtlCol="0" anchor="ctr"/>
          <a:lstStyle/>
          <a:p>
            <a:pPr indent="0" marL="0">
              <a:lnSpc>
                <a:spcPct val="118000"/>
              </a:lnSpc>
              <a:buNone/>
            </a:pPr>
            <a:r>
              <a:rPr lang="en-US" sz="1100" dirty="0">
                <a:solidFill>
                  <a:srgbClr val="1A1A1A"/>
                </a:solidFill>
                <a:latin typeface="Calibri" pitchFamily="34" charset="0"/>
                <a:ea typeface="Calibri" pitchFamily="34" charset="-122"/>
                <a:cs typeface="Calibri" pitchFamily="34" charset="-120"/>
              </a:rPr>
              <a:t>"Las cepas se reactivaron en caldo MRS (Oxoid CM0359) a 37 °C durante 24 h. La tolerancia a sales biliares se evaluó inoculando 10⁷ UFC/mL en MRS adicionado con 0, 0.15 y 0.30 % de Oxgall (Sigma B8756), incubando 4 h a 37 °C. La supervivencia se cuantificó por recuento en placa por triplicado. El análisis se realizó con un ANOVA de una vía y post-hoc Tukey (α = 0.05) en R 4.4.1."</a:t>
            </a:r>
            <a:endParaRPr lang="en-US" sz="1100" dirty="0"/>
          </a:p>
        </p:txBody>
      </p:sp>
      <p:sp>
        <p:nvSpPr>
          <p:cNvPr id="16" name="Text 1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7" name="Text 1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5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Errores frecuentes y ejercicios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Lo que tumba secciones de Métodos — y cómo evitarlo.</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ERRORES FRECUENTES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Los 7 más comunes en Materiales y Métodos</a:t>
            </a:r>
            <a:endParaRPr lang="en-US" sz="3000" dirty="0"/>
          </a:p>
        </p:txBody>
      </p:sp>
      <p:sp>
        <p:nvSpPr>
          <p:cNvPr id="4" name="Shape 2"/>
          <p:cNvSpPr/>
          <p:nvPr/>
        </p:nvSpPr>
        <p:spPr>
          <a:xfrm>
            <a:off x="457200" y="1783080"/>
            <a:ext cx="5532120" cy="960120"/>
          </a:xfrm>
          <a:prstGeom prst="rect">
            <a:avLst/>
          </a:prstGeom>
          <a:solidFill>
            <a:srgbClr val="F7F4ED"/>
          </a:solidFill>
          <a:ln w="12700">
            <a:solidFill>
              <a:srgbClr val="D9D2C0"/>
            </a:solidFill>
            <a:prstDash val="solid"/>
          </a:ln>
        </p:spPr>
      </p:sp>
      <p:sp>
        <p:nvSpPr>
          <p:cNvPr id="5" name="Shape 3"/>
          <p:cNvSpPr/>
          <p:nvPr/>
        </p:nvSpPr>
        <p:spPr>
          <a:xfrm>
            <a:off x="457200" y="1783080"/>
            <a:ext cx="73152" cy="96012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85800" y="2075688"/>
            <a:ext cx="365760" cy="365760"/>
          </a:xfrm>
          <a:prstGeom prst="rect">
            <a:avLst/>
          </a:prstGeom>
        </p:spPr>
      </p:pic>
      <p:sp>
        <p:nvSpPr>
          <p:cNvPr id="7" name="Text 4"/>
          <p:cNvSpPr/>
          <p:nvPr/>
        </p:nvSpPr>
        <p:spPr>
          <a:xfrm>
            <a:off x="123444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Adjetivos vagos: "adecuado", "óptimo", "estándar".</a:t>
            </a:r>
            <a:endParaRPr lang="en-US" sz="1200" dirty="0"/>
          </a:p>
        </p:txBody>
      </p:sp>
      <p:sp>
        <p:nvSpPr>
          <p:cNvPr id="8" name="Shape 5"/>
          <p:cNvSpPr/>
          <p:nvPr/>
        </p:nvSpPr>
        <p:spPr>
          <a:xfrm>
            <a:off x="457200" y="2880360"/>
            <a:ext cx="5532120" cy="960120"/>
          </a:xfrm>
          <a:prstGeom prst="rect">
            <a:avLst/>
          </a:prstGeom>
          <a:solidFill>
            <a:srgbClr val="F7F4ED"/>
          </a:solidFill>
          <a:ln w="12700">
            <a:solidFill>
              <a:srgbClr val="D9D2C0"/>
            </a:solidFill>
            <a:prstDash val="solid"/>
          </a:ln>
        </p:spPr>
      </p:sp>
      <p:sp>
        <p:nvSpPr>
          <p:cNvPr id="9" name="Shape 6"/>
          <p:cNvSpPr/>
          <p:nvPr/>
        </p:nvSpPr>
        <p:spPr>
          <a:xfrm>
            <a:off x="457200" y="2880360"/>
            <a:ext cx="73152" cy="960120"/>
          </a:xfrm>
          <a:prstGeom prst="rect">
            <a:avLst/>
          </a:prstGeom>
          <a:solidFill>
            <a:srgbClr val="B8651A"/>
          </a:solidFill>
          <a:ln w="12700">
            <a:solidFill>
              <a:srgbClr val="B8651A"/>
            </a:solidFill>
            <a:prstDash val="solid"/>
          </a:ln>
        </p:spPr>
      </p:sp>
      <p:pic>
        <p:nvPicPr>
          <p:cNvPr id="10" name="Image 1" descr="preencoded.png">    </p:cNvPr>
          <p:cNvPicPr>
            <a:picLocks noChangeAspect="1"/>
          </p:cNvPicPr>
          <p:nvPr/>
        </p:nvPicPr>
        <p:blipFill>
          <a:blip r:embed="rId2"/>
          <a:stretch>
            <a:fillRect/>
          </a:stretch>
        </p:blipFill>
        <p:spPr>
          <a:xfrm>
            <a:off x="685800" y="3172968"/>
            <a:ext cx="365760" cy="365760"/>
          </a:xfrm>
          <a:prstGeom prst="rect">
            <a:avLst/>
          </a:prstGeom>
        </p:spPr>
      </p:pic>
      <p:sp>
        <p:nvSpPr>
          <p:cNvPr id="11" name="Text 7"/>
          <p:cNvSpPr/>
          <p:nvPr/>
        </p:nvSpPr>
        <p:spPr>
          <a:xfrm>
            <a:off x="123444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Marcas y modelos ausentes en reactivos y equipos.</a:t>
            </a:r>
            <a:endParaRPr lang="en-US" sz="1200" dirty="0"/>
          </a:p>
        </p:txBody>
      </p:sp>
      <p:sp>
        <p:nvSpPr>
          <p:cNvPr id="12" name="Shape 8"/>
          <p:cNvSpPr/>
          <p:nvPr/>
        </p:nvSpPr>
        <p:spPr>
          <a:xfrm>
            <a:off x="457200" y="3977640"/>
            <a:ext cx="5532120" cy="960120"/>
          </a:xfrm>
          <a:prstGeom prst="rect">
            <a:avLst/>
          </a:prstGeom>
          <a:solidFill>
            <a:srgbClr val="F7F4ED"/>
          </a:solidFill>
          <a:ln w="12700">
            <a:solidFill>
              <a:srgbClr val="D9D2C0"/>
            </a:solidFill>
            <a:prstDash val="solid"/>
          </a:ln>
        </p:spPr>
      </p:sp>
      <p:sp>
        <p:nvSpPr>
          <p:cNvPr id="13" name="Shape 9"/>
          <p:cNvSpPr/>
          <p:nvPr/>
        </p:nvSpPr>
        <p:spPr>
          <a:xfrm>
            <a:off x="457200" y="3977640"/>
            <a:ext cx="73152" cy="960120"/>
          </a:xfrm>
          <a:prstGeom prst="rect">
            <a:avLst/>
          </a:prstGeom>
          <a:solidFill>
            <a:srgbClr val="B8651A"/>
          </a:solidFill>
          <a:ln w="12700">
            <a:solidFill>
              <a:srgbClr val="B8651A"/>
            </a:solidFill>
            <a:prstDash val="solid"/>
          </a:ln>
        </p:spPr>
      </p:sp>
      <p:pic>
        <p:nvPicPr>
          <p:cNvPr id="14" name="Image 2" descr="preencoded.png">    </p:cNvPr>
          <p:cNvPicPr>
            <a:picLocks noChangeAspect="1"/>
          </p:cNvPicPr>
          <p:nvPr/>
        </p:nvPicPr>
        <p:blipFill>
          <a:blip r:embed="rId3"/>
          <a:stretch>
            <a:fillRect/>
          </a:stretch>
        </p:blipFill>
        <p:spPr>
          <a:xfrm>
            <a:off x="685800" y="4270248"/>
            <a:ext cx="365760" cy="365760"/>
          </a:xfrm>
          <a:prstGeom prst="rect">
            <a:avLst/>
          </a:prstGeom>
        </p:spPr>
      </p:pic>
      <p:sp>
        <p:nvSpPr>
          <p:cNvPr id="15" name="Text 10"/>
          <p:cNvSpPr/>
          <p:nvPr/>
        </p:nvSpPr>
        <p:spPr>
          <a:xfrm>
            <a:off x="123444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Mezclar Métodos con Resultados o con Discusión.</a:t>
            </a:r>
            <a:endParaRPr lang="en-US" sz="1200" dirty="0"/>
          </a:p>
        </p:txBody>
      </p:sp>
      <p:sp>
        <p:nvSpPr>
          <p:cNvPr id="16" name="Shape 11"/>
          <p:cNvSpPr/>
          <p:nvPr/>
        </p:nvSpPr>
        <p:spPr>
          <a:xfrm>
            <a:off x="457200" y="5074920"/>
            <a:ext cx="5532120" cy="960120"/>
          </a:xfrm>
          <a:prstGeom prst="rect">
            <a:avLst/>
          </a:prstGeom>
          <a:solidFill>
            <a:srgbClr val="F7F4ED"/>
          </a:solidFill>
          <a:ln w="12700">
            <a:solidFill>
              <a:srgbClr val="D9D2C0"/>
            </a:solidFill>
            <a:prstDash val="solid"/>
          </a:ln>
        </p:spPr>
      </p:sp>
      <p:sp>
        <p:nvSpPr>
          <p:cNvPr id="17" name="Shape 12"/>
          <p:cNvSpPr/>
          <p:nvPr/>
        </p:nvSpPr>
        <p:spPr>
          <a:xfrm>
            <a:off x="457200" y="5074920"/>
            <a:ext cx="73152" cy="960120"/>
          </a:xfrm>
          <a:prstGeom prst="rect">
            <a:avLst/>
          </a:prstGeom>
          <a:solidFill>
            <a:srgbClr val="B8651A"/>
          </a:solidFill>
          <a:ln w="12700">
            <a:solidFill>
              <a:srgbClr val="B8651A"/>
            </a:solidFill>
            <a:prstDash val="solid"/>
          </a:ln>
        </p:spPr>
      </p:sp>
      <p:pic>
        <p:nvPicPr>
          <p:cNvPr id="18" name="Image 3" descr="preencoded.png">    </p:cNvPr>
          <p:cNvPicPr>
            <a:picLocks noChangeAspect="1"/>
          </p:cNvPicPr>
          <p:nvPr/>
        </p:nvPicPr>
        <p:blipFill>
          <a:blip r:embed="rId4"/>
          <a:stretch>
            <a:fillRect/>
          </a:stretch>
        </p:blipFill>
        <p:spPr>
          <a:xfrm>
            <a:off x="685800" y="5367528"/>
            <a:ext cx="365760" cy="365760"/>
          </a:xfrm>
          <a:prstGeom prst="rect">
            <a:avLst/>
          </a:prstGeom>
        </p:spPr>
      </p:pic>
      <p:sp>
        <p:nvSpPr>
          <p:cNvPr id="19" name="Text 13"/>
          <p:cNvSpPr/>
          <p:nvPr/>
        </p:nvSpPr>
        <p:spPr>
          <a:xfrm>
            <a:off x="1234440" y="507492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Copiar protocolos publicados sin citar la fuente.</a:t>
            </a:r>
            <a:endParaRPr lang="en-US" sz="1200" dirty="0"/>
          </a:p>
        </p:txBody>
      </p:sp>
      <p:sp>
        <p:nvSpPr>
          <p:cNvPr id="20" name="Shape 14"/>
          <p:cNvSpPr/>
          <p:nvPr/>
        </p:nvSpPr>
        <p:spPr>
          <a:xfrm>
            <a:off x="6217920" y="1783080"/>
            <a:ext cx="5532120" cy="960120"/>
          </a:xfrm>
          <a:prstGeom prst="rect">
            <a:avLst/>
          </a:prstGeom>
          <a:solidFill>
            <a:srgbClr val="F7F4ED"/>
          </a:solidFill>
          <a:ln w="12700">
            <a:solidFill>
              <a:srgbClr val="D9D2C0"/>
            </a:solidFill>
            <a:prstDash val="solid"/>
          </a:ln>
        </p:spPr>
      </p:sp>
      <p:sp>
        <p:nvSpPr>
          <p:cNvPr id="21" name="Shape 15"/>
          <p:cNvSpPr/>
          <p:nvPr/>
        </p:nvSpPr>
        <p:spPr>
          <a:xfrm>
            <a:off x="6217920" y="1783080"/>
            <a:ext cx="73152" cy="960120"/>
          </a:xfrm>
          <a:prstGeom prst="rect">
            <a:avLst/>
          </a:prstGeom>
          <a:solidFill>
            <a:srgbClr val="B8651A"/>
          </a:solidFill>
          <a:ln w="12700">
            <a:solidFill>
              <a:srgbClr val="B8651A"/>
            </a:solidFill>
            <a:prstDash val="solid"/>
          </a:ln>
        </p:spPr>
      </p:sp>
      <p:pic>
        <p:nvPicPr>
          <p:cNvPr id="22" name="Image 4" descr="preencoded.png">    </p:cNvPr>
          <p:cNvPicPr>
            <a:picLocks noChangeAspect="1"/>
          </p:cNvPicPr>
          <p:nvPr/>
        </p:nvPicPr>
        <p:blipFill>
          <a:blip r:embed="rId5"/>
          <a:stretch>
            <a:fillRect/>
          </a:stretch>
        </p:blipFill>
        <p:spPr>
          <a:xfrm>
            <a:off x="6446520" y="2075688"/>
            <a:ext cx="365760" cy="365760"/>
          </a:xfrm>
          <a:prstGeom prst="rect">
            <a:avLst/>
          </a:prstGeom>
        </p:spPr>
      </p:pic>
      <p:sp>
        <p:nvSpPr>
          <p:cNvPr id="23" name="Text 16"/>
          <p:cNvSpPr/>
          <p:nvPr/>
        </p:nvSpPr>
        <p:spPr>
          <a:xfrm>
            <a:off x="699516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Omitir el diseño experimental antes del análisis.</a:t>
            </a:r>
            <a:endParaRPr lang="en-US" sz="1200" dirty="0"/>
          </a:p>
        </p:txBody>
      </p:sp>
      <p:sp>
        <p:nvSpPr>
          <p:cNvPr id="24" name="Shape 17"/>
          <p:cNvSpPr/>
          <p:nvPr/>
        </p:nvSpPr>
        <p:spPr>
          <a:xfrm>
            <a:off x="6217920" y="2880360"/>
            <a:ext cx="5532120" cy="960120"/>
          </a:xfrm>
          <a:prstGeom prst="rect">
            <a:avLst/>
          </a:prstGeom>
          <a:solidFill>
            <a:srgbClr val="F7F4ED"/>
          </a:solidFill>
          <a:ln w="12700">
            <a:solidFill>
              <a:srgbClr val="D9D2C0"/>
            </a:solidFill>
            <a:prstDash val="solid"/>
          </a:ln>
        </p:spPr>
      </p:sp>
      <p:sp>
        <p:nvSpPr>
          <p:cNvPr id="25" name="Shape 18"/>
          <p:cNvSpPr/>
          <p:nvPr/>
        </p:nvSpPr>
        <p:spPr>
          <a:xfrm>
            <a:off x="6217920" y="2880360"/>
            <a:ext cx="73152" cy="960120"/>
          </a:xfrm>
          <a:prstGeom prst="rect">
            <a:avLst/>
          </a:prstGeom>
          <a:solidFill>
            <a:srgbClr val="B8651A"/>
          </a:solidFill>
          <a:ln w="12700">
            <a:solidFill>
              <a:srgbClr val="B8651A"/>
            </a:solidFill>
            <a:prstDash val="solid"/>
          </a:ln>
        </p:spPr>
      </p:sp>
      <p:pic>
        <p:nvPicPr>
          <p:cNvPr id="26" name="Image 5" descr="preencoded.png">    </p:cNvPr>
          <p:cNvPicPr>
            <a:picLocks noChangeAspect="1"/>
          </p:cNvPicPr>
          <p:nvPr/>
        </p:nvPicPr>
        <p:blipFill>
          <a:blip r:embed="rId6"/>
          <a:stretch>
            <a:fillRect/>
          </a:stretch>
        </p:blipFill>
        <p:spPr>
          <a:xfrm>
            <a:off x="6446520" y="3172968"/>
            <a:ext cx="365760" cy="365760"/>
          </a:xfrm>
          <a:prstGeom prst="rect">
            <a:avLst/>
          </a:prstGeom>
        </p:spPr>
      </p:pic>
      <p:sp>
        <p:nvSpPr>
          <p:cNvPr id="27" name="Text 19"/>
          <p:cNvSpPr/>
          <p:nvPr/>
        </p:nvSpPr>
        <p:spPr>
          <a:xfrm>
            <a:off x="699516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No reportar versión del software ni paquetes usados.</a:t>
            </a:r>
            <a:endParaRPr lang="en-US" sz="1200" dirty="0"/>
          </a:p>
        </p:txBody>
      </p:sp>
      <p:sp>
        <p:nvSpPr>
          <p:cNvPr id="28" name="Shape 20"/>
          <p:cNvSpPr/>
          <p:nvPr/>
        </p:nvSpPr>
        <p:spPr>
          <a:xfrm>
            <a:off x="6217920" y="3977640"/>
            <a:ext cx="5532120" cy="960120"/>
          </a:xfrm>
          <a:prstGeom prst="rect">
            <a:avLst/>
          </a:prstGeom>
          <a:solidFill>
            <a:srgbClr val="F7F4ED"/>
          </a:solidFill>
          <a:ln w="12700">
            <a:solidFill>
              <a:srgbClr val="D9D2C0"/>
            </a:solidFill>
            <a:prstDash val="solid"/>
          </a:ln>
        </p:spPr>
      </p:sp>
      <p:sp>
        <p:nvSpPr>
          <p:cNvPr id="29" name="Shape 21"/>
          <p:cNvSpPr/>
          <p:nvPr/>
        </p:nvSpPr>
        <p:spPr>
          <a:xfrm>
            <a:off x="6217920" y="3977640"/>
            <a:ext cx="73152" cy="960120"/>
          </a:xfrm>
          <a:prstGeom prst="rect">
            <a:avLst/>
          </a:prstGeom>
          <a:solidFill>
            <a:srgbClr val="B8651A"/>
          </a:solidFill>
          <a:ln w="12700">
            <a:solidFill>
              <a:srgbClr val="B8651A"/>
            </a:solidFill>
            <a:prstDash val="solid"/>
          </a:ln>
        </p:spPr>
      </p:sp>
      <p:pic>
        <p:nvPicPr>
          <p:cNvPr id="30" name="Image 6" descr="preencoded.png">    </p:cNvPr>
          <p:cNvPicPr>
            <a:picLocks noChangeAspect="1"/>
          </p:cNvPicPr>
          <p:nvPr/>
        </p:nvPicPr>
        <p:blipFill>
          <a:blip r:embed="rId7"/>
          <a:stretch>
            <a:fillRect/>
          </a:stretch>
        </p:blipFill>
        <p:spPr>
          <a:xfrm>
            <a:off x="6446520" y="4270248"/>
            <a:ext cx="365760" cy="365760"/>
          </a:xfrm>
          <a:prstGeom prst="rect">
            <a:avLst/>
          </a:prstGeom>
        </p:spPr>
      </p:pic>
      <p:sp>
        <p:nvSpPr>
          <p:cNvPr id="31" name="Text 22"/>
          <p:cNvSpPr/>
          <p:nvPr/>
        </p:nvSpPr>
        <p:spPr>
          <a:xfrm>
            <a:off x="699516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Saltarse la verificación de supuestos estadísticos.</a:t>
            </a:r>
            <a:endParaRPr lang="en-US" sz="1200" dirty="0"/>
          </a:p>
        </p:txBody>
      </p:sp>
      <p:sp>
        <p:nvSpPr>
          <p:cNvPr id="32"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3"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1  ·  20 MINUTOS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Diagnostica esta sección de Métodos</a:t>
            </a:r>
            <a:endParaRPr lang="en-US" sz="3000" dirty="0"/>
          </a:p>
        </p:txBody>
      </p:sp>
      <p:sp>
        <p:nvSpPr>
          <p:cNvPr id="4" name="Shape 2"/>
          <p:cNvSpPr/>
          <p:nvPr/>
        </p:nvSpPr>
        <p:spPr>
          <a:xfrm>
            <a:off x="457200" y="1691640"/>
            <a:ext cx="685800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6858000" cy="457200"/>
          </a:xfrm>
          <a:prstGeom prst="rect">
            <a:avLst/>
          </a:prstGeom>
          <a:solidFill>
            <a:srgbClr val="B8651A"/>
          </a:solidFill>
          <a:ln w="12700">
            <a:solidFill>
              <a:srgbClr val="B8651A"/>
            </a:solidFill>
            <a:prstDash val="solid"/>
          </a:ln>
        </p:spPr>
      </p:sp>
      <p:sp>
        <p:nvSpPr>
          <p:cNvPr id="6" name="Text 4"/>
          <p:cNvSpPr/>
          <p:nvPr/>
        </p:nvSpPr>
        <p:spPr>
          <a:xfrm>
            <a:off x="640080" y="1691640"/>
            <a:ext cx="6583680"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MÉTODOS A DIAGNOSTICAR</a:t>
            </a:r>
            <a:endParaRPr lang="en-US" sz="1200" dirty="0"/>
          </a:p>
        </p:txBody>
      </p:sp>
      <p:sp>
        <p:nvSpPr>
          <p:cNvPr id="7" name="Text 5"/>
          <p:cNvSpPr/>
          <p:nvPr/>
        </p:nvSpPr>
        <p:spPr>
          <a:xfrm>
            <a:off x="685800" y="2331720"/>
            <a:ext cx="6400800" cy="3840480"/>
          </a:xfrm>
          <a:prstGeom prst="rect">
            <a:avLst/>
          </a:prstGeom>
          <a:noFill/>
          <a:ln/>
        </p:spPr>
        <p:txBody>
          <a:bodyPr wrap="square" lIns="0" tIns="0" rIns="0" bIns="0" rtlCol="0" anchor="ctr"/>
          <a:lstStyle/>
          <a:p>
            <a:pPr indent="0" marL="0">
              <a:lnSpc>
                <a:spcPct val="125000"/>
              </a:lnSpc>
              <a:buNone/>
            </a:pPr>
            <a:r>
              <a:rPr lang="en-US" sz="1200" i="1" dirty="0">
                <a:solidFill>
                  <a:srgbClr val="1A1A1A"/>
                </a:solidFill>
                <a:latin typeface="Calibri" pitchFamily="34" charset="0"/>
                <a:ea typeface="Calibri" pitchFamily="34" charset="-122"/>
                <a:cs typeface="Calibri" pitchFamily="34" charset="-120"/>
              </a:rPr>
              <a:t>"Se recolectaron muestras de cacao fermentado en una finca de la región. Las muestras se llevaron al laboratorio y se sembraron en medio de cultivo. Se incubaron las cajas y se identificaron las colonias. Se hicieron pruebas para evaluar su potencial probiótico, incluyendo tolerancia a diferentes condiciones. Los resultados se analizaron usando un software estadístico para ver si había diferencias entre las cepas."</a:t>
            </a:r>
            <a:endParaRPr lang="en-US" sz="1200" dirty="0"/>
          </a:p>
        </p:txBody>
      </p:sp>
      <p:sp>
        <p:nvSpPr>
          <p:cNvPr id="8" name="Shape 6"/>
          <p:cNvSpPr/>
          <p:nvPr/>
        </p:nvSpPr>
        <p:spPr>
          <a:xfrm>
            <a:off x="7589520" y="1691640"/>
            <a:ext cx="4114800" cy="4572000"/>
          </a:xfrm>
          <a:prstGeom prst="rect">
            <a:avLst/>
          </a:prstGeom>
          <a:solidFill>
            <a:srgbClr val="FFFFFF"/>
          </a:solidFill>
          <a:ln w="25400">
            <a:solidFill>
              <a:srgbClr val="97BC62"/>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7818120" y="1828800"/>
            <a:ext cx="3657600" cy="411480"/>
          </a:xfrm>
          <a:prstGeom prst="rect">
            <a:avLst/>
          </a:prstGeom>
          <a:noFill/>
          <a:ln/>
        </p:spPr>
        <p:txBody>
          <a:bodyPr wrap="square" lIns="0" tIns="0" rIns="0" bIns="0" rtlCol="0" anchor="ctr"/>
          <a:lstStyle/>
          <a:p>
            <a:pPr indent="0" marL="0">
              <a:buNone/>
            </a:pPr>
            <a:r>
              <a:rPr lang="en-US" sz="2000" b="1" dirty="0">
                <a:solidFill>
                  <a:srgbClr val="1F3A2E"/>
                </a:solidFill>
                <a:latin typeface="Georgia" pitchFamily="34" charset="0"/>
                <a:ea typeface="Georgia" pitchFamily="34" charset="-122"/>
                <a:cs typeface="Georgia" pitchFamily="34" charset="-120"/>
              </a:rPr>
              <a:t>Tu tarea</a:t>
            </a:r>
            <a:endParaRPr lang="en-US" sz="2000" dirty="0"/>
          </a:p>
        </p:txBody>
      </p:sp>
      <p:sp>
        <p:nvSpPr>
          <p:cNvPr id="10" name="Text 8"/>
          <p:cNvSpPr/>
          <p:nvPr/>
        </p:nvSpPr>
        <p:spPr>
          <a:xfrm>
            <a:off x="7818120" y="2331720"/>
            <a:ext cx="3703320" cy="3657600"/>
          </a:xfrm>
          <a:prstGeom prst="rect">
            <a:avLst/>
          </a:prstGeom>
          <a:noFill/>
          <a:ln/>
        </p:spPr>
        <p:txBody>
          <a:bodyPr wrap="square" rtlCol="0" anchor="ctr"/>
          <a:lstStyle/>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Marca todos los adjetivos vagos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¿Falta el sitio con coordenadas?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¿Faltan marcas y modelos?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¿El diseño experimental aparece?</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¿Se nombran las variables medidas?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¿Está el software con versión?</a:t>
            </a:r>
            <a:endParaRPr lang="en-US" sz="1300" dirty="0"/>
          </a:p>
        </p:txBody>
      </p:sp>
      <p:sp>
        <p:nvSpPr>
          <p:cNvPr id="11" name="Shape 9"/>
          <p:cNvSpPr/>
          <p:nvPr/>
        </p:nvSpPr>
        <p:spPr>
          <a:xfrm>
            <a:off x="457200" y="6355080"/>
            <a:ext cx="11247120" cy="320040"/>
          </a:xfrm>
          <a:prstGeom prst="rect">
            <a:avLst/>
          </a:prstGeom>
          <a:solidFill>
            <a:srgbClr val="97BC62"/>
          </a:solidFill>
          <a:ln w="12700">
            <a:solidFill>
              <a:srgbClr val="97BC62"/>
            </a:solidFill>
            <a:prstDash val="solid"/>
          </a:ln>
        </p:spPr>
      </p:sp>
      <p:sp>
        <p:nvSpPr>
          <p:cNvPr id="12" name="Text 10"/>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1F3A2E"/>
                </a:solidFill>
                <a:latin typeface="Calibri" pitchFamily="34" charset="0"/>
                <a:ea typeface="Calibri" pitchFamily="34" charset="-122"/>
                <a:cs typeface="Calibri" pitchFamily="34" charset="-120"/>
              </a:rPr>
              <a:t>Reescribe el párrafo en 5 minutos aplicando lo que aprendimos. Discutimos en plenaria.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SOLUCIÓN DEL EJERCICIO 1</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encontramos</a:t>
            </a:r>
            <a:endParaRPr lang="en-US" sz="3000" dirty="0"/>
          </a:p>
        </p:txBody>
      </p:sp>
      <p:sp>
        <p:nvSpPr>
          <p:cNvPr id="4" name="Shape 2"/>
          <p:cNvSpPr/>
          <p:nvPr/>
        </p:nvSpPr>
        <p:spPr>
          <a:xfrm>
            <a:off x="457200" y="1691640"/>
            <a:ext cx="2331720" cy="841248"/>
          </a:xfrm>
          <a:prstGeom prst="rect">
            <a:avLst/>
          </a:prstGeom>
          <a:solidFill>
            <a:srgbClr val="B8651A"/>
          </a:solidFill>
          <a:ln w="12700">
            <a:solidFill>
              <a:srgbClr val="B8651A"/>
            </a:solidFill>
            <a:prstDash val="solid"/>
          </a:ln>
        </p:spPr>
      </p:sp>
      <p:sp>
        <p:nvSpPr>
          <p:cNvPr id="5" name="Text 3"/>
          <p:cNvSpPr/>
          <p:nvPr/>
        </p:nvSpPr>
        <p:spPr>
          <a:xfrm>
            <a:off x="457200" y="1691640"/>
            <a:ext cx="233172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SITIO</a:t>
            </a:r>
            <a:endParaRPr lang="en-US" sz="1200" dirty="0"/>
          </a:p>
        </p:txBody>
      </p:sp>
      <p:sp>
        <p:nvSpPr>
          <p:cNvPr id="6" name="Shape 4"/>
          <p:cNvSpPr/>
          <p:nvPr/>
        </p:nvSpPr>
        <p:spPr>
          <a:xfrm>
            <a:off x="2788920" y="1691640"/>
            <a:ext cx="8915400" cy="841248"/>
          </a:xfrm>
          <a:prstGeom prst="rect">
            <a:avLst/>
          </a:prstGeom>
          <a:solidFill>
            <a:srgbClr val="F7F4ED"/>
          </a:solidFill>
          <a:ln w="12700">
            <a:solidFill>
              <a:srgbClr val="D9D2C0"/>
            </a:solidFill>
            <a:prstDash val="solid"/>
          </a:ln>
        </p:spPr>
      </p:sp>
      <p:sp>
        <p:nvSpPr>
          <p:cNvPr id="7" name="Text 5"/>
          <p:cNvSpPr/>
          <p:nvPr/>
        </p:nvSpPr>
        <p:spPr>
          <a:xfrm>
            <a:off x="2971800" y="1728216"/>
            <a:ext cx="864108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Solo dice "una finca de la región". Falta municipio, coordenadas, fechas y condiciones.</a:t>
            </a:r>
            <a:endParaRPr lang="en-US" sz="1200" dirty="0"/>
          </a:p>
        </p:txBody>
      </p:sp>
      <p:sp>
        <p:nvSpPr>
          <p:cNvPr id="8" name="Shape 6"/>
          <p:cNvSpPr/>
          <p:nvPr/>
        </p:nvSpPr>
        <p:spPr>
          <a:xfrm>
            <a:off x="457200" y="2606040"/>
            <a:ext cx="2331720" cy="841248"/>
          </a:xfrm>
          <a:prstGeom prst="rect">
            <a:avLst/>
          </a:prstGeom>
          <a:solidFill>
            <a:srgbClr val="B8651A"/>
          </a:solidFill>
          <a:ln w="12700">
            <a:solidFill>
              <a:srgbClr val="B8651A"/>
            </a:solidFill>
            <a:prstDash val="solid"/>
          </a:ln>
        </p:spPr>
      </p:sp>
      <p:sp>
        <p:nvSpPr>
          <p:cNvPr id="9" name="Text 7"/>
          <p:cNvSpPr/>
          <p:nvPr/>
        </p:nvSpPr>
        <p:spPr>
          <a:xfrm>
            <a:off x="457200" y="2606040"/>
            <a:ext cx="233172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MATERIALES</a:t>
            </a:r>
            <a:endParaRPr lang="en-US" sz="1200" dirty="0"/>
          </a:p>
        </p:txBody>
      </p:sp>
      <p:sp>
        <p:nvSpPr>
          <p:cNvPr id="10" name="Shape 8"/>
          <p:cNvSpPr/>
          <p:nvPr/>
        </p:nvSpPr>
        <p:spPr>
          <a:xfrm>
            <a:off x="2788920" y="2606040"/>
            <a:ext cx="8915400" cy="841248"/>
          </a:xfrm>
          <a:prstGeom prst="rect">
            <a:avLst/>
          </a:prstGeom>
          <a:solidFill>
            <a:srgbClr val="F7F4ED"/>
          </a:solidFill>
          <a:ln w="12700">
            <a:solidFill>
              <a:srgbClr val="D9D2C0"/>
            </a:solidFill>
            <a:prstDash val="solid"/>
          </a:ln>
        </p:spPr>
      </p:sp>
      <p:sp>
        <p:nvSpPr>
          <p:cNvPr id="11" name="Text 9"/>
          <p:cNvSpPr/>
          <p:nvPr/>
        </p:nvSpPr>
        <p:spPr>
          <a:xfrm>
            <a:off x="2971800" y="2642616"/>
            <a:ext cx="864108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"Medio de cultivo" sin nombre, marca ni casa comercial. Sin código de cepa de referencia.</a:t>
            </a:r>
            <a:endParaRPr lang="en-US" sz="1200" dirty="0"/>
          </a:p>
        </p:txBody>
      </p:sp>
      <p:sp>
        <p:nvSpPr>
          <p:cNvPr id="12" name="Shape 10"/>
          <p:cNvSpPr/>
          <p:nvPr/>
        </p:nvSpPr>
        <p:spPr>
          <a:xfrm>
            <a:off x="457200" y="3520440"/>
            <a:ext cx="2331720" cy="841248"/>
          </a:xfrm>
          <a:prstGeom prst="rect">
            <a:avLst/>
          </a:prstGeom>
          <a:solidFill>
            <a:srgbClr val="B8651A"/>
          </a:solidFill>
          <a:ln w="12700">
            <a:solidFill>
              <a:srgbClr val="B8651A"/>
            </a:solidFill>
            <a:prstDash val="solid"/>
          </a:ln>
        </p:spPr>
      </p:sp>
      <p:sp>
        <p:nvSpPr>
          <p:cNvPr id="13" name="Text 11"/>
          <p:cNvSpPr/>
          <p:nvPr/>
        </p:nvSpPr>
        <p:spPr>
          <a:xfrm>
            <a:off x="457200" y="3520440"/>
            <a:ext cx="233172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PROCEDIMIENTO</a:t>
            </a:r>
            <a:endParaRPr lang="en-US" sz="1200" dirty="0"/>
          </a:p>
        </p:txBody>
      </p:sp>
      <p:sp>
        <p:nvSpPr>
          <p:cNvPr id="14" name="Shape 12"/>
          <p:cNvSpPr/>
          <p:nvPr/>
        </p:nvSpPr>
        <p:spPr>
          <a:xfrm>
            <a:off x="2788920" y="3520440"/>
            <a:ext cx="8915400" cy="841248"/>
          </a:xfrm>
          <a:prstGeom prst="rect">
            <a:avLst/>
          </a:prstGeom>
          <a:solidFill>
            <a:srgbClr val="F7F4ED"/>
          </a:solidFill>
          <a:ln w="12700">
            <a:solidFill>
              <a:srgbClr val="D9D2C0"/>
            </a:solidFill>
            <a:prstDash val="solid"/>
          </a:ln>
        </p:spPr>
      </p:sp>
      <p:sp>
        <p:nvSpPr>
          <p:cNvPr id="15" name="Text 13"/>
          <p:cNvSpPr/>
          <p:nvPr/>
        </p:nvSpPr>
        <p:spPr>
          <a:xfrm>
            <a:off x="2971800" y="3557016"/>
            <a:ext cx="864108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Sin temperatura, tiempo, atmósfera. "Pruebas para evaluar" no es un método.</a:t>
            </a:r>
            <a:endParaRPr lang="en-US" sz="1200" dirty="0"/>
          </a:p>
        </p:txBody>
      </p:sp>
      <p:sp>
        <p:nvSpPr>
          <p:cNvPr id="16" name="Shape 14"/>
          <p:cNvSpPr/>
          <p:nvPr/>
        </p:nvSpPr>
        <p:spPr>
          <a:xfrm>
            <a:off x="457200" y="4434840"/>
            <a:ext cx="2331720" cy="841248"/>
          </a:xfrm>
          <a:prstGeom prst="rect">
            <a:avLst/>
          </a:prstGeom>
          <a:solidFill>
            <a:srgbClr val="B8651A"/>
          </a:solidFill>
          <a:ln w="12700">
            <a:solidFill>
              <a:srgbClr val="B8651A"/>
            </a:solidFill>
            <a:prstDash val="solid"/>
          </a:ln>
        </p:spPr>
      </p:sp>
      <p:sp>
        <p:nvSpPr>
          <p:cNvPr id="17" name="Text 15"/>
          <p:cNvSpPr/>
          <p:nvPr/>
        </p:nvSpPr>
        <p:spPr>
          <a:xfrm>
            <a:off x="457200" y="4434840"/>
            <a:ext cx="233172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VARIABLES</a:t>
            </a:r>
            <a:endParaRPr lang="en-US" sz="1200" dirty="0"/>
          </a:p>
        </p:txBody>
      </p:sp>
      <p:sp>
        <p:nvSpPr>
          <p:cNvPr id="18" name="Shape 16"/>
          <p:cNvSpPr/>
          <p:nvPr/>
        </p:nvSpPr>
        <p:spPr>
          <a:xfrm>
            <a:off x="2788920" y="4434840"/>
            <a:ext cx="8915400" cy="841248"/>
          </a:xfrm>
          <a:prstGeom prst="rect">
            <a:avLst/>
          </a:prstGeom>
          <a:solidFill>
            <a:srgbClr val="F7F4ED"/>
          </a:solidFill>
          <a:ln w="12700">
            <a:solidFill>
              <a:srgbClr val="D9D2C0"/>
            </a:solidFill>
            <a:prstDash val="solid"/>
          </a:ln>
        </p:spPr>
      </p:sp>
      <p:sp>
        <p:nvSpPr>
          <p:cNvPr id="19" name="Text 17"/>
          <p:cNvSpPr/>
          <p:nvPr/>
        </p:nvSpPr>
        <p:spPr>
          <a:xfrm>
            <a:off x="2971800" y="4471416"/>
            <a:ext cx="864108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"Diferentes condiciones" no especifica cuáles. Sin unidades ni precisión.</a:t>
            </a:r>
            <a:endParaRPr lang="en-US" sz="1200" dirty="0"/>
          </a:p>
        </p:txBody>
      </p:sp>
      <p:sp>
        <p:nvSpPr>
          <p:cNvPr id="20" name="Shape 18"/>
          <p:cNvSpPr/>
          <p:nvPr/>
        </p:nvSpPr>
        <p:spPr>
          <a:xfrm>
            <a:off x="457200" y="5349240"/>
            <a:ext cx="2331720" cy="841248"/>
          </a:xfrm>
          <a:prstGeom prst="rect">
            <a:avLst/>
          </a:prstGeom>
          <a:solidFill>
            <a:srgbClr val="B8651A"/>
          </a:solidFill>
          <a:ln w="12700">
            <a:solidFill>
              <a:srgbClr val="B8651A"/>
            </a:solidFill>
            <a:prstDash val="solid"/>
          </a:ln>
        </p:spPr>
      </p:sp>
      <p:sp>
        <p:nvSpPr>
          <p:cNvPr id="21" name="Text 19"/>
          <p:cNvSpPr/>
          <p:nvPr/>
        </p:nvSpPr>
        <p:spPr>
          <a:xfrm>
            <a:off x="457200" y="5349240"/>
            <a:ext cx="233172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ANÁLISIS</a:t>
            </a:r>
            <a:endParaRPr lang="en-US" sz="1200" dirty="0"/>
          </a:p>
        </p:txBody>
      </p:sp>
      <p:sp>
        <p:nvSpPr>
          <p:cNvPr id="22" name="Shape 20"/>
          <p:cNvSpPr/>
          <p:nvPr/>
        </p:nvSpPr>
        <p:spPr>
          <a:xfrm>
            <a:off x="2788920" y="5349240"/>
            <a:ext cx="8915400" cy="841248"/>
          </a:xfrm>
          <a:prstGeom prst="rect">
            <a:avLst/>
          </a:prstGeom>
          <a:solidFill>
            <a:srgbClr val="F7F4ED"/>
          </a:solidFill>
          <a:ln w="12700">
            <a:solidFill>
              <a:srgbClr val="D9D2C0"/>
            </a:solidFill>
            <a:prstDash val="solid"/>
          </a:ln>
        </p:spPr>
      </p:sp>
      <p:sp>
        <p:nvSpPr>
          <p:cNvPr id="23" name="Text 21"/>
          <p:cNvSpPr/>
          <p:nvPr/>
        </p:nvSpPr>
        <p:spPr>
          <a:xfrm>
            <a:off x="2971800" y="5385816"/>
            <a:ext cx="864108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Sin diseño, sin modelo, sin nivel de significancia, sin software ni versión.</a:t>
            </a:r>
            <a:endParaRPr lang="en-US" sz="1200" dirty="0"/>
          </a:p>
        </p:txBody>
      </p:sp>
      <p:sp>
        <p:nvSpPr>
          <p:cNvPr id="24" name="Text 22"/>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Compara con el párrafo modelo de la slide 19. Esa versión sí es replicable.</a:t>
            </a:r>
            <a:endParaRPr lang="en-US" sz="1200" dirty="0"/>
          </a:p>
        </p:txBody>
      </p:sp>
      <p:sp>
        <p:nvSpPr>
          <p:cNvPr id="25"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6"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2  ·  PARA LLEVAR</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Construye los Métodos de tu propio estudio</a:t>
            </a:r>
            <a:endParaRPr lang="en-US" sz="3000" dirty="0"/>
          </a:p>
        </p:txBody>
      </p:sp>
      <p:sp>
        <p:nvSpPr>
          <p:cNvPr id="4" name="Shape 2"/>
          <p:cNvSpPr/>
          <p:nvPr/>
        </p:nvSpPr>
        <p:spPr>
          <a:xfrm>
            <a:off x="457200" y="1691640"/>
            <a:ext cx="11247120" cy="4572000"/>
          </a:xfrm>
          <a:prstGeom prst="rect">
            <a:avLst/>
          </a:prstGeom>
          <a:solidFill>
            <a:srgbClr val="FFFFFF"/>
          </a:solidFill>
          <a:ln w="25400">
            <a:solidFill>
              <a:srgbClr val="2C5F2D"/>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7240" y="1920240"/>
            <a:ext cx="502920" cy="502920"/>
          </a:xfrm>
          <a:prstGeom prst="rect">
            <a:avLst/>
          </a:prstGeom>
        </p:spPr>
      </p:pic>
      <p:sp>
        <p:nvSpPr>
          <p:cNvPr id="6" name="Text 3"/>
          <p:cNvSpPr/>
          <p:nvPr/>
        </p:nvSpPr>
        <p:spPr>
          <a:xfrm>
            <a:off x="1417320" y="1874520"/>
            <a:ext cx="10058400" cy="548640"/>
          </a:xfrm>
          <a:prstGeom prst="rect">
            <a:avLst/>
          </a:prstGeom>
          <a:noFill/>
          <a:ln/>
        </p:spPr>
        <p:txBody>
          <a:bodyPr wrap="square" lIns="0" tIns="0" rIns="0" bIns="0" rtlCol="0" anchor="ctr"/>
          <a:lstStyle/>
          <a:p>
            <a:pPr indent="0" marL="0">
              <a:buNone/>
            </a:pPr>
            <a:r>
              <a:rPr lang="en-US" sz="2000" b="1" dirty="0">
                <a:solidFill>
                  <a:srgbClr val="1F3A2E"/>
                </a:solidFill>
                <a:latin typeface="Georgia" pitchFamily="34" charset="0"/>
                <a:ea typeface="Georgia" pitchFamily="34" charset="-122"/>
                <a:cs typeface="Georgia" pitchFamily="34" charset="-120"/>
              </a:rPr>
              <a:t>Plantilla en 5 párrafos (uno por subapartado)</a:t>
            </a:r>
            <a:endParaRPr lang="en-US" sz="2000" dirty="0"/>
          </a:p>
        </p:txBody>
      </p:sp>
      <p:sp>
        <p:nvSpPr>
          <p:cNvPr id="7" name="Text 4"/>
          <p:cNvSpPr/>
          <p:nvPr/>
        </p:nvSpPr>
        <p:spPr>
          <a:xfrm>
            <a:off x="685800" y="2606040"/>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1.</a:t>
            </a:r>
            <a:endParaRPr lang="en-US" sz="2200" dirty="0"/>
          </a:p>
        </p:txBody>
      </p:sp>
      <p:sp>
        <p:nvSpPr>
          <p:cNvPr id="8" name="Text 5"/>
          <p:cNvSpPr/>
          <p:nvPr/>
        </p:nvSpPr>
        <p:spPr>
          <a:xfrm>
            <a:off x="1188720" y="2633472"/>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SITIO</a:t>
            </a:r>
            <a:endParaRPr lang="en-US" sz="1100" dirty="0"/>
          </a:p>
        </p:txBody>
      </p:sp>
      <p:sp>
        <p:nvSpPr>
          <p:cNvPr id="9" name="Text 6"/>
          <p:cNvSpPr/>
          <p:nvPr/>
        </p:nvSpPr>
        <p:spPr>
          <a:xfrm>
            <a:off x="1188720" y="2898648"/>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El estudio se realizó en [lugar] ([coordenadas], [altitud]) entre [fechas]. Las condiciones fueron [T, HR, pp].</a:t>
            </a:r>
            <a:endParaRPr lang="en-US" sz="1200" dirty="0"/>
          </a:p>
        </p:txBody>
      </p:sp>
      <p:sp>
        <p:nvSpPr>
          <p:cNvPr id="10" name="Text 7"/>
          <p:cNvSpPr/>
          <p:nvPr/>
        </p:nvSpPr>
        <p:spPr>
          <a:xfrm>
            <a:off x="685800" y="3319272"/>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2.</a:t>
            </a:r>
            <a:endParaRPr lang="en-US" sz="2200" dirty="0"/>
          </a:p>
        </p:txBody>
      </p:sp>
      <p:sp>
        <p:nvSpPr>
          <p:cNvPr id="11" name="Text 8"/>
          <p:cNvSpPr/>
          <p:nvPr/>
        </p:nvSpPr>
        <p:spPr>
          <a:xfrm>
            <a:off x="1188720" y="3346704"/>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MATERIALES</a:t>
            </a:r>
            <a:endParaRPr lang="en-US" sz="1100" dirty="0"/>
          </a:p>
        </p:txBody>
      </p:sp>
      <p:sp>
        <p:nvSpPr>
          <p:cNvPr id="12" name="Text 9"/>
          <p:cNvSpPr/>
          <p:nvPr/>
        </p:nvSpPr>
        <p:spPr>
          <a:xfrm>
            <a:off x="1188720" y="3611880"/>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Se utilizaron [muestras/cepas] con [criterios]. Los reactivos fueron [nombre, marca, pureza, fabricante].</a:t>
            </a:r>
            <a:endParaRPr lang="en-US" sz="1200" dirty="0"/>
          </a:p>
        </p:txBody>
      </p:sp>
      <p:sp>
        <p:nvSpPr>
          <p:cNvPr id="13" name="Text 10"/>
          <p:cNvSpPr/>
          <p:nvPr/>
        </p:nvSpPr>
        <p:spPr>
          <a:xfrm>
            <a:off x="685800" y="4032504"/>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3.</a:t>
            </a:r>
            <a:endParaRPr lang="en-US" sz="2200" dirty="0"/>
          </a:p>
        </p:txBody>
      </p:sp>
      <p:sp>
        <p:nvSpPr>
          <p:cNvPr id="14" name="Text 11"/>
          <p:cNvSpPr/>
          <p:nvPr/>
        </p:nvSpPr>
        <p:spPr>
          <a:xfrm>
            <a:off x="1188720" y="4059936"/>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PROCEDIMIENTO</a:t>
            </a:r>
            <a:endParaRPr lang="en-US" sz="1100" dirty="0"/>
          </a:p>
        </p:txBody>
      </p:sp>
      <p:sp>
        <p:nvSpPr>
          <p:cNvPr id="15" name="Text 12"/>
          <p:cNvSpPr/>
          <p:nvPr/>
        </p:nvSpPr>
        <p:spPr>
          <a:xfrm>
            <a:off x="1188720" y="4325112"/>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Las muestras se procesaron así: [paso 1] a [T, t]; [paso 2] a [condiciones]; [paso 3] siguiendo [método citado].</a:t>
            </a:r>
            <a:endParaRPr lang="en-US" sz="1200" dirty="0"/>
          </a:p>
        </p:txBody>
      </p:sp>
      <p:sp>
        <p:nvSpPr>
          <p:cNvPr id="16" name="Text 13"/>
          <p:cNvSpPr/>
          <p:nvPr/>
        </p:nvSpPr>
        <p:spPr>
          <a:xfrm>
            <a:off x="685800" y="4745736"/>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4.</a:t>
            </a:r>
            <a:endParaRPr lang="en-US" sz="2200" dirty="0"/>
          </a:p>
        </p:txBody>
      </p:sp>
      <p:sp>
        <p:nvSpPr>
          <p:cNvPr id="17" name="Text 14"/>
          <p:cNvSpPr/>
          <p:nvPr/>
        </p:nvSpPr>
        <p:spPr>
          <a:xfrm>
            <a:off x="1188720" y="4773168"/>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VARIABLES</a:t>
            </a:r>
            <a:endParaRPr lang="en-US" sz="1100" dirty="0"/>
          </a:p>
        </p:txBody>
      </p:sp>
      <p:sp>
        <p:nvSpPr>
          <p:cNvPr id="18" name="Text 15"/>
          <p:cNvSpPr/>
          <p:nvPr/>
        </p:nvSpPr>
        <p:spPr>
          <a:xfrm>
            <a:off x="1188720" y="5038344"/>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Se midieron [variables] con [instrumento, modelo] siguiendo [norma o método citado] con precisión de [unidad].</a:t>
            </a:r>
            <a:endParaRPr lang="en-US" sz="1200" dirty="0"/>
          </a:p>
        </p:txBody>
      </p:sp>
      <p:sp>
        <p:nvSpPr>
          <p:cNvPr id="19" name="Text 16"/>
          <p:cNvSpPr/>
          <p:nvPr/>
        </p:nvSpPr>
        <p:spPr>
          <a:xfrm>
            <a:off x="685800" y="5458968"/>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5.</a:t>
            </a:r>
            <a:endParaRPr lang="en-US" sz="2200" dirty="0"/>
          </a:p>
        </p:txBody>
      </p:sp>
      <p:sp>
        <p:nvSpPr>
          <p:cNvPr id="20" name="Text 17"/>
          <p:cNvSpPr/>
          <p:nvPr/>
        </p:nvSpPr>
        <p:spPr>
          <a:xfrm>
            <a:off x="1188720" y="5486400"/>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ANÁLISIS</a:t>
            </a:r>
            <a:endParaRPr lang="en-US" sz="1100" dirty="0"/>
          </a:p>
        </p:txBody>
      </p:sp>
      <p:sp>
        <p:nvSpPr>
          <p:cNvPr id="21" name="Text 18"/>
          <p:cNvSpPr/>
          <p:nvPr/>
        </p:nvSpPr>
        <p:spPr>
          <a:xfrm>
            <a:off x="1188720" y="5751576"/>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Bajo un [diseño], los datos se analizaron con [modelo] verificando [supuestos], en [software, versión, paquetes].</a:t>
            </a:r>
            <a:endParaRPr lang="en-US" sz="1200" dirty="0"/>
          </a:p>
        </p:txBody>
      </p:sp>
      <p:sp>
        <p:nvSpPr>
          <p:cNvPr id="22" name="Shape 19"/>
          <p:cNvSpPr/>
          <p:nvPr/>
        </p:nvSpPr>
        <p:spPr>
          <a:xfrm>
            <a:off x="457200" y="6355080"/>
            <a:ext cx="11247120" cy="320040"/>
          </a:xfrm>
          <a:prstGeom prst="rect">
            <a:avLst/>
          </a:prstGeom>
          <a:solidFill>
            <a:srgbClr val="2C5F2D"/>
          </a:solidFill>
          <a:ln w="12700">
            <a:solidFill>
              <a:srgbClr val="2C5F2D"/>
            </a:solidFill>
            <a:prstDash val="solid"/>
          </a:ln>
        </p:spPr>
      </p:sp>
      <p:sp>
        <p:nvSpPr>
          <p:cNvPr id="23" name="Text 20"/>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Entregable de la sesión: 5 párrafos completados con datos de tu propio estudio.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1280160"/>
            <a:ext cx="10058400" cy="1097280"/>
          </a:xfrm>
          <a:prstGeom prst="rect">
            <a:avLst/>
          </a:prstGeom>
          <a:noFill/>
          <a:ln/>
        </p:spPr>
        <p:txBody>
          <a:bodyPr wrap="square" lIns="0" tIns="0" rIns="0" bIns="0" rtlCol="0" anchor="ctr"/>
          <a:lstStyle/>
          <a:p>
            <a:pPr indent="0" marL="0">
              <a:buNone/>
            </a:pPr>
            <a:r>
              <a:rPr lang="en-US" sz="7200" b="1" spc="1200" kern="0" dirty="0">
                <a:solidFill>
                  <a:srgbClr val="FFFFFF"/>
                </a:solidFill>
                <a:latin typeface="Georgia" pitchFamily="34" charset="0"/>
                <a:ea typeface="Georgia" pitchFamily="34" charset="-122"/>
                <a:cs typeface="Georgia" pitchFamily="34" charset="-120"/>
              </a:rPr>
              <a:t>GRACIAS</a:t>
            </a:r>
            <a:endParaRPr lang="en-US" sz="7200" dirty="0"/>
          </a:p>
        </p:txBody>
      </p:sp>
      <p:sp>
        <p:nvSpPr>
          <p:cNvPr id="4" name="Text 2"/>
          <p:cNvSpPr/>
          <p:nvPr/>
        </p:nvSpPr>
        <p:spPr>
          <a:xfrm>
            <a:off x="822960" y="2606040"/>
            <a:ext cx="10424160" cy="1097280"/>
          </a:xfrm>
          <a:prstGeom prst="rect">
            <a:avLst/>
          </a:prstGeom>
          <a:noFill/>
          <a:ln/>
        </p:spPr>
        <p:txBody>
          <a:bodyPr wrap="square" lIns="0" tIns="0" rIns="0" bIns="0" rtlCol="0" anchor="ctr"/>
          <a:lstStyle/>
          <a:p>
            <a:pPr indent="0" marL="0">
              <a:buNone/>
            </a:pPr>
            <a:r>
              <a:rPr lang="en-US" sz="2200" i="1" dirty="0">
                <a:solidFill>
                  <a:srgbClr val="CADCFC"/>
                </a:solidFill>
                <a:latin typeface="Georgia" pitchFamily="34" charset="0"/>
                <a:ea typeface="Georgia" pitchFamily="34" charset="-122"/>
                <a:cs typeface="Georgia" pitchFamily="34" charset="-120"/>
              </a:rPr>
              <a:t>Una buena sección de Métodos no presume — se deja repetir. Esa es toda la prueba.</a:t>
            </a:r>
            <a:endParaRPr lang="en-US" sz="2200" dirty="0"/>
          </a:p>
        </p:txBody>
      </p:sp>
      <p:sp>
        <p:nvSpPr>
          <p:cNvPr id="5" name="Shape 3"/>
          <p:cNvSpPr/>
          <p:nvPr/>
        </p:nvSpPr>
        <p:spPr>
          <a:xfrm>
            <a:off x="822960" y="4023360"/>
            <a:ext cx="10424160" cy="1783080"/>
          </a:xfrm>
          <a:prstGeom prst="rect">
            <a:avLst/>
          </a:prstGeom>
          <a:solidFill>
            <a:srgbClr val="2C5F2D"/>
          </a:solidFill>
          <a:ln w="12700">
            <a:solidFill>
              <a:srgbClr val="2C5F2D"/>
            </a:solidFill>
            <a:prstDash val="solid"/>
          </a:ln>
        </p:spPr>
      </p:sp>
      <p:sp>
        <p:nvSpPr>
          <p:cNvPr id="6" name="Text 4"/>
          <p:cNvSpPr/>
          <p:nvPr/>
        </p:nvSpPr>
        <p:spPr>
          <a:xfrm>
            <a:off x="1097280" y="4160520"/>
            <a:ext cx="10058400" cy="365760"/>
          </a:xfrm>
          <a:prstGeom prst="rect">
            <a:avLst/>
          </a:prstGeom>
          <a:noFill/>
          <a:ln/>
        </p:spPr>
        <p:txBody>
          <a:bodyPr wrap="square" lIns="0" tIns="0" rIns="0" bIns="0" rtlCol="0" anchor="ctr"/>
          <a:lstStyle/>
          <a:p>
            <a:pPr indent="0" marL="0">
              <a:buNone/>
            </a:pPr>
            <a:r>
              <a:rPr lang="en-US" sz="1200" b="1" spc="400" kern="0" dirty="0">
                <a:solidFill>
                  <a:srgbClr val="97BC62"/>
                </a:solidFill>
                <a:latin typeface="Calibri" pitchFamily="34" charset="0"/>
                <a:ea typeface="Calibri" pitchFamily="34" charset="-122"/>
                <a:cs typeface="Calibri" pitchFamily="34" charset="-120"/>
              </a:rPr>
              <a:t>PARA SEGUIR APRENDIENDO</a:t>
            </a:r>
            <a:endParaRPr lang="en-US" sz="1200" dirty="0"/>
          </a:p>
        </p:txBody>
      </p:sp>
      <p:sp>
        <p:nvSpPr>
          <p:cNvPr id="7" name="Text 5"/>
          <p:cNvSpPr/>
          <p:nvPr/>
        </p:nvSpPr>
        <p:spPr>
          <a:xfrm>
            <a:off x="1097280" y="4526280"/>
            <a:ext cx="10058400" cy="123444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Equator Network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Guías de reporte (CONSORT, STROBE, ARRIVE, PRISMA) en equator-network.org</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Protocols.io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Plataforma para publicar protocolos detallados con DOI</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Zenodo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Repositorio para compartir datos y código con DOI permanente</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Trabajo Científico (YouTube)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playlist de escritura científica</a:t>
            </a:r>
            <a:endParaRPr lang="en-US" sz="1300" dirty="0"/>
          </a:p>
        </p:txBody>
      </p:sp>
      <p:sp>
        <p:nvSpPr>
          <p:cNvPr id="8" name="Text 6"/>
          <p:cNvSpPr/>
          <p:nvPr/>
        </p:nvSpPr>
        <p:spPr>
          <a:xfrm>
            <a:off x="822960" y="6172200"/>
            <a:ext cx="10424160" cy="320040"/>
          </a:xfrm>
          <a:prstGeom prst="rect">
            <a:avLst/>
          </a:prstGeom>
          <a:noFill/>
          <a:ln/>
        </p:spPr>
        <p:txBody>
          <a:bodyPr wrap="square" lIns="0" tIns="0" rIns="0" bIns="0" rtlCol="0" anchor="ctr"/>
          <a:lstStyle/>
          <a:p>
            <a:pPr indent="0" marL="0">
              <a:buNone/>
            </a:pPr>
            <a:r>
              <a:rPr lang="en-US" sz="1200" dirty="0">
                <a:solidFill>
                  <a:srgbClr val="97BC62"/>
                </a:solidFill>
                <a:latin typeface="Calibri" pitchFamily="34" charset="0"/>
                <a:ea typeface="Calibri" pitchFamily="34" charset="-122"/>
                <a:cs typeface="Calibri" pitchFamily="34" charset="-120"/>
              </a:rPr>
              <a:t>Oscar Iván Vargas Pineda, PhD  ·  Trabajo Científico  ·  @TCientifico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escribir Materiales y Métodos</dc:title>
  <dc:subject>PptxGenJS Presentation</dc:subject>
  <dc:creator>Oscar Iván Vargas Pineda · Trabajo Científico</dc:creator>
  <cp:lastModifiedBy>Oscar Iván Vargas Pineda · Trabajo Científico</cp:lastModifiedBy>
  <cp:revision>1</cp:revision>
  <dcterms:created xsi:type="dcterms:W3CDTF">2026-05-11T23:59:38Z</dcterms:created>
  <dcterms:modified xsi:type="dcterms:W3CDTF">2026-05-11T23:59:38Z</dcterms:modified>
</cp:coreProperties>
</file>