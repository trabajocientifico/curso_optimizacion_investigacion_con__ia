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 ·  TALLER ESPECIALIZADO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Conclusiones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último que se escribe. Lo primero que mucha gente lee.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cerrar tu artículo con frases breves, contundentes y conectadas a tus objetivos — sin resumir ni repetir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9875520" cy="77724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7548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 ·  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Continuamos con bacterias ácido-lácticas en cacao del Piedemonte llanero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Iván Vargas Pineda, PhD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 · Docente Universitario · @TCientifico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cubriremos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7315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9144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41732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Conclusiones se confunden con Resumen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más común y por qué importa distinguirlos.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1247120" cy="7315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51760"/>
            <a:ext cx="9144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517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Anatomía de una conclusión correcta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063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conclusión por objetivo. Ni más, ni menos.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11247120" cy="7315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9144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520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417320" y="3611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vs. otros apartados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3931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SÍ va aquí y qué NO debe aparecer.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11247120" cy="7315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89120"/>
            <a:ext cx="9144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3891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417320" y="4480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Conexión con la Introducción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4800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cerrar el círculo del artículo.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257800"/>
            <a:ext cx="11247120" cy="7315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257800"/>
            <a:ext cx="9144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2578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417320" y="5349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Errores frecuentes y ejercicios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5669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al caso guía y a tu propio estudio.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DE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≠ Resumen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más caro — y el más fácil de evitar.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FUNDAMENTAL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vs. Conclusiones — no son lo mismo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5532120" cy="914400"/>
          </a:xfrm>
          <a:prstGeom prst="rect">
            <a:avLst/>
          </a:prstGeom>
          <a:solidFill>
            <a:srgbClr val="5F6B5A"/>
          </a:solidFill>
          <a:ln w="12700">
            <a:solidFill>
              <a:srgbClr val="5F6B5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9280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(Abstract)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2788920"/>
            <a:ext cx="5074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TODO el artículo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al principio del documento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métodos y resultados clave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200–300 palabras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cada apartado del IMRyD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53212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1691640"/>
            <a:ext cx="553212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9280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6916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00800" y="2788920"/>
            <a:ext cx="5074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los OBJETIVOS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al final del documento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afirmaciones derivadas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 palabras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con Introducción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PRINCIPIO RECTOR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conclusión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objetivo.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tu artículo tiene tres objetivos, deberías tener tres conclusiones. Si tienes cinco objetivos, cinco conclusiones. Cada conclusión responde directamente a una pregunta que planteaste en la Introducción.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5440680"/>
            <a:ext cx="10332720" cy="86868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5440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rápido: lee tus objetivos. ¿Cada uno tiene su conclusión correspondiente? Si no, te falta cerrar el círculo.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DE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Anatomía de una conclusión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Breve, directa, sin números nuevos, sin citas nuevas.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REGLAS BÁSICAS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toda conclusión debe cumplir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703320" cy="2103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783080"/>
            <a:ext cx="370332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659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06324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2743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Responde un objetivo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3200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conclusión cierra una pregunta de investigación específica.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783080"/>
            <a:ext cx="3703320" cy="2103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1783080"/>
            <a:ext cx="370332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659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526280" y="2743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Breve y contundente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26280" y="3200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 palabras en total. Una frase corta por objetivo.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1783080"/>
            <a:ext cx="3703320" cy="2103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1783080"/>
            <a:ext cx="3703320" cy="86868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96596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44200" y="19202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366760" y="27432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datos nuevos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66760" y="32004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número que no haya aparecido antes en Resultados.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4023360"/>
            <a:ext cx="3703320" cy="2103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4023360"/>
            <a:ext cx="3703320" cy="86868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20624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063240" y="4160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0"/>
          <p:cNvSpPr/>
          <p:nvPr/>
        </p:nvSpPr>
        <p:spPr>
          <a:xfrm>
            <a:off x="685800" y="4983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citas nuevas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85800" y="5440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autor que no se haya citado en Introducción o Discusión.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297680" y="4023360"/>
            <a:ext cx="3703320" cy="2103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297680" y="4023360"/>
            <a:ext cx="370332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206240"/>
            <a:ext cx="502920" cy="5029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03720" y="4160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25"/>
          <p:cNvSpPr/>
          <p:nvPr/>
        </p:nvSpPr>
        <p:spPr>
          <a:xfrm>
            <a:off x="4526280" y="49834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Termina con valor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4526280" y="544068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frase: implicación práctica o aporte al campo.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3 objetivos del estudio → 3 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349240" cy="11887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Aislar e identificar BAL del cacao del Piedemonte llanero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97880" y="19659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46520" y="1783080"/>
            <a:ext cx="5257800" cy="118872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21945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aislaron 24 cepas presuntivas de BAL, de las cuales el 75 % se identificó como L. plantarum y L. fermentum.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54680"/>
            <a:ext cx="5349240" cy="11887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5661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tolerancia a pH ácido y sales biliares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97880" y="33375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15" name="Shape 13"/>
          <p:cNvSpPr/>
          <p:nvPr/>
        </p:nvSpPr>
        <p:spPr>
          <a:xfrm>
            <a:off x="6446520" y="3154680"/>
            <a:ext cx="5257800" cy="118872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3246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5120" y="35661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BAL-03 mostró el mejor perfil probiótico in vitro, superando incluso a la cepa de referencia ATCC 14917.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26280"/>
            <a:ext cx="5349240" cy="11887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617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49377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producción de bacteriocinas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97880" y="470916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6446520" y="4526280"/>
            <a:ext cx="5257800" cy="1188720"/>
          </a:xfrm>
          <a:prstGeom prst="rect">
            <a:avLst/>
          </a:prstGeom>
          <a:solidFill>
            <a:srgbClr val="1F3A2E"/>
          </a:solidFill>
          <a:ln w="12700">
            <a:solidFill>
              <a:srgbClr val="1F3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4617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493776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de las cuatro cepas seleccionadas evidenciaron actividad antimicrobiana contra Listeria monocytogenes.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 DE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SÍ y qué NO va aquí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fácil es saber qué excluir.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SÍ Y QUÉ NO 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contenido de tus 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553212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916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SÍ VA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274320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directa a cada objetivo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principal en términos generales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al campo / contribución específica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 práctica concreta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accionable (opcional)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53212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72200" y="1691640"/>
            <a:ext cx="5532120" cy="86868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745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6916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NO VA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400800" y="2743200"/>
            <a:ext cx="50749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Métodos o Resultados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bibliográficas nuevas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(F, p, IC, n…)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 adicional o interpretaciones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vacía: "se requiere más investigación"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APARTADOS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vs. Resumen vs. Discusión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108960" cy="457200"/>
          </a:xfrm>
          <a:prstGeom prst="rect">
            <a:avLst/>
          </a:prstGeom>
          <a:solidFill>
            <a:srgbClr val="5F6B5A"/>
          </a:solidFill>
          <a:ln w="12700">
            <a:solidFill>
              <a:srgbClr val="5F6B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783080"/>
            <a:ext cx="2743200" cy="457200"/>
          </a:xfrm>
          <a:prstGeom prst="rect">
            <a:avLst/>
          </a:prstGeom>
          <a:solidFill>
            <a:srgbClr val="5F6B5A"/>
          </a:solidFill>
          <a:ln w="12700">
            <a:solidFill>
              <a:srgbClr val="5F6B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2743200" cy="457200"/>
          </a:xfrm>
          <a:prstGeom prst="rect">
            <a:avLst/>
          </a:prstGeom>
          <a:solidFill>
            <a:srgbClr val="5F6B5A"/>
          </a:solidFill>
          <a:ln w="12700">
            <a:solidFill>
              <a:srgbClr val="5F6B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783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52560" y="1783080"/>
            <a:ext cx="265176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1783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10896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402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Estadísticos (p, F, IC)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274320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22402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(breve)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2240280"/>
            <a:ext cx="274320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24028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2240280"/>
            <a:ext cx="265176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22402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2770632"/>
            <a:ext cx="3108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7063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bibliográficas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566160" y="2770632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77063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2770632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277063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052560" y="2770632"/>
            <a:ext cx="2651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27706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3300984"/>
            <a:ext cx="310896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30098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566160" y="3300984"/>
            <a:ext cx="274320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33009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(resumen)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09360" y="3300984"/>
            <a:ext cx="274320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30098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referencias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052560" y="3300984"/>
            <a:ext cx="265176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0" y="330098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57200" y="3831336"/>
            <a:ext cx="3108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83133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566160" y="3831336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383133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09360" y="3831336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383133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052560" y="3831336"/>
            <a:ext cx="2651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0" y="38313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57200" y="4361688"/>
            <a:ext cx="310896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36168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con literatura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566160" y="4361688"/>
            <a:ext cx="274320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0" y="436168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309360" y="4361688"/>
            <a:ext cx="274320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436168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052560" y="4361688"/>
            <a:ext cx="265176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44000" y="436168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57200" y="4892040"/>
            <a:ext cx="31089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489204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objetivos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566160" y="489204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0" y="48920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Implícita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6309360" y="489204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0" y="48920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Implícita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9052560" y="4892040"/>
            <a:ext cx="26517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0" y="48920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explícita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457200" y="5422392"/>
            <a:ext cx="310896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542239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 práctica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3566160" y="5422392"/>
            <a:ext cx="274320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0" y="542239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(breve)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6309360" y="5422392"/>
            <a:ext cx="274320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0" y="542239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9052560" y="5422392"/>
            <a:ext cx="2651760" cy="530352"/>
          </a:xfrm>
          <a:prstGeom prst="rect">
            <a:avLst/>
          </a:prstGeom>
          <a:solidFill>
            <a:srgbClr val="F7F4ED"/>
          </a:solidFill>
          <a:ln w="6350">
            <a:solidFill>
              <a:srgbClr val="D9D2C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44000" y="54223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concreta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de Conclusiones es casi toda "NO". Por eso son cortas.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Párrafo único o conclusiones numeradas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53212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553212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A  ·  Párrafo único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usarla: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común en revistas de Ciencias Naturales y Agronómicas. Las conclusiones se redactan como un párrafo cohesivo de 100–200 palabras.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45720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típica: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89204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de cierre del hallazgo + conclusión por cada objetivo + implicación práctica final.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53212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691640"/>
            <a:ext cx="5532120" cy="8686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6916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B  ·  Conclusiones numeradas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26974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usarlas: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017520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común en Ingeniería y revistas técnicas. Lista numerada de 3–5 conclusiones, una por objetivo.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45720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típica: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4892040"/>
            <a:ext cx="5074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Conclusión del objetivo 1.  (2) Conclusión del objetivo 2.  (3) Conclusión del objetivo 3.  Cierre con implicación.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CONECTORES ÚTILES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Plantillas que abren cada conclusión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1247120" cy="59436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73152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83664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7373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"Este estudio demostró que…"  /  "Los resultados permiten concluir que…"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450592"/>
            <a:ext cx="11247120" cy="59436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450592"/>
            <a:ext cx="73152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968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24505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"Las cepas evaluadas presentan…"  /  "Se identificó que…"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163824"/>
            <a:ext cx="11247120" cy="59436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" y="3163824"/>
            <a:ext cx="73152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1012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3163824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"En relación con el objetivo de [X], se concluye que…"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877056"/>
            <a:ext cx="11247120" cy="59436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57200" y="3877056"/>
            <a:ext cx="73152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023360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97280" y="3877056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"El estudio confirma / aporta evidencia de que…"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" y="4590288"/>
            <a:ext cx="11247120" cy="59436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7200" y="4590288"/>
            <a:ext cx="73152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736592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459028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"Estos hallazgos sugieren la viabilidad de…"  (implicación)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57200" y="5303520"/>
            <a:ext cx="11247120" cy="59436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57200" y="5303520"/>
            <a:ext cx="73152" cy="5943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449824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97280" y="53035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"En consecuencia, [acción concreta que se desprende de tu trabajo]."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conectores típicos de Discusión: "esto sugiere", "posiblemente", "podría explicarse por".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 DE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Cerrar el círculo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conectar Conclusiones con la Introducción que escribiste.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CIRCULAR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cierra lo que abrió Introducción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560320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7F4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Planteas vacío + objetivo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63240" y="25146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F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2560320" cy="13716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7F4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lo respondiste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25146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F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2560320" cy="13716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7F4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significa el hallazgo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15400" y="25146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F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9235440" y="2103120"/>
            <a:ext cx="2560320" cy="13716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544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72600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7F4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Cierras el vacío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37360" y="4114800"/>
            <a:ext cx="8686800" cy="36576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4160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B86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 El círculo se cierra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11247120" cy="14173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4937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VACÍO DE LA INTRODUCCIÓN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" y="52120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"…el potencial probiótico de cepas nativas colombianas no ha sido evaluado."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63640" y="4937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CONCLUSIÓN QUE LO CIERRA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52120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"Este estudio demostró que las BAL nativas del Piedemonte llanero poseen potencial probiótico viable."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ÚLTIMA FRASE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cerrar con una implicación que se recuerde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válidas de cerrar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91440" cy="10515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 práctica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62432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tu hallazgo permite hacer en el sector productivo.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91440" cy="10515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conceptual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81304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tu trabajo agrega al conocimiento del campo.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617720"/>
            <a:ext cx="91440" cy="105156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concreta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50017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acción específica derivada de tus resultados.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691640"/>
            <a:ext cx="544068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 ·  Frase de cierre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Implicación práctica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6974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"Estos resultados sustentan el desarrollo de cultivos iniciadores autóctonos para estandarizar la fermentación del cacao del Piedemonte llanero y agregar valor de origen al producto regional."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52120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única frase del artículo que un lector NO especializado podría recordar después de leerlo.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completas — versión final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288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PÁRRAFO  ·  Cómo aparecería en el manuscrito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0607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estudio demostró que las bacterias ácido-lácticas nativas aisladas de fermentación tradicional de cacao en el Piedemonte llanero poseen un potencial probiótico viable.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identificaron predominantemente Lactiplantibacillus plantarum y Limosilactobacillus fermentum como las especies dominantes en la microbiota local.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cepa BAL-03 mostró el mejor perfil de tolerancia a condiciones gastrointestinales, superando incluso a la cepa de referencia ATCC 14917. 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de las cuatro cepas seleccionadas exhibieron actividad antimicrobiana frente a patógenos alimentarios relevantes. 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resultados sustentan el desarrollo de cultivos iniciadores autóctonos para estandarizar la fermentación del cacao regional y agregar valor de origen al producto exportado por el Meta.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GUÍA  ·  VERSIÓN NUMERADA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mismo contenido, otro formato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7200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8288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NUMERADAS  ·  Estilo común en ingeniería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cepas predominantes en la fermentación tradicional de cacao en el Piedemonte llanero son L. plantarum y L. fermentum.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42900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3832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cepa BAL-03 presentó el mejor perfil de tolerancia gastrointestinal in vitro, superior al de la cepa comercial de referencia.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434840"/>
            <a:ext cx="502920" cy="5029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3891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de las cuatro cepas seleccionadas mostraron actividad antimicrobiana frente a Listeria monocytogenes, evidenciando su potencial bioprotector.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4864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 con implicación: estos resultados sustentan el desarrollo de cultivos iniciadores autóctonos para estandarizar la fermentación del cacao regional.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ANTES DE CERRAR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preguntas antes de enviar el manuscrito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5623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76479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¿Cada objetivo tiene una conclusión?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2651760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72491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26334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¿Cada conclusión está conectada a un objetivo?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57200" y="3520440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593592"/>
            <a:ext cx="265176" cy="2651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35021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ausencia de citas bibliográficas nuevas?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457200" y="4389120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462272"/>
            <a:ext cx="265176" cy="2651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43708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ausencia de datos o números nuevos?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57200" y="5257800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5330952"/>
            <a:ext cx="265176" cy="26517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5239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¿Total de palabras entre 100 y 200?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6217920" y="1783080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856232"/>
            <a:ext cx="265176" cy="26517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66560" y="176479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repites texto literal de Resultados?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217920" y="2651760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1072" y="2724912"/>
            <a:ext cx="265176" cy="26517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766560" y="26334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¿No incluyes "se requiere más investigación"?</a:t>
            </a:r>
            <a:endParaRPr lang="en-US" sz="1250" dirty="0"/>
          </a:p>
        </p:txBody>
      </p:sp>
      <p:sp>
        <p:nvSpPr>
          <p:cNvPr id="25" name="Shape 16"/>
          <p:cNvSpPr/>
          <p:nvPr/>
        </p:nvSpPr>
        <p:spPr>
          <a:xfrm>
            <a:off x="6217920" y="3520440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1072" y="3593592"/>
            <a:ext cx="265176" cy="26517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766560" y="35021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¿Cierras con una implicación concreta?</a:t>
            </a:r>
            <a:endParaRPr lang="en-US" sz="1250" dirty="0"/>
          </a:p>
        </p:txBody>
      </p:sp>
      <p:sp>
        <p:nvSpPr>
          <p:cNvPr id="28" name="Shape 18"/>
          <p:cNvSpPr/>
          <p:nvPr/>
        </p:nvSpPr>
        <p:spPr>
          <a:xfrm>
            <a:off x="6217920" y="4389120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072" y="4462272"/>
            <a:ext cx="265176" cy="26517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766560" y="437083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¿Cierras el vacío que abriste en Introducción?</a:t>
            </a:r>
            <a:endParaRPr lang="en-US" sz="1250" dirty="0"/>
          </a:p>
        </p:txBody>
      </p:sp>
      <p:sp>
        <p:nvSpPr>
          <p:cNvPr id="31" name="Shape 20"/>
          <p:cNvSpPr/>
          <p:nvPr/>
        </p:nvSpPr>
        <p:spPr>
          <a:xfrm>
            <a:off x="6217920" y="5257800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1072" y="5330952"/>
            <a:ext cx="265176" cy="26517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766560" y="5239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¿Cualquier lector entendería tu mensaje principal?</a:t>
            </a:r>
            <a:endParaRPr lang="en-US" sz="1250" dirty="0"/>
          </a:p>
        </p:txBody>
      </p:sp>
      <p:sp>
        <p:nvSpPr>
          <p:cNvPr id="34" name="Text 22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35" name="Text 23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 DE 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Errores frecuentes y ejercicios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251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arruina buenas Conclusiones — y cómo evitarlo.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7 más comunes en 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8308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756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783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Resumir todo el artículo (es Conclusiones, no Resumen).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88036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88036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7296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8803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Introducir números, estadísticos o porcentajes nuevos.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97764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7200" y="397764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27024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39776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Citar autores nuevos o repetir citas de Discusión.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507492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57200" y="507492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367528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507492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conectar con los objetivos planteados.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17920" y="178308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217920" y="178308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075688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95160" y="178308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Terminar con "se requiere más investigación".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17920" y="288036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217920" y="288036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172968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95160" y="28803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literalmente frases de Resultados o Discusión.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6217920" y="3977640"/>
            <a:ext cx="5532120" cy="960120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217920" y="3977640"/>
            <a:ext cx="73152" cy="96012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4270248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95160" y="39776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que no responden a ningún objetivo.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1  ·  15 MINUTOS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Diagnostica estas 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685800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651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6858000" cy="457200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A DIAGNOSTICAR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este estudio se aislaron 24 cepas de bacterias ácido-lácticas a partir de 30 g de cacao fermentado de 4 fincas de Lejanías, Meta. Las cepas se cultivaron en MRS a 37 °C durante 48 h. La cepa BAL-03 mostró 78.6 ± 3.2 % de supervivencia a 0.30 % de sales biliares (F = 124.6; p &lt; 0.001). Estos resultados coinciden con Pérez et al. (2022). Se concluye que las cepas son probióticas. Se requiere seguir investigando este tema en el futuro."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589520" y="1691640"/>
            <a:ext cx="41148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97BC6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1812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tarea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818120" y="2331720"/>
            <a:ext cx="3703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¿Repite Métodos?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¿Aparecen números nuevos?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citas bibliográficas?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¿Responde a los objetivos?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¿Termina con frase vacía?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5 errores de la slide 21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Reescribe estas Conclusiones en 100–200 palabras aplicando las 5 reglas básicas.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DEL EJERCICIO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falla en esas 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06040" cy="841248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91640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1691640"/>
            <a:ext cx="854964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728216"/>
            <a:ext cx="8275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primeras dos frases describen el procedimiento. Esto pertenece a Materiales y Métodos.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606040" cy="841248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54680" y="2606040"/>
            <a:ext cx="854964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642616"/>
            <a:ext cx="8275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"78.6 ± 3.2 %", "F = 124.6", "p &lt; 0.001" — todo esto debe estar SOLO en Resultados.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2606040" cy="841248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20440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3520440"/>
            <a:ext cx="854964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3557016"/>
            <a:ext cx="8275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"Pérez et al. (2022)" no debería aparecer aquí. Las citas son para Introducción y Discusión.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2606040" cy="841248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34840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4434840"/>
            <a:ext cx="854964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4471416"/>
            <a:ext cx="8275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conecta explícitamente con los 3 objetivos del estudio. ¿Aislar? ¿Tolerar? ¿Bacteriocinas?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349240"/>
            <a:ext cx="2606040" cy="841248"/>
          </a:xfrm>
          <a:prstGeom prst="rect">
            <a:avLst/>
          </a:prstGeom>
          <a:solidFill>
            <a:srgbClr val="B8651A"/>
          </a:solidFill>
          <a:ln w="12700">
            <a:solidFill>
              <a:srgbClr val="B865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349240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VACÍO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54680" y="5349240"/>
            <a:ext cx="8549640" cy="841248"/>
          </a:xfrm>
          <a:prstGeom prst="rect">
            <a:avLst/>
          </a:prstGeom>
          <a:solidFill>
            <a:srgbClr val="F7F4ED"/>
          </a:solidFill>
          <a:ln w="12700">
            <a:solidFill>
              <a:srgbClr val="D9D2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5385816"/>
            <a:ext cx="8275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requiere seguir investigando" — frase comodín sin valor. Reemplazar con implicación concreta.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con las Conclusiones modelo de las slides 17 y 18. Esas SÍ responden cada objetivo y cierran con valor.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Científico · @TCientifico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2  ·  PARA LLEVAR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Escribe las Conclusiones de tu propio estudio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74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Plantilla en 5 frases — una por elemento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5800" y="26060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88720" y="2633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289864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estudio demostró que [hallazgo principal en una frase, sin números].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331927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88720" y="33467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88720" y="36118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[Conclusión derivada de tu primer objetivo — sin estadísticos].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403250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188720" y="40599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88720" y="432511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[Conclusión derivada de tu segundo objetivo — directa].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" y="474573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188720" y="4773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3 (si aplica)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88720" y="5038344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[Conclusión derivada del tercer objetivo, si lo tuviste].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" y="545896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188720" y="5486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88720" y="575157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resultados [sustentan / permiten / aportan] [aplicación concreta para el sector].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de la sesión: 5 frases. Total 100–200 palabras. Pasa el checklist de la slide 19.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1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buena conclusión no resume — afirma. No describe — declara. No promete — entrega.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10424160" cy="1783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COMPLETADO LAS CINCO SESIONES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466344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· 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vacío y el objetivo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y Métodos · 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replicable y auditable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hechos sin interpretar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Discusión · 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interpretación, el diálogo y las limitaciones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· </a:t>
            </a:r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 del círculo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Iván Vargas Pineda, PhD  ·  Trabajo Científico  ·  @TCientifico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escribir las Conclusiones</dc:title>
  <dc:subject>PptxGenJS Presentation</dc:subject>
  <dc:creator>Oscar Iván Vargas Pineda · Trabajo Científico</dc:creator>
  <cp:lastModifiedBy>Oscar Iván Vargas Pineda · Trabajo Científico</cp:lastModifiedBy>
  <cp:revision>1</cp:revision>
  <dcterms:created xsi:type="dcterms:W3CDTF">2026-05-12T11:58:40Z</dcterms:created>
  <dcterms:modified xsi:type="dcterms:W3CDTF">2026-05-12T11:58:40Z</dcterms:modified>
</cp:coreProperties>
</file>