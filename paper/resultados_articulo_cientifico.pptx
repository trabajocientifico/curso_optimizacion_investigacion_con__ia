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0 % sales</c:v>
                </c:pt>
              </c:strCache>
            </c:strRef>
          </c:tx>
          <c:spPr>
            <a:solidFill>
              <a:srgbClr val="2C5F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Cepa A</c:v>
                  </c:pt>
                  <c:pt idx="1">
                    <c:v>Cepa B</c:v>
                  </c:pt>
                  <c:pt idx="2">
                    <c:v>Cepa C</c:v>
                  </c:pt>
                  <c:pt idx="3">
                    <c:v>Cepa D</c:v>
                  </c:pt>
                  <c:pt idx="4">
                    <c:v>L. plantarum ATCC</c:v>
                  </c:pt>
                </c:lvl>
              </c:multiLvlStrCache>
            </c:multiLvlStrRef>
          </c:cat>
          <c:val>
            <c:numRef>
              <c:f>Sheet1!$B$2:$B$6</c:f>
              <c:numCache>
                <c:formatCode>General</c:formatCode>
                <c:ptCount val="5"/>
                <c:pt idx="0">
                  <c:v>98.2</c:v>
                </c:pt>
                <c:pt idx="1">
                  <c:v>97.5</c:v>
                </c:pt>
                <c:pt idx="2">
                  <c:v>99.1</c:v>
                </c:pt>
                <c:pt idx="3">
                  <c:v>96.8</c:v>
                </c:pt>
                <c:pt idx="4">
                  <c:v>98.7</c:v>
                </c:pt>
              </c:numCache>
            </c:numRef>
          </c:val>
        </c:ser>
        <c:ser>
          <c:idx val="1"/>
          <c:order val="1"/>
          <c:tx>
            <c:strRef>
              <c:f>Sheet1!$C$1</c:f>
              <c:strCache>
                <c:ptCount val="1"/>
                <c:pt idx="0">
                  <c:v>0.15 % sales</c:v>
                </c:pt>
              </c:strCache>
            </c:strRef>
          </c:tx>
          <c:spPr>
            <a:solidFill>
              <a:srgbClr val="97BC6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Cepa A</c:v>
                  </c:pt>
                  <c:pt idx="1">
                    <c:v>Cepa B</c:v>
                  </c:pt>
                  <c:pt idx="2">
                    <c:v>Cepa C</c:v>
                  </c:pt>
                  <c:pt idx="3">
                    <c:v>Cepa D</c:v>
                  </c:pt>
                  <c:pt idx="4">
                    <c:v>L. plantarum ATCC</c:v>
                  </c:pt>
                </c:lvl>
              </c:multiLvlStrCache>
            </c:multiLvlStrRef>
          </c:cat>
          <c:val>
            <c:numRef>
              <c:f>Sheet1!$C$2:$C$6</c:f>
              <c:numCache>
                <c:formatCode>General</c:formatCode>
                <c:ptCount val="5"/>
                <c:pt idx="0">
                  <c:v>82.4</c:v>
                </c:pt>
                <c:pt idx="1">
                  <c:v>75.3</c:v>
                </c:pt>
                <c:pt idx="2">
                  <c:v>89.2</c:v>
                </c:pt>
                <c:pt idx="3">
                  <c:v>71.5</c:v>
                </c:pt>
                <c:pt idx="4">
                  <c:v>85.1</c:v>
                </c:pt>
              </c:numCache>
            </c:numRef>
          </c:val>
        </c:ser>
        <c:ser>
          <c:idx val="2"/>
          <c:order val="2"/>
          <c:tx>
            <c:strRef>
              <c:f>Sheet1!$D$1</c:f>
              <c:strCache>
                <c:ptCount val="1"/>
                <c:pt idx="0">
                  <c:v>0.30 % sales</c:v>
                </c:pt>
              </c:strCache>
            </c:strRef>
          </c:tx>
          <c:spPr>
            <a:solidFill>
              <a:srgbClr val="B8651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Cepa A</c:v>
                  </c:pt>
                  <c:pt idx="1">
                    <c:v>Cepa B</c:v>
                  </c:pt>
                  <c:pt idx="2">
                    <c:v>Cepa C</c:v>
                  </c:pt>
                  <c:pt idx="3">
                    <c:v>Cepa D</c:v>
                  </c:pt>
                  <c:pt idx="4">
                    <c:v>L. plantarum ATCC</c:v>
                  </c:pt>
                </c:lvl>
              </c:multiLvlStrCache>
            </c:multiLvlStrRef>
          </c:cat>
          <c:val>
            <c:numRef>
              <c:f>Sheet1!$D$2:$D$6</c:f>
              <c:numCache>
                <c:formatCode>General</c:formatCode>
                <c:ptCount val="5"/>
                <c:pt idx="0">
                  <c:v>68.1</c:v>
                </c:pt>
                <c:pt idx="1">
                  <c:v>54.2</c:v>
                </c:pt>
                <c:pt idx="2">
                  <c:v>78.6</c:v>
                </c:pt>
                <c:pt idx="3">
                  <c:v>47.3</c:v>
                </c:pt>
                <c:pt idx="4">
                  <c:v>72.4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900000"/>
          <a:lstStyle/>
          <a:p>
            <a:pPr>
              <a:defRPr sz="900" b="0" i="0" u="none" strike="noStrike">
                <a:solidFill>
                  <a:srgbClr val="5F6B5A"/>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E8DA"/>
              </a:solidFill>
              <a:prstDash val="solid"/>
              <a:round/>
            </a:ln>
          </c:spPr>
        </c:majorGridlines>
        <c:title>
          <c:tx>
            <c:rich>
              <a:bodyPr/>
              <a:lstStyle/>
              <a:p>
                <a:pPr>
                  <a:defRPr sz="1000" b="0" i="0" u="none" strike="noStrike">
                    <a:solidFill>
                      <a:srgbClr val="5F6B5A"/>
                    </a:solidFill>
                    <a:latin typeface="Arial"/>
                  </a:defRPr>
                </a:pPr>
                <a:r>
                  <a:rPr sz="1000" b="0" i="0" u="none" strike="noStrike">
                    <a:solidFill>
                      <a:srgbClr val="5F6B5A"/>
                    </a:solidFill>
                    <a:latin typeface="Arial"/>
                  </a:rPr>
                  <a:t>Supervivencia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B5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822960"/>
            <a:ext cx="10058400" cy="365760"/>
          </a:xfrm>
          <a:prstGeom prst="rect">
            <a:avLst/>
          </a:prstGeom>
          <a:noFill/>
          <a:ln/>
        </p:spPr>
        <p:txBody>
          <a:bodyPr wrap="square" lIns="0" tIns="0" rIns="0" bIns="0" rtlCol="0" anchor="ctr"/>
          <a:lstStyle/>
          <a:p>
            <a:pPr indent="0" marL="0">
              <a:buNone/>
            </a:pPr>
            <a:r>
              <a:rPr lang="en-US" sz="1300" b="1" spc="600" kern="0" dirty="0">
                <a:solidFill>
                  <a:srgbClr val="97BC62"/>
                </a:solidFill>
                <a:latin typeface="Calibri" pitchFamily="34" charset="0"/>
                <a:ea typeface="Calibri" pitchFamily="34" charset="-122"/>
                <a:cs typeface="Calibri" pitchFamily="34" charset="-120"/>
              </a:rPr>
              <a:t>TRABAJO CIENTÍFICO  ·  TALLER ESPECIALIZADO</a:t>
            </a:r>
            <a:endParaRPr lang="en-US" sz="1300" dirty="0"/>
          </a:p>
        </p:txBody>
      </p:sp>
      <p:sp>
        <p:nvSpPr>
          <p:cNvPr id="4" name="Text 2"/>
          <p:cNvSpPr/>
          <p:nvPr/>
        </p:nvSpPr>
        <p:spPr>
          <a:xfrm>
            <a:off x="822960" y="1371600"/>
            <a:ext cx="10515600" cy="1188720"/>
          </a:xfrm>
          <a:prstGeom prst="rect">
            <a:avLst/>
          </a:prstGeom>
          <a:noFill/>
          <a:ln/>
        </p:spPr>
        <p:txBody>
          <a:bodyPr wrap="square" lIns="0" tIns="0" rIns="0" bIns="0" rtlCol="0" anchor="ctr"/>
          <a:lstStyle/>
          <a:p>
            <a:pPr indent="0" marL="0">
              <a:buNone/>
            </a:pPr>
            <a:r>
              <a:rPr lang="en-US" sz="7200" b="1" dirty="0">
                <a:solidFill>
                  <a:srgbClr val="FFFFFF"/>
                </a:solidFill>
                <a:latin typeface="Georgia" pitchFamily="34" charset="0"/>
                <a:ea typeface="Georgia" pitchFamily="34" charset="-122"/>
                <a:cs typeface="Georgia" pitchFamily="34" charset="-120"/>
              </a:rPr>
              <a:t>Resultados</a:t>
            </a:r>
            <a:endParaRPr lang="en-US" sz="7200" dirty="0"/>
          </a:p>
        </p:txBody>
      </p:sp>
      <p:sp>
        <p:nvSpPr>
          <p:cNvPr id="5" name="Text 3"/>
          <p:cNvSpPr/>
          <p:nvPr/>
        </p:nvSpPr>
        <p:spPr>
          <a:xfrm>
            <a:off x="822960" y="2606040"/>
            <a:ext cx="10515600" cy="822960"/>
          </a:xfrm>
          <a:prstGeom prst="rect">
            <a:avLst/>
          </a:prstGeom>
          <a:noFill/>
          <a:ln/>
        </p:spPr>
        <p:txBody>
          <a:bodyPr wrap="square" lIns="0" tIns="0" rIns="0" bIns="0" rtlCol="0" anchor="ctr"/>
          <a:lstStyle/>
          <a:p>
            <a:pPr indent="0" marL="0">
              <a:buNone/>
            </a:pPr>
            <a:r>
              <a:rPr lang="en-US" sz="3000" i="1" dirty="0">
                <a:solidFill>
                  <a:srgbClr val="97BC62"/>
                </a:solidFill>
                <a:latin typeface="Georgia" pitchFamily="34" charset="0"/>
                <a:ea typeface="Georgia" pitchFamily="34" charset="-122"/>
                <a:cs typeface="Georgia" pitchFamily="34" charset="-120"/>
              </a:rPr>
              <a:t>Mostrar los hechos sin interpretarlos</a:t>
            </a:r>
            <a:endParaRPr lang="en-US" sz="3000" dirty="0"/>
          </a:p>
        </p:txBody>
      </p:sp>
      <p:sp>
        <p:nvSpPr>
          <p:cNvPr id="6" name="Text 4"/>
          <p:cNvSpPr/>
          <p:nvPr/>
        </p:nvSpPr>
        <p:spPr>
          <a:xfrm>
            <a:off x="822960" y="3657600"/>
            <a:ext cx="10332720" cy="822960"/>
          </a:xfrm>
          <a:prstGeom prst="rect">
            <a:avLst/>
          </a:prstGeom>
          <a:noFill/>
          <a:ln/>
        </p:spPr>
        <p:txBody>
          <a:bodyPr wrap="square" lIns="0" tIns="0" rIns="0" bIns="0"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Cómo presentar tus hallazgos con figuras, tablas y texto que se complementan — sin repetirse</a:t>
            </a:r>
            <a:endParaRPr lang="en-US" sz="1700" dirty="0"/>
          </a:p>
        </p:txBody>
      </p:sp>
      <p:sp>
        <p:nvSpPr>
          <p:cNvPr id="7" name="Shape 5"/>
          <p:cNvSpPr/>
          <p:nvPr/>
        </p:nvSpPr>
        <p:spPr>
          <a:xfrm>
            <a:off x="822960" y="4754880"/>
            <a:ext cx="9875520" cy="777240"/>
          </a:xfrm>
          <a:prstGeom prst="rect">
            <a:avLst/>
          </a:prstGeom>
          <a:solidFill>
            <a:srgbClr val="FFFFFF">
              <a:alpha val="12000"/>
            </a:srgbClr>
          </a:solidFill>
          <a:ln w="12700">
            <a:solidFill>
              <a:srgbClr val="97BC62"/>
            </a:solidFill>
            <a:prstDash val="solid"/>
          </a:ln>
        </p:spPr>
      </p:sp>
      <p:sp>
        <p:nvSpPr>
          <p:cNvPr id="8" name="Text 6"/>
          <p:cNvSpPr/>
          <p:nvPr/>
        </p:nvSpPr>
        <p:spPr>
          <a:xfrm>
            <a:off x="1005840" y="4754880"/>
            <a:ext cx="9692640" cy="777240"/>
          </a:xfrm>
          <a:prstGeom prst="rect">
            <a:avLst/>
          </a:prstGeom>
          <a:noFill/>
          <a:ln/>
        </p:spPr>
        <p:txBody>
          <a:bodyPr wrap="square" lIns="0" tIns="0" rIns="0" bIns="0" rtlCol="0" anchor="ctr"/>
          <a:lstStyle/>
          <a:p>
            <a:pPr indent="0" marL="0">
              <a:buNone/>
            </a:pPr>
            <a:r>
              <a:rPr lang="en-US" sz="1300" b="1" spc="300" kern="0" dirty="0">
                <a:solidFill>
                  <a:srgbClr val="97BC62"/>
                </a:solidFill>
                <a:latin typeface="Calibri" pitchFamily="34" charset="0"/>
                <a:ea typeface="Calibri" pitchFamily="34" charset="-122"/>
                <a:cs typeface="Calibri" pitchFamily="34" charset="-120"/>
              </a:rPr>
              <a:t>CASO GUÍA  ·  </a:t>
            </a:r>
            <a:pPr indent="0" marL="0">
              <a:buNone/>
            </a:pPr>
            <a:r>
              <a:rPr lang="en-US" sz="1300" i="1" dirty="0">
                <a:solidFill>
                  <a:srgbClr val="FFFFFF"/>
                </a:solidFill>
                <a:latin typeface="Calibri" pitchFamily="34" charset="0"/>
                <a:ea typeface="Calibri" pitchFamily="34" charset="-122"/>
                <a:cs typeface="Calibri" pitchFamily="34" charset="-120"/>
              </a:rPr>
              <a:t>Continuamos con bacterias ácido-lácticas en cacao del Piedemonte llanero</a:t>
            </a:r>
            <a:endParaRPr lang="en-US" sz="1300" dirty="0"/>
          </a:p>
        </p:txBody>
      </p:sp>
      <p:sp>
        <p:nvSpPr>
          <p:cNvPr id="9" name="Text 7"/>
          <p:cNvSpPr/>
          <p:nvPr/>
        </p:nvSpPr>
        <p:spPr>
          <a:xfrm>
            <a:off x="822960" y="6080760"/>
            <a:ext cx="7315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Oscar Iván Vargas Pineda, PhD</a:t>
            </a:r>
            <a:endParaRPr lang="en-US" sz="1400" dirty="0"/>
          </a:p>
        </p:txBody>
      </p:sp>
      <p:sp>
        <p:nvSpPr>
          <p:cNvPr id="10" name="Text 8"/>
          <p:cNvSpPr/>
          <p:nvPr/>
        </p:nvSpPr>
        <p:spPr>
          <a:xfrm>
            <a:off x="822960" y="6382512"/>
            <a:ext cx="731520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Data Scientist · Docente Universitario · @TCientifico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AGENDA DE LA SESIÓN</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Qué cubriremos hoy</a:t>
            </a:r>
            <a:endParaRPr lang="en-US" sz="3000" dirty="0"/>
          </a:p>
        </p:txBody>
      </p:sp>
      <p:sp>
        <p:nvSpPr>
          <p:cNvPr id="4" name="Shape 2"/>
          <p:cNvSpPr/>
          <p:nvPr/>
        </p:nvSpPr>
        <p:spPr>
          <a:xfrm>
            <a:off x="457200" y="1783080"/>
            <a:ext cx="11247120" cy="731520"/>
          </a:xfrm>
          <a:prstGeom prst="rect">
            <a:avLst/>
          </a:prstGeom>
          <a:solidFill>
            <a:srgbClr val="F7F4ED"/>
          </a:solidFill>
          <a:ln w="12700">
            <a:solidFill>
              <a:srgbClr val="D9D2C0"/>
            </a:solidFill>
            <a:prstDash val="solid"/>
          </a:ln>
        </p:spPr>
      </p:sp>
      <p:sp>
        <p:nvSpPr>
          <p:cNvPr id="5" name="Shape 3"/>
          <p:cNvSpPr/>
          <p:nvPr/>
        </p:nvSpPr>
        <p:spPr>
          <a:xfrm>
            <a:off x="457200" y="1783080"/>
            <a:ext cx="91440" cy="731520"/>
          </a:xfrm>
          <a:prstGeom prst="rect">
            <a:avLst/>
          </a:prstGeom>
          <a:solidFill>
            <a:srgbClr val="2C5F2D"/>
          </a:solidFill>
          <a:ln w="12700">
            <a:solidFill>
              <a:srgbClr val="2C5F2D"/>
            </a:solidFill>
            <a:prstDash val="solid"/>
          </a:ln>
        </p:spPr>
      </p:sp>
      <p:sp>
        <p:nvSpPr>
          <p:cNvPr id="6" name="Text 4"/>
          <p:cNvSpPr/>
          <p:nvPr/>
        </p:nvSpPr>
        <p:spPr>
          <a:xfrm>
            <a:off x="685800" y="1783080"/>
            <a:ext cx="640080" cy="731520"/>
          </a:xfrm>
          <a:prstGeom prst="rect">
            <a:avLst/>
          </a:prstGeom>
          <a:noFill/>
          <a:ln/>
        </p:spPr>
        <p:txBody>
          <a:bodyPr wrap="square" lIns="0" tIns="0" rIns="0" bIns="0" rtlCol="0" anchor="ctr"/>
          <a:lstStyle/>
          <a:p>
            <a:pPr algn="ctr" indent="0" marL="0">
              <a:buNone/>
            </a:pPr>
            <a:r>
              <a:rPr lang="en-US" sz="3000" b="1" dirty="0">
                <a:solidFill>
                  <a:srgbClr val="2C5F2D"/>
                </a:solidFill>
                <a:latin typeface="Georgia" pitchFamily="34" charset="0"/>
                <a:ea typeface="Georgia" pitchFamily="34" charset="-122"/>
                <a:cs typeface="Georgia" pitchFamily="34" charset="-120"/>
              </a:rPr>
              <a:t>1</a:t>
            </a:r>
            <a:endParaRPr lang="en-US" sz="3000" dirty="0"/>
          </a:p>
        </p:txBody>
      </p:sp>
      <p:sp>
        <p:nvSpPr>
          <p:cNvPr id="7" name="Text 5"/>
          <p:cNvSpPr/>
          <p:nvPr/>
        </p:nvSpPr>
        <p:spPr>
          <a:xfrm>
            <a:off x="1417320" y="1874520"/>
            <a:ext cx="10058400" cy="320040"/>
          </a:xfrm>
          <a:prstGeom prst="rect">
            <a:avLst/>
          </a:prstGeom>
          <a:noFill/>
          <a:ln/>
        </p:spPr>
        <p:txBody>
          <a:bodyPr wrap="square" lIns="0" tIns="0" rIns="0" bIns="0" rtlCol="0" anchor="ctr"/>
          <a:lstStyle/>
          <a:p>
            <a:pPr indent="0" marL="0">
              <a:buNone/>
            </a:pPr>
            <a:r>
              <a:rPr lang="en-US" sz="1800" b="1" dirty="0">
                <a:solidFill>
                  <a:srgbClr val="1F3A2E"/>
                </a:solidFill>
                <a:latin typeface="Georgia" pitchFamily="34" charset="0"/>
                <a:ea typeface="Georgia" pitchFamily="34" charset="-122"/>
                <a:cs typeface="Georgia" pitchFamily="34" charset="-120"/>
              </a:rPr>
              <a:t>Por qué Resultados se escribe DESPUÉS de las figuras</a:t>
            </a:r>
            <a:endParaRPr lang="en-US" sz="1800" dirty="0"/>
          </a:p>
        </p:txBody>
      </p:sp>
      <p:sp>
        <p:nvSpPr>
          <p:cNvPr id="8" name="Text 6"/>
          <p:cNvSpPr/>
          <p:nvPr/>
        </p:nvSpPr>
        <p:spPr>
          <a:xfrm>
            <a:off x="1417320" y="2194560"/>
            <a:ext cx="10058400" cy="2743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Diseña primero las visualizaciones, escribe después.</a:t>
            </a:r>
            <a:endParaRPr lang="en-US" sz="1200" dirty="0"/>
          </a:p>
        </p:txBody>
      </p:sp>
      <p:sp>
        <p:nvSpPr>
          <p:cNvPr id="9" name="Shape 7"/>
          <p:cNvSpPr/>
          <p:nvPr/>
        </p:nvSpPr>
        <p:spPr>
          <a:xfrm>
            <a:off x="457200" y="2651760"/>
            <a:ext cx="11247120" cy="731520"/>
          </a:xfrm>
          <a:prstGeom prst="rect">
            <a:avLst/>
          </a:prstGeom>
          <a:solidFill>
            <a:srgbClr val="F7F4ED"/>
          </a:solidFill>
          <a:ln w="12700">
            <a:solidFill>
              <a:srgbClr val="D9D2C0"/>
            </a:solidFill>
            <a:prstDash val="solid"/>
          </a:ln>
        </p:spPr>
      </p:sp>
      <p:sp>
        <p:nvSpPr>
          <p:cNvPr id="10" name="Shape 8"/>
          <p:cNvSpPr/>
          <p:nvPr/>
        </p:nvSpPr>
        <p:spPr>
          <a:xfrm>
            <a:off x="457200" y="2651760"/>
            <a:ext cx="91440" cy="731520"/>
          </a:xfrm>
          <a:prstGeom prst="rect">
            <a:avLst/>
          </a:prstGeom>
          <a:solidFill>
            <a:srgbClr val="2C5F2D"/>
          </a:solidFill>
          <a:ln w="12700">
            <a:solidFill>
              <a:srgbClr val="2C5F2D"/>
            </a:solidFill>
            <a:prstDash val="solid"/>
          </a:ln>
        </p:spPr>
      </p:sp>
      <p:sp>
        <p:nvSpPr>
          <p:cNvPr id="11" name="Text 9"/>
          <p:cNvSpPr/>
          <p:nvPr/>
        </p:nvSpPr>
        <p:spPr>
          <a:xfrm>
            <a:off x="685800" y="2651760"/>
            <a:ext cx="640080" cy="731520"/>
          </a:xfrm>
          <a:prstGeom prst="rect">
            <a:avLst/>
          </a:prstGeom>
          <a:noFill/>
          <a:ln/>
        </p:spPr>
        <p:txBody>
          <a:bodyPr wrap="square" lIns="0" tIns="0" rIns="0" bIns="0" rtlCol="0" anchor="ctr"/>
          <a:lstStyle/>
          <a:p>
            <a:pPr algn="ctr" indent="0" marL="0">
              <a:buNone/>
            </a:pPr>
            <a:r>
              <a:rPr lang="en-US" sz="3000" b="1" dirty="0">
                <a:solidFill>
                  <a:srgbClr val="2C5F2D"/>
                </a:solidFill>
                <a:latin typeface="Georgia" pitchFamily="34" charset="0"/>
                <a:ea typeface="Georgia" pitchFamily="34" charset="-122"/>
                <a:cs typeface="Georgia" pitchFamily="34" charset="-120"/>
              </a:rPr>
              <a:t>2</a:t>
            </a:r>
            <a:endParaRPr lang="en-US" sz="3000" dirty="0"/>
          </a:p>
        </p:txBody>
      </p:sp>
      <p:sp>
        <p:nvSpPr>
          <p:cNvPr id="12" name="Text 10"/>
          <p:cNvSpPr/>
          <p:nvPr/>
        </p:nvSpPr>
        <p:spPr>
          <a:xfrm>
            <a:off x="1417320" y="2743200"/>
            <a:ext cx="10058400" cy="320040"/>
          </a:xfrm>
          <a:prstGeom prst="rect">
            <a:avLst/>
          </a:prstGeom>
          <a:noFill/>
          <a:ln/>
        </p:spPr>
        <p:txBody>
          <a:bodyPr wrap="square" lIns="0" tIns="0" rIns="0" bIns="0" rtlCol="0" anchor="ctr"/>
          <a:lstStyle/>
          <a:p>
            <a:pPr indent="0" marL="0">
              <a:buNone/>
            </a:pPr>
            <a:r>
              <a:rPr lang="en-US" sz="1800" b="1" dirty="0">
                <a:solidFill>
                  <a:srgbClr val="1F3A2E"/>
                </a:solidFill>
                <a:latin typeface="Georgia" pitchFamily="34" charset="0"/>
                <a:ea typeface="Georgia" pitchFamily="34" charset="-122"/>
                <a:cs typeface="Georgia" pitchFamily="34" charset="-120"/>
              </a:rPr>
              <a:t>Anatomía de figuras y tablas autocontenidas</a:t>
            </a:r>
            <a:endParaRPr lang="en-US" sz="1800" dirty="0"/>
          </a:p>
        </p:txBody>
      </p:sp>
      <p:sp>
        <p:nvSpPr>
          <p:cNvPr id="13" name="Text 11"/>
          <p:cNvSpPr/>
          <p:nvPr/>
        </p:nvSpPr>
        <p:spPr>
          <a:xfrm>
            <a:off x="1417320" y="3063240"/>
            <a:ext cx="10058400" cy="2743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Lo que un lector debe entender sin leer el texto.</a:t>
            </a:r>
            <a:endParaRPr lang="en-US" sz="1200" dirty="0"/>
          </a:p>
        </p:txBody>
      </p:sp>
      <p:sp>
        <p:nvSpPr>
          <p:cNvPr id="14" name="Shape 12"/>
          <p:cNvSpPr/>
          <p:nvPr/>
        </p:nvSpPr>
        <p:spPr>
          <a:xfrm>
            <a:off x="457200" y="3520440"/>
            <a:ext cx="11247120" cy="731520"/>
          </a:xfrm>
          <a:prstGeom prst="rect">
            <a:avLst/>
          </a:prstGeom>
          <a:solidFill>
            <a:srgbClr val="F7F4ED"/>
          </a:solidFill>
          <a:ln w="12700">
            <a:solidFill>
              <a:srgbClr val="D9D2C0"/>
            </a:solidFill>
            <a:prstDash val="solid"/>
          </a:ln>
        </p:spPr>
      </p:sp>
      <p:sp>
        <p:nvSpPr>
          <p:cNvPr id="15" name="Shape 13"/>
          <p:cNvSpPr/>
          <p:nvPr/>
        </p:nvSpPr>
        <p:spPr>
          <a:xfrm>
            <a:off x="457200" y="3520440"/>
            <a:ext cx="91440" cy="731520"/>
          </a:xfrm>
          <a:prstGeom prst="rect">
            <a:avLst/>
          </a:prstGeom>
          <a:solidFill>
            <a:srgbClr val="2C5F2D"/>
          </a:solidFill>
          <a:ln w="12700">
            <a:solidFill>
              <a:srgbClr val="2C5F2D"/>
            </a:solidFill>
            <a:prstDash val="solid"/>
          </a:ln>
        </p:spPr>
      </p:sp>
      <p:sp>
        <p:nvSpPr>
          <p:cNvPr id="16" name="Text 14"/>
          <p:cNvSpPr/>
          <p:nvPr/>
        </p:nvSpPr>
        <p:spPr>
          <a:xfrm>
            <a:off x="685800" y="3520440"/>
            <a:ext cx="640080" cy="731520"/>
          </a:xfrm>
          <a:prstGeom prst="rect">
            <a:avLst/>
          </a:prstGeom>
          <a:noFill/>
          <a:ln/>
        </p:spPr>
        <p:txBody>
          <a:bodyPr wrap="square" lIns="0" tIns="0" rIns="0" bIns="0" rtlCol="0" anchor="ctr"/>
          <a:lstStyle/>
          <a:p>
            <a:pPr algn="ctr" indent="0" marL="0">
              <a:buNone/>
            </a:pPr>
            <a:r>
              <a:rPr lang="en-US" sz="3000" b="1" dirty="0">
                <a:solidFill>
                  <a:srgbClr val="2C5F2D"/>
                </a:solidFill>
                <a:latin typeface="Georgia" pitchFamily="34" charset="0"/>
                <a:ea typeface="Georgia" pitchFamily="34" charset="-122"/>
                <a:cs typeface="Georgia" pitchFamily="34" charset="-120"/>
              </a:rPr>
              <a:t>3</a:t>
            </a:r>
            <a:endParaRPr lang="en-US" sz="3000" dirty="0"/>
          </a:p>
        </p:txBody>
      </p:sp>
      <p:sp>
        <p:nvSpPr>
          <p:cNvPr id="17" name="Text 15"/>
          <p:cNvSpPr/>
          <p:nvPr/>
        </p:nvSpPr>
        <p:spPr>
          <a:xfrm>
            <a:off x="1417320" y="3611880"/>
            <a:ext cx="10058400" cy="320040"/>
          </a:xfrm>
          <a:prstGeom prst="rect">
            <a:avLst/>
          </a:prstGeom>
          <a:noFill/>
          <a:ln/>
        </p:spPr>
        <p:txBody>
          <a:bodyPr wrap="square" lIns="0" tIns="0" rIns="0" bIns="0" rtlCol="0" anchor="ctr"/>
          <a:lstStyle/>
          <a:p>
            <a:pPr indent="0" marL="0">
              <a:buNone/>
            </a:pPr>
            <a:r>
              <a:rPr lang="en-US" sz="1800" b="1" dirty="0">
                <a:solidFill>
                  <a:srgbClr val="1F3A2E"/>
                </a:solidFill>
                <a:latin typeface="Georgia" pitchFamily="34" charset="0"/>
                <a:ea typeface="Georgia" pitchFamily="34" charset="-122"/>
                <a:cs typeface="Georgia" pitchFamily="34" charset="-120"/>
              </a:rPr>
              <a:t>Cómo redactar el texto que acompaña</a:t>
            </a:r>
            <a:endParaRPr lang="en-US" sz="1800" dirty="0"/>
          </a:p>
        </p:txBody>
      </p:sp>
      <p:sp>
        <p:nvSpPr>
          <p:cNvPr id="18" name="Text 16"/>
          <p:cNvSpPr/>
          <p:nvPr/>
        </p:nvSpPr>
        <p:spPr>
          <a:xfrm>
            <a:off x="1417320" y="3931920"/>
            <a:ext cx="10058400" cy="2743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Guiar al lector sin repetir lo que muestra la figura.</a:t>
            </a:r>
            <a:endParaRPr lang="en-US" sz="1200" dirty="0"/>
          </a:p>
        </p:txBody>
      </p:sp>
      <p:sp>
        <p:nvSpPr>
          <p:cNvPr id="19" name="Shape 17"/>
          <p:cNvSpPr/>
          <p:nvPr/>
        </p:nvSpPr>
        <p:spPr>
          <a:xfrm>
            <a:off x="457200" y="4389120"/>
            <a:ext cx="11247120" cy="731520"/>
          </a:xfrm>
          <a:prstGeom prst="rect">
            <a:avLst/>
          </a:prstGeom>
          <a:solidFill>
            <a:srgbClr val="F7F4ED"/>
          </a:solidFill>
          <a:ln w="12700">
            <a:solidFill>
              <a:srgbClr val="D9D2C0"/>
            </a:solidFill>
            <a:prstDash val="solid"/>
          </a:ln>
        </p:spPr>
      </p:sp>
      <p:sp>
        <p:nvSpPr>
          <p:cNvPr id="20" name="Shape 18"/>
          <p:cNvSpPr/>
          <p:nvPr/>
        </p:nvSpPr>
        <p:spPr>
          <a:xfrm>
            <a:off x="457200" y="4389120"/>
            <a:ext cx="91440" cy="731520"/>
          </a:xfrm>
          <a:prstGeom prst="rect">
            <a:avLst/>
          </a:prstGeom>
          <a:solidFill>
            <a:srgbClr val="2C5F2D"/>
          </a:solidFill>
          <a:ln w="12700">
            <a:solidFill>
              <a:srgbClr val="2C5F2D"/>
            </a:solidFill>
            <a:prstDash val="solid"/>
          </a:ln>
        </p:spPr>
      </p:sp>
      <p:sp>
        <p:nvSpPr>
          <p:cNvPr id="21" name="Text 19"/>
          <p:cNvSpPr/>
          <p:nvPr/>
        </p:nvSpPr>
        <p:spPr>
          <a:xfrm>
            <a:off x="685800" y="4389120"/>
            <a:ext cx="640080" cy="731520"/>
          </a:xfrm>
          <a:prstGeom prst="rect">
            <a:avLst/>
          </a:prstGeom>
          <a:noFill/>
          <a:ln/>
        </p:spPr>
        <p:txBody>
          <a:bodyPr wrap="square" lIns="0" tIns="0" rIns="0" bIns="0" rtlCol="0" anchor="ctr"/>
          <a:lstStyle/>
          <a:p>
            <a:pPr algn="ctr" indent="0" marL="0">
              <a:buNone/>
            </a:pPr>
            <a:r>
              <a:rPr lang="en-US" sz="3000" b="1" dirty="0">
                <a:solidFill>
                  <a:srgbClr val="2C5F2D"/>
                </a:solidFill>
                <a:latin typeface="Georgia" pitchFamily="34" charset="0"/>
                <a:ea typeface="Georgia" pitchFamily="34" charset="-122"/>
                <a:cs typeface="Georgia" pitchFamily="34" charset="-120"/>
              </a:rPr>
              <a:t>4</a:t>
            </a:r>
            <a:endParaRPr lang="en-US" sz="3000" dirty="0"/>
          </a:p>
        </p:txBody>
      </p:sp>
      <p:sp>
        <p:nvSpPr>
          <p:cNvPr id="22" name="Text 20"/>
          <p:cNvSpPr/>
          <p:nvPr/>
        </p:nvSpPr>
        <p:spPr>
          <a:xfrm>
            <a:off x="1417320" y="4480560"/>
            <a:ext cx="10058400" cy="320040"/>
          </a:xfrm>
          <a:prstGeom prst="rect">
            <a:avLst/>
          </a:prstGeom>
          <a:noFill/>
          <a:ln/>
        </p:spPr>
        <p:txBody>
          <a:bodyPr wrap="square" lIns="0" tIns="0" rIns="0" bIns="0" rtlCol="0" anchor="ctr"/>
          <a:lstStyle/>
          <a:p>
            <a:pPr indent="0" marL="0">
              <a:buNone/>
            </a:pPr>
            <a:r>
              <a:rPr lang="en-US" sz="1800" b="1" dirty="0">
                <a:solidFill>
                  <a:srgbClr val="1F3A2E"/>
                </a:solidFill>
                <a:latin typeface="Georgia" pitchFamily="34" charset="0"/>
                <a:ea typeface="Georgia" pitchFamily="34" charset="-122"/>
                <a:cs typeface="Georgia" pitchFamily="34" charset="-120"/>
              </a:rPr>
              <a:t>El orden y la lógica narrativa</a:t>
            </a:r>
            <a:endParaRPr lang="en-US" sz="1800" dirty="0"/>
          </a:p>
        </p:txBody>
      </p:sp>
      <p:sp>
        <p:nvSpPr>
          <p:cNvPr id="23" name="Text 21"/>
          <p:cNvSpPr/>
          <p:nvPr/>
        </p:nvSpPr>
        <p:spPr>
          <a:xfrm>
            <a:off x="1417320" y="4800600"/>
            <a:ext cx="10058400" cy="2743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Del descriptivo al inferencial, del general al específico.</a:t>
            </a:r>
            <a:endParaRPr lang="en-US" sz="1200" dirty="0"/>
          </a:p>
        </p:txBody>
      </p:sp>
      <p:sp>
        <p:nvSpPr>
          <p:cNvPr id="24" name="Shape 22"/>
          <p:cNvSpPr/>
          <p:nvPr/>
        </p:nvSpPr>
        <p:spPr>
          <a:xfrm>
            <a:off x="457200" y="5257800"/>
            <a:ext cx="11247120" cy="731520"/>
          </a:xfrm>
          <a:prstGeom prst="rect">
            <a:avLst/>
          </a:prstGeom>
          <a:solidFill>
            <a:srgbClr val="F7F4ED"/>
          </a:solidFill>
          <a:ln w="12700">
            <a:solidFill>
              <a:srgbClr val="D9D2C0"/>
            </a:solidFill>
            <a:prstDash val="solid"/>
          </a:ln>
        </p:spPr>
      </p:sp>
      <p:sp>
        <p:nvSpPr>
          <p:cNvPr id="25" name="Shape 23"/>
          <p:cNvSpPr/>
          <p:nvPr/>
        </p:nvSpPr>
        <p:spPr>
          <a:xfrm>
            <a:off x="457200" y="5257800"/>
            <a:ext cx="91440" cy="731520"/>
          </a:xfrm>
          <a:prstGeom prst="rect">
            <a:avLst/>
          </a:prstGeom>
          <a:solidFill>
            <a:srgbClr val="2C5F2D"/>
          </a:solidFill>
          <a:ln w="12700">
            <a:solidFill>
              <a:srgbClr val="2C5F2D"/>
            </a:solidFill>
            <a:prstDash val="solid"/>
          </a:ln>
        </p:spPr>
      </p:sp>
      <p:sp>
        <p:nvSpPr>
          <p:cNvPr id="26" name="Text 24"/>
          <p:cNvSpPr/>
          <p:nvPr/>
        </p:nvSpPr>
        <p:spPr>
          <a:xfrm>
            <a:off x="685800" y="5257800"/>
            <a:ext cx="640080" cy="731520"/>
          </a:xfrm>
          <a:prstGeom prst="rect">
            <a:avLst/>
          </a:prstGeom>
          <a:noFill/>
          <a:ln/>
        </p:spPr>
        <p:txBody>
          <a:bodyPr wrap="square" lIns="0" tIns="0" rIns="0" bIns="0" rtlCol="0" anchor="ctr"/>
          <a:lstStyle/>
          <a:p>
            <a:pPr algn="ctr" indent="0" marL="0">
              <a:buNone/>
            </a:pPr>
            <a:r>
              <a:rPr lang="en-US" sz="3000" b="1" dirty="0">
                <a:solidFill>
                  <a:srgbClr val="2C5F2D"/>
                </a:solidFill>
                <a:latin typeface="Georgia" pitchFamily="34" charset="0"/>
                <a:ea typeface="Georgia" pitchFamily="34" charset="-122"/>
                <a:cs typeface="Georgia" pitchFamily="34" charset="-120"/>
              </a:rPr>
              <a:t>5</a:t>
            </a:r>
            <a:endParaRPr lang="en-US" sz="3000" dirty="0"/>
          </a:p>
        </p:txBody>
      </p:sp>
      <p:sp>
        <p:nvSpPr>
          <p:cNvPr id="27" name="Text 25"/>
          <p:cNvSpPr/>
          <p:nvPr/>
        </p:nvSpPr>
        <p:spPr>
          <a:xfrm>
            <a:off x="1417320" y="5349240"/>
            <a:ext cx="10058400" cy="320040"/>
          </a:xfrm>
          <a:prstGeom prst="rect">
            <a:avLst/>
          </a:prstGeom>
          <a:noFill/>
          <a:ln/>
        </p:spPr>
        <p:txBody>
          <a:bodyPr wrap="square" lIns="0" tIns="0" rIns="0" bIns="0" rtlCol="0" anchor="ctr"/>
          <a:lstStyle/>
          <a:p>
            <a:pPr indent="0" marL="0">
              <a:buNone/>
            </a:pPr>
            <a:r>
              <a:rPr lang="en-US" sz="1800" b="1" dirty="0">
                <a:solidFill>
                  <a:srgbClr val="1F3A2E"/>
                </a:solidFill>
                <a:latin typeface="Georgia" pitchFamily="34" charset="0"/>
                <a:ea typeface="Georgia" pitchFamily="34" charset="-122"/>
                <a:cs typeface="Georgia" pitchFamily="34" charset="-120"/>
              </a:rPr>
              <a:t>Errores frecuentes y ejercicios</a:t>
            </a:r>
            <a:endParaRPr lang="en-US" sz="1800" dirty="0"/>
          </a:p>
        </p:txBody>
      </p:sp>
      <p:sp>
        <p:nvSpPr>
          <p:cNvPr id="28" name="Text 26"/>
          <p:cNvSpPr/>
          <p:nvPr/>
        </p:nvSpPr>
        <p:spPr>
          <a:xfrm>
            <a:off x="1417320" y="5669280"/>
            <a:ext cx="10058400" cy="2743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Aplicación al caso guía y a tus propios datos.</a:t>
            </a:r>
            <a:endParaRPr lang="en-US" sz="1200" dirty="0"/>
          </a:p>
        </p:txBody>
      </p:sp>
      <p:sp>
        <p:nvSpPr>
          <p:cNvPr id="29" name="Text 27"/>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30" name="Text 28"/>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2 / 25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2194560"/>
            <a:ext cx="10058400" cy="365760"/>
          </a:xfrm>
          <a:prstGeom prst="rect">
            <a:avLst/>
          </a:prstGeom>
          <a:noFill/>
          <a:ln/>
        </p:spPr>
        <p:txBody>
          <a:bodyPr wrap="square" lIns="0" tIns="0" rIns="0" bIns="0" rtlCol="0" anchor="ctr"/>
          <a:lstStyle/>
          <a:p>
            <a:pPr indent="0" marL="0">
              <a:buNone/>
            </a:pPr>
            <a:r>
              <a:rPr lang="en-US" sz="1400" b="1" spc="600" kern="0" dirty="0">
                <a:solidFill>
                  <a:srgbClr val="97BC62"/>
                </a:solidFill>
                <a:latin typeface="Calibri" pitchFamily="34" charset="0"/>
                <a:ea typeface="Calibri" pitchFamily="34" charset="-122"/>
                <a:cs typeface="Calibri" pitchFamily="34" charset="-120"/>
              </a:rPr>
              <a:t>PARTE 1 DE 5</a:t>
            </a:r>
            <a:endParaRPr lang="en-US" sz="1400" dirty="0"/>
          </a:p>
        </p:txBody>
      </p:sp>
      <p:sp>
        <p:nvSpPr>
          <p:cNvPr id="4" name="Text 2"/>
          <p:cNvSpPr/>
          <p:nvPr/>
        </p:nvSpPr>
        <p:spPr>
          <a:xfrm>
            <a:off x="822960" y="2697480"/>
            <a:ext cx="10515600" cy="14630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Las figuras primero</a:t>
            </a:r>
            <a:endParaRPr lang="en-US" sz="5600" dirty="0"/>
          </a:p>
        </p:txBody>
      </p:sp>
      <p:sp>
        <p:nvSpPr>
          <p:cNvPr id="5" name="Text 3"/>
          <p:cNvSpPr/>
          <p:nvPr/>
        </p:nvSpPr>
        <p:spPr>
          <a:xfrm>
            <a:off x="822960" y="4251960"/>
            <a:ext cx="10058400" cy="64008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Diseña las visualizaciones antes de escribir una sola palabra.</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IMPORTANCIA</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Por qué se diseñan figuras antes del texto</a:t>
            </a:r>
            <a:endParaRPr lang="en-US" sz="3000" dirty="0"/>
          </a:p>
        </p:txBody>
      </p:sp>
      <p:sp>
        <p:nvSpPr>
          <p:cNvPr id="4" name="Shape 2"/>
          <p:cNvSpPr/>
          <p:nvPr/>
        </p:nvSpPr>
        <p:spPr>
          <a:xfrm>
            <a:off x="457200" y="1783080"/>
            <a:ext cx="3703320" cy="438912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457200" y="1783080"/>
            <a:ext cx="3703320" cy="1005840"/>
          </a:xfrm>
          <a:prstGeom prst="rect">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731520" y="2011680"/>
            <a:ext cx="548640" cy="548640"/>
          </a:xfrm>
          <a:prstGeom prst="rect">
            <a:avLst/>
          </a:prstGeom>
        </p:spPr>
      </p:pic>
      <p:sp>
        <p:nvSpPr>
          <p:cNvPr id="7" name="Text 4"/>
          <p:cNvSpPr/>
          <p:nvPr/>
        </p:nvSpPr>
        <p:spPr>
          <a:xfrm>
            <a:off x="3063240" y="1920240"/>
            <a:ext cx="914400" cy="731520"/>
          </a:xfrm>
          <a:prstGeom prst="rect">
            <a:avLst/>
          </a:prstGeom>
          <a:noFill/>
          <a:ln/>
        </p:spPr>
        <p:txBody>
          <a:bodyPr wrap="square" lIns="0" tIns="0" rIns="0" bIns="0" rtlCol="0" anchor="ctr"/>
          <a:lstStyle/>
          <a:p>
            <a:pPr algn="r" indent="0" marL="0">
              <a:buNone/>
            </a:pPr>
            <a:r>
              <a:rPr lang="en-US" sz="3600" b="1" dirty="0">
                <a:solidFill>
                  <a:srgbClr val="97BC62"/>
                </a:solidFill>
                <a:latin typeface="Georgia" pitchFamily="34" charset="0"/>
                <a:ea typeface="Georgia" pitchFamily="34" charset="-122"/>
                <a:cs typeface="Georgia" pitchFamily="34" charset="-120"/>
              </a:rPr>
              <a:t>01</a:t>
            </a:r>
            <a:endParaRPr lang="en-US" sz="3600" dirty="0"/>
          </a:p>
        </p:txBody>
      </p:sp>
      <p:sp>
        <p:nvSpPr>
          <p:cNvPr id="8" name="Text 5"/>
          <p:cNvSpPr/>
          <p:nvPr/>
        </p:nvSpPr>
        <p:spPr>
          <a:xfrm>
            <a:off x="685800" y="2971800"/>
            <a:ext cx="3246120" cy="868680"/>
          </a:xfrm>
          <a:prstGeom prst="rect">
            <a:avLst/>
          </a:prstGeom>
          <a:noFill/>
          <a:ln/>
        </p:spPr>
        <p:txBody>
          <a:bodyPr wrap="square" lIns="0" tIns="0" rIns="0" bIns="0" rtlCol="0" anchor="ctr"/>
          <a:lstStyle/>
          <a:p>
            <a:pPr indent="0" marL="0">
              <a:lnSpc>
                <a:spcPct val="110000"/>
              </a:lnSpc>
              <a:buNone/>
            </a:pPr>
            <a:r>
              <a:rPr lang="en-US" sz="1800" b="1" dirty="0">
                <a:solidFill>
                  <a:srgbClr val="1F3A2E"/>
                </a:solidFill>
                <a:latin typeface="Georgia" pitchFamily="34" charset="0"/>
                <a:ea typeface="Georgia" pitchFamily="34" charset="-122"/>
                <a:cs typeface="Georgia" pitchFamily="34" charset="-120"/>
              </a:rPr>
              <a:t>Los revisores las miran primero</a:t>
            </a:r>
            <a:endParaRPr lang="en-US" sz="1800" dirty="0"/>
          </a:p>
        </p:txBody>
      </p:sp>
      <p:sp>
        <p:nvSpPr>
          <p:cNvPr id="9" name="Text 6"/>
          <p:cNvSpPr/>
          <p:nvPr/>
        </p:nvSpPr>
        <p:spPr>
          <a:xfrm>
            <a:off x="685800" y="3886200"/>
            <a:ext cx="3246120" cy="2194560"/>
          </a:xfrm>
          <a:prstGeom prst="rect">
            <a:avLst/>
          </a:prstGeom>
          <a:noFill/>
          <a:ln/>
        </p:spPr>
        <p:txBody>
          <a:bodyPr wrap="square" lIns="0" tIns="0" rIns="0" bIns="0" rtlCol="0" anchor="ctr"/>
          <a:lstStyle/>
          <a:p>
            <a:pPr indent="0" marL="0">
              <a:lnSpc>
                <a:spcPct val="125000"/>
              </a:lnSpc>
              <a:buNone/>
            </a:pPr>
            <a:r>
              <a:rPr lang="en-US" sz="1300" dirty="0">
                <a:solidFill>
                  <a:srgbClr val="1A1A1A"/>
                </a:solidFill>
                <a:latin typeface="Calibri" pitchFamily="34" charset="0"/>
                <a:ea typeface="Calibri" pitchFamily="34" charset="-122"/>
                <a:cs typeface="Calibri" pitchFamily="34" charset="-120"/>
              </a:rPr>
              <a:t>Antes de leer una línea de Resultados, los revisores hojean tablas y figuras. Si no convencen ahí, no convencen.</a:t>
            </a:r>
            <a:endParaRPr lang="en-US" sz="1300" dirty="0"/>
          </a:p>
        </p:txBody>
      </p:sp>
      <p:sp>
        <p:nvSpPr>
          <p:cNvPr id="10" name="Shape 7"/>
          <p:cNvSpPr/>
          <p:nvPr/>
        </p:nvSpPr>
        <p:spPr>
          <a:xfrm>
            <a:off x="4297680" y="1783080"/>
            <a:ext cx="3703320" cy="438912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297680" y="1783080"/>
            <a:ext cx="3703320" cy="1005840"/>
          </a:xfrm>
          <a:prstGeom prst="rect">
            <a:avLst/>
          </a:prstGeom>
          <a:solidFill>
            <a:srgbClr val="2C5F2D"/>
          </a:solidFill>
          <a:ln w="12700">
            <a:solidFill>
              <a:srgbClr val="2C5F2D"/>
            </a:solidFill>
            <a:prstDash val="solid"/>
          </a:ln>
        </p:spPr>
      </p:sp>
      <p:pic>
        <p:nvPicPr>
          <p:cNvPr id="12" name="Image 1" descr="preencoded.png">    </p:cNvPr>
          <p:cNvPicPr>
            <a:picLocks noChangeAspect="1"/>
          </p:cNvPicPr>
          <p:nvPr/>
        </p:nvPicPr>
        <p:blipFill>
          <a:blip r:embed="rId2"/>
          <a:stretch>
            <a:fillRect/>
          </a:stretch>
        </p:blipFill>
        <p:spPr>
          <a:xfrm>
            <a:off x="4572000" y="2011680"/>
            <a:ext cx="548640" cy="548640"/>
          </a:xfrm>
          <a:prstGeom prst="rect">
            <a:avLst/>
          </a:prstGeom>
        </p:spPr>
      </p:pic>
      <p:sp>
        <p:nvSpPr>
          <p:cNvPr id="13" name="Text 9"/>
          <p:cNvSpPr/>
          <p:nvPr/>
        </p:nvSpPr>
        <p:spPr>
          <a:xfrm>
            <a:off x="6903720" y="1920240"/>
            <a:ext cx="914400" cy="731520"/>
          </a:xfrm>
          <a:prstGeom prst="rect">
            <a:avLst/>
          </a:prstGeom>
          <a:noFill/>
          <a:ln/>
        </p:spPr>
        <p:txBody>
          <a:bodyPr wrap="square" lIns="0" tIns="0" rIns="0" bIns="0" rtlCol="0" anchor="ctr"/>
          <a:lstStyle/>
          <a:p>
            <a:pPr algn="r" indent="0" marL="0">
              <a:buNone/>
            </a:pPr>
            <a:r>
              <a:rPr lang="en-US" sz="3600" b="1" dirty="0">
                <a:solidFill>
                  <a:srgbClr val="97BC62"/>
                </a:solidFill>
                <a:latin typeface="Georgia" pitchFamily="34" charset="0"/>
                <a:ea typeface="Georgia" pitchFamily="34" charset="-122"/>
                <a:cs typeface="Georgia" pitchFamily="34" charset="-120"/>
              </a:rPr>
              <a:t>02</a:t>
            </a:r>
            <a:endParaRPr lang="en-US" sz="3600" dirty="0"/>
          </a:p>
        </p:txBody>
      </p:sp>
      <p:sp>
        <p:nvSpPr>
          <p:cNvPr id="14" name="Text 10"/>
          <p:cNvSpPr/>
          <p:nvPr/>
        </p:nvSpPr>
        <p:spPr>
          <a:xfrm>
            <a:off x="4526280" y="2971800"/>
            <a:ext cx="3246120" cy="868680"/>
          </a:xfrm>
          <a:prstGeom prst="rect">
            <a:avLst/>
          </a:prstGeom>
          <a:noFill/>
          <a:ln/>
        </p:spPr>
        <p:txBody>
          <a:bodyPr wrap="square" lIns="0" tIns="0" rIns="0" bIns="0" rtlCol="0" anchor="ctr"/>
          <a:lstStyle/>
          <a:p>
            <a:pPr indent="0" marL="0">
              <a:lnSpc>
                <a:spcPct val="110000"/>
              </a:lnSpc>
              <a:buNone/>
            </a:pPr>
            <a:r>
              <a:rPr lang="en-US" sz="1800" b="1" dirty="0">
                <a:solidFill>
                  <a:srgbClr val="1F3A2E"/>
                </a:solidFill>
                <a:latin typeface="Georgia" pitchFamily="34" charset="0"/>
                <a:ea typeface="Georgia" pitchFamily="34" charset="-122"/>
                <a:cs typeface="Georgia" pitchFamily="34" charset="-120"/>
              </a:rPr>
              <a:t>Definen tu historia</a:t>
            </a:r>
            <a:endParaRPr lang="en-US" sz="1800" dirty="0"/>
          </a:p>
        </p:txBody>
      </p:sp>
      <p:sp>
        <p:nvSpPr>
          <p:cNvPr id="15" name="Text 11"/>
          <p:cNvSpPr/>
          <p:nvPr/>
        </p:nvSpPr>
        <p:spPr>
          <a:xfrm>
            <a:off x="4526280" y="3886200"/>
            <a:ext cx="3246120" cy="2194560"/>
          </a:xfrm>
          <a:prstGeom prst="rect">
            <a:avLst/>
          </a:prstGeom>
          <a:noFill/>
          <a:ln/>
        </p:spPr>
        <p:txBody>
          <a:bodyPr wrap="square" lIns="0" tIns="0" rIns="0" bIns="0" rtlCol="0" anchor="ctr"/>
          <a:lstStyle/>
          <a:p>
            <a:pPr indent="0" marL="0">
              <a:lnSpc>
                <a:spcPct val="125000"/>
              </a:lnSpc>
              <a:buNone/>
            </a:pPr>
            <a:r>
              <a:rPr lang="en-US" sz="1300" dirty="0">
                <a:solidFill>
                  <a:srgbClr val="1A1A1A"/>
                </a:solidFill>
                <a:latin typeface="Calibri" pitchFamily="34" charset="0"/>
                <a:ea typeface="Calibri" pitchFamily="34" charset="-122"/>
                <a:cs typeface="Calibri" pitchFamily="34" charset="-120"/>
              </a:rPr>
              <a:t>Tus figuras son los protagonistas. El texto solo guía al lector entre ellas y resalta lo que importa.</a:t>
            </a:r>
            <a:endParaRPr lang="en-US" sz="1300" dirty="0"/>
          </a:p>
        </p:txBody>
      </p:sp>
      <p:sp>
        <p:nvSpPr>
          <p:cNvPr id="16" name="Shape 12"/>
          <p:cNvSpPr/>
          <p:nvPr/>
        </p:nvSpPr>
        <p:spPr>
          <a:xfrm>
            <a:off x="8138160" y="1783080"/>
            <a:ext cx="3703320" cy="438912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8138160" y="1783080"/>
            <a:ext cx="3703320" cy="1005840"/>
          </a:xfrm>
          <a:prstGeom prst="rect">
            <a:avLst/>
          </a:prstGeom>
          <a:solidFill>
            <a:srgbClr val="2C5F2D"/>
          </a:solidFill>
          <a:ln w="12700">
            <a:solidFill>
              <a:srgbClr val="2C5F2D"/>
            </a:solidFill>
            <a:prstDash val="solid"/>
          </a:ln>
        </p:spPr>
      </p:sp>
      <p:pic>
        <p:nvPicPr>
          <p:cNvPr id="18" name="Image 2" descr="preencoded.png">    </p:cNvPr>
          <p:cNvPicPr>
            <a:picLocks noChangeAspect="1"/>
          </p:cNvPicPr>
          <p:nvPr/>
        </p:nvPicPr>
        <p:blipFill>
          <a:blip r:embed="rId3"/>
          <a:stretch>
            <a:fillRect/>
          </a:stretch>
        </p:blipFill>
        <p:spPr>
          <a:xfrm>
            <a:off x="8412480" y="2011680"/>
            <a:ext cx="548640" cy="548640"/>
          </a:xfrm>
          <a:prstGeom prst="rect">
            <a:avLst/>
          </a:prstGeom>
        </p:spPr>
      </p:pic>
      <p:sp>
        <p:nvSpPr>
          <p:cNvPr id="19" name="Text 14"/>
          <p:cNvSpPr/>
          <p:nvPr/>
        </p:nvSpPr>
        <p:spPr>
          <a:xfrm>
            <a:off x="10744200" y="1920240"/>
            <a:ext cx="914400" cy="731520"/>
          </a:xfrm>
          <a:prstGeom prst="rect">
            <a:avLst/>
          </a:prstGeom>
          <a:noFill/>
          <a:ln/>
        </p:spPr>
        <p:txBody>
          <a:bodyPr wrap="square" lIns="0" tIns="0" rIns="0" bIns="0" rtlCol="0" anchor="ctr"/>
          <a:lstStyle/>
          <a:p>
            <a:pPr algn="r" indent="0" marL="0">
              <a:buNone/>
            </a:pPr>
            <a:r>
              <a:rPr lang="en-US" sz="3600" b="1" dirty="0">
                <a:solidFill>
                  <a:srgbClr val="97BC62"/>
                </a:solidFill>
                <a:latin typeface="Georgia" pitchFamily="34" charset="0"/>
                <a:ea typeface="Georgia" pitchFamily="34" charset="-122"/>
                <a:cs typeface="Georgia" pitchFamily="34" charset="-120"/>
              </a:rPr>
              <a:t>03</a:t>
            </a:r>
            <a:endParaRPr lang="en-US" sz="3600" dirty="0"/>
          </a:p>
        </p:txBody>
      </p:sp>
      <p:sp>
        <p:nvSpPr>
          <p:cNvPr id="20" name="Text 15"/>
          <p:cNvSpPr/>
          <p:nvPr/>
        </p:nvSpPr>
        <p:spPr>
          <a:xfrm>
            <a:off x="8366760" y="2971800"/>
            <a:ext cx="3246120" cy="868680"/>
          </a:xfrm>
          <a:prstGeom prst="rect">
            <a:avLst/>
          </a:prstGeom>
          <a:noFill/>
          <a:ln/>
        </p:spPr>
        <p:txBody>
          <a:bodyPr wrap="square" lIns="0" tIns="0" rIns="0" bIns="0" rtlCol="0" anchor="ctr"/>
          <a:lstStyle/>
          <a:p>
            <a:pPr indent="0" marL="0">
              <a:lnSpc>
                <a:spcPct val="110000"/>
              </a:lnSpc>
              <a:buNone/>
            </a:pPr>
            <a:r>
              <a:rPr lang="en-US" sz="1800" b="1" dirty="0">
                <a:solidFill>
                  <a:srgbClr val="1F3A2E"/>
                </a:solidFill>
                <a:latin typeface="Georgia" pitchFamily="34" charset="0"/>
                <a:ea typeface="Georgia" pitchFamily="34" charset="-122"/>
                <a:cs typeface="Georgia" pitchFamily="34" charset="-120"/>
              </a:rPr>
              <a:t>Imponen el orden de lectura</a:t>
            </a:r>
            <a:endParaRPr lang="en-US" sz="1800" dirty="0"/>
          </a:p>
        </p:txBody>
      </p:sp>
      <p:sp>
        <p:nvSpPr>
          <p:cNvPr id="21" name="Text 16"/>
          <p:cNvSpPr/>
          <p:nvPr/>
        </p:nvSpPr>
        <p:spPr>
          <a:xfrm>
            <a:off x="8366760" y="3886200"/>
            <a:ext cx="3246120" cy="2194560"/>
          </a:xfrm>
          <a:prstGeom prst="rect">
            <a:avLst/>
          </a:prstGeom>
          <a:noFill/>
          <a:ln/>
        </p:spPr>
        <p:txBody>
          <a:bodyPr wrap="square" lIns="0" tIns="0" rIns="0" bIns="0" rtlCol="0" anchor="ctr"/>
          <a:lstStyle/>
          <a:p>
            <a:pPr indent="0" marL="0">
              <a:lnSpc>
                <a:spcPct val="125000"/>
              </a:lnSpc>
              <a:buNone/>
            </a:pPr>
            <a:r>
              <a:rPr lang="en-US" sz="1300" dirty="0">
                <a:solidFill>
                  <a:srgbClr val="1A1A1A"/>
                </a:solidFill>
                <a:latin typeface="Calibri" pitchFamily="34" charset="0"/>
                <a:ea typeface="Calibri" pitchFamily="34" charset="-122"/>
                <a:cs typeface="Calibri" pitchFamily="34" charset="-120"/>
              </a:rPr>
              <a:t>El orden en que aparecen tus figuras dicta el orden de tus párrafos — y debe coincidir con el orden de los objetivos.</a:t>
            </a:r>
            <a:endParaRPr lang="en-US" sz="1300" dirty="0"/>
          </a:p>
        </p:txBody>
      </p:sp>
      <p:sp>
        <p:nvSpPr>
          <p:cNvPr id="22" name="Text 17"/>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23" name="Text 18"/>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4 / 25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914400"/>
            <a:ext cx="10058400" cy="365760"/>
          </a:xfrm>
          <a:prstGeom prst="rect">
            <a:avLst/>
          </a:prstGeom>
          <a:noFill/>
          <a:ln/>
        </p:spPr>
        <p:txBody>
          <a:bodyPr wrap="square" lIns="0" tIns="0" rIns="0" bIns="0" rtlCol="0" anchor="ctr"/>
          <a:lstStyle/>
          <a:p>
            <a:pPr indent="0" marL="0">
              <a:buNone/>
            </a:pPr>
            <a:r>
              <a:rPr lang="en-US" sz="1300" b="1" spc="600" kern="0" dirty="0">
                <a:solidFill>
                  <a:srgbClr val="97BC62"/>
                </a:solidFill>
                <a:latin typeface="Calibri" pitchFamily="34" charset="0"/>
                <a:ea typeface="Calibri" pitchFamily="34" charset="-122"/>
                <a:cs typeface="Calibri" pitchFamily="34" charset="-120"/>
              </a:rPr>
              <a:t>EL PRINCIPIO RECTOR</a:t>
            </a:r>
            <a:endParaRPr lang="en-US" sz="1300" dirty="0"/>
          </a:p>
        </p:txBody>
      </p:sp>
      <p:sp>
        <p:nvSpPr>
          <p:cNvPr id="4" name="Text 2"/>
          <p:cNvSpPr/>
          <p:nvPr/>
        </p:nvSpPr>
        <p:spPr>
          <a:xfrm>
            <a:off x="822960" y="1371600"/>
            <a:ext cx="10515600" cy="2286000"/>
          </a:xfrm>
          <a:prstGeom prst="rect">
            <a:avLst/>
          </a:prstGeom>
          <a:noFill/>
          <a:ln/>
        </p:spPr>
        <p:txBody>
          <a:bodyPr wrap="square" lIns="0" tIns="0" rIns="0" bIns="0" rtlCol="0" anchor="ctr"/>
          <a:lstStyle/>
          <a:p>
            <a:pPr indent="0" marL="0">
              <a:lnSpc>
                <a:spcPct val="100000"/>
              </a:lnSpc>
              <a:buNone/>
            </a:pPr>
            <a:r>
              <a:rPr lang="en-US" sz="6000" b="1" dirty="0">
                <a:solidFill>
                  <a:srgbClr val="FFFFFF"/>
                </a:solidFill>
                <a:latin typeface="Georgia" pitchFamily="34" charset="0"/>
                <a:ea typeface="Georgia" pitchFamily="34" charset="-122"/>
                <a:cs typeface="Georgia" pitchFamily="34" charset="-120"/>
              </a:rPr>
              <a:t>Mostrar.</a:t>
            </a:r>
            <a:endParaRPr lang="en-US" sz="6000" dirty="0"/>
          </a:p>
          <a:p>
            <a:pPr indent="0" marL="0">
              <a:lnSpc>
                <a:spcPct val="100000"/>
              </a:lnSpc>
              <a:buNone/>
            </a:pPr>
            <a:r>
              <a:rPr lang="en-US" sz="6000" b="1" dirty="0">
                <a:solidFill>
                  <a:srgbClr val="FFFFFF"/>
                </a:solidFill>
                <a:latin typeface="Georgia" pitchFamily="34" charset="0"/>
                <a:ea typeface="Georgia" pitchFamily="34" charset="-122"/>
                <a:cs typeface="Georgia" pitchFamily="34" charset="-120"/>
              </a:rPr>
              <a:t>No interpretar.</a:t>
            </a:r>
            <a:endParaRPr lang="en-US" sz="6000" dirty="0"/>
          </a:p>
        </p:txBody>
      </p:sp>
      <p:sp>
        <p:nvSpPr>
          <p:cNvPr id="5" name="Text 3"/>
          <p:cNvSpPr/>
          <p:nvPr/>
        </p:nvSpPr>
        <p:spPr>
          <a:xfrm>
            <a:off x="822960" y="3931920"/>
            <a:ext cx="10332720" cy="1280160"/>
          </a:xfrm>
          <a:prstGeom prst="rect">
            <a:avLst/>
          </a:prstGeom>
          <a:noFill/>
          <a:ln/>
        </p:spPr>
        <p:txBody>
          <a:bodyPr wrap="square" lIns="0" tIns="0" rIns="0" bIns="0" rtlCol="0" anchor="ctr"/>
          <a:lstStyle/>
          <a:p>
            <a:pPr indent="0" marL="0">
              <a:lnSpc>
                <a:spcPct val="130000"/>
              </a:lnSpc>
              <a:buNone/>
            </a:pPr>
            <a:r>
              <a:rPr lang="en-US" sz="1800" i="1" dirty="0">
                <a:solidFill>
                  <a:srgbClr val="CADCFC"/>
                </a:solidFill>
                <a:latin typeface="Georgia" pitchFamily="34" charset="0"/>
                <a:ea typeface="Georgia" pitchFamily="34" charset="-122"/>
                <a:cs typeface="Georgia" pitchFamily="34" charset="-120"/>
              </a:rPr>
              <a:t>En Resultados se reportan los hechos: qué se observó, con qué magnitud, con qué variabilidad. La interpretación, las comparaciones con literatura previa y las implicaciones — todo eso pertenece a la Discusión.</a:t>
            </a:r>
            <a:endParaRPr lang="en-US" sz="1800" dirty="0"/>
          </a:p>
        </p:txBody>
      </p:sp>
      <p:sp>
        <p:nvSpPr>
          <p:cNvPr id="6" name="Shape 4"/>
          <p:cNvSpPr/>
          <p:nvPr/>
        </p:nvSpPr>
        <p:spPr>
          <a:xfrm>
            <a:off x="822960" y="5440680"/>
            <a:ext cx="10332720" cy="868680"/>
          </a:xfrm>
          <a:prstGeom prst="rect">
            <a:avLst/>
          </a:prstGeom>
          <a:solidFill>
            <a:srgbClr val="97BC62"/>
          </a:solidFill>
          <a:ln w="12700">
            <a:solidFill>
              <a:srgbClr val="97BC62"/>
            </a:solidFill>
            <a:prstDash val="solid"/>
          </a:ln>
        </p:spPr>
      </p:sp>
      <p:sp>
        <p:nvSpPr>
          <p:cNvPr id="7" name="Text 5"/>
          <p:cNvSpPr/>
          <p:nvPr/>
        </p:nvSpPr>
        <p:spPr>
          <a:xfrm>
            <a:off x="1005840" y="5440680"/>
            <a:ext cx="10058400" cy="868680"/>
          </a:xfrm>
          <a:prstGeom prst="rect">
            <a:avLst/>
          </a:prstGeom>
          <a:noFill/>
          <a:ln/>
        </p:spPr>
        <p:txBody>
          <a:bodyPr wrap="square" lIns="0" tIns="0" rIns="0" bIns="0" rtlCol="0" anchor="ctr"/>
          <a:lstStyle/>
          <a:p>
            <a:pPr indent="0" marL="0">
              <a:buNone/>
            </a:pPr>
            <a:r>
              <a:rPr lang="en-US" sz="1400" b="1" dirty="0">
                <a:solidFill>
                  <a:srgbClr val="1F3A2E"/>
                </a:solidFill>
                <a:latin typeface="Calibri" pitchFamily="34" charset="0"/>
                <a:ea typeface="Calibri" pitchFamily="34" charset="-122"/>
                <a:cs typeface="Calibri" pitchFamily="34" charset="-120"/>
              </a:rPr>
              <a:t>Si escribes "esto sugiere que…" o "esto demuestra que…", estás en Discusión. Vuelve a Resultados.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2194560"/>
            <a:ext cx="10058400" cy="365760"/>
          </a:xfrm>
          <a:prstGeom prst="rect">
            <a:avLst/>
          </a:prstGeom>
          <a:noFill/>
          <a:ln/>
        </p:spPr>
        <p:txBody>
          <a:bodyPr wrap="square" lIns="0" tIns="0" rIns="0" bIns="0" rtlCol="0" anchor="ctr"/>
          <a:lstStyle/>
          <a:p>
            <a:pPr indent="0" marL="0">
              <a:buNone/>
            </a:pPr>
            <a:r>
              <a:rPr lang="en-US" sz="1400" b="1" spc="600" kern="0" dirty="0">
                <a:solidFill>
                  <a:srgbClr val="97BC62"/>
                </a:solidFill>
                <a:latin typeface="Calibri" pitchFamily="34" charset="0"/>
                <a:ea typeface="Calibri" pitchFamily="34" charset="-122"/>
                <a:cs typeface="Calibri" pitchFamily="34" charset="-120"/>
              </a:rPr>
              <a:t>PARTE 2 DE 5</a:t>
            </a:r>
            <a:endParaRPr lang="en-US" sz="1400" dirty="0"/>
          </a:p>
        </p:txBody>
      </p:sp>
      <p:sp>
        <p:nvSpPr>
          <p:cNvPr id="4" name="Text 2"/>
          <p:cNvSpPr/>
          <p:nvPr/>
        </p:nvSpPr>
        <p:spPr>
          <a:xfrm>
            <a:off x="822960" y="2697480"/>
            <a:ext cx="10515600" cy="14630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Figuras y tablas</a:t>
            </a:r>
            <a:endParaRPr lang="en-US" sz="5600" dirty="0"/>
          </a:p>
        </p:txBody>
      </p:sp>
      <p:sp>
        <p:nvSpPr>
          <p:cNvPr id="5" name="Text 3"/>
          <p:cNvSpPr/>
          <p:nvPr/>
        </p:nvSpPr>
        <p:spPr>
          <a:xfrm>
            <a:off x="822960" y="4251960"/>
            <a:ext cx="10058400" cy="64008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Cuándo usar cuál, y cómo hacerlas autocontenidas.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FIGURA VS. TABLA</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Cuándo usar una u otra</a:t>
            </a:r>
            <a:endParaRPr lang="en-US" sz="3000" dirty="0"/>
          </a:p>
        </p:txBody>
      </p:sp>
      <p:sp>
        <p:nvSpPr>
          <p:cNvPr id="4" name="Shape 2"/>
          <p:cNvSpPr/>
          <p:nvPr/>
        </p:nvSpPr>
        <p:spPr>
          <a:xfrm>
            <a:off x="457200" y="1691640"/>
            <a:ext cx="5532120" cy="457200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457200" y="1691640"/>
            <a:ext cx="5532120" cy="914400"/>
          </a:xfrm>
          <a:prstGeom prst="rect">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731520" y="1920240"/>
            <a:ext cx="502920" cy="502920"/>
          </a:xfrm>
          <a:prstGeom prst="rect">
            <a:avLst/>
          </a:prstGeom>
        </p:spPr>
      </p:pic>
      <p:sp>
        <p:nvSpPr>
          <p:cNvPr id="7" name="Text 4"/>
          <p:cNvSpPr/>
          <p:nvPr/>
        </p:nvSpPr>
        <p:spPr>
          <a:xfrm>
            <a:off x="1417320" y="1691640"/>
            <a:ext cx="4389120" cy="91440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Usa FIGURA cuando…</a:t>
            </a:r>
            <a:endParaRPr lang="en-US" sz="2000" dirty="0"/>
          </a:p>
        </p:txBody>
      </p:sp>
      <p:sp>
        <p:nvSpPr>
          <p:cNvPr id="8" name="Text 5"/>
          <p:cNvSpPr/>
          <p:nvPr/>
        </p:nvSpPr>
        <p:spPr>
          <a:xfrm>
            <a:off x="685800" y="2834640"/>
            <a:ext cx="5074920" cy="3383280"/>
          </a:xfrm>
          <a:prstGeom prst="rect">
            <a:avLst/>
          </a:prstGeom>
          <a:noFill/>
          <a:ln/>
        </p:spPr>
        <p:txBody>
          <a:bodyPr wrap="square" rtlCol="0" anchor="ctr"/>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Quieres mostrar tendencias o patrones</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Hay comparaciones visuales entre grupos</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Existen relaciones entre variables continuas</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La forma de la distribución importa</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Imágenes (microscopía, mapas, geles)</a:t>
            </a:r>
            <a:endParaRPr lang="en-US" sz="1300" dirty="0"/>
          </a:p>
        </p:txBody>
      </p:sp>
      <p:sp>
        <p:nvSpPr>
          <p:cNvPr id="9" name="Shape 6"/>
          <p:cNvSpPr/>
          <p:nvPr/>
        </p:nvSpPr>
        <p:spPr>
          <a:xfrm>
            <a:off x="6172200" y="1691640"/>
            <a:ext cx="5532120" cy="457200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6172200" y="1691640"/>
            <a:ext cx="5532120" cy="914400"/>
          </a:xfrm>
          <a:prstGeom prst="rect">
            <a:avLst/>
          </a:prstGeom>
          <a:solidFill>
            <a:srgbClr val="2C5F2D"/>
          </a:solidFill>
          <a:ln w="12700">
            <a:solidFill>
              <a:srgbClr val="2C5F2D"/>
            </a:solidFill>
            <a:prstDash val="solid"/>
          </a:ln>
        </p:spPr>
      </p:sp>
      <p:pic>
        <p:nvPicPr>
          <p:cNvPr id="11" name="Image 1" descr="preencoded.png">    </p:cNvPr>
          <p:cNvPicPr>
            <a:picLocks noChangeAspect="1"/>
          </p:cNvPicPr>
          <p:nvPr/>
        </p:nvPicPr>
        <p:blipFill>
          <a:blip r:embed="rId2"/>
          <a:stretch>
            <a:fillRect/>
          </a:stretch>
        </p:blipFill>
        <p:spPr>
          <a:xfrm>
            <a:off x="6446520" y="1920240"/>
            <a:ext cx="502920" cy="502920"/>
          </a:xfrm>
          <a:prstGeom prst="rect">
            <a:avLst/>
          </a:prstGeom>
        </p:spPr>
      </p:pic>
      <p:sp>
        <p:nvSpPr>
          <p:cNvPr id="12" name="Text 8"/>
          <p:cNvSpPr/>
          <p:nvPr/>
        </p:nvSpPr>
        <p:spPr>
          <a:xfrm>
            <a:off x="7132320" y="1691640"/>
            <a:ext cx="4389120" cy="91440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Usa TABLA cuando…</a:t>
            </a:r>
            <a:endParaRPr lang="en-US" sz="2000" dirty="0"/>
          </a:p>
        </p:txBody>
      </p:sp>
      <p:sp>
        <p:nvSpPr>
          <p:cNvPr id="13" name="Text 9"/>
          <p:cNvSpPr/>
          <p:nvPr/>
        </p:nvSpPr>
        <p:spPr>
          <a:xfrm>
            <a:off x="6400800" y="2834640"/>
            <a:ext cx="5074920" cy="3383280"/>
          </a:xfrm>
          <a:prstGeom prst="rect">
            <a:avLst/>
          </a:prstGeom>
          <a:noFill/>
          <a:ln/>
        </p:spPr>
        <p:txBody>
          <a:bodyPr wrap="square" rtlCol="0" anchor="ctr"/>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Los valores exactos importan</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Comparas muchas variables a la vez</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Reportas estadísticos descriptivos</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Las unidades son heterogéneas</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Resumes parámetros de modelos</a:t>
            </a:r>
            <a:endParaRPr lang="en-US" sz="1300" dirty="0"/>
          </a:p>
        </p:txBody>
      </p:sp>
      <p:sp>
        <p:nvSpPr>
          <p:cNvPr id="14" name="Text 10"/>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15" name="Text 11"/>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7 / 25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ANATOMÍA DE UNA BUENA FIGURA</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Caso guía  ·  Tolerancia a sales biliares por cepa</a:t>
            </a:r>
            <a:endParaRPr lang="en-US" sz="3000" dirty="0"/>
          </a:p>
        </p:txBody>
      </p:sp>
      <p:graphicFrame>
        <p:nvGraphicFramePr>
          <p:cNvPr id="4" name="Chart 0" descr=""/>
          <p:cNvGraphicFramePr/>
          <p:nvPr/>
        </p:nvGraphicFramePr>
        <p:xfrm>
          <a:off x="457200" y="1691640"/>
          <a:ext cx="685800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783080"/>
            <a:ext cx="73152" cy="731520"/>
          </a:xfrm>
          <a:prstGeom prst="rect">
            <a:avLst/>
          </a:prstGeom>
          <a:solidFill>
            <a:srgbClr val="97BC62"/>
          </a:solidFill>
          <a:ln w="12700">
            <a:solidFill>
              <a:srgbClr val="97BC62"/>
            </a:solidFill>
            <a:prstDash val="solid"/>
          </a:ln>
        </p:spPr>
      </p:sp>
      <p:sp>
        <p:nvSpPr>
          <p:cNvPr id="6" name="Text 3"/>
          <p:cNvSpPr/>
          <p:nvPr/>
        </p:nvSpPr>
        <p:spPr>
          <a:xfrm>
            <a:off x="7772400" y="1783080"/>
            <a:ext cx="3931920" cy="274320"/>
          </a:xfrm>
          <a:prstGeom prst="rect">
            <a:avLst/>
          </a:prstGeom>
          <a:noFill/>
          <a:ln/>
        </p:spPr>
        <p:txBody>
          <a:bodyPr wrap="square" lIns="0" tIns="0" rIns="0" bIns="0" rtlCol="0" anchor="ctr"/>
          <a:lstStyle/>
          <a:p>
            <a:pPr indent="0" marL="0">
              <a:buNone/>
            </a:pPr>
            <a:r>
              <a:rPr lang="en-US" sz="1200" b="1" dirty="0">
                <a:solidFill>
                  <a:srgbClr val="1F3A2E"/>
                </a:solidFill>
                <a:latin typeface="Calibri" pitchFamily="34" charset="0"/>
                <a:ea typeface="Calibri" pitchFamily="34" charset="-122"/>
                <a:cs typeface="Calibri" pitchFamily="34" charset="-120"/>
              </a:rPr>
              <a:t>Título</a:t>
            </a:r>
            <a:endParaRPr lang="en-US" sz="1200" dirty="0"/>
          </a:p>
        </p:txBody>
      </p:sp>
      <p:sp>
        <p:nvSpPr>
          <p:cNvPr id="7" name="Text 4"/>
          <p:cNvSpPr/>
          <p:nvPr/>
        </p:nvSpPr>
        <p:spPr>
          <a:xfrm>
            <a:off x="7772400" y="2039112"/>
            <a:ext cx="3931920" cy="502920"/>
          </a:xfrm>
          <a:prstGeom prst="rect">
            <a:avLst/>
          </a:prstGeom>
          <a:noFill/>
          <a:ln/>
        </p:spPr>
        <p:txBody>
          <a:bodyPr wrap="square" lIns="0" tIns="0" rIns="0" bIns="0" rtlCol="0" anchor="ctr"/>
          <a:lstStyle/>
          <a:p>
            <a:pPr indent="0" marL="0">
              <a:lnSpc>
                <a:spcPct val="115000"/>
              </a:lnSpc>
              <a:buNone/>
            </a:pPr>
            <a:r>
              <a:rPr lang="en-US" sz="1050" dirty="0">
                <a:solidFill>
                  <a:srgbClr val="1A1A1A"/>
                </a:solidFill>
                <a:latin typeface="Calibri" pitchFamily="34" charset="0"/>
                <a:ea typeface="Calibri" pitchFamily="34" charset="-122"/>
                <a:cs typeface="Calibri" pitchFamily="34" charset="-120"/>
              </a:rPr>
              <a:t>Numerada ("Figura 1") y descriptiva — no "gráfico de barras".</a:t>
            </a:r>
            <a:endParaRPr lang="en-US" sz="1050" dirty="0"/>
          </a:p>
        </p:txBody>
      </p:sp>
      <p:sp>
        <p:nvSpPr>
          <p:cNvPr id="8" name="Shape 5"/>
          <p:cNvSpPr/>
          <p:nvPr/>
        </p:nvSpPr>
        <p:spPr>
          <a:xfrm>
            <a:off x="7589520" y="2624328"/>
            <a:ext cx="73152" cy="731520"/>
          </a:xfrm>
          <a:prstGeom prst="rect">
            <a:avLst/>
          </a:prstGeom>
          <a:solidFill>
            <a:srgbClr val="97BC62"/>
          </a:solidFill>
          <a:ln w="12700">
            <a:solidFill>
              <a:srgbClr val="97BC62"/>
            </a:solidFill>
            <a:prstDash val="solid"/>
          </a:ln>
        </p:spPr>
      </p:sp>
      <p:sp>
        <p:nvSpPr>
          <p:cNvPr id="9" name="Text 6"/>
          <p:cNvSpPr/>
          <p:nvPr/>
        </p:nvSpPr>
        <p:spPr>
          <a:xfrm>
            <a:off x="7772400" y="2624328"/>
            <a:ext cx="3931920" cy="274320"/>
          </a:xfrm>
          <a:prstGeom prst="rect">
            <a:avLst/>
          </a:prstGeom>
          <a:noFill/>
          <a:ln/>
        </p:spPr>
        <p:txBody>
          <a:bodyPr wrap="square" lIns="0" tIns="0" rIns="0" bIns="0" rtlCol="0" anchor="ctr"/>
          <a:lstStyle/>
          <a:p>
            <a:pPr indent="0" marL="0">
              <a:buNone/>
            </a:pPr>
            <a:r>
              <a:rPr lang="en-US" sz="1200" b="1" dirty="0">
                <a:solidFill>
                  <a:srgbClr val="1F3A2E"/>
                </a:solidFill>
                <a:latin typeface="Calibri" pitchFamily="34" charset="0"/>
                <a:ea typeface="Calibri" pitchFamily="34" charset="-122"/>
                <a:cs typeface="Calibri" pitchFamily="34" charset="-120"/>
              </a:rPr>
              <a:t>Ejes</a:t>
            </a:r>
            <a:endParaRPr lang="en-US" sz="1200" dirty="0"/>
          </a:p>
        </p:txBody>
      </p:sp>
      <p:sp>
        <p:nvSpPr>
          <p:cNvPr id="10" name="Text 7"/>
          <p:cNvSpPr/>
          <p:nvPr/>
        </p:nvSpPr>
        <p:spPr>
          <a:xfrm>
            <a:off x="7772400" y="2880360"/>
            <a:ext cx="3931920" cy="502920"/>
          </a:xfrm>
          <a:prstGeom prst="rect">
            <a:avLst/>
          </a:prstGeom>
          <a:noFill/>
          <a:ln/>
        </p:spPr>
        <p:txBody>
          <a:bodyPr wrap="square" lIns="0" tIns="0" rIns="0" bIns="0" rtlCol="0" anchor="ctr"/>
          <a:lstStyle/>
          <a:p>
            <a:pPr indent="0" marL="0">
              <a:lnSpc>
                <a:spcPct val="115000"/>
              </a:lnSpc>
              <a:buNone/>
            </a:pPr>
            <a:r>
              <a:rPr lang="en-US" sz="1050" dirty="0">
                <a:solidFill>
                  <a:srgbClr val="1A1A1A"/>
                </a:solidFill>
                <a:latin typeface="Calibri" pitchFamily="34" charset="0"/>
                <a:ea typeface="Calibri" pitchFamily="34" charset="-122"/>
                <a:cs typeface="Calibri" pitchFamily="34" charset="-120"/>
              </a:rPr>
              <a:t>Variable, unidad y rango explícitos.</a:t>
            </a:r>
            <a:endParaRPr lang="en-US" sz="1050" dirty="0"/>
          </a:p>
        </p:txBody>
      </p:sp>
      <p:sp>
        <p:nvSpPr>
          <p:cNvPr id="11" name="Shape 8"/>
          <p:cNvSpPr/>
          <p:nvPr/>
        </p:nvSpPr>
        <p:spPr>
          <a:xfrm>
            <a:off x="7589520" y="3465576"/>
            <a:ext cx="73152" cy="731520"/>
          </a:xfrm>
          <a:prstGeom prst="rect">
            <a:avLst/>
          </a:prstGeom>
          <a:solidFill>
            <a:srgbClr val="97BC62"/>
          </a:solidFill>
          <a:ln w="12700">
            <a:solidFill>
              <a:srgbClr val="97BC62"/>
            </a:solidFill>
            <a:prstDash val="solid"/>
          </a:ln>
        </p:spPr>
      </p:sp>
      <p:sp>
        <p:nvSpPr>
          <p:cNvPr id="12" name="Text 9"/>
          <p:cNvSpPr/>
          <p:nvPr/>
        </p:nvSpPr>
        <p:spPr>
          <a:xfrm>
            <a:off x="7772400" y="3465576"/>
            <a:ext cx="3931920" cy="274320"/>
          </a:xfrm>
          <a:prstGeom prst="rect">
            <a:avLst/>
          </a:prstGeom>
          <a:noFill/>
          <a:ln/>
        </p:spPr>
        <p:txBody>
          <a:bodyPr wrap="square" lIns="0" tIns="0" rIns="0" bIns="0" rtlCol="0" anchor="ctr"/>
          <a:lstStyle/>
          <a:p>
            <a:pPr indent="0" marL="0">
              <a:buNone/>
            </a:pPr>
            <a:r>
              <a:rPr lang="en-US" sz="1200" b="1" dirty="0">
                <a:solidFill>
                  <a:srgbClr val="1F3A2E"/>
                </a:solidFill>
                <a:latin typeface="Calibri" pitchFamily="34" charset="0"/>
                <a:ea typeface="Calibri" pitchFamily="34" charset="-122"/>
                <a:cs typeface="Calibri" pitchFamily="34" charset="-120"/>
              </a:rPr>
              <a:t>Leyenda</a:t>
            </a:r>
            <a:endParaRPr lang="en-US" sz="1200" dirty="0"/>
          </a:p>
        </p:txBody>
      </p:sp>
      <p:sp>
        <p:nvSpPr>
          <p:cNvPr id="13" name="Text 10"/>
          <p:cNvSpPr/>
          <p:nvPr/>
        </p:nvSpPr>
        <p:spPr>
          <a:xfrm>
            <a:off x="7772400" y="3721608"/>
            <a:ext cx="3931920" cy="502920"/>
          </a:xfrm>
          <a:prstGeom prst="rect">
            <a:avLst/>
          </a:prstGeom>
          <a:noFill/>
          <a:ln/>
        </p:spPr>
        <p:txBody>
          <a:bodyPr wrap="square" lIns="0" tIns="0" rIns="0" bIns="0" rtlCol="0" anchor="ctr"/>
          <a:lstStyle/>
          <a:p>
            <a:pPr indent="0" marL="0">
              <a:lnSpc>
                <a:spcPct val="115000"/>
              </a:lnSpc>
              <a:buNone/>
            </a:pPr>
            <a:r>
              <a:rPr lang="en-US" sz="1050" dirty="0">
                <a:solidFill>
                  <a:srgbClr val="1A1A1A"/>
                </a:solidFill>
                <a:latin typeface="Calibri" pitchFamily="34" charset="0"/>
                <a:ea typeface="Calibri" pitchFamily="34" charset="-122"/>
                <a:cs typeface="Calibri" pitchFamily="34" charset="-120"/>
              </a:rPr>
              <a:t>Identifica cada serie sin ambigüedad.</a:t>
            </a:r>
            <a:endParaRPr lang="en-US" sz="1050" dirty="0"/>
          </a:p>
        </p:txBody>
      </p:sp>
      <p:sp>
        <p:nvSpPr>
          <p:cNvPr id="14" name="Shape 11"/>
          <p:cNvSpPr/>
          <p:nvPr/>
        </p:nvSpPr>
        <p:spPr>
          <a:xfrm>
            <a:off x="7589520" y="4306824"/>
            <a:ext cx="73152" cy="731520"/>
          </a:xfrm>
          <a:prstGeom prst="rect">
            <a:avLst/>
          </a:prstGeom>
          <a:solidFill>
            <a:srgbClr val="97BC62"/>
          </a:solidFill>
          <a:ln w="12700">
            <a:solidFill>
              <a:srgbClr val="97BC62"/>
            </a:solidFill>
            <a:prstDash val="solid"/>
          </a:ln>
        </p:spPr>
      </p:sp>
      <p:sp>
        <p:nvSpPr>
          <p:cNvPr id="15" name="Text 12"/>
          <p:cNvSpPr/>
          <p:nvPr/>
        </p:nvSpPr>
        <p:spPr>
          <a:xfrm>
            <a:off x="7772400" y="4306824"/>
            <a:ext cx="3931920" cy="274320"/>
          </a:xfrm>
          <a:prstGeom prst="rect">
            <a:avLst/>
          </a:prstGeom>
          <a:noFill/>
          <a:ln/>
        </p:spPr>
        <p:txBody>
          <a:bodyPr wrap="square" lIns="0" tIns="0" rIns="0" bIns="0" rtlCol="0" anchor="ctr"/>
          <a:lstStyle/>
          <a:p>
            <a:pPr indent="0" marL="0">
              <a:buNone/>
            </a:pPr>
            <a:r>
              <a:rPr lang="en-US" sz="1200" b="1" dirty="0">
                <a:solidFill>
                  <a:srgbClr val="1F3A2E"/>
                </a:solidFill>
                <a:latin typeface="Calibri" pitchFamily="34" charset="0"/>
                <a:ea typeface="Calibri" pitchFamily="34" charset="-122"/>
                <a:cs typeface="Calibri" pitchFamily="34" charset="-120"/>
              </a:rPr>
              <a:t>Errores</a:t>
            </a:r>
            <a:endParaRPr lang="en-US" sz="1200" dirty="0"/>
          </a:p>
        </p:txBody>
      </p:sp>
      <p:sp>
        <p:nvSpPr>
          <p:cNvPr id="16" name="Text 13"/>
          <p:cNvSpPr/>
          <p:nvPr/>
        </p:nvSpPr>
        <p:spPr>
          <a:xfrm>
            <a:off x="7772400" y="4562856"/>
            <a:ext cx="3931920" cy="502920"/>
          </a:xfrm>
          <a:prstGeom prst="rect">
            <a:avLst/>
          </a:prstGeom>
          <a:noFill/>
          <a:ln/>
        </p:spPr>
        <p:txBody>
          <a:bodyPr wrap="square" lIns="0" tIns="0" rIns="0" bIns="0" rtlCol="0" anchor="ctr"/>
          <a:lstStyle/>
          <a:p>
            <a:pPr indent="0" marL="0">
              <a:lnSpc>
                <a:spcPct val="115000"/>
              </a:lnSpc>
              <a:buNone/>
            </a:pPr>
            <a:r>
              <a:rPr lang="en-US" sz="1050" dirty="0">
                <a:solidFill>
                  <a:srgbClr val="1A1A1A"/>
                </a:solidFill>
                <a:latin typeface="Calibri" pitchFamily="34" charset="0"/>
                <a:ea typeface="Calibri" pitchFamily="34" charset="-122"/>
                <a:cs typeface="Calibri" pitchFamily="34" charset="-120"/>
              </a:rPr>
              <a:t>Reportar DE, EE o IC 95 % donde aplique.</a:t>
            </a:r>
            <a:endParaRPr lang="en-US" sz="1050" dirty="0"/>
          </a:p>
        </p:txBody>
      </p:sp>
      <p:sp>
        <p:nvSpPr>
          <p:cNvPr id="17" name="Shape 14"/>
          <p:cNvSpPr/>
          <p:nvPr/>
        </p:nvSpPr>
        <p:spPr>
          <a:xfrm>
            <a:off x="7589520" y="5148072"/>
            <a:ext cx="73152" cy="731520"/>
          </a:xfrm>
          <a:prstGeom prst="rect">
            <a:avLst/>
          </a:prstGeom>
          <a:solidFill>
            <a:srgbClr val="97BC62"/>
          </a:solidFill>
          <a:ln w="12700">
            <a:solidFill>
              <a:srgbClr val="97BC62"/>
            </a:solidFill>
            <a:prstDash val="solid"/>
          </a:ln>
        </p:spPr>
      </p:sp>
      <p:sp>
        <p:nvSpPr>
          <p:cNvPr id="18" name="Text 15"/>
          <p:cNvSpPr/>
          <p:nvPr/>
        </p:nvSpPr>
        <p:spPr>
          <a:xfrm>
            <a:off x="7772400" y="5148072"/>
            <a:ext cx="3931920" cy="274320"/>
          </a:xfrm>
          <a:prstGeom prst="rect">
            <a:avLst/>
          </a:prstGeom>
          <a:noFill/>
          <a:ln/>
        </p:spPr>
        <p:txBody>
          <a:bodyPr wrap="square" lIns="0" tIns="0" rIns="0" bIns="0" rtlCol="0" anchor="ctr"/>
          <a:lstStyle/>
          <a:p>
            <a:pPr indent="0" marL="0">
              <a:buNone/>
            </a:pPr>
            <a:r>
              <a:rPr lang="en-US" sz="1200" b="1" dirty="0">
                <a:solidFill>
                  <a:srgbClr val="1F3A2E"/>
                </a:solidFill>
                <a:latin typeface="Calibri" pitchFamily="34" charset="0"/>
                <a:ea typeface="Calibri" pitchFamily="34" charset="-122"/>
                <a:cs typeface="Calibri" pitchFamily="34" charset="-120"/>
              </a:rPr>
              <a:t>Calidad</a:t>
            </a:r>
            <a:endParaRPr lang="en-US" sz="1200" dirty="0"/>
          </a:p>
        </p:txBody>
      </p:sp>
      <p:sp>
        <p:nvSpPr>
          <p:cNvPr id="19" name="Text 16"/>
          <p:cNvSpPr/>
          <p:nvPr/>
        </p:nvSpPr>
        <p:spPr>
          <a:xfrm>
            <a:off x="7772400" y="5404104"/>
            <a:ext cx="3931920" cy="502920"/>
          </a:xfrm>
          <a:prstGeom prst="rect">
            <a:avLst/>
          </a:prstGeom>
          <a:noFill/>
          <a:ln/>
        </p:spPr>
        <p:txBody>
          <a:bodyPr wrap="square" lIns="0" tIns="0" rIns="0" bIns="0" rtlCol="0" anchor="ctr"/>
          <a:lstStyle/>
          <a:p>
            <a:pPr indent="0" marL="0">
              <a:lnSpc>
                <a:spcPct val="115000"/>
              </a:lnSpc>
              <a:buNone/>
            </a:pPr>
            <a:r>
              <a:rPr lang="en-US" sz="1050" dirty="0">
                <a:solidFill>
                  <a:srgbClr val="1A1A1A"/>
                </a:solidFill>
                <a:latin typeface="Calibri" pitchFamily="34" charset="0"/>
                <a:ea typeface="Calibri" pitchFamily="34" charset="-122"/>
                <a:cs typeface="Calibri" pitchFamily="34" charset="-120"/>
              </a:rPr>
              <a:t>Vectorial (SVG/PDF) o ≥ 300 dpi.</a:t>
            </a:r>
            <a:endParaRPr lang="en-US" sz="1050" dirty="0"/>
          </a:p>
        </p:txBody>
      </p:sp>
      <p:sp>
        <p:nvSpPr>
          <p:cNvPr id="20" name="Text 17"/>
          <p:cNvSpPr/>
          <p:nvPr/>
        </p:nvSpPr>
        <p:spPr>
          <a:xfrm>
            <a:off x="457200" y="5897880"/>
            <a:ext cx="11247120" cy="502920"/>
          </a:xfrm>
          <a:prstGeom prst="rect">
            <a:avLst/>
          </a:prstGeom>
          <a:noFill/>
          <a:ln/>
        </p:spPr>
        <p:txBody>
          <a:bodyPr wrap="square" lIns="0" tIns="0" rIns="0" bIns="0" rtlCol="0" anchor="ctr"/>
          <a:lstStyle/>
          <a:p>
            <a:pPr indent="0" marL="0">
              <a:lnSpc>
                <a:spcPct val="115000"/>
              </a:lnSpc>
              <a:buNone/>
            </a:pPr>
            <a:r>
              <a:rPr lang="en-US" sz="1100" i="1" dirty="0">
                <a:solidFill>
                  <a:srgbClr val="5F6B5A"/>
                </a:solidFill>
                <a:latin typeface="Calibri" pitchFamily="34" charset="0"/>
                <a:ea typeface="Calibri" pitchFamily="34" charset="-122"/>
                <a:cs typeface="Calibri" pitchFamily="34" charset="-120"/>
              </a:rPr>
              <a:t>Figura 1. Supervivencia (%) de cuatro cepas nativas de BAL y la cepa de referencia L. plantarum ATCC 14917 a tres concentraciones de sales biliares (n = 5).</a:t>
            </a:r>
            <a:endParaRPr lang="en-US" sz="1100" dirty="0"/>
          </a:p>
        </p:txBody>
      </p:sp>
      <p:sp>
        <p:nvSpPr>
          <p:cNvPr id="21" name="Text 18"/>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22" name="Text 19"/>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8 / 25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PIE DE FIGURA</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Cómo escribir un caption que sostenga la figura solo</a:t>
            </a:r>
            <a:endParaRPr lang="en-US" sz="3000" dirty="0"/>
          </a:p>
        </p:txBody>
      </p:sp>
      <p:sp>
        <p:nvSpPr>
          <p:cNvPr id="4" name="Text 2"/>
          <p:cNvSpPr/>
          <p:nvPr/>
        </p:nvSpPr>
        <p:spPr>
          <a:xfrm>
            <a:off x="457200" y="1691640"/>
            <a:ext cx="5486400" cy="45720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Una figura autocontenida tiene 4 elementos en el caption:</a:t>
            </a:r>
            <a:endParaRPr lang="en-US" sz="1300" dirty="0"/>
          </a:p>
        </p:txBody>
      </p:sp>
      <p:sp>
        <p:nvSpPr>
          <p:cNvPr id="5" name="Shape 3"/>
          <p:cNvSpPr/>
          <p:nvPr/>
        </p:nvSpPr>
        <p:spPr>
          <a:xfrm>
            <a:off x="457200" y="2240280"/>
            <a:ext cx="411480" cy="411480"/>
          </a:xfrm>
          <a:prstGeom prst="ellipse">
            <a:avLst/>
          </a:prstGeom>
          <a:solidFill>
            <a:srgbClr val="2C5F2D"/>
          </a:solidFill>
          <a:ln w="12700">
            <a:solidFill>
              <a:srgbClr val="2C5F2D"/>
            </a:solidFill>
            <a:prstDash val="solid"/>
          </a:ln>
        </p:spPr>
      </p:sp>
      <p:sp>
        <p:nvSpPr>
          <p:cNvPr id="6" name="Text 4"/>
          <p:cNvSpPr/>
          <p:nvPr/>
        </p:nvSpPr>
        <p:spPr>
          <a:xfrm>
            <a:off x="457200" y="22402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7" name="Text 5"/>
          <p:cNvSpPr/>
          <p:nvPr/>
        </p:nvSpPr>
        <p:spPr>
          <a:xfrm>
            <a:off x="1005840" y="2212848"/>
            <a:ext cx="4846320" cy="320040"/>
          </a:xfrm>
          <a:prstGeom prst="rect">
            <a:avLst/>
          </a:prstGeom>
          <a:noFill/>
          <a:ln/>
        </p:spPr>
        <p:txBody>
          <a:bodyPr wrap="square" lIns="0" tIns="0" rIns="0" bIns="0" rtlCol="0" anchor="ctr"/>
          <a:lstStyle/>
          <a:p>
            <a:pPr indent="0" marL="0">
              <a:buNone/>
            </a:pPr>
            <a:r>
              <a:rPr lang="en-US" sz="1300" b="1" dirty="0">
                <a:solidFill>
                  <a:srgbClr val="1F3A2E"/>
                </a:solidFill>
                <a:latin typeface="Calibri" pitchFamily="34" charset="0"/>
                <a:ea typeface="Calibri" pitchFamily="34" charset="-122"/>
                <a:cs typeface="Calibri" pitchFamily="34" charset="-120"/>
              </a:rPr>
              <a:t>1. Número y título</a:t>
            </a:r>
            <a:endParaRPr lang="en-US" sz="1300" dirty="0"/>
          </a:p>
        </p:txBody>
      </p:sp>
      <p:sp>
        <p:nvSpPr>
          <p:cNvPr id="8" name="Text 6"/>
          <p:cNvSpPr/>
          <p:nvPr/>
        </p:nvSpPr>
        <p:spPr>
          <a:xfrm>
            <a:off x="1005840" y="2514600"/>
            <a:ext cx="4846320" cy="502920"/>
          </a:xfrm>
          <a:prstGeom prst="rect">
            <a:avLst/>
          </a:prstGeom>
          <a:noFill/>
          <a:ln/>
        </p:spPr>
        <p:txBody>
          <a:bodyPr wrap="square" lIns="0" tIns="0" rIns="0" bIns="0" rtlCol="0" anchor="ctr"/>
          <a:lstStyle/>
          <a:p>
            <a:pPr indent="0" marL="0">
              <a:buNone/>
            </a:pPr>
            <a:r>
              <a:rPr lang="en-US" sz="1200" i="1" dirty="0">
                <a:solidFill>
                  <a:srgbClr val="5F6B5A"/>
                </a:solidFill>
                <a:latin typeface="Calibri" pitchFamily="34" charset="0"/>
                <a:ea typeface="Calibri" pitchFamily="34" charset="-122"/>
                <a:cs typeface="Calibri" pitchFamily="34" charset="-120"/>
              </a:rPr>
              <a:t>"Figura 1. Supervivencia de BAL…"</a:t>
            </a:r>
            <a:endParaRPr lang="en-US" sz="1200" dirty="0"/>
          </a:p>
        </p:txBody>
      </p:sp>
      <p:sp>
        <p:nvSpPr>
          <p:cNvPr id="9" name="Shape 7"/>
          <p:cNvSpPr/>
          <p:nvPr/>
        </p:nvSpPr>
        <p:spPr>
          <a:xfrm>
            <a:off x="457200" y="3200400"/>
            <a:ext cx="411480" cy="411480"/>
          </a:xfrm>
          <a:prstGeom prst="ellipse">
            <a:avLst/>
          </a:prstGeom>
          <a:solidFill>
            <a:srgbClr val="2C5F2D"/>
          </a:solidFill>
          <a:ln w="12700">
            <a:solidFill>
              <a:srgbClr val="2C5F2D"/>
            </a:solidFill>
            <a:prstDash val="solid"/>
          </a:ln>
        </p:spPr>
      </p:sp>
      <p:sp>
        <p:nvSpPr>
          <p:cNvPr id="10" name="Text 8"/>
          <p:cNvSpPr/>
          <p:nvPr/>
        </p:nvSpPr>
        <p:spPr>
          <a:xfrm>
            <a:off x="457200" y="32004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1" name="Text 9"/>
          <p:cNvSpPr/>
          <p:nvPr/>
        </p:nvSpPr>
        <p:spPr>
          <a:xfrm>
            <a:off x="1005840" y="3172968"/>
            <a:ext cx="4846320" cy="320040"/>
          </a:xfrm>
          <a:prstGeom prst="rect">
            <a:avLst/>
          </a:prstGeom>
          <a:noFill/>
          <a:ln/>
        </p:spPr>
        <p:txBody>
          <a:bodyPr wrap="square" lIns="0" tIns="0" rIns="0" bIns="0" rtlCol="0" anchor="ctr"/>
          <a:lstStyle/>
          <a:p>
            <a:pPr indent="0" marL="0">
              <a:buNone/>
            </a:pPr>
            <a:r>
              <a:rPr lang="en-US" sz="1300" b="1" dirty="0">
                <a:solidFill>
                  <a:srgbClr val="1F3A2E"/>
                </a:solidFill>
                <a:latin typeface="Calibri" pitchFamily="34" charset="0"/>
                <a:ea typeface="Calibri" pitchFamily="34" charset="-122"/>
                <a:cs typeface="Calibri" pitchFamily="34" charset="-120"/>
              </a:rPr>
              <a:t>2. Qué se muestra</a:t>
            </a:r>
            <a:endParaRPr lang="en-US" sz="1300" dirty="0"/>
          </a:p>
        </p:txBody>
      </p:sp>
      <p:sp>
        <p:nvSpPr>
          <p:cNvPr id="12" name="Text 10"/>
          <p:cNvSpPr/>
          <p:nvPr/>
        </p:nvSpPr>
        <p:spPr>
          <a:xfrm>
            <a:off x="1005840" y="3474720"/>
            <a:ext cx="4846320" cy="502920"/>
          </a:xfrm>
          <a:prstGeom prst="rect">
            <a:avLst/>
          </a:prstGeom>
          <a:noFill/>
          <a:ln/>
        </p:spPr>
        <p:txBody>
          <a:bodyPr wrap="square" lIns="0" tIns="0" rIns="0" bIns="0" rtlCol="0" anchor="ctr"/>
          <a:lstStyle/>
          <a:p>
            <a:pPr indent="0" marL="0">
              <a:buNone/>
            </a:pPr>
            <a:r>
              <a:rPr lang="en-US" sz="1200" i="1" dirty="0">
                <a:solidFill>
                  <a:srgbClr val="5F6B5A"/>
                </a:solidFill>
                <a:latin typeface="Calibri" pitchFamily="34" charset="0"/>
                <a:ea typeface="Calibri" pitchFamily="34" charset="-122"/>
                <a:cs typeface="Calibri" pitchFamily="34" charset="-120"/>
              </a:rPr>
              <a:t>Variables, grupos y unidades.</a:t>
            </a:r>
            <a:endParaRPr lang="en-US" sz="1200" dirty="0"/>
          </a:p>
        </p:txBody>
      </p:sp>
      <p:sp>
        <p:nvSpPr>
          <p:cNvPr id="13" name="Shape 11"/>
          <p:cNvSpPr/>
          <p:nvPr/>
        </p:nvSpPr>
        <p:spPr>
          <a:xfrm>
            <a:off x="457200" y="4160520"/>
            <a:ext cx="411480" cy="411480"/>
          </a:xfrm>
          <a:prstGeom prst="ellipse">
            <a:avLst/>
          </a:prstGeom>
          <a:solidFill>
            <a:srgbClr val="2C5F2D"/>
          </a:solidFill>
          <a:ln w="12700">
            <a:solidFill>
              <a:srgbClr val="2C5F2D"/>
            </a:solidFill>
            <a:prstDash val="solid"/>
          </a:ln>
        </p:spPr>
      </p:sp>
      <p:sp>
        <p:nvSpPr>
          <p:cNvPr id="14" name="Text 12"/>
          <p:cNvSpPr/>
          <p:nvPr/>
        </p:nvSpPr>
        <p:spPr>
          <a:xfrm>
            <a:off x="457200" y="41605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5" name="Text 13"/>
          <p:cNvSpPr/>
          <p:nvPr/>
        </p:nvSpPr>
        <p:spPr>
          <a:xfrm>
            <a:off x="1005840" y="4133088"/>
            <a:ext cx="4846320" cy="320040"/>
          </a:xfrm>
          <a:prstGeom prst="rect">
            <a:avLst/>
          </a:prstGeom>
          <a:noFill/>
          <a:ln/>
        </p:spPr>
        <p:txBody>
          <a:bodyPr wrap="square" lIns="0" tIns="0" rIns="0" bIns="0" rtlCol="0" anchor="ctr"/>
          <a:lstStyle/>
          <a:p>
            <a:pPr indent="0" marL="0">
              <a:buNone/>
            </a:pPr>
            <a:r>
              <a:rPr lang="en-US" sz="1300" b="1" dirty="0">
                <a:solidFill>
                  <a:srgbClr val="1F3A2E"/>
                </a:solidFill>
                <a:latin typeface="Calibri" pitchFamily="34" charset="0"/>
                <a:ea typeface="Calibri" pitchFamily="34" charset="-122"/>
                <a:cs typeface="Calibri" pitchFamily="34" charset="-120"/>
              </a:rPr>
              <a:t>3. Tamaño muestral</a:t>
            </a:r>
            <a:endParaRPr lang="en-US" sz="1300" dirty="0"/>
          </a:p>
        </p:txBody>
      </p:sp>
      <p:sp>
        <p:nvSpPr>
          <p:cNvPr id="16" name="Text 14"/>
          <p:cNvSpPr/>
          <p:nvPr/>
        </p:nvSpPr>
        <p:spPr>
          <a:xfrm>
            <a:off x="1005840" y="4434840"/>
            <a:ext cx="4846320" cy="502920"/>
          </a:xfrm>
          <a:prstGeom prst="rect">
            <a:avLst/>
          </a:prstGeom>
          <a:noFill/>
          <a:ln/>
        </p:spPr>
        <p:txBody>
          <a:bodyPr wrap="square" lIns="0" tIns="0" rIns="0" bIns="0" rtlCol="0" anchor="ctr"/>
          <a:lstStyle/>
          <a:p>
            <a:pPr indent="0" marL="0">
              <a:buNone/>
            </a:pPr>
            <a:r>
              <a:rPr lang="en-US" sz="1200" i="1" dirty="0">
                <a:solidFill>
                  <a:srgbClr val="5F6B5A"/>
                </a:solidFill>
                <a:latin typeface="Calibri" pitchFamily="34" charset="0"/>
                <a:ea typeface="Calibri" pitchFamily="34" charset="-122"/>
                <a:cs typeface="Calibri" pitchFamily="34" charset="-120"/>
              </a:rPr>
              <a:t>n = … por grupo.</a:t>
            </a:r>
            <a:endParaRPr lang="en-US" sz="1200" dirty="0"/>
          </a:p>
        </p:txBody>
      </p:sp>
      <p:sp>
        <p:nvSpPr>
          <p:cNvPr id="17" name="Shape 15"/>
          <p:cNvSpPr/>
          <p:nvPr/>
        </p:nvSpPr>
        <p:spPr>
          <a:xfrm>
            <a:off x="457200" y="5120640"/>
            <a:ext cx="411480" cy="411480"/>
          </a:xfrm>
          <a:prstGeom prst="ellipse">
            <a:avLst/>
          </a:prstGeom>
          <a:solidFill>
            <a:srgbClr val="2C5F2D"/>
          </a:solidFill>
          <a:ln w="12700">
            <a:solidFill>
              <a:srgbClr val="2C5F2D"/>
            </a:solidFill>
            <a:prstDash val="solid"/>
          </a:ln>
        </p:spPr>
      </p:sp>
      <p:sp>
        <p:nvSpPr>
          <p:cNvPr id="18" name="Text 16"/>
          <p:cNvSpPr/>
          <p:nvPr/>
        </p:nvSpPr>
        <p:spPr>
          <a:xfrm>
            <a:off x="457200" y="51206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9" name="Text 17"/>
          <p:cNvSpPr/>
          <p:nvPr/>
        </p:nvSpPr>
        <p:spPr>
          <a:xfrm>
            <a:off x="1005840" y="5093208"/>
            <a:ext cx="4846320" cy="320040"/>
          </a:xfrm>
          <a:prstGeom prst="rect">
            <a:avLst/>
          </a:prstGeom>
          <a:noFill/>
          <a:ln/>
        </p:spPr>
        <p:txBody>
          <a:bodyPr wrap="square" lIns="0" tIns="0" rIns="0" bIns="0" rtlCol="0" anchor="ctr"/>
          <a:lstStyle/>
          <a:p>
            <a:pPr indent="0" marL="0">
              <a:buNone/>
            </a:pPr>
            <a:r>
              <a:rPr lang="en-US" sz="1300" b="1" dirty="0">
                <a:solidFill>
                  <a:srgbClr val="1F3A2E"/>
                </a:solidFill>
                <a:latin typeface="Calibri" pitchFamily="34" charset="0"/>
                <a:ea typeface="Calibri" pitchFamily="34" charset="-122"/>
                <a:cs typeface="Calibri" pitchFamily="34" charset="-120"/>
              </a:rPr>
              <a:t>4. Símbolos / errores</a:t>
            </a:r>
            <a:endParaRPr lang="en-US" sz="1300" dirty="0"/>
          </a:p>
        </p:txBody>
      </p:sp>
      <p:sp>
        <p:nvSpPr>
          <p:cNvPr id="20" name="Text 18"/>
          <p:cNvSpPr/>
          <p:nvPr/>
        </p:nvSpPr>
        <p:spPr>
          <a:xfrm>
            <a:off x="1005840" y="5394960"/>
            <a:ext cx="4846320" cy="502920"/>
          </a:xfrm>
          <a:prstGeom prst="rect">
            <a:avLst/>
          </a:prstGeom>
          <a:noFill/>
          <a:ln/>
        </p:spPr>
        <p:txBody>
          <a:bodyPr wrap="square" lIns="0" tIns="0" rIns="0" bIns="0" rtlCol="0" anchor="ctr"/>
          <a:lstStyle/>
          <a:p>
            <a:pPr indent="0" marL="0">
              <a:buNone/>
            </a:pPr>
            <a:r>
              <a:rPr lang="en-US" sz="1200" i="1" dirty="0">
                <a:solidFill>
                  <a:srgbClr val="5F6B5A"/>
                </a:solidFill>
                <a:latin typeface="Calibri" pitchFamily="34" charset="0"/>
                <a:ea typeface="Calibri" pitchFamily="34" charset="-122"/>
                <a:cs typeface="Calibri" pitchFamily="34" charset="-120"/>
              </a:rPr>
              <a:t>"Barras: media ± DE"; letras de grupos.</a:t>
            </a:r>
            <a:endParaRPr lang="en-US" sz="1200" dirty="0"/>
          </a:p>
        </p:txBody>
      </p:sp>
      <p:sp>
        <p:nvSpPr>
          <p:cNvPr id="21" name="Shape 19"/>
          <p:cNvSpPr/>
          <p:nvPr/>
        </p:nvSpPr>
        <p:spPr>
          <a:xfrm>
            <a:off x="6263640" y="1691640"/>
            <a:ext cx="5440680" cy="457200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22" name="Text 20"/>
          <p:cNvSpPr/>
          <p:nvPr/>
        </p:nvSpPr>
        <p:spPr>
          <a:xfrm>
            <a:off x="6492240" y="1828800"/>
            <a:ext cx="5029200" cy="320040"/>
          </a:xfrm>
          <a:prstGeom prst="rect">
            <a:avLst/>
          </a:prstGeom>
          <a:noFill/>
          <a:ln/>
        </p:spPr>
        <p:txBody>
          <a:bodyPr wrap="square" lIns="0" tIns="0" rIns="0" bIns="0" rtlCol="0" anchor="ctr"/>
          <a:lstStyle/>
          <a:p>
            <a:pPr indent="0" marL="0">
              <a:buNone/>
            </a:pPr>
            <a:r>
              <a:rPr lang="en-US" sz="1100" b="1" spc="200" kern="0" dirty="0">
                <a:solidFill>
                  <a:srgbClr val="2C5F2D"/>
                </a:solidFill>
                <a:latin typeface="Calibri" pitchFamily="34" charset="0"/>
                <a:ea typeface="Calibri" pitchFamily="34" charset="-122"/>
                <a:cs typeface="Calibri" pitchFamily="34" charset="-120"/>
              </a:rPr>
              <a:t>EJEMPLO  ·  Caption completo</a:t>
            </a:r>
            <a:endParaRPr lang="en-US" sz="1100" dirty="0"/>
          </a:p>
        </p:txBody>
      </p:sp>
      <p:sp>
        <p:nvSpPr>
          <p:cNvPr id="23" name="Text 21"/>
          <p:cNvSpPr/>
          <p:nvPr/>
        </p:nvSpPr>
        <p:spPr>
          <a:xfrm>
            <a:off x="6492240" y="2286000"/>
            <a:ext cx="5029200" cy="3657600"/>
          </a:xfrm>
          <a:prstGeom prst="rect">
            <a:avLst/>
          </a:prstGeom>
          <a:noFill/>
          <a:ln/>
        </p:spPr>
        <p:txBody>
          <a:bodyPr wrap="square" lIns="0" tIns="0" rIns="0" bIns="0" rtlCol="0" anchor="ctr"/>
          <a:lstStyle/>
          <a:p>
            <a:pPr indent="0" marL="0">
              <a:lnSpc>
                <a:spcPct val="130000"/>
              </a:lnSpc>
              <a:buNone/>
            </a:pPr>
            <a:r>
              <a:rPr lang="en-US" sz="1150" b="1" dirty="0">
                <a:solidFill>
                  <a:srgbClr val="2C5F2D"/>
                </a:solidFill>
                <a:latin typeface="Calibri" pitchFamily="34" charset="0"/>
                <a:ea typeface="Calibri" pitchFamily="34" charset="-122"/>
                <a:cs typeface="Calibri" pitchFamily="34" charset="-120"/>
              </a:rPr>
              <a:t>Figura 1. </a:t>
            </a:r>
            <a:pPr indent="0" marL="0">
              <a:lnSpc>
                <a:spcPct val="130000"/>
              </a:lnSpc>
              <a:buNone/>
            </a:pPr>
            <a:r>
              <a:rPr lang="en-US" sz="1150" dirty="0">
                <a:solidFill>
                  <a:srgbClr val="1A1A1A"/>
                </a:solidFill>
                <a:latin typeface="Calibri" pitchFamily="34" charset="0"/>
                <a:ea typeface="Calibri" pitchFamily="34" charset="-122"/>
                <a:cs typeface="Calibri" pitchFamily="34" charset="-120"/>
              </a:rPr>
              <a:t>Supervivencia (%) de cuatro cepas nativas de BAL aisladas de cacao del Piedemonte llanero y de la cepa de referencia </a:t>
            </a:r>
            <a:pPr indent="0" marL="0">
              <a:lnSpc>
                <a:spcPct val="130000"/>
              </a:lnSpc>
              <a:buNone/>
            </a:pPr>
            <a:r>
              <a:rPr lang="en-US" sz="1150" i="1" dirty="0">
                <a:solidFill>
                  <a:srgbClr val="1A1A1A"/>
                </a:solidFill>
                <a:latin typeface="Calibri" pitchFamily="34" charset="0"/>
                <a:ea typeface="Calibri" pitchFamily="34" charset="-122"/>
                <a:cs typeface="Calibri" pitchFamily="34" charset="-120"/>
              </a:rPr>
              <a:t>L. plantarum </a:t>
            </a:r>
            <a:pPr indent="0" marL="0">
              <a:lnSpc>
                <a:spcPct val="130000"/>
              </a:lnSpc>
              <a:buNone/>
            </a:pPr>
            <a:r>
              <a:rPr lang="en-US" sz="1150" dirty="0">
                <a:solidFill>
                  <a:srgbClr val="1A1A1A"/>
                </a:solidFill>
                <a:latin typeface="Calibri" pitchFamily="34" charset="0"/>
                <a:ea typeface="Calibri" pitchFamily="34" charset="-122"/>
                <a:cs typeface="Calibri" pitchFamily="34" charset="-120"/>
              </a:rPr>
              <a:t>ATCC 14917 sometidas a tres concentraciones de sales biliares (0, 0.15 y 0.30 %) durante 4 h a 37 °C. Las barras representan la media ± desviación estándar (n = 5). Letras diferentes indican diferencias significativas entre tratamientos según prueba de Tukey (α = 0.05).</a:t>
            </a:r>
            <a:endParaRPr lang="en-US" sz="1150" dirty="0"/>
          </a:p>
        </p:txBody>
      </p:sp>
      <p:sp>
        <p:nvSpPr>
          <p:cNvPr id="24" name="Text 22"/>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25" name="Text 23"/>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9 / 25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ANATOMÍA DE UNA BUENA TABLA</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Caso guía  ·  Caracterización fenotípica de las cepas</a:t>
            </a:r>
            <a:endParaRPr lang="en-US" sz="3000" dirty="0"/>
          </a:p>
        </p:txBody>
      </p:sp>
      <p:sp>
        <p:nvSpPr>
          <p:cNvPr id="4" name="Shape 2"/>
          <p:cNvSpPr/>
          <p:nvPr/>
        </p:nvSpPr>
        <p:spPr>
          <a:xfrm>
            <a:off x="457200" y="1874520"/>
            <a:ext cx="1188720" cy="457200"/>
          </a:xfrm>
          <a:prstGeom prst="rect">
            <a:avLst/>
          </a:prstGeom>
          <a:solidFill>
            <a:srgbClr val="2C5F2D"/>
          </a:solidFill>
          <a:ln w="12700">
            <a:solidFill>
              <a:srgbClr val="2C5F2D"/>
            </a:solidFill>
            <a:prstDash val="solid"/>
          </a:ln>
        </p:spPr>
      </p:sp>
      <p:sp>
        <p:nvSpPr>
          <p:cNvPr id="5" name="Text 3"/>
          <p:cNvSpPr/>
          <p:nvPr/>
        </p:nvSpPr>
        <p:spPr>
          <a:xfrm>
            <a:off x="512064" y="1874520"/>
            <a:ext cx="1078992"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Cepa</a:t>
            </a:r>
            <a:endParaRPr lang="en-US" sz="1100" dirty="0"/>
          </a:p>
        </p:txBody>
      </p:sp>
      <p:sp>
        <p:nvSpPr>
          <p:cNvPr id="6" name="Shape 4"/>
          <p:cNvSpPr/>
          <p:nvPr/>
        </p:nvSpPr>
        <p:spPr>
          <a:xfrm>
            <a:off x="1645920" y="1874520"/>
            <a:ext cx="868680" cy="457200"/>
          </a:xfrm>
          <a:prstGeom prst="rect">
            <a:avLst/>
          </a:prstGeom>
          <a:solidFill>
            <a:srgbClr val="2C5F2D"/>
          </a:solidFill>
          <a:ln w="12700">
            <a:solidFill>
              <a:srgbClr val="2C5F2D"/>
            </a:solidFill>
            <a:prstDash val="solid"/>
          </a:ln>
        </p:spPr>
      </p:sp>
      <p:sp>
        <p:nvSpPr>
          <p:cNvPr id="7" name="Text 5"/>
          <p:cNvSpPr/>
          <p:nvPr/>
        </p:nvSpPr>
        <p:spPr>
          <a:xfrm>
            <a:off x="1700784" y="1874520"/>
            <a:ext cx="758952"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Gram</a:t>
            </a:r>
            <a:endParaRPr lang="en-US" sz="1100" dirty="0"/>
          </a:p>
        </p:txBody>
      </p:sp>
      <p:sp>
        <p:nvSpPr>
          <p:cNvPr id="8" name="Shape 6"/>
          <p:cNvSpPr/>
          <p:nvPr/>
        </p:nvSpPr>
        <p:spPr>
          <a:xfrm>
            <a:off x="2514600" y="1874520"/>
            <a:ext cx="1097280" cy="457200"/>
          </a:xfrm>
          <a:prstGeom prst="rect">
            <a:avLst/>
          </a:prstGeom>
          <a:solidFill>
            <a:srgbClr val="2C5F2D"/>
          </a:solidFill>
          <a:ln w="12700">
            <a:solidFill>
              <a:srgbClr val="2C5F2D"/>
            </a:solidFill>
            <a:prstDash val="solid"/>
          </a:ln>
        </p:spPr>
      </p:sp>
      <p:sp>
        <p:nvSpPr>
          <p:cNvPr id="9" name="Text 7"/>
          <p:cNvSpPr/>
          <p:nvPr/>
        </p:nvSpPr>
        <p:spPr>
          <a:xfrm>
            <a:off x="2569464" y="1874520"/>
            <a:ext cx="987552"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Catalasa</a:t>
            </a:r>
            <a:endParaRPr lang="en-US" sz="1100" dirty="0"/>
          </a:p>
        </p:txBody>
      </p:sp>
      <p:sp>
        <p:nvSpPr>
          <p:cNvPr id="10" name="Shape 8"/>
          <p:cNvSpPr/>
          <p:nvPr/>
        </p:nvSpPr>
        <p:spPr>
          <a:xfrm>
            <a:off x="3611880" y="1874520"/>
            <a:ext cx="1691640" cy="457200"/>
          </a:xfrm>
          <a:prstGeom prst="rect">
            <a:avLst/>
          </a:prstGeom>
          <a:solidFill>
            <a:srgbClr val="2C5F2D"/>
          </a:solidFill>
          <a:ln w="12700">
            <a:solidFill>
              <a:srgbClr val="2C5F2D"/>
            </a:solidFill>
            <a:prstDash val="solid"/>
          </a:ln>
        </p:spPr>
      </p:sp>
      <p:sp>
        <p:nvSpPr>
          <p:cNvPr id="11" name="Text 9"/>
          <p:cNvSpPr/>
          <p:nvPr/>
        </p:nvSpPr>
        <p:spPr>
          <a:xfrm>
            <a:off x="3666744" y="1874520"/>
            <a:ext cx="1581912"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Crecimiento 45 °C</a:t>
            </a:r>
            <a:endParaRPr lang="en-US" sz="1100" dirty="0"/>
          </a:p>
        </p:txBody>
      </p:sp>
      <p:sp>
        <p:nvSpPr>
          <p:cNvPr id="12" name="Shape 10"/>
          <p:cNvSpPr/>
          <p:nvPr/>
        </p:nvSpPr>
        <p:spPr>
          <a:xfrm>
            <a:off x="5303520" y="1874520"/>
            <a:ext cx="914400" cy="457200"/>
          </a:xfrm>
          <a:prstGeom prst="rect">
            <a:avLst/>
          </a:prstGeom>
          <a:solidFill>
            <a:srgbClr val="2C5F2D"/>
          </a:solidFill>
          <a:ln w="12700">
            <a:solidFill>
              <a:srgbClr val="2C5F2D"/>
            </a:solidFill>
            <a:prstDash val="solid"/>
          </a:ln>
        </p:spPr>
      </p:sp>
      <p:sp>
        <p:nvSpPr>
          <p:cNvPr id="13" name="Text 11"/>
          <p:cNvSpPr/>
          <p:nvPr/>
        </p:nvSpPr>
        <p:spPr>
          <a:xfrm>
            <a:off x="5358384" y="1874520"/>
            <a:ext cx="804672"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pH 4.5</a:t>
            </a:r>
            <a:endParaRPr lang="en-US" sz="1100" dirty="0"/>
          </a:p>
        </p:txBody>
      </p:sp>
      <p:sp>
        <p:nvSpPr>
          <p:cNvPr id="14" name="Shape 12"/>
          <p:cNvSpPr/>
          <p:nvPr/>
        </p:nvSpPr>
        <p:spPr>
          <a:xfrm>
            <a:off x="6217920" y="1874520"/>
            <a:ext cx="2926080" cy="457200"/>
          </a:xfrm>
          <a:prstGeom prst="rect">
            <a:avLst/>
          </a:prstGeom>
          <a:solidFill>
            <a:srgbClr val="2C5F2D"/>
          </a:solidFill>
          <a:ln w="12700">
            <a:solidFill>
              <a:srgbClr val="2C5F2D"/>
            </a:solidFill>
            <a:prstDash val="solid"/>
          </a:ln>
        </p:spPr>
      </p:sp>
      <p:sp>
        <p:nvSpPr>
          <p:cNvPr id="15" name="Text 13"/>
          <p:cNvSpPr/>
          <p:nvPr/>
        </p:nvSpPr>
        <p:spPr>
          <a:xfrm>
            <a:off x="6272784" y="1874520"/>
            <a:ext cx="2816352"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Identificación 16S</a:t>
            </a:r>
            <a:endParaRPr lang="en-US" sz="1100" dirty="0"/>
          </a:p>
        </p:txBody>
      </p:sp>
      <p:sp>
        <p:nvSpPr>
          <p:cNvPr id="16" name="Shape 14"/>
          <p:cNvSpPr/>
          <p:nvPr/>
        </p:nvSpPr>
        <p:spPr>
          <a:xfrm>
            <a:off x="457200" y="2331720"/>
            <a:ext cx="1188720" cy="502920"/>
          </a:xfrm>
          <a:prstGeom prst="rect">
            <a:avLst/>
          </a:prstGeom>
          <a:solidFill>
            <a:srgbClr val="F7F4ED"/>
          </a:solidFill>
          <a:ln w="6350">
            <a:solidFill>
              <a:srgbClr val="D9D2C0"/>
            </a:solidFill>
            <a:prstDash val="solid"/>
          </a:ln>
        </p:spPr>
      </p:sp>
      <p:sp>
        <p:nvSpPr>
          <p:cNvPr id="17" name="Text 15"/>
          <p:cNvSpPr/>
          <p:nvPr/>
        </p:nvSpPr>
        <p:spPr>
          <a:xfrm>
            <a:off x="512064" y="2331720"/>
            <a:ext cx="107899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BAL-01</a:t>
            </a:r>
            <a:endParaRPr lang="en-US" sz="1100" dirty="0"/>
          </a:p>
        </p:txBody>
      </p:sp>
      <p:sp>
        <p:nvSpPr>
          <p:cNvPr id="18" name="Shape 16"/>
          <p:cNvSpPr/>
          <p:nvPr/>
        </p:nvSpPr>
        <p:spPr>
          <a:xfrm>
            <a:off x="1645920" y="2331720"/>
            <a:ext cx="868680" cy="502920"/>
          </a:xfrm>
          <a:prstGeom prst="rect">
            <a:avLst/>
          </a:prstGeom>
          <a:solidFill>
            <a:srgbClr val="F7F4ED"/>
          </a:solidFill>
          <a:ln w="6350">
            <a:solidFill>
              <a:srgbClr val="D9D2C0"/>
            </a:solidFill>
            <a:prstDash val="solid"/>
          </a:ln>
        </p:spPr>
      </p:sp>
      <p:sp>
        <p:nvSpPr>
          <p:cNvPr id="19" name="Text 17"/>
          <p:cNvSpPr/>
          <p:nvPr/>
        </p:nvSpPr>
        <p:spPr>
          <a:xfrm>
            <a:off x="1700784" y="2331720"/>
            <a:ext cx="75895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2514600" y="2331720"/>
            <a:ext cx="1097280" cy="502920"/>
          </a:xfrm>
          <a:prstGeom prst="rect">
            <a:avLst/>
          </a:prstGeom>
          <a:solidFill>
            <a:srgbClr val="F7F4ED"/>
          </a:solidFill>
          <a:ln w="6350">
            <a:solidFill>
              <a:srgbClr val="D9D2C0"/>
            </a:solidFill>
            <a:prstDash val="solid"/>
          </a:ln>
        </p:spPr>
      </p:sp>
      <p:sp>
        <p:nvSpPr>
          <p:cNvPr id="21" name="Text 19"/>
          <p:cNvSpPr/>
          <p:nvPr/>
        </p:nvSpPr>
        <p:spPr>
          <a:xfrm>
            <a:off x="2569464" y="2331720"/>
            <a:ext cx="98755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p>
        </p:txBody>
      </p:sp>
      <p:sp>
        <p:nvSpPr>
          <p:cNvPr id="22" name="Shape 20"/>
          <p:cNvSpPr/>
          <p:nvPr/>
        </p:nvSpPr>
        <p:spPr>
          <a:xfrm>
            <a:off x="3611880" y="2331720"/>
            <a:ext cx="1691640" cy="502920"/>
          </a:xfrm>
          <a:prstGeom prst="rect">
            <a:avLst/>
          </a:prstGeom>
          <a:solidFill>
            <a:srgbClr val="F7F4ED"/>
          </a:solidFill>
          <a:ln w="6350">
            <a:solidFill>
              <a:srgbClr val="D9D2C0"/>
            </a:solidFill>
            <a:prstDash val="solid"/>
          </a:ln>
        </p:spPr>
      </p:sp>
      <p:sp>
        <p:nvSpPr>
          <p:cNvPr id="23" name="Text 21"/>
          <p:cNvSpPr/>
          <p:nvPr/>
        </p:nvSpPr>
        <p:spPr>
          <a:xfrm>
            <a:off x="3666744" y="2331720"/>
            <a:ext cx="158191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p>
        </p:txBody>
      </p:sp>
      <p:sp>
        <p:nvSpPr>
          <p:cNvPr id="24" name="Shape 22"/>
          <p:cNvSpPr/>
          <p:nvPr/>
        </p:nvSpPr>
        <p:spPr>
          <a:xfrm>
            <a:off x="5303520" y="2331720"/>
            <a:ext cx="914400" cy="502920"/>
          </a:xfrm>
          <a:prstGeom prst="rect">
            <a:avLst/>
          </a:prstGeom>
          <a:solidFill>
            <a:srgbClr val="F7F4ED"/>
          </a:solidFill>
          <a:ln w="6350">
            <a:solidFill>
              <a:srgbClr val="D9D2C0"/>
            </a:solidFill>
            <a:prstDash val="solid"/>
          </a:ln>
        </p:spPr>
      </p:sp>
      <p:sp>
        <p:nvSpPr>
          <p:cNvPr id="25" name="Text 23"/>
          <p:cNvSpPr/>
          <p:nvPr/>
        </p:nvSpPr>
        <p:spPr>
          <a:xfrm>
            <a:off x="5358384" y="2331720"/>
            <a:ext cx="80467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6217920" y="2331720"/>
            <a:ext cx="2926080" cy="502920"/>
          </a:xfrm>
          <a:prstGeom prst="rect">
            <a:avLst/>
          </a:prstGeom>
          <a:solidFill>
            <a:srgbClr val="F7F4ED"/>
          </a:solidFill>
          <a:ln w="6350">
            <a:solidFill>
              <a:srgbClr val="D9D2C0"/>
            </a:solidFill>
            <a:prstDash val="solid"/>
          </a:ln>
        </p:spPr>
      </p:sp>
      <p:sp>
        <p:nvSpPr>
          <p:cNvPr id="27" name="Text 25"/>
          <p:cNvSpPr/>
          <p:nvPr/>
        </p:nvSpPr>
        <p:spPr>
          <a:xfrm>
            <a:off x="6272784" y="2331720"/>
            <a:ext cx="281635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L. plantarum (99.8 %)</a:t>
            </a:r>
            <a:endParaRPr lang="en-US" sz="1100" dirty="0"/>
          </a:p>
        </p:txBody>
      </p:sp>
      <p:sp>
        <p:nvSpPr>
          <p:cNvPr id="28" name="Shape 26"/>
          <p:cNvSpPr/>
          <p:nvPr/>
        </p:nvSpPr>
        <p:spPr>
          <a:xfrm>
            <a:off x="457200" y="2834640"/>
            <a:ext cx="1188720" cy="502920"/>
          </a:xfrm>
          <a:prstGeom prst="rect">
            <a:avLst/>
          </a:prstGeom>
          <a:solidFill>
            <a:srgbClr val="FFFFFF"/>
          </a:solidFill>
          <a:ln w="6350">
            <a:solidFill>
              <a:srgbClr val="D9D2C0"/>
            </a:solidFill>
            <a:prstDash val="solid"/>
          </a:ln>
        </p:spPr>
      </p:sp>
      <p:sp>
        <p:nvSpPr>
          <p:cNvPr id="29" name="Text 27"/>
          <p:cNvSpPr/>
          <p:nvPr/>
        </p:nvSpPr>
        <p:spPr>
          <a:xfrm>
            <a:off x="512064" y="2834640"/>
            <a:ext cx="107899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BAL-02</a:t>
            </a:r>
            <a:endParaRPr lang="en-US" sz="1100" dirty="0"/>
          </a:p>
        </p:txBody>
      </p:sp>
      <p:sp>
        <p:nvSpPr>
          <p:cNvPr id="30" name="Shape 28"/>
          <p:cNvSpPr/>
          <p:nvPr/>
        </p:nvSpPr>
        <p:spPr>
          <a:xfrm>
            <a:off x="1645920" y="2834640"/>
            <a:ext cx="868680" cy="502920"/>
          </a:xfrm>
          <a:prstGeom prst="rect">
            <a:avLst/>
          </a:prstGeom>
          <a:solidFill>
            <a:srgbClr val="FFFFFF"/>
          </a:solidFill>
          <a:ln w="6350">
            <a:solidFill>
              <a:srgbClr val="D9D2C0"/>
            </a:solidFill>
            <a:prstDash val="solid"/>
          </a:ln>
        </p:spPr>
      </p:sp>
      <p:sp>
        <p:nvSpPr>
          <p:cNvPr id="31" name="Text 29"/>
          <p:cNvSpPr/>
          <p:nvPr/>
        </p:nvSpPr>
        <p:spPr>
          <a:xfrm>
            <a:off x="1700784" y="2834640"/>
            <a:ext cx="75895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p>
        </p:txBody>
      </p:sp>
      <p:sp>
        <p:nvSpPr>
          <p:cNvPr id="32" name="Shape 30"/>
          <p:cNvSpPr/>
          <p:nvPr/>
        </p:nvSpPr>
        <p:spPr>
          <a:xfrm>
            <a:off x="2514600" y="2834640"/>
            <a:ext cx="1097280" cy="502920"/>
          </a:xfrm>
          <a:prstGeom prst="rect">
            <a:avLst/>
          </a:prstGeom>
          <a:solidFill>
            <a:srgbClr val="FFFFFF"/>
          </a:solidFill>
          <a:ln w="6350">
            <a:solidFill>
              <a:srgbClr val="D9D2C0"/>
            </a:solidFill>
            <a:prstDash val="solid"/>
          </a:ln>
        </p:spPr>
      </p:sp>
      <p:sp>
        <p:nvSpPr>
          <p:cNvPr id="33" name="Text 31"/>
          <p:cNvSpPr/>
          <p:nvPr/>
        </p:nvSpPr>
        <p:spPr>
          <a:xfrm>
            <a:off x="2569464" y="2834640"/>
            <a:ext cx="98755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p>
        </p:txBody>
      </p:sp>
      <p:sp>
        <p:nvSpPr>
          <p:cNvPr id="34" name="Shape 32"/>
          <p:cNvSpPr/>
          <p:nvPr/>
        </p:nvSpPr>
        <p:spPr>
          <a:xfrm>
            <a:off x="3611880" y="2834640"/>
            <a:ext cx="1691640" cy="502920"/>
          </a:xfrm>
          <a:prstGeom prst="rect">
            <a:avLst/>
          </a:prstGeom>
          <a:solidFill>
            <a:srgbClr val="FFFFFF"/>
          </a:solidFill>
          <a:ln w="6350">
            <a:solidFill>
              <a:srgbClr val="D9D2C0"/>
            </a:solidFill>
            <a:prstDash val="solid"/>
          </a:ln>
        </p:spPr>
      </p:sp>
      <p:sp>
        <p:nvSpPr>
          <p:cNvPr id="35" name="Text 33"/>
          <p:cNvSpPr/>
          <p:nvPr/>
        </p:nvSpPr>
        <p:spPr>
          <a:xfrm>
            <a:off x="3666744" y="2834640"/>
            <a:ext cx="158191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p>
        </p:txBody>
      </p:sp>
      <p:sp>
        <p:nvSpPr>
          <p:cNvPr id="36" name="Shape 34"/>
          <p:cNvSpPr/>
          <p:nvPr/>
        </p:nvSpPr>
        <p:spPr>
          <a:xfrm>
            <a:off x="5303520" y="2834640"/>
            <a:ext cx="914400" cy="502920"/>
          </a:xfrm>
          <a:prstGeom prst="rect">
            <a:avLst/>
          </a:prstGeom>
          <a:solidFill>
            <a:srgbClr val="FFFFFF"/>
          </a:solidFill>
          <a:ln w="6350">
            <a:solidFill>
              <a:srgbClr val="D9D2C0"/>
            </a:solidFill>
            <a:prstDash val="solid"/>
          </a:ln>
        </p:spPr>
      </p:sp>
      <p:sp>
        <p:nvSpPr>
          <p:cNvPr id="37" name="Text 35"/>
          <p:cNvSpPr/>
          <p:nvPr/>
        </p:nvSpPr>
        <p:spPr>
          <a:xfrm>
            <a:off x="5358384" y="2834640"/>
            <a:ext cx="80467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p>
        </p:txBody>
      </p:sp>
      <p:sp>
        <p:nvSpPr>
          <p:cNvPr id="38" name="Shape 36"/>
          <p:cNvSpPr/>
          <p:nvPr/>
        </p:nvSpPr>
        <p:spPr>
          <a:xfrm>
            <a:off x="6217920" y="2834640"/>
            <a:ext cx="2926080" cy="502920"/>
          </a:xfrm>
          <a:prstGeom prst="rect">
            <a:avLst/>
          </a:prstGeom>
          <a:solidFill>
            <a:srgbClr val="FFFFFF"/>
          </a:solidFill>
          <a:ln w="6350">
            <a:solidFill>
              <a:srgbClr val="D9D2C0"/>
            </a:solidFill>
            <a:prstDash val="solid"/>
          </a:ln>
        </p:spPr>
      </p:sp>
      <p:sp>
        <p:nvSpPr>
          <p:cNvPr id="39" name="Text 37"/>
          <p:cNvSpPr/>
          <p:nvPr/>
        </p:nvSpPr>
        <p:spPr>
          <a:xfrm>
            <a:off x="6272784" y="2834640"/>
            <a:ext cx="281635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L. fermentum (99.5 %)</a:t>
            </a:r>
            <a:endParaRPr lang="en-US" sz="1100" dirty="0"/>
          </a:p>
        </p:txBody>
      </p:sp>
      <p:sp>
        <p:nvSpPr>
          <p:cNvPr id="40" name="Shape 38"/>
          <p:cNvSpPr/>
          <p:nvPr/>
        </p:nvSpPr>
        <p:spPr>
          <a:xfrm>
            <a:off x="457200" y="3337560"/>
            <a:ext cx="1188720" cy="502920"/>
          </a:xfrm>
          <a:prstGeom prst="rect">
            <a:avLst/>
          </a:prstGeom>
          <a:solidFill>
            <a:srgbClr val="F7F4ED"/>
          </a:solidFill>
          <a:ln w="6350">
            <a:solidFill>
              <a:srgbClr val="D9D2C0"/>
            </a:solidFill>
            <a:prstDash val="solid"/>
          </a:ln>
        </p:spPr>
      </p:sp>
      <p:sp>
        <p:nvSpPr>
          <p:cNvPr id="41" name="Text 39"/>
          <p:cNvSpPr/>
          <p:nvPr/>
        </p:nvSpPr>
        <p:spPr>
          <a:xfrm>
            <a:off x="512064" y="3337560"/>
            <a:ext cx="107899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BAL-03</a:t>
            </a:r>
            <a:endParaRPr lang="en-US" sz="1100" dirty="0"/>
          </a:p>
        </p:txBody>
      </p:sp>
      <p:sp>
        <p:nvSpPr>
          <p:cNvPr id="42" name="Shape 40"/>
          <p:cNvSpPr/>
          <p:nvPr/>
        </p:nvSpPr>
        <p:spPr>
          <a:xfrm>
            <a:off x="1645920" y="3337560"/>
            <a:ext cx="868680" cy="502920"/>
          </a:xfrm>
          <a:prstGeom prst="rect">
            <a:avLst/>
          </a:prstGeom>
          <a:solidFill>
            <a:srgbClr val="F7F4ED"/>
          </a:solidFill>
          <a:ln w="6350">
            <a:solidFill>
              <a:srgbClr val="D9D2C0"/>
            </a:solidFill>
            <a:prstDash val="solid"/>
          </a:ln>
        </p:spPr>
      </p:sp>
      <p:sp>
        <p:nvSpPr>
          <p:cNvPr id="43" name="Text 41"/>
          <p:cNvSpPr/>
          <p:nvPr/>
        </p:nvSpPr>
        <p:spPr>
          <a:xfrm>
            <a:off x="1700784" y="3337560"/>
            <a:ext cx="75895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p>
        </p:txBody>
      </p:sp>
      <p:sp>
        <p:nvSpPr>
          <p:cNvPr id="44" name="Shape 42"/>
          <p:cNvSpPr/>
          <p:nvPr/>
        </p:nvSpPr>
        <p:spPr>
          <a:xfrm>
            <a:off x="2514600" y="3337560"/>
            <a:ext cx="1097280" cy="502920"/>
          </a:xfrm>
          <a:prstGeom prst="rect">
            <a:avLst/>
          </a:prstGeom>
          <a:solidFill>
            <a:srgbClr val="F7F4ED"/>
          </a:solidFill>
          <a:ln w="6350">
            <a:solidFill>
              <a:srgbClr val="D9D2C0"/>
            </a:solidFill>
            <a:prstDash val="solid"/>
          </a:ln>
        </p:spPr>
      </p:sp>
      <p:sp>
        <p:nvSpPr>
          <p:cNvPr id="45" name="Text 43"/>
          <p:cNvSpPr/>
          <p:nvPr/>
        </p:nvSpPr>
        <p:spPr>
          <a:xfrm>
            <a:off x="2569464" y="3337560"/>
            <a:ext cx="98755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p>
        </p:txBody>
      </p:sp>
      <p:sp>
        <p:nvSpPr>
          <p:cNvPr id="46" name="Shape 44"/>
          <p:cNvSpPr/>
          <p:nvPr/>
        </p:nvSpPr>
        <p:spPr>
          <a:xfrm>
            <a:off x="3611880" y="3337560"/>
            <a:ext cx="1691640" cy="502920"/>
          </a:xfrm>
          <a:prstGeom prst="rect">
            <a:avLst/>
          </a:prstGeom>
          <a:solidFill>
            <a:srgbClr val="F7F4ED"/>
          </a:solidFill>
          <a:ln w="6350">
            <a:solidFill>
              <a:srgbClr val="D9D2C0"/>
            </a:solidFill>
            <a:prstDash val="solid"/>
          </a:ln>
        </p:spPr>
      </p:sp>
      <p:sp>
        <p:nvSpPr>
          <p:cNvPr id="47" name="Text 45"/>
          <p:cNvSpPr/>
          <p:nvPr/>
        </p:nvSpPr>
        <p:spPr>
          <a:xfrm>
            <a:off x="3666744" y="3337560"/>
            <a:ext cx="158191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p>
        </p:txBody>
      </p:sp>
      <p:sp>
        <p:nvSpPr>
          <p:cNvPr id="48" name="Shape 46"/>
          <p:cNvSpPr/>
          <p:nvPr/>
        </p:nvSpPr>
        <p:spPr>
          <a:xfrm>
            <a:off x="5303520" y="3337560"/>
            <a:ext cx="914400" cy="502920"/>
          </a:xfrm>
          <a:prstGeom prst="rect">
            <a:avLst/>
          </a:prstGeom>
          <a:solidFill>
            <a:srgbClr val="F7F4ED"/>
          </a:solidFill>
          <a:ln w="6350">
            <a:solidFill>
              <a:srgbClr val="D9D2C0"/>
            </a:solidFill>
            <a:prstDash val="solid"/>
          </a:ln>
        </p:spPr>
      </p:sp>
      <p:sp>
        <p:nvSpPr>
          <p:cNvPr id="49" name="Text 47"/>
          <p:cNvSpPr/>
          <p:nvPr/>
        </p:nvSpPr>
        <p:spPr>
          <a:xfrm>
            <a:off x="5358384" y="3337560"/>
            <a:ext cx="80467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p>
        </p:txBody>
      </p:sp>
      <p:sp>
        <p:nvSpPr>
          <p:cNvPr id="50" name="Shape 48"/>
          <p:cNvSpPr/>
          <p:nvPr/>
        </p:nvSpPr>
        <p:spPr>
          <a:xfrm>
            <a:off x="6217920" y="3337560"/>
            <a:ext cx="2926080" cy="502920"/>
          </a:xfrm>
          <a:prstGeom prst="rect">
            <a:avLst/>
          </a:prstGeom>
          <a:solidFill>
            <a:srgbClr val="F7F4ED"/>
          </a:solidFill>
          <a:ln w="6350">
            <a:solidFill>
              <a:srgbClr val="D9D2C0"/>
            </a:solidFill>
            <a:prstDash val="solid"/>
          </a:ln>
        </p:spPr>
      </p:sp>
      <p:sp>
        <p:nvSpPr>
          <p:cNvPr id="51" name="Text 49"/>
          <p:cNvSpPr/>
          <p:nvPr/>
        </p:nvSpPr>
        <p:spPr>
          <a:xfrm>
            <a:off x="6272784" y="3337560"/>
            <a:ext cx="281635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L. plantarum (99.7 %)</a:t>
            </a:r>
            <a:endParaRPr lang="en-US" sz="1100" dirty="0"/>
          </a:p>
        </p:txBody>
      </p:sp>
      <p:sp>
        <p:nvSpPr>
          <p:cNvPr id="52" name="Shape 50"/>
          <p:cNvSpPr/>
          <p:nvPr/>
        </p:nvSpPr>
        <p:spPr>
          <a:xfrm>
            <a:off x="457200" y="3840480"/>
            <a:ext cx="1188720" cy="502920"/>
          </a:xfrm>
          <a:prstGeom prst="rect">
            <a:avLst/>
          </a:prstGeom>
          <a:solidFill>
            <a:srgbClr val="FFFFFF"/>
          </a:solidFill>
          <a:ln w="6350">
            <a:solidFill>
              <a:srgbClr val="D9D2C0"/>
            </a:solidFill>
            <a:prstDash val="solid"/>
          </a:ln>
        </p:spPr>
      </p:sp>
      <p:sp>
        <p:nvSpPr>
          <p:cNvPr id="53" name="Text 51"/>
          <p:cNvSpPr/>
          <p:nvPr/>
        </p:nvSpPr>
        <p:spPr>
          <a:xfrm>
            <a:off x="512064" y="3840480"/>
            <a:ext cx="107899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BAL-04</a:t>
            </a:r>
            <a:endParaRPr lang="en-US" sz="1100" dirty="0"/>
          </a:p>
        </p:txBody>
      </p:sp>
      <p:sp>
        <p:nvSpPr>
          <p:cNvPr id="54" name="Shape 52"/>
          <p:cNvSpPr/>
          <p:nvPr/>
        </p:nvSpPr>
        <p:spPr>
          <a:xfrm>
            <a:off x="1645920" y="3840480"/>
            <a:ext cx="868680" cy="502920"/>
          </a:xfrm>
          <a:prstGeom prst="rect">
            <a:avLst/>
          </a:prstGeom>
          <a:solidFill>
            <a:srgbClr val="FFFFFF"/>
          </a:solidFill>
          <a:ln w="6350">
            <a:solidFill>
              <a:srgbClr val="D9D2C0"/>
            </a:solidFill>
            <a:prstDash val="solid"/>
          </a:ln>
        </p:spPr>
      </p:sp>
      <p:sp>
        <p:nvSpPr>
          <p:cNvPr id="55" name="Text 53"/>
          <p:cNvSpPr/>
          <p:nvPr/>
        </p:nvSpPr>
        <p:spPr>
          <a:xfrm>
            <a:off x="1700784" y="3840480"/>
            <a:ext cx="75895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p>
        </p:txBody>
      </p:sp>
      <p:sp>
        <p:nvSpPr>
          <p:cNvPr id="56" name="Shape 54"/>
          <p:cNvSpPr/>
          <p:nvPr/>
        </p:nvSpPr>
        <p:spPr>
          <a:xfrm>
            <a:off x="2514600" y="3840480"/>
            <a:ext cx="1097280" cy="502920"/>
          </a:xfrm>
          <a:prstGeom prst="rect">
            <a:avLst/>
          </a:prstGeom>
          <a:solidFill>
            <a:srgbClr val="FFFFFF"/>
          </a:solidFill>
          <a:ln w="6350">
            <a:solidFill>
              <a:srgbClr val="D9D2C0"/>
            </a:solidFill>
            <a:prstDash val="solid"/>
          </a:ln>
        </p:spPr>
      </p:sp>
      <p:sp>
        <p:nvSpPr>
          <p:cNvPr id="57" name="Text 55"/>
          <p:cNvSpPr/>
          <p:nvPr/>
        </p:nvSpPr>
        <p:spPr>
          <a:xfrm>
            <a:off x="2569464" y="3840480"/>
            <a:ext cx="98755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p>
        </p:txBody>
      </p:sp>
      <p:sp>
        <p:nvSpPr>
          <p:cNvPr id="58" name="Shape 56"/>
          <p:cNvSpPr/>
          <p:nvPr/>
        </p:nvSpPr>
        <p:spPr>
          <a:xfrm>
            <a:off x="3611880" y="3840480"/>
            <a:ext cx="1691640" cy="502920"/>
          </a:xfrm>
          <a:prstGeom prst="rect">
            <a:avLst/>
          </a:prstGeom>
          <a:solidFill>
            <a:srgbClr val="FFFFFF"/>
          </a:solidFill>
          <a:ln w="6350">
            <a:solidFill>
              <a:srgbClr val="D9D2C0"/>
            </a:solidFill>
            <a:prstDash val="solid"/>
          </a:ln>
        </p:spPr>
      </p:sp>
      <p:sp>
        <p:nvSpPr>
          <p:cNvPr id="59" name="Text 57"/>
          <p:cNvSpPr/>
          <p:nvPr/>
        </p:nvSpPr>
        <p:spPr>
          <a:xfrm>
            <a:off x="3666744" y="3840480"/>
            <a:ext cx="158191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p>
        </p:txBody>
      </p:sp>
      <p:sp>
        <p:nvSpPr>
          <p:cNvPr id="60" name="Shape 58"/>
          <p:cNvSpPr/>
          <p:nvPr/>
        </p:nvSpPr>
        <p:spPr>
          <a:xfrm>
            <a:off x="5303520" y="3840480"/>
            <a:ext cx="914400" cy="502920"/>
          </a:xfrm>
          <a:prstGeom prst="rect">
            <a:avLst/>
          </a:prstGeom>
          <a:solidFill>
            <a:srgbClr val="FFFFFF"/>
          </a:solidFill>
          <a:ln w="6350">
            <a:solidFill>
              <a:srgbClr val="D9D2C0"/>
            </a:solidFill>
            <a:prstDash val="solid"/>
          </a:ln>
        </p:spPr>
      </p:sp>
      <p:sp>
        <p:nvSpPr>
          <p:cNvPr id="61" name="Text 59"/>
          <p:cNvSpPr/>
          <p:nvPr/>
        </p:nvSpPr>
        <p:spPr>
          <a:xfrm>
            <a:off x="5358384" y="3840480"/>
            <a:ext cx="80467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p>
        </p:txBody>
      </p:sp>
      <p:sp>
        <p:nvSpPr>
          <p:cNvPr id="62" name="Shape 60"/>
          <p:cNvSpPr/>
          <p:nvPr/>
        </p:nvSpPr>
        <p:spPr>
          <a:xfrm>
            <a:off x="6217920" y="3840480"/>
            <a:ext cx="2926080" cy="502920"/>
          </a:xfrm>
          <a:prstGeom prst="rect">
            <a:avLst/>
          </a:prstGeom>
          <a:solidFill>
            <a:srgbClr val="FFFFFF"/>
          </a:solidFill>
          <a:ln w="6350">
            <a:solidFill>
              <a:srgbClr val="D9D2C0"/>
            </a:solidFill>
            <a:prstDash val="solid"/>
          </a:ln>
        </p:spPr>
      </p:sp>
      <p:sp>
        <p:nvSpPr>
          <p:cNvPr id="63" name="Text 61"/>
          <p:cNvSpPr/>
          <p:nvPr/>
        </p:nvSpPr>
        <p:spPr>
          <a:xfrm>
            <a:off x="6272784" y="3840480"/>
            <a:ext cx="2816352"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L. brevis (98.9 %)</a:t>
            </a:r>
            <a:endParaRPr lang="en-US" sz="1100" dirty="0"/>
          </a:p>
        </p:txBody>
      </p:sp>
      <p:sp>
        <p:nvSpPr>
          <p:cNvPr id="64" name="Text 62"/>
          <p:cNvSpPr/>
          <p:nvPr/>
        </p:nvSpPr>
        <p:spPr>
          <a:xfrm>
            <a:off x="457200" y="4343400"/>
            <a:ext cx="11247120" cy="457200"/>
          </a:xfrm>
          <a:prstGeom prst="rect">
            <a:avLst/>
          </a:prstGeom>
          <a:noFill/>
          <a:ln/>
        </p:spPr>
        <p:txBody>
          <a:bodyPr wrap="square" lIns="0" tIns="0" rIns="0" bIns="0" rtlCol="0" anchor="ctr"/>
          <a:lstStyle/>
          <a:p>
            <a:pPr indent="0" marL="0">
              <a:buNone/>
            </a:pPr>
            <a:r>
              <a:rPr lang="en-US" sz="1100" i="1" dirty="0">
                <a:solidFill>
                  <a:srgbClr val="5F6B5A"/>
                </a:solidFill>
                <a:latin typeface="Calibri" pitchFamily="34" charset="0"/>
                <a:ea typeface="Calibri" pitchFamily="34" charset="-122"/>
                <a:cs typeface="Calibri" pitchFamily="34" charset="-120"/>
              </a:rPr>
              <a:t>Tabla 1. Pruebas bioquímicas e identificación molecular de las cepas BAL aisladas de fermentación de cacao en Lejanías, Meta.</a:t>
            </a:r>
            <a:endParaRPr lang="en-US" sz="1100" dirty="0"/>
          </a:p>
        </p:txBody>
      </p:sp>
      <p:sp>
        <p:nvSpPr>
          <p:cNvPr id="65" name="Shape 63"/>
          <p:cNvSpPr/>
          <p:nvPr/>
        </p:nvSpPr>
        <p:spPr>
          <a:xfrm>
            <a:off x="457200" y="4983480"/>
            <a:ext cx="365760" cy="365760"/>
          </a:xfrm>
          <a:prstGeom prst="ellipse">
            <a:avLst/>
          </a:prstGeom>
          <a:solidFill>
            <a:srgbClr val="97BC62"/>
          </a:solidFill>
          <a:ln w="12700">
            <a:solidFill>
              <a:srgbClr val="97BC62"/>
            </a:solidFill>
            <a:prstDash val="solid"/>
          </a:ln>
        </p:spPr>
      </p:sp>
      <p:pic>
        <p:nvPicPr>
          <p:cNvPr id="66" name="Image 0" descr="preencoded.png">    </p:cNvPr>
          <p:cNvPicPr>
            <a:picLocks noChangeAspect="1"/>
          </p:cNvPicPr>
          <p:nvPr/>
        </p:nvPicPr>
        <p:blipFill>
          <a:blip r:embed="rId1"/>
          <a:stretch>
            <a:fillRect/>
          </a:stretch>
        </p:blipFill>
        <p:spPr>
          <a:xfrm>
            <a:off x="530352" y="5056632"/>
            <a:ext cx="219456" cy="219456"/>
          </a:xfrm>
          <a:prstGeom prst="rect">
            <a:avLst/>
          </a:prstGeom>
        </p:spPr>
      </p:pic>
      <p:sp>
        <p:nvSpPr>
          <p:cNvPr id="67" name="Text 64"/>
          <p:cNvSpPr/>
          <p:nvPr/>
        </p:nvSpPr>
        <p:spPr>
          <a:xfrm>
            <a:off x="960120" y="4965192"/>
            <a:ext cx="5029200" cy="41148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Sin líneas verticales (estilo periodístico).</a:t>
            </a:r>
            <a:endParaRPr lang="en-US" sz="1200" dirty="0"/>
          </a:p>
        </p:txBody>
      </p:sp>
      <p:sp>
        <p:nvSpPr>
          <p:cNvPr id="68" name="Shape 65"/>
          <p:cNvSpPr/>
          <p:nvPr/>
        </p:nvSpPr>
        <p:spPr>
          <a:xfrm>
            <a:off x="6217920" y="4983480"/>
            <a:ext cx="365760" cy="365760"/>
          </a:xfrm>
          <a:prstGeom prst="ellipse">
            <a:avLst/>
          </a:prstGeom>
          <a:solidFill>
            <a:srgbClr val="97BC62"/>
          </a:solidFill>
          <a:ln w="12700">
            <a:solidFill>
              <a:srgbClr val="97BC62"/>
            </a:solidFill>
            <a:prstDash val="solid"/>
          </a:ln>
        </p:spPr>
      </p:sp>
      <p:pic>
        <p:nvPicPr>
          <p:cNvPr id="69" name="Image 1" descr="preencoded.png">    </p:cNvPr>
          <p:cNvPicPr>
            <a:picLocks noChangeAspect="1"/>
          </p:cNvPicPr>
          <p:nvPr/>
        </p:nvPicPr>
        <p:blipFill>
          <a:blip r:embed="rId2"/>
          <a:stretch>
            <a:fillRect/>
          </a:stretch>
        </p:blipFill>
        <p:spPr>
          <a:xfrm>
            <a:off x="6291072" y="5056632"/>
            <a:ext cx="219456" cy="219456"/>
          </a:xfrm>
          <a:prstGeom prst="rect">
            <a:avLst/>
          </a:prstGeom>
        </p:spPr>
      </p:pic>
      <p:sp>
        <p:nvSpPr>
          <p:cNvPr id="70" name="Text 66"/>
          <p:cNvSpPr/>
          <p:nvPr/>
        </p:nvSpPr>
        <p:spPr>
          <a:xfrm>
            <a:off x="6720840" y="4965192"/>
            <a:ext cx="5029200" cy="41148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Encabezados claros con unidades en paréntesis.</a:t>
            </a:r>
            <a:endParaRPr lang="en-US" sz="1200" dirty="0"/>
          </a:p>
        </p:txBody>
      </p:sp>
      <p:sp>
        <p:nvSpPr>
          <p:cNvPr id="71" name="Shape 67"/>
          <p:cNvSpPr/>
          <p:nvPr/>
        </p:nvSpPr>
        <p:spPr>
          <a:xfrm>
            <a:off x="457200" y="5623560"/>
            <a:ext cx="365760" cy="365760"/>
          </a:xfrm>
          <a:prstGeom prst="ellipse">
            <a:avLst/>
          </a:prstGeom>
          <a:solidFill>
            <a:srgbClr val="97BC62"/>
          </a:solidFill>
          <a:ln w="12700">
            <a:solidFill>
              <a:srgbClr val="97BC62"/>
            </a:solidFill>
            <a:prstDash val="solid"/>
          </a:ln>
        </p:spPr>
      </p:sp>
      <p:pic>
        <p:nvPicPr>
          <p:cNvPr id="72" name="Image 2" descr="preencoded.png">    </p:cNvPr>
          <p:cNvPicPr>
            <a:picLocks noChangeAspect="1"/>
          </p:cNvPicPr>
          <p:nvPr/>
        </p:nvPicPr>
        <p:blipFill>
          <a:blip r:embed="rId3"/>
          <a:stretch>
            <a:fillRect/>
          </a:stretch>
        </p:blipFill>
        <p:spPr>
          <a:xfrm>
            <a:off x="530352" y="5696712"/>
            <a:ext cx="219456" cy="219456"/>
          </a:xfrm>
          <a:prstGeom prst="rect">
            <a:avLst/>
          </a:prstGeom>
        </p:spPr>
      </p:pic>
      <p:sp>
        <p:nvSpPr>
          <p:cNvPr id="73" name="Text 68"/>
          <p:cNvSpPr/>
          <p:nvPr/>
        </p:nvSpPr>
        <p:spPr>
          <a:xfrm>
            <a:off x="960120" y="5605272"/>
            <a:ext cx="5029200" cy="41148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Decimales consistentes en cada columna.</a:t>
            </a:r>
            <a:endParaRPr lang="en-US" sz="1200" dirty="0"/>
          </a:p>
        </p:txBody>
      </p:sp>
      <p:sp>
        <p:nvSpPr>
          <p:cNvPr id="74" name="Shape 69"/>
          <p:cNvSpPr/>
          <p:nvPr/>
        </p:nvSpPr>
        <p:spPr>
          <a:xfrm>
            <a:off x="6217920" y="5623560"/>
            <a:ext cx="365760" cy="365760"/>
          </a:xfrm>
          <a:prstGeom prst="ellipse">
            <a:avLst/>
          </a:prstGeom>
          <a:solidFill>
            <a:srgbClr val="97BC62"/>
          </a:solidFill>
          <a:ln w="12700">
            <a:solidFill>
              <a:srgbClr val="97BC62"/>
            </a:solidFill>
            <a:prstDash val="solid"/>
          </a:ln>
        </p:spPr>
      </p:sp>
      <p:pic>
        <p:nvPicPr>
          <p:cNvPr id="75" name="Image 3" descr="preencoded.png">    </p:cNvPr>
          <p:cNvPicPr>
            <a:picLocks noChangeAspect="1"/>
          </p:cNvPicPr>
          <p:nvPr/>
        </p:nvPicPr>
        <p:blipFill>
          <a:blip r:embed="rId4"/>
          <a:stretch>
            <a:fillRect/>
          </a:stretch>
        </p:blipFill>
        <p:spPr>
          <a:xfrm>
            <a:off x="6291072" y="5696712"/>
            <a:ext cx="219456" cy="219456"/>
          </a:xfrm>
          <a:prstGeom prst="rect">
            <a:avLst/>
          </a:prstGeom>
        </p:spPr>
      </p:pic>
      <p:sp>
        <p:nvSpPr>
          <p:cNvPr id="76" name="Text 70"/>
          <p:cNvSpPr/>
          <p:nvPr/>
        </p:nvSpPr>
        <p:spPr>
          <a:xfrm>
            <a:off x="6720840" y="5605272"/>
            <a:ext cx="5029200" cy="41148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Notas al pie con abreviaturas y símbolos.</a:t>
            </a:r>
            <a:endParaRPr lang="en-US" sz="1200" dirty="0"/>
          </a:p>
        </p:txBody>
      </p:sp>
      <p:sp>
        <p:nvSpPr>
          <p:cNvPr id="77" name="Text 71"/>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78" name="Text 72"/>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10 / 25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2194560"/>
            <a:ext cx="10058400" cy="365760"/>
          </a:xfrm>
          <a:prstGeom prst="rect">
            <a:avLst/>
          </a:prstGeom>
          <a:noFill/>
          <a:ln/>
        </p:spPr>
        <p:txBody>
          <a:bodyPr wrap="square" lIns="0" tIns="0" rIns="0" bIns="0" rtlCol="0" anchor="ctr"/>
          <a:lstStyle/>
          <a:p>
            <a:pPr indent="0" marL="0">
              <a:buNone/>
            </a:pPr>
            <a:r>
              <a:rPr lang="en-US" sz="1400" b="1" spc="600" kern="0" dirty="0">
                <a:solidFill>
                  <a:srgbClr val="97BC62"/>
                </a:solidFill>
                <a:latin typeface="Calibri" pitchFamily="34" charset="0"/>
                <a:ea typeface="Calibri" pitchFamily="34" charset="-122"/>
                <a:cs typeface="Calibri" pitchFamily="34" charset="-120"/>
              </a:rPr>
              <a:t>PARTE 3 DE 5</a:t>
            </a:r>
            <a:endParaRPr lang="en-US" sz="1400" dirty="0"/>
          </a:p>
        </p:txBody>
      </p:sp>
      <p:sp>
        <p:nvSpPr>
          <p:cNvPr id="4" name="Text 2"/>
          <p:cNvSpPr/>
          <p:nvPr/>
        </p:nvSpPr>
        <p:spPr>
          <a:xfrm>
            <a:off x="822960" y="2697480"/>
            <a:ext cx="10515600" cy="14630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El texto que acompaña</a:t>
            </a:r>
            <a:endParaRPr lang="en-US" sz="5600" dirty="0"/>
          </a:p>
        </p:txBody>
      </p:sp>
      <p:sp>
        <p:nvSpPr>
          <p:cNvPr id="5" name="Text 3"/>
          <p:cNvSpPr/>
          <p:nvPr/>
        </p:nvSpPr>
        <p:spPr>
          <a:xfrm>
            <a:off x="822960" y="4251960"/>
            <a:ext cx="10058400" cy="64008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Guiar al lector entre las figuras — sin repetir lo que ya muestran.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EL TEXTO</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No repitas la figura — guíala</a:t>
            </a:r>
            <a:endParaRPr lang="en-US" sz="3000" dirty="0"/>
          </a:p>
        </p:txBody>
      </p:sp>
      <p:sp>
        <p:nvSpPr>
          <p:cNvPr id="4" name="Shape 2"/>
          <p:cNvSpPr/>
          <p:nvPr/>
        </p:nvSpPr>
        <p:spPr>
          <a:xfrm>
            <a:off x="457200" y="1691640"/>
            <a:ext cx="5532120" cy="4572000"/>
          </a:xfrm>
          <a:prstGeom prst="rect">
            <a:avLst/>
          </a:prstGeom>
          <a:solidFill>
            <a:srgbClr val="FFFFFF"/>
          </a:solidFill>
          <a:ln w="19050">
            <a:solidFill>
              <a:srgbClr val="B8651A"/>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457200" y="1691640"/>
            <a:ext cx="5532120" cy="548640"/>
          </a:xfrm>
          <a:prstGeom prst="rect">
            <a:avLst/>
          </a:prstGeom>
          <a:solidFill>
            <a:srgbClr val="B8651A"/>
          </a:solidFill>
          <a:ln w="12700">
            <a:solidFill>
              <a:srgbClr val="B8651A"/>
            </a:solidFill>
            <a:prstDash val="solid"/>
          </a:ln>
        </p:spPr>
      </p:sp>
      <p:pic>
        <p:nvPicPr>
          <p:cNvPr id="6" name="Image 0" descr="preencoded.png">    </p:cNvPr>
          <p:cNvPicPr>
            <a:picLocks noChangeAspect="1"/>
          </p:cNvPicPr>
          <p:nvPr/>
        </p:nvPicPr>
        <p:blipFill>
          <a:blip r:embed="rId1"/>
          <a:stretch>
            <a:fillRect/>
          </a:stretch>
        </p:blipFill>
        <p:spPr>
          <a:xfrm>
            <a:off x="640080" y="1828800"/>
            <a:ext cx="274320" cy="274320"/>
          </a:xfrm>
          <a:prstGeom prst="rect">
            <a:avLst/>
          </a:prstGeom>
        </p:spPr>
      </p:pic>
      <p:sp>
        <p:nvSpPr>
          <p:cNvPr id="7" name="Text 4"/>
          <p:cNvSpPr/>
          <p:nvPr/>
        </p:nvSpPr>
        <p:spPr>
          <a:xfrm>
            <a:off x="1005840" y="1691640"/>
            <a:ext cx="4572000" cy="548640"/>
          </a:xfrm>
          <a:prstGeom prst="rect">
            <a:avLst/>
          </a:prstGeom>
          <a:noFill/>
          <a:ln/>
        </p:spPr>
        <p:txBody>
          <a:bodyPr wrap="square" lIns="0" tIns="0" rIns="0" bIns="0" rtlCol="0" anchor="ctr"/>
          <a:lstStyle/>
          <a:p>
            <a:pPr indent="0" marL="0">
              <a:buNone/>
            </a:pPr>
            <a:r>
              <a:rPr lang="en-US" sz="1300" b="1" spc="300" kern="0" dirty="0">
                <a:solidFill>
                  <a:srgbClr val="FFFFFF"/>
                </a:solidFill>
                <a:latin typeface="Calibri" pitchFamily="34" charset="0"/>
                <a:ea typeface="Calibri" pitchFamily="34" charset="-122"/>
                <a:cs typeface="Calibri" pitchFamily="34" charset="-120"/>
              </a:rPr>
              <a:t>REPITE LA FIGURA</a:t>
            </a:r>
            <a:endParaRPr lang="en-US" sz="1300" dirty="0"/>
          </a:p>
        </p:txBody>
      </p:sp>
      <p:sp>
        <p:nvSpPr>
          <p:cNvPr id="8" name="Text 5"/>
          <p:cNvSpPr/>
          <p:nvPr/>
        </p:nvSpPr>
        <p:spPr>
          <a:xfrm>
            <a:off x="685800" y="2423160"/>
            <a:ext cx="5074920" cy="2560320"/>
          </a:xfrm>
          <a:prstGeom prst="rect">
            <a:avLst/>
          </a:prstGeom>
          <a:noFill/>
          <a:ln/>
        </p:spPr>
        <p:txBody>
          <a:bodyPr wrap="square" lIns="0" tIns="0" rIns="0" bIns="0" rtlCol="0" anchor="ctr"/>
          <a:lstStyle/>
          <a:p>
            <a:pPr indent="0" marL="0">
              <a:lnSpc>
                <a:spcPct val="120000"/>
              </a:lnSpc>
              <a:buNone/>
            </a:pPr>
            <a:r>
              <a:rPr lang="en-US" sz="1150" i="1" dirty="0">
                <a:solidFill>
                  <a:srgbClr val="1A1A1A"/>
                </a:solidFill>
                <a:latin typeface="Calibri" pitchFamily="34" charset="0"/>
                <a:ea typeface="Calibri" pitchFamily="34" charset="-122"/>
                <a:cs typeface="Calibri" pitchFamily="34" charset="-120"/>
              </a:rPr>
              <a:t>"La cepa A tuvo 98.2 % a 0 % de sales, 82.4 % a 0.15 % y 68.1 % a 0.30 %. La cepa B tuvo 97.5 %, 75.3 % y 54.2 % respectivamente. La cepa C presentó 99.1 %, 89.2 % y 78.6 %. La cepa D mostró 96.8 %, 71.5 % y 47.3 %. La ATCC tuvo 98.7 %, 85.1 % y 72.4 %."</a:t>
            </a:r>
            <a:endParaRPr lang="en-US" sz="1150" dirty="0"/>
          </a:p>
        </p:txBody>
      </p:sp>
      <p:sp>
        <p:nvSpPr>
          <p:cNvPr id="9" name="Text 6"/>
          <p:cNvSpPr/>
          <p:nvPr/>
        </p:nvSpPr>
        <p:spPr>
          <a:xfrm>
            <a:off x="685800" y="5120640"/>
            <a:ext cx="5074920" cy="320040"/>
          </a:xfrm>
          <a:prstGeom prst="rect">
            <a:avLst/>
          </a:prstGeom>
          <a:noFill/>
          <a:ln/>
        </p:spPr>
        <p:txBody>
          <a:bodyPr wrap="square" lIns="0" tIns="0" rIns="0" bIns="0" rtlCol="0" anchor="ctr"/>
          <a:lstStyle/>
          <a:p>
            <a:pPr indent="0" marL="0">
              <a:buNone/>
            </a:pPr>
            <a:r>
              <a:rPr lang="en-US" sz="1200" b="1" dirty="0">
                <a:solidFill>
                  <a:srgbClr val="B8651A"/>
                </a:solidFill>
                <a:latin typeface="Calibri" pitchFamily="34" charset="0"/>
                <a:ea typeface="Calibri" pitchFamily="34" charset="-122"/>
                <a:cs typeface="Calibri" pitchFamily="34" charset="-120"/>
              </a:rPr>
              <a:t>Problema:</a:t>
            </a:r>
            <a:endParaRPr lang="en-US" sz="1200" dirty="0"/>
          </a:p>
        </p:txBody>
      </p:sp>
      <p:sp>
        <p:nvSpPr>
          <p:cNvPr id="10" name="Text 7"/>
          <p:cNvSpPr/>
          <p:nvPr/>
        </p:nvSpPr>
        <p:spPr>
          <a:xfrm>
            <a:off x="685800" y="5440680"/>
            <a:ext cx="5074920" cy="82296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Recita la tabla. El lector ya ve los números. Texto inútil y agotador.</a:t>
            </a:r>
            <a:endParaRPr lang="en-US" sz="1150" dirty="0"/>
          </a:p>
        </p:txBody>
      </p:sp>
      <p:sp>
        <p:nvSpPr>
          <p:cNvPr id="11" name="Shape 8"/>
          <p:cNvSpPr/>
          <p:nvPr/>
        </p:nvSpPr>
        <p:spPr>
          <a:xfrm>
            <a:off x="6172200" y="1691640"/>
            <a:ext cx="5532120" cy="4572000"/>
          </a:xfrm>
          <a:prstGeom prst="rect">
            <a:avLst/>
          </a:prstGeom>
          <a:solidFill>
            <a:srgbClr val="FFFFFF"/>
          </a:solidFill>
          <a:ln w="19050">
            <a:solidFill>
              <a:srgbClr val="2C5F2D"/>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6172200" y="1691640"/>
            <a:ext cx="5532120" cy="548640"/>
          </a:xfrm>
          <a:prstGeom prst="rect">
            <a:avLst/>
          </a:prstGeom>
          <a:solidFill>
            <a:srgbClr val="2C5F2D"/>
          </a:solidFill>
          <a:ln w="12700">
            <a:solidFill>
              <a:srgbClr val="2C5F2D"/>
            </a:solidFill>
            <a:prstDash val="solid"/>
          </a:ln>
        </p:spPr>
      </p:sp>
      <p:pic>
        <p:nvPicPr>
          <p:cNvPr id="13" name="Image 1" descr="preencoded.png">    </p:cNvPr>
          <p:cNvPicPr>
            <a:picLocks noChangeAspect="1"/>
          </p:cNvPicPr>
          <p:nvPr/>
        </p:nvPicPr>
        <p:blipFill>
          <a:blip r:embed="rId2"/>
          <a:stretch>
            <a:fillRect/>
          </a:stretch>
        </p:blipFill>
        <p:spPr>
          <a:xfrm>
            <a:off x="6355080" y="1828800"/>
            <a:ext cx="274320" cy="274320"/>
          </a:xfrm>
          <a:prstGeom prst="rect">
            <a:avLst/>
          </a:prstGeom>
        </p:spPr>
      </p:pic>
      <p:sp>
        <p:nvSpPr>
          <p:cNvPr id="14" name="Text 10"/>
          <p:cNvSpPr/>
          <p:nvPr/>
        </p:nvSpPr>
        <p:spPr>
          <a:xfrm>
            <a:off x="6720840" y="1691640"/>
            <a:ext cx="4572000" cy="548640"/>
          </a:xfrm>
          <a:prstGeom prst="rect">
            <a:avLst/>
          </a:prstGeom>
          <a:noFill/>
          <a:ln/>
        </p:spPr>
        <p:txBody>
          <a:bodyPr wrap="square" lIns="0" tIns="0" rIns="0" bIns="0" rtlCol="0" anchor="ctr"/>
          <a:lstStyle/>
          <a:p>
            <a:pPr indent="0" marL="0">
              <a:buNone/>
            </a:pPr>
            <a:r>
              <a:rPr lang="en-US" sz="1300" b="1" spc="300" kern="0" dirty="0">
                <a:solidFill>
                  <a:srgbClr val="FFFFFF"/>
                </a:solidFill>
                <a:latin typeface="Calibri" pitchFamily="34" charset="0"/>
                <a:ea typeface="Calibri" pitchFamily="34" charset="-122"/>
                <a:cs typeface="Calibri" pitchFamily="34" charset="-120"/>
              </a:rPr>
              <a:t>GUÍA LA LECTURA</a:t>
            </a:r>
            <a:endParaRPr lang="en-US" sz="1300" dirty="0"/>
          </a:p>
        </p:txBody>
      </p:sp>
      <p:sp>
        <p:nvSpPr>
          <p:cNvPr id="15" name="Text 11"/>
          <p:cNvSpPr/>
          <p:nvPr/>
        </p:nvSpPr>
        <p:spPr>
          <a:xfrm>
            <a:off x="6400800" y="2377440"/>
            <a:ext cx="5074920" cy="384048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"La supervivencia disminuyó al aumentar la concentración de sales biliares en todas las cepas evaluadas (Figura 1). La cepa C mantuvo los valores más altos a 0.30 % (78.6 %), superando a la cepa de referencia ATCC 14917 (72.4 %), mientras que la cepa D mostró la menor tolerancia (47.3 %). Las diferencias fueron significativas entre tratamientos (F(2,72) = 124.6; p &lt; 0.001)."</a:t>
            </a:r>
            <a:endParaRPr lang="en-US" sz="1150" dirty="0"/>
          </a:p>
        </p:txBody>
      </p:sp>
      <p:sp>
        <p:nvSpPr>
          <p:cNvPr id="16" name="Text 12"/>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17" name="Text 13"/>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12 / 25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TRES FUNCIONES DEL TEXTO</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Qué SÍ debe hacer el párrafo de Resultados</a:t>
            </a:r>
            <a:endParaRPr lang="en-US" sz="3000" dirty="0"/>
          </a:p>
        </p:txBody>
      </p:sp>
      <p:sp>
        <p:nvSpPr>
          <p:cNvPr id="4" name="Shape 2"/>
          <p:cNvSpPr/>
          <p:nvPr/>
        </p:nvSpPr>
        <p:spPr>
          <a:xfrm>
            <a:off x="457200" y="1783080"/>
            <a:ext cx="3703320" cy="438912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457200" y="1783080"/>
            <a:ext cx="3703320" cy="1005840"/>
          </a:xfrm>
          <a:prstGeom prst="rect">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731520" y="2011680"/>
            <a:ext cx="548640" cy="548640"/>
          </a:xfrm>
          <a:prstGeom prst="rect">
            <a:avLst/>
          </a:prstGeom>
        </p:spPr>
      </p:pic>
      <p:sp>
        <p:nvSpPr>
          <p:cNvPr id="7" name="Text 4"/>
          <p:cNvSpPr/>
          <p:nvPr/>
        </p:nvSpPr>
        <p:spPr>
          <a:xfrm>
            <a:off x="3063240" y="1920240"/>
            <a:ext cx="914400" cy="731520"/>
          </a:xfrm>
          <a:prstGeom prst="rect">
            <a:avLst/>
          </a:prstGeom>
          <a:noFill/>
          <a:ln/>
        </p:spPr>
        <p:txBody>
          <a:bodyPr wrap="square" lIns="0" tIns="0" rIns="0" bIns="0" rtlCol="0" anchor="ctr"/>
          <a:lstStyle/>
          <a:p>
            <a:pPr algn="r" indent="0" marL="0">
              <a:buNone/>
            </a:pPr>
            <a:r>
              <a:rPr lang="en-US" sz="3600" b="1" dirty="0">
                <a:solidFill>
                  <a:srgbClr val="97BC62"/>
                </a:solidFill>
                <a:latin typeface="Georgia" pitchFamily="34" charset="0"/>
                <a:ea typeface="Georgia" pitchFamily="34" charset="-122"/>
                <a:cs typeface="Georgia" pitchFamily="34" charset="-120"/>
              </a:rPr>
              <a:t>01</a:t>
            </a:r>
            <a:endParaRPr lang="en-US" sz="3600" dirty="0"/>
          </a:p>
        </p:txBody>
      </p:sp>
      <p:sp>
        <p:nvSpPr>
          <p:cNvPr id="8" name="Text 5"/>
          <p:cNvSpPr/>
          <p:nvPr/>
        </p:nvSpPr>
        <p:spPr>
          <a:xfrm>
            <a:off x="685800" y="2971800"/>
            <a:ext cx="3246120" cy="868680"/>
          </a:xfrm>
          <a:prstGeom prst="rect">
            <a:avLst/>
          </a:prstGeom>
          <a:noFill/>
          <a:ln/>
        </p:spPr>
        <p:txBody>
          <a:bodyPr wrap="square" lIns="0" tIns="0" rIns="0" bIns="0" rtlCol="0" anchor="ctr"/>
          <a:lstStyle/>
          <a:p>
            <a:pPr indent="0" marL="0">
              <a:lnSpc>
                <a:spcPct val="110000"/>
              </a:lnSpc>
              <a:buNone/>
            </a:pPr>
            <a:r>
              <a:rPr lang="en-US" sz="1800" b="1" dirty="0">
                <a:solidFill>
                  <a:srgbClr val="1F3A2E"/>
                </a:solidFill>
                <a:latin typeface="Georgia" pitchFamily="34" charset="0"/>
                <a:ea typeface="Georgia" pitchFamily="34" charset="-122"/>
                <a:cs typeface="Georgia" pitchFamily="34" charset="-120"/>
              </a:rPr>
              <a:t>Apuntar a la figura</a:t>
            </a:r>
            <a:endParaRPr lang="en-US" sz="1800" dirty="0"/>
          </a:p>
        </p:txBody>
      </p:sp>
      <p:sp>
        <p:nvSpPr>
          <p:cNvPr id="9" name="Text 6"/>
          <p:cNvSpPr/>
          <p:nvPr/>
        </p:nvSpPr>
        <p:spPr>
          <a:xfrm>
            <a:off x="685800" y="3886200"/>
            <a:ext cx="3246120" cy="2194560"/>
          </a:xfrm>
          <a:prstGeom prst="rect">
            <a:avLst/>
          </a:prstGeom>
          <a:noFill/>
          <a:ln/>
        </p:spPr>
        <p:txBody>
          <a:bodyPr wrap="square" lIns="0" tIns="0" rIns="0" bIns="0" rtlCol="0" anchor="ctr"/>
          <a:lstStyle/>
          <a:p>
            <a:pPr indent="0" marL="0">
              <a:lnSpc>
                <a:spcPct val="125000"/>
              </a:lnSpc>
              <a:buNone/>
            </a:pPr>
            <a:r>
              <a:rPr lang="en-US" sz="1250" dirty="0">
                <a:solidFill>
                  <a:srgbClr val="1A1A1A"/>
                </a:solidFill>
                <a:latin typeface="Calibri" pitchFamily="34" charset="0"/>
                <a:ea typeface="Calibri" pitchFamily="34" charset="-122"/>
                <a:cs typeface="Calibri" pitchFamily="34" charset="-120"/>
              </a:rPr>
              <a:t>"Como se observa en la Figura 1…" / "La Tabla 2 resume…" — referencia explícita y obligatoria.</a:t>
            </a:r>
            <a:endParaRPr lang="en-US" sz="1250" dirty="0"/>
          </a:p>
        </p:txBody>
      </p:sp>
      <p:sp>
        <p:nvSpPr>
          <p:cNvPr id="10" name="Shape 7"/>
          <p:cNvSpPr/>
          <p:nvPr/>
        </p:nvSpPr>
        <p:spPr>
          <a:xfrm>
            <a:off x="4297680" y="1783080"/>
            <a:ext cx="3703320" cy="438912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297680" y="1783080"/>
            <a:ext cx="3703320" cy="1005840"/>
          </a:xfrm>
          <a:prstGeom prst="rect">
            <a:avLst/>
          </a:prstGeom>
          <a:solidFill>
            <a:srgbClr val="2C5F2D"/>
          </a:solidFill>
          <a:ln w="12700">
            <a:solidFill>
              <a:srgbClr val="2C5F2D"/>
            </a:solidFill>
            <a:prstDash val="solid"/>
          </a:ln>
        </p:spPr>
      </p:sp>
      <p:pic>
        <p:nvPicPr>
          <p:cNvPr id="12" name="Image 1" descr="preencoded.png">    </p:cNvPr>
          <p:cNvPicPr>
            <a:picLocks noChangeAspect="1"/>
          </p:cNvPicPr>
          <p:nvPr/>
        </p:nvPicPr>
        <p:blipFill>
          <a:blip r:embed="rId2"/>
          <a:stretch>
            <a:fillRect/>
          </a:stretch>
        </p:blipFill>
        <p:spPr>
          <a:xfrm>
            <a:off x="4572000" y="2011680"/>
            <a:ext cx="548640" cy="548640"/>
          </a:xfrm>
          <a:prstGeom prst="rect">
            <a:avLst/>
          </a:prstGeom>
        </p:spPr>
      </p:pic>
      <p:sp>
        <p:nvSpPr>
          <p:cNvPr id="13" name="Text 9"/>
          <p:cNvSpPr/>
          <p:nvPr/>
        </p:nvSpPr>
        <p:spPr>
          <a:xfrm>
            <a:off x="6903720" y="1920240"/>
            <a:ext cx="914400" cy="731520"/>
          </a:xfrm>
          <a:prstGeom prst="rect">
            <a:avLst/>
          </a:prstGeom>
          <a:noFill/>
          <a:ln/>
        </p:spPr>
        <p:txBody>
          <a:bodyPr wrap="square" lIns="0" tIns="0" rIns="0" bIns="0" rtlCol="0" anchor="ctr"/>
          <a:lstStyle/>
          <a:p>
            <a:pPr algn="r" indent="0" marL="0">
              <a:buNone/>
            </a:pPr>
            <a:r>
              <a:rPr lang="en-US" sz="3600" b="1" dirty="0">
                <a:solidFill>
                  <a:srgbClr val="97BC62"/>
                </a:solidFill>
                <a:latin typeface="Georgia" pitchFamily="34" charset="0"/>
                <a:ea typeface="Georgia" pitchFamily="34" charset="-122"/>
                <a:cs typeface="Georgia" pitchFamily="34" charset="-120"/>
              </a:rPr>
              <a:t>02</a:t>
            </a:r>
            <a:endParaRPr lang="en-US" sz="3600" dirty="0"/>
          </a:p>
        </p:txBody>
      </p:sp>
      <p:sp>
        <p:nvSpPr>
          <p:cNvPr id="14" name="Text 10"/>
          <p:cNvSpPr/>
          <p:nvPr/>
        </p:nvSpPr>
        <p:spPr>
          <a:xfrm>
            <a:off x="4526280" y="2971800"/>
            <a:ext cx="3246120" cy="868680"/>
          </a:xfrm>
          <a:prstGeom prst="rect">
            <a:avLst/>
          </a:prstGeom>
          <a:noFill/>
          <a:ln/>
        </p:spPr>
        <p:txBody>
          <a:bodyPr wrap="square" lIns="0" tIns="0" rIns="0" bIns="0" rtlCol="0" anchor="ctr"/>
          <a:lstStyle/>
          <a:p>
            <a:pPr indent="0" marL="0">
              <a:lnSpc>
                <a:spcPct val="110000"/>
              </a:lnSpc>
              <a:buNone/>
            </a:pPr>
            <a:r>
              <a:rPr lang="en-US" sz="1800" b="1" dirty="0">
                <a:solidFill>
                  <a:srgbClr val="1F3A2E"/>
                </a:solidFill>
                <a:latin typeface="Georgia" pitchFamily="34" charset="0"/>
                <a:ea typeface="Georgia" pitchFamily="34" charset="-122"/>
                <a:cs typeface="Georgia" pitchFamily="34" charset="-120"/>
              </a:rPr>
              <a:t>Resaltar lo importante</a:t>
            </a:r>
            <a:endParaRPr lang="en-US" sz="1800" dirty="0"/>
          </a:p>
        </p:txBody>
      </p:sp>
      <p:sp>
        <p:nvSpPr>
          <p:cNvPr id="15" name="Text 11"/>
          <p:cNvSpPr/>
          <p:nvPr/>
        </p:nvSpPr>
        <p:spPr>
          <a:xfrm>
            <a:off x="4526280" y="3886200"/>
            <a:ext cx="3246120" cy="2194560"/>
          </a:xfrm>
          <a:prstGeom prst="rect">
            <a:avLst/>
          </a:prstGeom>
          <a:noFill/>
          <a:ln/>
        </p:spPr>
        <p:txBody>
          <a:bodyPr wrap="square" lIns="0" tIns="0" rIns="0" bIns="0" rtlCol="0" anchor="ctr"/>
          <a:lstStyle/>
          <a:p>
            <a:pPr indent="0" marL="0">
              <a:lnSpc>
                <a:spcPct val="125000"/>
              </a:lnSpc>
              <a:buNone/>
            </a:pPr>
            <a:r>
              <a:rPr lang="en-US" sz="1250" dirty="0">
                <a:solidFill>
                  <a:srgbClr val="1A1A1A"/>
                </a:solidFill>
                <a:latin typeface="Calibri" pitchFamily="34" charset="0"/>
                <a:ea typeface="Calibri" pitchFamily="34" charset="-122"/>
                <a:cs typeface="Calibri" pitchFamily="34" charset="-120"/>
              </a:rPr>
              <a:t>El lector no sabe qué mirar primero. El texto dice: "el valor más alto…", "a diferencia de…", "el patrón muestra…".</a:t>
            </a:r>
            <a:endParaRPr lang="en-US" sz="1250" dirty="0"/>
          </a:p>
        </p:txBody>
      </p:sp>
      <p:sp>
        <p:nvSpPr>
          <p:cNvPr id="16" name="Shape 12"/>
          <p:cNvSpPr/>
          <p:nvPr/>
        </p:nvSpPr>
        <p:spPr>
          <a:xfrm>
            <a:off x="8138160" y="1783080"/>
            <a:ext cx="3703320" cy="438912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8138160" y="1783080"/>
            <a:ext cx="3703320" cy="1005840"/>
          </a:xfrm>
          <a:prstGeom prst="rect">
            <a:avLst/>
          </a:prstGeom>
          <a:solidFill>
            <a:srgbClr val="2C5F2D"/>
          </a:solidFill>
          <a:ln w="12700">
            <a:solidFill>
              <a:srgbClr val="2C5F2D"/>
            </a:solidFill>
            <a:prstDash val="solid"/>
          </a:ln>
        </p:spPr>
      </p:sp>
      <p:pic>
        <p:nvPicPr>
          <p:cNvPr id="18" name="Image 2" descr="preencoded.png">    </p:cNvPr>
          <p:cNvPicPr>
            <a:picLocks noChangeAspect="1"/>
          </p:cNvPicPr>
          <p:nvPr/>
        </p:nvPicPr>
        <p:blipFill>
          <a:blip r:embed="rId3"/>
          <a:stretch>
            <a:fillRect/>
          </a:stretch>
        </p:blipFill>
        <p:spPr>
          <a:xfrm>
            <a:off x="8412480" y="2011680"/>
            <a:ext cx="548640" cy="548640"/>
          </a:xfrm>
          <a:prstGeom prst="rect">
            <a:avLst/>
          </a:prstGeom>
        </p:spPr>
      </p:pic>
      <p:sp>
        <p:nvSpPr>
          <p:cNvPr id="19" name="Text 14"/>
          <p:cNvSpPr/>
          <p:nvPr/>
        </p:nvSpPr>
        <p:spPr>
          <a:xfrm>
            <a:off x="10744200" y="1920240"/>
            <a:ext cx="914400" cy="731520"/>
          </a:xfrm>
          <a:prstGeom prst="rect">
            <a:avLst/>
          </a:prstGeom>
          <a:noFill/>
          <a:ln/>
        </p:spPr>
        <p:txBody>
          <a:bodyPr wrap="square" lIns="0" tIns="0" rIns="0" bIns="0" rtlCol="0" anchor="ctr"/>
          <a:lstStyle/>
          <a:p>
            <a:pPr algn="r" indent="0" marL="0">
              <a:buNone/>
            </a:pPr>
            <a:r>
              <a:rPr lang="en-US" sz="3600" b="1" dirty="0">
                <a:solidFill>
                  <a:srgbClr val="97BC62"/>
                </a:solidFill>
                <a:latin typeface="Georgia" pitchFamily="34" charset="0"/>
                <a:ea typeface="Georgia" pitchFamily="34" charset="-122"/>
                <a:cs typeface="Georgia" pitchFamily="34" charset="-120"/>
              </a:rPr>
              <a:t>03</a:t>
            </a:r>
            <a:endParaRPr lang="en-US" sz="3600" dirty="0"/>
          </a:p>
        </p:txBody>
      </p:sp>
      <p:sp>
        <p:nvSpPr>
          <p:cNvPr id="20" name="Text 15"/>
          <p:cNvSpPr/>
          <p:nvPr/>
        </p:nvSpPr>
        <p:spPr>
          <a:xfrm>
            <a:off x="8366760" y="2971800"/>
            <a:ext cx="3246120" cy="868680"/>
          </a:xfrm>
          <a:prstGeom prst="rect">
            <a:avLst/>
          </a:prstGeom>
          <a:noFill/>
          <a:ln/>
        </p:spPr>
        <p:txBody>
          <a:bodyPr wrap="square" lIns="0" tIns="0" rIns="0" bIns="0" rtlCol="0" anchor="ctr"/>
          <a:lstStyle/>
          <a:p>
            <a:pPr indent="0" marL="0">
              <a:lnSpc>
                <a:spcPct val="110000"/>
              </a:lnSpc>
              <a:buNone/>
            </a:pPr>
            <a:r>
              <a:rPr lang="en-US" sz="1800" b="1" dirty="0">
                <a:solidFill>
                  <a:srgbClr val="1F3A2E"/>
                </a:solidFill>
                <a:latin typeface="Georgia" pitchFamily="34" charset="0"/>
                <a:ea typeface="Georgia" pitchFamily="34" charset="-122"/>
                <a:cs typeface="Georgia" pitchFamily="34" charset="-120"/>
              </a:rPr>
              <a:t>Reportar estadísticos clave</a:t>
            </a:r>
            <a:endParaRPr lang="en-US" sz="1800" dirty="0"/>
          </a:p>
        </p:txBody>
      </p:sp>
      <p:sp>
        <p:nvSpPr>
          <p:cNvPr id="21" name="Text 16"/>
          <p:cNvSpPr/>
          <p:nvPr/>
        </p:nvSpPr>
        <p:spPr>
          <a:xfrm>
            <a:off x="8366760" y="3886200"/>
            <a:ext cx="3246120" cy="2194560"/>
          </a:xfrm>
          <a:prstGeom prst="rect">
            <a:avLst/>
          </a:prstGeom>
          <a:noFill/>
          <a:ln/>
        </p:spPr>
        <p:txBody>
          <a:bodyPr wrap="square" lIns="0" tIns="0" rIns="0" bIns="0" rtlCol="0" anchor="ctr"/>
          <a:lstStyle/>
          <a:p>
            <a:pPr indent="0" marL="0">
              <a:lnSpc>
                <a:spcPct val="125000"/>
              </a:lnSpc>
              <a:buNone/>
            </a:pPr>
            <a:r>
              <a:rPr lang="en-US" sz="1250" dirty="0">
                <a:solidFill>
                  <a:srgbClr val="1A1A1A"/>
                </a:solidFill>
                <a:latin typeface="Calibri" pitchFamily="34" charset="0"/>
                <a:ea typeface="Calibri" pitchFamily="34" charset="-122"/>
                <a:cs typeface="Calibri" pitchFamily="34" charset="-120"/>
              </a:rPr>
              <a:t>Valor p exacto, F, gl, tamaño de efecto, IC 95 %. Lo que no cabe en la figura, va aquí.</a:t>
            </a:r>
            <a:endParaRPr lang="en-US" sz="1250" dirty="0"/>
          </a:p>
        </p:txBody>
      </p:sp>
      <p:sp>
        <p:nvSpPr>
          <p:cNvPr id="22" name="Text 17"/>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23" name="Text 18"/>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13 / 25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CONECTORES ÚTILES</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Plantillas que sostienen tu narrativa</a:t>
            </a:r>
            <a:endParaRPr lang="en-US" sz="3000" dirty="0"/>
          </a:p>
        </p:txBody>
      </p:sp>
      <p:sp>
        <p:nvSpPr>
          <p:cNvPr id="4" name="Shape 2"/>
          <p:cNvSpPr/>
          <p:nvPr/>
        </p:nvSpPr>
        <p:spPr>
          <a:xfrm>
            <a:off x="457200" y="1737360"/>
            <a:ext cx="11247120" cy="594360"/>
          </a:xfrm>
          <a:prstGeom prst="rect">
            <a:avLst/>
          </a:prstGeom>
          <a:solidFill>
            <a:srgbClr val="F7F4ED"/>
          </a:solidFill>
          <a:ln w="12700">
            <a:solidFill>
              <a:srgbClr val="D9D2C0"/>
            </a:solidFill>
            <a:prstDash val="solid"/>
          </a:ln>
        </p:spPr>
      </p:sp>
      <p:sp>
        <p:nvSpPr>
          <p:cNvPr id="5" name="Shape 3"/>
          <p:cNvSpPr/>
          <p:nvPr/>
        </p:nvSpPr>
        <p:spPr>
          <a:xfrm>
            <a:off x="457200" y="1737360"/>
            <a:ext cx="73152" cy="594360"/>
          </a:xfrm>
          <a:prstGeom prst="rect">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685800" y="1883664"/>
            <a:ext cx="292608" cy="292608"/>
          </a:xfrm>
          <a:prstGeom prst="rect">
            <a:avLst/>
          </a:prstGeom>
        </p:spPr>
      </p:pic>
      <p:sp>
        <p:nvSpPr>
          <p:cNvPr id="7" name="Text 4"/>
          <p:cNvSpPr/>
          <p:nvPr/>
        </p:nvSpPr>
        <p:spPr>
          <a:xfrm>
            <a:off x="1097280" y="1737360"/>
            <a:ext cx="10515600" cy="594360"/>
          </a:xfrm>
          <a:prstGeom prst="rect">
            <a:avLst/>
          </a:prstGeom>
          <a:noFill/>
          <a:ln/>
        </p:spPr>
        <p:txBody>
          <a:bodyPr wrap="square" lIns="0" tIns="0" rIns="0" bIns="0" rtlCol="0" anchor="ctr"/>
          <a:lstStyle/>
          <a:p>
            <a:pPr indent="0" marL="0">
              <a:buNone/>
            </a:pPr>
            <a:r>
              <a:rPr lang="en-US" sz="1350" i="1" dirty="0">
                <a:solidFill>
                  <a:srgbClr val="1F3A2E"/>
                </a:solidFill>
                <a:latin typeface="Georgia" pitchFamily="34" charset="0"/>
                <a:ea typeface="Georgia" pitchFamily="34" charset="-122"/>
                <a:cs typeface="Georgia" pitchFamily="34" charset="-120"/>
              </a:rPr>
              <a:t>"La Figura X muestra que…"  /  "Como se observa en la Figura X…"</a:t>
            </a:r>
            <a:endParaRPr lang="en-US" sz="1350" dirty="0"/>
          </a:p>
        </p:txBody>
      </p:sp>
      <p:sp>
        <p:nvSpPr>
          <p:cNvPr id="8" name="Shape 5"/>
          <p:cNvSpPr/>
          <p:nvPr/>
        </p:nvSpPr>
        <p:spPr>
          <a:xfrm>
            <a:off x="457200" y="2450592"/>
            <a:ext cx="11247120" cy="594360"/>
          </a:xfrm>
          <a:prstGeom prst="rect">
            <a:avLst/>
          </a:prstGeom>
          <a:solidFill>
            <a:srgbClr val="F7F4ED"/>
          </a:solidFill>
          <a:ln w="12700">
            <a:solidFill>
              <a:srgbClr val="D9D2C0"/>
            </a:solidFill>
            <a:prstDash val="solid"/>
          </a:ln>
        </p:spPr>
      </p:sp>
      <p:sp>
        <p:nvSpPr>
          <p:cNvPr id="9" name="Shape 6"/>
          <p:cNvSpPr/>
          <p:nvPr/>
        </p:nvSpPr>
        <p:spPr>
          <a:xfrm>
            <a:off x="457200" y="2450592"/>
            <a:ext cx="73152" cy="594360"/>
          </a:xfrm>
          <a:prstGeom prst="rect">
            <a:avLst/>
          </a:prstGeom>
          <a:solidFill>
            <a:srgbClr val="2C5F2D"/>
          </a:solidFill>
          <a:ln w="12700">
            <a:solidFill>
              <a:srgbClr val="2C5F2D"/>
            </a:solidFill>
            <a:prstDash val="solid"/>
          </a:ln>
        </p:spPr>
      </p:sp>
      <p:pic>
        <p:nvPicPr>
          <p:cNvPr id="10" name="Image 1" descr="preencoded.png">    </p:cNvPr>
          <p:cNvPicPr>
            <a:picLocks noChangeAspect="1"/>
          </p:cNvPicPr>
          <p:nvPr/>
        </p:nvPicPr>
        <p:blipFill>
          <a:blip r:embed="rId2"/>
          <a:stretch>
            <a:fillRect/>
          </a:stretch>
        </p:blipFill>
        <p:spPr>
          <a:xfrm>
            <a:off x="685800" y="2596896"/>
            <a:ext cx="292608" cy="292608"/>
          </a:xfrm>
          <a:prstGeom prst="rect">
            <a:avLst/>
          </a:prstGeom>
        </p:spPr>
      </p:pic>
      <p:sp>
        <p:nvSpPr>
          <p:cNvPr id="11" name="Text 7"/>
          <p:cNvSpPr/>
          <p:nvPr/>
        </p:nvSpPr>
        <p:spPr>
          <a:xfrm>
            <a:off x="1097280" y="2450592"/>
            <a:ext cx="10515600" cy="594360"/>
          </a:xfrm>
          <a:prstGeom prst="rect">
            <a:avLst/>
          </a:prstGeom>
          <a:noFill/>
          <a:ln/>
        </p:spPr>
        <p:txBody>
          <a:bodyPr wrap="square" lIns="0" tIns="0" rIns="0" bIns="0" rtlCol="0" anchor="ctr"/>
          <a:lstStyle/>
          <a:p>
            <a:pPr indent="0" marL="0">
              <a:buNone/>
            </a:pPr>
            <a:r>
              <a:rPr lang="en-US" sz="1350" i="1" dirty="0">
                <a:solidFill>
                  <a:srgbClr val="1F3A2E"/>
                </a:solidFill>
                <a:latin typeface="Georgia" pitchFamily="34" charset="0"/>
                <a:ea typeface="Georgia" pitchFamily="34" charset="-122"/>
                <a:cs typeface="Georgia" pitchFamily="34" charset="-120"/>
              </a:rPr>
              <a:t>"El mayor valor se registró en…  con… (Tabla X)."</a:t>
            </a:r>
            <a:endParaRPr lang="en-US" sz="1350" dirty="0"/>
          </a:p>
        </p:txBody>
      </p:sp>
      <p:sp>
        <p:nvSpPr>
          <p:cNvPr id="12" name="Shape 8"/>
          <p:cNvSpPr/>
          <p:nvPr/>
        </p:nvSpPr>
        <p:spPr>
          <a:xfrm>
            <a:off x="457200" y="3163824"/>
            <a:ext cx="11247120" cy="594360"/>
          </a:xfrm>
          <a:prstGeom prst="rect">
            <a:avLst/>
          </a:prstGeom>
          <a:solidFill>
            <a:srgbClr val="F7F4ED"/>
          </a:solidFill>
          <a:ln w="12700">
            <a:solidFill>
              <a:srgbClr val="D9D2C0"/>
            </a:solidFill>
            <a:prstDash val="solid"/>
          </a:ln>
        </p:spPr>
      </p:sp>
      <p:sp>
        <p:nvSpPr>
          <p:cNvPr id="13" name="Shape 9"/>
          <p:cNvSpPr/>
          <p:nvPr/>
        </p:nvSpPr>
        <p:spPr>
          <a:xfrm>
            <a:off x="457200" y="3163824"/>
            <a:ext cx="73152" cy="594360"/>
          </a:xfrm>
          <a:prstGeom prst="rect">
            <a:avLst/>
          </a:prstGeom>
          <a:solidFill>
            <a:srgbClr val="2C5F2D"/>
          </a:solidFill>
          <a:ln w="12700">
            <a:solidFill>
              <a:srgbClr val="2C5F2D"/>
            </a:solidFill>
            <a:prstDash val="solid"/>
          </a:ln>
        </p:spPr>
      </p:sp>
      <p:pic>
        <p:nvPicPr>
          <p:cNvPr id="14" name="Image 2" descr="preencoded.png">    </p:cNvPr>
          <p:cNvPicPr>
            <a:picLocks noChangeAspect="1"/>
          </p:cNvPicPr>
          <p:nvPr/>
        </p:nvPicPr>
        <p:blipFill>
          <a:blip r:embed="rId3"/>
          <a:stretch>
            <a:fillRect/>
          </a:stretch>
        </p:blipFill>
        <p:spPr>
          <a:xfrm>
            <a:off x="685800" y="3310128"/>
            <a:ext cx="292608" cy="292608"/>
          </a:xfrm>
          <a:prstGeom prst="rect">
            <a:avLst/>
          </a:prstGeom>
        </p:spPr>
      </p:pic>
      <p:sp>
        <p:nvSpPr>
          <p:cNvPr id="15" name="Text 10"/>
          <p:cNvSpPr/>
          <p:nvPr/>
        </p:nvSpPr>
        <p:spPr>
          <a:xfrm>
            <a:off x="1097280" y="3163824"/>
            <a:ext cx="10515600" cy="594360"/>
          </a:xfrm>
          <a:prstGeom prst="rect">
            <a:avLst/>
          </a:prstGeom>
          <a:noFill/>
          <a:ln/>
        </p:spPr>
        <p:txBody>
          <a:bodyPr wrap="square" lIns="0" tIns="0" rIns="0" bIns="0" rtlCol="0" anchor="ctr"/>
          <a:lstStyle/>
          <a:p>
            <a:pPr indent="0" marL="0">
              <a:buNone/>
            </a:pPr>
            <a:r>
              <a:rPr lang="en-US" sz="1350" i="1" dirty="0">
                <a:solidFill>
                  <a:srgbClr val="1F3A2E"/>
                </a:solidFill>
                <a:latin typeface="Georgia" pitchFamily="34" charset="0"/>
                <a:ea typeface="Georgia" pitchFamily="34" charset="-122"/>
                <a:cs typeface="Georgia" pitchFamily="34" charset="-120"/>
              </a:rPr>
              <a:t>"A diferencia de…, el grupo Y presentó…"</a:t>
            </a:r>
            <a:endParaRPr lang="en-US" sz="1350" dirty="0"/>
          </a:p>
        </p:txBody>
      </p:sp>
      <p:sp>
        <p:nvSpPr>
          <p:cNvPr id="16" name="Shape 11"/>
          <p:cNvSpPr/>
          <p:nvPr/>
        </p:nvSpPr>
        <p:spPr>
          <a:xfrm>
            <a:off x="457200" y="3877056"/>
            <a:ext cx="11247120" cy="594360"/>
          </a:xfrm>
          <a:prstGeom prst="rect">
            <a:avLst/>
          </a:prstGeom>
          <a:solidFill>
            <a:srgbClr val="F7F4ED"/>
          </a:solidFill>
          <a:ln w="12700">
            <a:solidFill>
              <a:srgbClr val="D9D2C0"/>
            </a:solidFill>
            <a:prstDash val="solid"/>
          </a:ln>
        </p:spPr>
      </p:sp>
      <p:sp>
        <p:nvSpPr>
          <p:cNvPr id="17" name="Shape 12"/>
          <p:cNvSpPr/>
          <p:nvPr/>
        </p:nvSpPr>
        <p:spPr>
          <a:xfrm>
            <a:off x="457200" y="3877056"/>
            <a:ext cx="73152" cy="594360"/>
          </a:xfrm>
          <a:prstGeom prst="rect">
            <a:avLst/>
          </a:prstGeom>
          <a:solidFill>
            <a:srgbClr val="2C5F2D"/>
          </a:solidFill>
          <a:ln w="12700">
            <a:solidFill>
              <a:srgbClr val="2C5F2D"/>
            </a:solidFill>
            <a:prstDash val="solid"/>
          </a:ln>
        </p:spPr>
      </p:sp>
      <p:pic>
        <p:nvPicPr>
          <p:cNvPr id="18" name="Image 3" descr="preencoded.png">    </p:cNvPr>
          <p:cNvPicPr>
            <a:picLocks noChangeAspect="1"/>
          </p:cNvPicPr>
          <p:nvPr/>
        </p:nvPicPr>
        <p:blipFill>
          <a:blip r:embed="rId4"/>
          <a:stretch>
            <a:fillRect/>
          </a:stretch>
        </p:blipFill>
        <p:spPr>
          <a:xfrm>
            <a:off x="685800" y="4023360"/>
            <a:ext cx="292608" cy="292608"/>
          </a:xfrm>
          <a:prstGeom prst="rect">
            <a:avLst/>
          </a:prstGeom>
        </p:spPr>
      </p:pic>
      <p:sp>
        <p:nvSpPr>
          <p:cNvPr id="19" name="Text 13"/>
          <p:cNvSpPr/>
          <p:nvPr/>
        </p:nvSpPr>
        <p:spPr>
          <a:xfrm>
            <a:off x="1097280" y="3877056"/>
            <a:ext cx="10515600" cy="594360"/>
          </a:xfrm>
          <a:prstGeom prst="rect">
            <a:avLst/>
          </a:prstGeom>
          <a:noFill/>
          <a:ln/>
        </p:spPr>
        <p:txBody>
          <a:bodyPr wrap="square" lIns="0" tIns="0" rIns="0" bIns="0" rtlCol="0" anchor="ctr"/>
          <a:lstStyle/>
          <a:p>
            <a:pPr indent="0" marL="0">
              <a:buNone/>
            </a:pPr>
            <a:r>
              <a:rPr lang="en-US" sz="1350" i="1" dirty="0">
                <a:solidFill>
                  <a:srgbClr val="1F3A2E"/>
                </a:solidFill>
                <a:latin typeface="Georgia" pitchFamily="34" charset="0"/>
                <a:ea typeface="Georgia" pitchFamily="34" charset="-122"/>
                <a:cs typeface="Georgia" pitchFamily="34" charset="-120"/>
              </a:rPr>
              <a:t>"Las diferencias fueron significativas (F(gl₁, gl₂) = …; p = …)."</a:t>
            </a:r>
            <a:endParaRPr lang="en-US" sz="1350" dirty="0"/>
          </a:p>
        </p:txBody>
      </p:sp>
      <p:sp>
        <p:nvSpPr>
          <p:cNvPr id="20" name="Shape 14"/>
          <p:cNvSpPr/>
          <p:nvPr/>
        </p:nvSpPr>
        <p:spPr>
          <a:xfrm>
            <a:off x="457200" y="4590288"/>
            <a:ext cx="11247120" cy="594360"/>
          </a:xfrm>
          <a:prstGeom prst="rect">
            <a:avLst/>
          </a:prstGeom>
          <a:solidFill>
            <a:srgbClr val="F7F4ED"/>
          </a:solidFill>
          <a:ln w="12700">
            <a:solidFill>
              <a:srgbClr val="D9D2C0"/>
            </a:solidFill>
            <a:prstDash val="solid"/>
          </a:ln>
        </p:spPr>
      </p:sp>
      <p:sp>
        <p:nvSpPr>
          <p:cNvPr id="21" name="Shape 15"/>
          <p:cNvSpPr/>
          <p:nvPr/>
        </p:nvSpPr>
        <p:spPr>
          <a:xfrm>
            <a:off x="457200" y="4590288"/>
            <a:ext cx="73152" cy="594360"/>
          </a:xfrm>
          <a:prstGeom prst="rect">
            <a:avLst/>
          </a:prstGeom>
          <a:solidFill>
            <a:srgbClr val="2C5F2D"/>
          </a:solidFill>
          <a:ln w="12700">
            <a:solidFill>
              <a:srgbClr val="2C5F2D"/>
            </a:solidFill>
            <a:prstDash val="solid"/>
          </a:ln>
        </p:spPr>
      </p:sp>
      <p:pic>
        <p:nvPicPr>
          <p:cNvPr id="22" name="Image 4" descr="preencoded.png">    </p:cNvPr>
          <p:cNvPicPr>
            <a:picLocks noChangeAspect="1"/>
          </p:cNvPicPr>
          <p:nvPr/>
        </p:nvPicPr>
        <p:blipFill>
          <a:blip r:embed="rId5"/>
          <a:stretch>
            <a:fillRect/>
          </a:stretch>
        </p:blipFill>
        <p:spPr>
          <a:xfrm>
            <a:off x="685800" y="4736592"/>
            <a:ext cx="292608" cy="292608"/>
          </a:xfrm>
          <a:prstGeom prst="rect">
            <a:avLst/>
          </a:prstGeom>
        </p:spPr>
      </p:pic>
      <p:sp>
        <p:nvSpPr>
          <p:cNvPr id="23" name="Text 16"/>
          <p:cNvSpPr/>
          <p:nvPr/>
        </p:nvSpPr>
        <p:spPr>
          <a:xfrm>
            <a:off x="1097280" y="4590288"/>
            <a:ext cx="10515600" cy="594360"/>
          </a:xfrm>
          <a:prstGeom prst="rect">
            <a:avLst/>
          </a:prstGeom>
          <a:noFill/>
          <a:ln/>
        </p:spPr>
        <p:txBody>
          <a:bodyPr wrap="square" lIns="0" tIns="0" rIns="0" bIns="0" rtlCol="0" anchor="ctr"/>
          <a:lstStyle/>
          <a:p>
            <a:pPr indent="0" marL="0">
              <a:buNone/>
            </a:pPr>
            <a:r>
              <a:rPr lang="en-US" sz="1350" i="1" dirty="0">
                <a:solidFill>
                  <a:srgbClr val="1F3A2E"/>
                </a:solidFill>
                <a:latin typeface="Georgia" pitchFamily="34" charset="0"/>
                <a:ea typeface="Georgia" pitchFamily="34" charset="-122"/>
                <a:cs typeface="Georgia" pitchFamily="34" charset="-120"/>
              </a:rPr>
              <a:t>"Los resultados de … se resumen en la Tabla X."</a:t>
            </a:r>
            <a:endParaRPr lang="en-US" sz="1350" dirty="0"/>
          </a:p>
        </p:txBody>
      </p:sp>
      <p:sp>
        <p:nvSpPr>
          <p:cNvPr id="24" name="Shape 17"/>
          <p:cNvSpPr/>
          <p:nvPr/>
        </p:nvSpPr>
        <p:spPr>
          <a:xfrm>
            <a:off x="457200" y="5303520"/>
            <a:ext cx="11247120" cy="594360"/>
          </a:xfrm>
          <a:prstGeom prst="rect">
            <a:avLst/>
          </a:prstGeom>
          <a:solidFill>
            <a:srgbClr val="F7F4ED"/>
          </a:solidFill>
          <a:ln w="12700">
            <a:solidFill>
              <a:srgbClr val="D9D2C0"/>
            </a:solidFill>
            <a:prstDash val="solid"/>
          </a:ln>
        </p:spPr>
      </p:sp>
      <p:sp>
        <p:nvSpPr>
          <p:cNvPr id="25" name="Shape 18"/>
          <p:cNvSpPr/>
          <p:nvPr/>
        </p:nvSpPr>
        <p:spPr>
          <a:xfrm>
            <a:off x="457200" y="5303520"/>
            <a:ext cx="73152" cy="594360"/>
          </a:xfrm>
          <a:prstGeom prst="rect">
            <a:avLst/>
          </a:prstGeom>
          <a:solidFill>
            <a:srgbClr val="2C5F2D"/>
          </a:solidFill>
          <a:ln w="12700">
            <a:solidFill>
              <a:srgbClr val="2C5F2D"/>
            </a:solidFill>
            <a:prstDash val="solid"/>
          </a:ln>
        </p:spPr>
      </p:sp>
      <p:pic>
        <p:nvPicPr>
          <p:cNvPr id="26" name="Image 5" descr="preencoded.png">    </p:cNvPr>
          <p:cNvPicPr>
            <a:picLocks noChangeAspect="1"/>
          </p:cNvPicPr>
          <p:nvPr/>
        </p:nvPicPr>
        <p:blipFill>
          <a:blip r:embed="rId6"/>
          <a:stretch>
            <a:fillRect/>
          </a:stretch>
        </p:blipFill>
        <p:spPr>
          <a:xfrm>
            <a:off x="685800" y="5449824"/>
            <a:ext cx="292608" cy="292608"/>
          </a:xfrm>
          <a:prstGeom prst="rect">
            <a:avLst/>
          </a:prstGeom>
        </p:spPr>
      </p:pic>
      <p:sp>
        <p:nvSpPr>
          <p:cNvPr id="27" name="Text 19"/>
          <p:cNvSpPr/>
          <p:nvPr/>
        </p:nvSpPr>
        <p:spPr>
          <a:xfrm>
            <a:off x="1097280" y="5303520"/>
            <a:ext cx="10515600" cy="594360"/>
          </a:xfrm>
          <a:prstGeom prst="rect">
            <a:avLst/>
          </a:prstGeom>
          <a:noFill/>
          <a:ln/>
        </p:spPr>
        <p:txBody>
          <a:bodyPr wrap="square" lIns="0" tIns="0" rIns="0" bIns="0" rtlCol="0" anchor="ctr"/>
          <a:lstStyle/>
          <a:p>
            <a:pPr indent="0" marL="0">
              <a:buNone/>
            </a:pPr>
            <a:r>
              <a:rPr lang="en-US" sz="1350" i="1" dirty="0">
                <a:solidFill>
                  <a:srgbClr val="1F3A2E"/>
                </a:solidFill>
                <a:latin typeface="Georgia" pitchFamily="34" charset="0"/>
                <a:ea typeface="Georgia" pitchFamily="34" charset="-122"/>
                <a:cs typeface="Georgia" pitchFamily="34" charset="-120"/>
              </a:rPr>
              <a:t>"No se observaron diferencias significativas entre… (p = …)."</a:t>
            </a:r>
            <a:endParaRPr lang="en-US" sz="1350" dirty="0"/>
          </a:p>
        </p:txBody>
      </p:sp>
      <p:sp>
        <p:nvSpPr>
          <p:cNvPr id="28" name="Text 20"/>
          <p:cNvSpPr/>
          <p:nvPr/>
        </p:nvSpPr>
        <p:spPr>
          <a:xfrm>
            <a:off x="457200" y="6217920"/>
            <a:ext cx="11247120" cy="365760"/>
          </a:xfrm>
          <a:prstGeom prst="rect">
            <a:avLst/>
          </a:prstGeom>
          <a:noFill/>
          <a:ln/>
        </p:spPr>
        <p:txBody>
          <a:bodyPr wrap="square" lIns="0" tIns="0" rIns="0" bIns="0" rtlCol="0" anchor="ctr"/>
          <a:lstStyle/>
          <a:p>
            <a:pPr algn="ctr" indent="0" marL="0">
              <a:buNone/>
            </a:pPr>
            <a:r>
              <a:rPr lang="en-US" sz="1200" i="1" dirty="0">
                <a:solidFill>
                  <a:srgbClr val="5F6B5A"/>
                </a:solidFill>
                <a:latin typeface="Calibri" pitchFamily="34" charset="0"/>
                <a:ea typeface="Calibri" pitchFamily="34" charset="-122"/>
                <a:cs typeface="Calibri" pitchFamily="34" charset="-120"/>
              </a:rPr>
              <a:t>Estos conectores van en pasado simple. La voz pasiva ("se observaron…") es aceptada en la mayoría de revistas.</a:t>
            </a:r>
            <a:endParaRPr lang="en-US" sz="1200" dirty="0"/>
          </a:p>
        </p:txBody>
      </p:sp>
      <p:sp>
        <p:nvSpPr>
          <p:cNvPr id="29" name="Text 21"/>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30" name="Text 22"/>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14 / 25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2194560"/>
            <a:ext cx="10058400" cy="365760"/>
          </a:xfrm>
          <a:prstGeom prst="rect">
            <a:avLst/>
          </a:prstGeom>
          <a:noFill/>
          <a:ln/>
        </p:spPr>
        <p:txBody>
          <a:bodyPr wrap="square" lIns="0" tIns="0" rIns="0" bIns="0" rtlCol="0" anchor="ctr"/>
          <a:lstStyle/>
          <a:p>
            <a:pPr indent="0" marL="0">
              <a:buNone/>
            </a:pPr>
            <a:r>
              <a:rPr lang="en-US" sz="1400" b="1" spc="600" kern="0" dirty="0">
                <a:solidFill>
                  <a:srgbClr val="97BC62"/>
                </a:solidFill>
                <a:latin typeface="Calibri" pitchFamily="34" charset="0"/>
                <a:ea typeface="Calibri" pitchFamily="34" charset="-122"/>
                <a:cs typeface="Calibri" pitchFamily="34" charset="-120"/>
              </a:rPr>
              <a:t>PARTE 4 DE 5</a:t>
            </a:r>
            <a:endParaRPr lang="en-US" sz="1400" dirty="0"/>
          </a:p>
        </p:txBody>
      </p:sp>
      <p:sp>
        <p:nvSpPr>
          <p:cNvPr id="4" name="Text 2"/>
          <p:cNvSpPr/>
          <p:nvPr/>
        </p:nvSpPr>
        <p:spPr>
          <a:xfrm>
            <a:off x="822960" y="2697480"/>
            <a:ext cx="10515600" cy="14630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Orden y narrativa</a:t>
            </a:r>
            <a:endParaRPr lang="en-US" sz="5600" dirty="0"/>
          </a:p>
        </p:txBody>
      </p:sp>
      <p:sp>
        <p:nvSpPr>
          <p:cNvPr id="5" name="Text 3"/>
          <p:cNvSpPr/>
          <p:nvPr/>
        </p:nvSpPr>
        <p:spPr>
          <a:xfrm>
            <a:off x="822960" y="4251960"/>
            <a:ext cx="10058400" cy="64008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Tus resultados tienen que contar una historia — no ser un volcado de datos.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EL ORDEN LÓGICO</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Del descriptivo al inferencial</a:t>
            </a:r>
            <a:endParaRPr lang="en-US" sz="3000" dirty="0"/>
          </a:p>
        </p:txBody>
      </p:sp>
      <p:sp>
        <p:nvSpPr>
          <p:cNvPr id="4" name="Shape 2"/>
          <p:cNvSpPr/>
          <p:nvPr/>
        </p:nvSpPr>
        <p:spPr>
          <a:xfrm>
            <a:off x="1508760" y="1828800"/>
            <a:ext cx="9144000" cy="868680"/>
          </a:xfrm>
          <a:prstGeom prst="rect">
            <a:avLst/>
          </a:prstGeom>
          <a:solidFill>
            <a:srgbClr val="97BC62"/>
          </a:solidFill>
          <a:ln w="12700">
            <a:solidFill>
              <a:srgbClr val="97BC62"/>
            </a:solidFill>
            <a:prstDash val="solid"/>
          </a:ln>
        </p:spPr>
      </p:sp>
      <p:sp>
        <p:nvSpPr>
          <p:cNvPr id="5" name="Text 3"/>
          <p:cNvSpPr/>
          <p:nvPr/>
        </p:nvSpPr>
        <p:spPr>
          <a:xfrm>
            <a:off x="1508760" y="1920240"/>
            <a:ext cx="91440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 Caracterización general</a:t>
            </a:r>
            <a:endParaRPr lang="en-US" sz="1500" dirty="0"/>
          </a:p>
        </p:txBody>
      </p:sp>
      <p:sp>
        <p:nvSpPr>
          <p:cNvPr id="6" name="Text 4"/>
          <p:cNvSpPr/>
          <p:nvPr/>
        </p:nvSpPr>
        <p:spPr>
          <a:xfrm>
            <a:off x="1508760" y="2249424"/>
            <a:ext cx="9144000" cy="411480"/>
          </a:xfrm>
          <a:prstGeom prst="rect">
            <a:avLst/>
          </a:prstGeom>
          <a:noFill/>
          <a:ln/>
        </p:spPr>
        <p:txBody>
          <a:bodyPr wrap="square" lIns="0" tIns="0" rIns="0" bIns="0" rtlCol="0" anchor="ctr"/>
          <a:lstStyle/>
          <a:p>
            <a:pPr algn="ctr" indent="0" marL="0">
              <a:buNone/>
            </a:pPr>
            <a:r>
              <a:rPr lang="en-US" sz="1150" i="1" dirty="0">
                <a:solidFill>
                  <a:srgbClr val="F7F4ED"/>
                </a:solidFill>
                <a:latin typeface="Calibri" pitchFamily="34" charset="0"/>
                <a:ea typeface="Calibri" pitchFamily="34" charset="-122"/>
                <a:cs typeface="Calibri" pitchFamily="34" charset="-120"/>
              </a:rPr>
              <a:t>Describe la muestra: cuántas unidades, características básicas. La Tabla 1 suele vivir aquí.</a:t>
            </a:r>
            <a:endParaRPr lang="en-US" sz="1150" dirty="0"/>
          </a:p>
        </p:txBody>
      </p:sp>
      <p:sp>
        <p:nvSpPr>
          <p:cNvPr id="7" name="Shape 5"/>
          <p:cNvSpPr/>
          <p:nvPr/>
        </p:nvSpPr>
        <p:spPr>
          <a:xfrm>
            <a:off x="2194560" y="2834640"/>
            <a:ext cx="7772400" cy="868680"/>
          </a:xfrm>
          <a:prstGeom prst="rect">
            <a:avLst/>
          </a:prstGeom>
          <a:solidFill>
            <a:srgbClr val="7DA552"/>
          </a:solidFill>
          <a:ln w="12700">
            <a:solidFill>
              <a:srgbClr val="7DA552"/>
            </a:solidFill>
            <a:prstDash val="solid"/>
          </a:ln>
        </p:spPr>
      </p:sp>
      <p:sp>
        <p:nvSpPr>
          <p:cNvPr id="8" name="Text 6"/>
          <p:cNvSpPr/>
          <p:nvPr/>
        </p:nvSpPr>
        <p:spPr>
          <a:xfrm>
            <a:off x="2194560" y="2926080"/>
            <a:ext cx="77724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 Resultados descriptivos</a:t>
            </a:r>
            <a:endParaRPr lang="en-US" sz="1500" dirty="0"/>
          </a:p>
        </p:txBody>
      </p:sp>
      <p:sp>
        <p:nvSpPr>
          <p:cNvPr id="9" name="Text 7"/>
          <p:cNvSpPr/>
          <p:nvPr/>
        </p:nvSpPr>
        <p:spPr>
          <a:xfrm>
            <a:off x="2194560" y="3255264"/>
            <a:ext cx="7772400" cy="411480"/>
          </a:xfrm>
          <a:prstGeom prst="rect">
            <a:avLst/>
          </a:prstGeom>
          <a:noFill/>
          <a:ln/>
        </p:spPr>
        <p:txBody>
          <a:bodyPr wrap="square" lIns="0" tIns="0" rIns="0" bIns="0" rtlCol="0" anchor="ctr"/>
          <a:lstStyle/>
          <a:p>
            <a:pPr algn="ctr" indent="0" marL="0">
              <a:buNone/>
            </a:pPr>
            <a:r>
              <a:rPr lang="en-US" sz="1150" i="1" dirty="0">
                <a:solidFill>
                  <a:srgbClr val="F7F4ED"/>
                </a:solidFill>
                <a:latin typeface="Calibri" pitchFamily="34" charset="0"/>
                <a:ea typeface="Calibri" pitchFamily="34" charset="-122"/>
                <a:cs typeface="Calibri" pitchFamily="34" charset="-120"/>
              </a:rPr>
              <a:t>Medias, medianas, frecuencias, distribuciones. Sin pruebas estadísticas aún.</a:t>
            </a:r>
            <a:endParaRPr lang="en-US" sz="1150" dirty="0"/>
          </a:p>
        </p:txBody>
      </p:sp>
      <p:sp>
        <p:nvSpPr>
          <p:cNvPr id="10" name="Shape 8"/>
          <p:cNvSpPr/>
          <p:nvPr/>
        </p:nvSpPr>
        <p:spPr>
          <a:xfrm>
            <a:off x="2880360" y="3840480"/>
            <a:ext cx="6400800" cy="868680"/>
          </a:xfrm>
          <a:prstGeom prst="rect">
            <a:avLst/>
          </a:prstGeom>
          <a:solidFill>
            <a:srgbClr val="5F8A3D"/>
          </a:solidFill>
          <a:ln w="12700">
            <a:solidFill>
              <a:srgbClr val="5F8A3D"/>
            </a:solidFill>
            <a:prstDash val="solid"/>
          </a:ln>
        </p:spPr>
      </p:sp>
      <p:sp>
        <p:nvSpPr>
          <p:cNvPr id="11" name="Text 9"/>
          <p:cNvSpPr/>
          <p:nvPr/>
        </p:nvSpPr>
        <p:spPr>
          <a:xfrm>
            <a:off x="2880360" y="3931920"/>
            <a:ext cx="64008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 Análisis inferencial</a:t>
            </a:r>
            <a:endParaRPr lang="en-US" sz="1500" dirty="0"/>
          </a:p>
        </p:txBody>
      </p:sp>
      <p:sp>
        <p:nvSpPr>
          <p:cNvPr id="12" name="Text 10"/>
          <p:cNvSpPr/>
          <p:nvPr/>
        </p:nvSpPr>
        <p:spPr>
          <a:xfrm>
            <a:off x="2880360" y="4261104"/>
            <a:ext cx="6400800" cy="411480"/>
          </a:xfrm>
          <a:prstGeom prst="rect">
            <a:avLst/>
          </a:prstGeom>
          <a:noFill/>
          <a:ln/>
        </p:spPr>
        <p:txBody>
          <a:bodyPr wrap="square" lIns="0" tIns="0" rIns="0" bIns="0" rtlCol="0" anchor="ctr"/>
          <a:lstStyle/>
          <a:p>
            <a:pPr algn="ctr" indent="0" marL="0">
              <a:buNone/>
            </a:pPr>
            <a:r>
              <a:rPr lang="en-US" sz="1150" i="1" dirty="0">
                <a:solidFill>
                  <a:srgbClr val="F7F4ED"/>
                </a:solidFill>
                <a:latin typeface="Calibri" pitchFamily="34" charset="0"/>
                <a:ea typeface="Calibri" pitchFamily="34" charset="-122"/>
                <a:cs typeface="Calibri" pitchFamily="34" charset="-120"/>
              </a:rPr>
              <a:t>Pruebas de hipótesis, modelos, comparaciones entre grupos.</a:t>
            </a:r>
            <a:endParaRPr lang="en-US" sz="1150" dirty="0"/>
          </a:p>
        </p:txBody>
      </p:sp>
      <p:sp>
        <p:nvSpPr>
          <p:cNvPr id="13" name="Shape 11"/>
          <p:cNvSpPr/>
          <p:nvPr/>
        </p:nvSpPr>
        <p:spPr>
          <a:xfrm>
            <a:off x="3566160" y="4846320"/>
            <a:ext cx="5029200" cy="868680"/>
          </a:xfrm>
          <a:prstGeom prst="rect">
            <a:avLst/>
          </a:prstGeom>
          <a:solidFill>
            <a:srgbClr val="2C5F2D"/>
          </a:solidFill>
          <a:ln w="12700">
            <a:solidFill>
              <a:srgbClr val="2C5F2D"/>
            </a:solidFill>
            <a:prstDash val="solid"/>
          </a:ln>
        </p:spPr>
      </p:sp>
      <p:sp>
        <p:nvSpPr>
          <p:cNvPr id="14" name="Text 12"/>
          <p:cNvSpPr/>
          <p:nvPr/>
        </p:nvSpPr>
        <p:spPr>
          <a:xfrm>
            <a:off x="3566160" y="4937760"/>
            <a:ext cx="5029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 Análisis complementarios</a:t>
            </a:r>
            <a:endParaRPr lang="en-US" sz="1500" dirty="0"/>
          </a:p>
        </p:txBody>
      </p:sp>
      <p:sp>
        <p:nvSpPr>
          <p:cNvPr id="15" name="Text 13"/>
          <p:cNvSpPr/>
          <p:nvPr/>
        </p:nvSpPr>
        <p:spPr>
          <a:xfrm>
            <a:off x="3566160" y="5266944"/>
            <a:ext cx="5029200" cy="411480"/>
          </a:xfrm>
          <a:prstGeom prst="rect">
            <a:avLst/>
          </a:prstGeom>
          <a:noFill/>
          <a:ln/>
        </p:spPr>
        <p:txBody>
          <a:bodyPr wrap="square" lIns="0" tIns="0" rIns="0" bIns="0" rtlCol="0" anchor="ctr"/>
          <a:lstStyle/>
          <a:p>
            <a:pPr algn="ctr" indent="0" marL="0">
              <a:buNone/>
            </a:pPr>
            <a:r>
              <a:rPr lang="en-US" sz="1150" i="1" dirty="0">
                <a:solidFill>
                  <a:srgbClr val="F7F4ED"/>
                </a:solidFill>
                <a:latin typeface="Calibri" pitchFamily="34" charset="0"/>
                <a:ea typeface="Calibri" pitchFamily="34" charset="-122"/>
                <a:cs typeface="Calibri" pitchFamily="34" charset="-120"/>
              </a:rPr>
              <a:t>Sensibilidad, subgrupos, modelos alternativos.</a:t>
            </a:r>
            <a:endParaRPr lang="en-US" sz="1150" dirty="0"/>
          </a:p>
        </p:txBody>
      </p:sp>
      <p:sp>
        <p:nvSpPr>
          <p:cNvPr id="16" name="Text 14"/>
          <p:cNvSpPr/>
          <p:nvPr/>
        </p:nvSpPr>
        <p:spPr>
          <a:xfrm>
            <a:off x="457200" y="6263640"/>
            <a:ext cx="11247120" cy="365760"/>
          </a:xfrm>
          <a:prstGeom prst="rect">
            <a:avLst/>
          </a:prstGeom>
          <a:noFill/>
          <a:ln/>
        </p:spPr>
        <p:txBody>
          <a:bodyPr wrap="square" lIns="0" tIns="0" rIns="0" bIns="0" rtlCol="0" anchor="ctr"/>
          <a:lstStyle/>
          <a:p>
            <a:pPr algn="ctr" indent="0" marL="0">
              <a:buNone/>
            </a:pPr>
            <a:r>
              <a:rPr lang="en-US" sz="1200" i="1" dirty="0">
                <a:solidFill>
                  <a:srgbClr val="2C5F2D"/>
                </a:solidFill>
                <a:latin typeface="Calibri" pitchFamily="34" charset="0"/>
                <a:ea typeface="Calibri" pitchFamily="34" charset="-122"/>
                <a:cs typeface="Calibri" pitchFamily="34" charset="-120"/>
              </a:rPr>
              <a:t>Las figuras y tablas se numeran en el orden en que aparecen en el texto — y deben coincidir con los objetivos.</a:t>
            </a:r>
            <a:endParaRPr lang="en-US" sz="1200" dirty="0"/>
          </a:p>
        </p:txBody>
      </p:sp>
      <p:sp>
        <p:nvSpPr>
          <p:cNvPr id="17" name="Text 15"/>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18" name="Text 16"/>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16 / 25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UN OBJETIVO, UNA SUBSECCIÓN</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Cómo estructurar Resultados con subapartados</a:t>
            </a:r>
            <a:endParaRPr lang="en-US" sz="3000" dirty="0"/>
          </a:p>
        </p:txBody>
      </p:sp>
      <p:sp>
        <p:nvSpPr>
          <p:cNvPr id="4" name="Text 2"/>
          <p:cNvSpPr/>
          <p:nvPr/>
        </p:nvSpPr>
        <p:spPr>
          <a:xfrm>
            <a:off x="457200" y="1691640"/>
            <a:ext cx="11247120" cy="36576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Recuerda los objetivos del caso guía</a:t>
            </a:r>
            <a:endParaRPr lang="en-US" sz="1300" dirty="0"/>
          </a:p>
        </p:txBody>
      </p:sp>
      <p:sp>
        <p:nvSpPr>
          <p:cNvPr id="5" name="Shape 3"/>
          <p:cNvSpPr/>
          <p:nvPr/>
        </p:nvSpPr>
        <p:spPr>
          <a:xfrm>
            <a:off x="457200" y="2194560"/>
            <a:ext cx="5349240" cy="1097280"/>
          </a:xfrm>
          <a:prstGeom prst="rect">
            <a:avLst/>
          </a:prstGeom>
          <a:solidFill>
            <a:srgbClr val="F7F4ED"/>
          </a:solidFill>
          <a:ln w="12700">
            <a:solidFill>
              <a:srgbClr val="D9D2C0"/>
            </a:solidFill>
            <a:prstDash val="solid"/>
          </a:ln>
        </p:spPr>
      </p:sp>
      <p:sp>
        <p:nvSpPr>
          <p:cNvPr id="6" name="Text 4"/>
          <p:cNvSpPr/>
          <p:nvPr/>
        </p:nvSpPr>
        <p:spPr>
          <a:xfrm>
            <a:off x="685800" y="2286000"/>
            <a:ext cx="4937760" cy="320040"/>
          </a:xfrm>
          <a:prstGeom prst="rect">
            <a:avLst/>
          </a:prstGeom>
          <a:noFill/>
          <a:ln/>
        </p:spPr>
        <p:txBody>
          <a:bodyPr wrap="square" lIns="0" tIns="0" rIns="0" bIns="0" rtlCol="0" anchor="ctr"/>
          <a:lstStyle/>
          <a:p>
            <a:pPr indent="0" marL="0">
              <a:buNone/>
            </a:pPr>
            <a:r>
              <a:rPr lang="en-US" sz="1100" b="1" spc="300" kern="0" dirty="0">
                <a:solidFill>
                  <a:srgbClr val="2C5F2D"/>
                </a:solidFill>
                <a:latin typeface="Calibri" pitchFamily="34" charset="0"/>
                <a:ea typeface="Calibri" pitchFamily="34" charset="-122"/>
                <a:cs typeface="Calibri" pitchFamily="34" charset="-120"/>
              </a:rPr>
              <a:t>Objetivo 1</a:t>
            </a:r>
            <a:endParaRPr lang="en-US" sz="1100" dirty="0"/>
          </a:p>
        </p:txBody>
      </p:sp>
      <p:sp>
        <p:nvSpPr>
          <p:cNvPr id="7" name="Text 5"/>
          <p:cNvSpPr/>
          <p:nvPr/>
        </p:nvSpPr>
        <p:spPr>
          <a:xfrm>
            <a:off x="685800" y="2606040"/>
            <a:ext cx="4937760" cy="64008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Aislar e identificar BAL del cacao</a:t>
            </a:r>
            <a:endParaRPr lang="en-US" sz="1300" dirty="0"/>
          </a:p>
        </p:txBody>
      </p:sp>
      <p:sp>
        <p:nvSpPr>
          <p:cNvPr id="8" name="Text 6"/>
          <p:cNvSpPr/>
          <p:nvPr/>
        </p:nvSpPr>
        <p:spPr>
          <a:xfrm>
            <a:off x="5897880" y="2377440"/>
            <a:ext cx="457200" cy="731520"/>
          </a:xfrm>
          <a:prstGeom prst="rect">
            <a:avLst/>
          </a:prstGeom>
          <a:noFill/>
          <a:ln/>
        </p:spPr>
        <p:txBody>
          <a:bodyPr wrap="square" lIns="0" tIns="0" rIns="0" bIns="0" rtlCol="0" anchor="ctr"/>
          <a:lstStyle/>
          <a:p>
            <a:pPr algn="ctr" indent="0" marL="0">
              <a:buNone/>
            </a:pPr>
            <a:r>
              <a:rPr lang="en-US" sz="3600" b="1" dirty="0">
                <a:solidFill>
                  <a:srgbClr val="97BC62"/>
                </a:solidFill>
                <a:latin typeface="Georgia" pitchFamily="34" charset="0"/>
                <a:ea typeface="Georgia" pitchFamily="34" charset="-122"/>
                <a:cs typeface="Georgia" pitchFamily="34" charset="-120"/>
              </a:rPr>
              <a:t>→</a:t>
            </a:r>
            <a:endParaRPr lang="en-US" sz="3600" dirty="0"/>
          </a:p>
        </p:txBody>
      </p:sp>
      <p:sp>
        <p:nvSpPr>
          <p:cNvPr id="9" name="Shape 7"/>
          <p:cNvSpPr/>
          <p:nvPr/>
        </p:nvSpPr>
        <p:spPr>
          <a:xfrm>
            <a:off x="6446520" y="2194560"/>
            <a:ext cx="5257800" cy="1097280"/>
          </a:xfrm>
          <a:prstGeom prst="rect">
            <a:avLst/>
          </a:prstGeom>
          <a:solidFill>
            <a:srgbClr val="1F3A2E"/>
          </a:solidFill>
          <a:ln w="12700">
            <a:solidFill>
              <a:srgbClr val="1F3A2E"/>
            </a:solidFill>
            <a:prstDash val="solid"/>
          </a:ln>
        </p:spPr>
      </p:sp>
      <p:sp>
        <p:nvSpPr>
          <p:cNvPr id="10" name="Text 8"/>
          <p:cNvSpPr/>
          <p:nvPr/>
        </p:nvSpPr>
        <p:spPr>
          <a:xfrm>
            <a:off x="6675120" y="2286000"/>
            <a:ext cx="4846320" cy="320040"/>
          </a:xfrm>
          <a:prstGeom prst="rect">
            <a:avLst/>
          </a:prstGeom>
          <a:noFill/>
          <a:ln/>
        </p:spPr>
        <p:txBody>
          <a:bodyPr wrap="square" lIns="0" tIns="0" rIns="0" bIns="0" rtlCol="0" anchor="ctr"/>
          <a:lstStyle/>
          <a:p>
            <a:pPr indent="0" marL="0">
              <a:buNone/>
            </a:pPr>
            <a:r>
              <a:rPr lang="en-US" sz="1100" b="1" spc="300" kern="0" dirty="0">
                <a:solidFill>
                  <a:srgbClr val="97BC62"/>
                </a:solidFill>
                <a:latin typeface="Calibri" pitchFamily="34" charset="0"/>
                <a:ea typeface="Calibri" pitchFamily="34" charset="-122"/>
                <a:cs typeface="Calibri" pitchFamily="34" charset="-120"/>
              </a:rPr>
              <a:t>Subsección de Resultados</a:t>
            </a:r>
            <a:endParaRPr lang="en-US" sz="1100" dirty="0"/>
          </a:p>
        </p:txBody>
      </p:sp>
      <p:sp>
        <p:nvSpPr>
          <p:cNvPr id="11" name="Text 9"/>
          <p:cNvSpPr/>
          <p:nvPr/>
        </p:nvSpPr>
        <p:spPr>
          <a:xfrm>
            <a:off x="6675120" y="2606040"/>
            <a:ext cx="4846320" cy="640080"/>
          </a:xfrm>
          <a:prstGeom prst="rect">
            <a:avLst/>
          </a:prstGeom>
          <a:noFill/>
          <a:ln/>
        </p:spPr>
        <p:txBody>
          <a:bodyPr wrap="square" lIns="0" tIns="0" rIns="0" bIns="0" rtlCol="0" anchor="ctr"/>
          <a:lstStyle/>
          <a:p>
            <a:pPr indent="0" marL="0">
              <a:lnSpc>
                <a:spcPct val="115000"/>
              </a:lnSpc>
              <a:buNone/>
            </a:pPr>
            <a:r>
              <a:rPr lang="en-US" sz="1400" i="1" dirty="0">
                <a:solidFill>
                  <a:srgbClr val="FFFFFF"/>
                </a:solidFill>
                <a:latin typeface="Georgia" pitchFamily="34" charset="0"/>
                <a:ea typeface="Georgia" pitchFamily="34" charset="-122"/>
                <a:cs typeface="Georgia" pitchFamily="34" charset="-120"/>
              </a:rPr>
              <a:t>3.1 Aislamiento e identificación molecular</a:t>
            </a:r>
            <a:endParaRPr lang="en-US" sz="1400" dirty="0"/>
          </a:p>
        </p:txBody>
      </p:sp>
      <p:sp>
        <p:nvSpPr>
          <p:cNvPr id="12" name="Shape 10"/>
          <p:cNvSpPr/>
          <p:nvPr/>
        </p:nvSpPr>
        <p:spPr>
          <a:xfrm>
            <a:off x="457200" y="3520440"/>
            <a:ext cx="5349240" cy="1097280"/>
          </a:xfrm>
          <a:prstGeom prst="rect">
            <a:avLst/>
          </a:prstGeom>
          <a:solidFill>
            <a:srgbClr val="F7F4ED"/>
          </a:solidFill>
          <a:ln w="12700">
            <a:solidFill>
              <a:srgbClr val="D9D2C0"/>
            </a:solidFill>
            <a:prstDash val="solid"/>
          </a:ln>
        </p:spPr>
      </p:sp>
      <p:sp>
        <p:nvSpPr>
          <p:cNvPr id="13" name="Text 11"/>
          <p:cNvSpPr/>
          <p:nvPr/>
        </p:nvSpPr>
        <p:spPr>
          <a:xfrm>
            <a:off x="685800" y="3611880"/>
            <a:ext cx="4937760" cy="320040"/>
          </a:xfrm>
          <a:prstGeom prst="rect">
            <a:avLst/>
          </a:prstGeom>
          <a:noFill/>
          <a:ln/>
        </p:spPr>
        <p:txBody>
          <a:bodyPr wrap="square" lIns="0" tIns="0" rIns="0" bIns="0" rtlCol="0" anchor="ctr"/>
          <a:lstStyle/>
          <a:p>
            <a:pPr indent="0" marL="0">
              <a:buNone/>
            </a:pPr>
            <a:r>
              <a:rPr lang="en-US" sz="1100" b="1" spc="300" kern="0" dirty="0">
                <a:solidFill>
                  <a:srgbClr val="2C5F2D"/>
                </a:solidFill>
                <a:latin typeface="Calibri" pitchFamily="34" charset="0"/>
                <a:ea typeface="Calibri" pitchFamily="34" charset="-122"/>
                <a:cs typeface="Calibri" pitchFamily="34" charset="-120"/>
              </a:rPr>
              <a:t>Objetivo 2</a:t>
            </a:r>
            <a:endParaRPr lang="en-US" sz="1100" dirty="0"/>
          </a:p>
        </p:txBody>
      </p:sp>
      <p:sp>
        <p:nvSpPr>
          <p:cNvPr id="14" name="Text 12"/>
          <p:cNvSpPr/>
          <p:nvPr/>
        </p:nvSpPr>
        <p:spPr>
          <a:xfrm>
            <a:off x="685800" y="3931920"/>
            <a:ext cx="4937760" cy="64008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Evaluar tolerancia a pH y sales biliares</a:t>
            </a:r>
            <a:endParaRPr lang="en-US" sz="1300" dirty="0"/>
          </a:p>
        </p:txBody>
      </p:sp>
      <p:sp>
        <p:nvSpPr>
          <p:cNvPr id="15" name="Text 13"/>
          <p:cNvSpPr/>
          <p:nvPr/>
        </p:nvSpPr>
        <p:spPr>
          <a:xfrm>
            <a:off x="5897880" y="3703320"/>
            <a:ext cx="457200" cy="731520"/>
          </a:xfrm>
          <a:prstGeom prst="rect">
            <a:avLst/>
          </a:prstGeom>
          <a:noFill/>
          <a:ln/>
        </p:spPr>
        <p:txBody>
          <a:bodyPr wrap="square" lIns="0" tIns="0" rIns="0" bIns="0" rtlCol="0" anchor="ctr"/>
          <a:lstStyle/>
          <a:p>
            <a:pPr algn="ctr" indent="0" marL="0">
              <a:buNone/>
            </a:pPr>
            <a:r>
              <a:rPr lang="en-US" sz="3600" b="1" dirty="0">
                <a:solidFill>
                  <a:srgbClr val="97BC62"/>
                </a:solidFill>
                <a:latin typeface="Georgia" pitchFamily="34" charset="0"/>
                <a:ea typeface="Georgia" pitchFamily="34" charset="-122"/>
                <a:cs typeface="Georgia" pitchFamily="34" charset="-120"/>
              </a:rPr>
              <a:t>→</a:t>
            </a:r>
            <a:endParaRPr lang="en-US" sz="3600" dirty="0"/>
          </a:p>
        </p:txBody>
      </p:sp>
      <p:sp>
        <p:nvSpPr>
          <p:cNvPr id="16" name="Shape 14"/>
          <p:cNvSpPr/>
          <p:nvPr/>
        </p:nvSpPr>
        <p:spPr>
          <a:xfrm>
            <a:off x="6446520" y="3520440"/>
            <a:ext cx="5257800" cy="1097280"/>
          </a:xfrm>
          <a:prstGeom prst="rect">
            <a:avLst/>
          </a:prstGeom>
          <a:solidFill>
            <a:srgbClr val="1F3A2E"/>
          </a:solidFill>
          <a:ln w="12700">
            <a:solidFill>
              <a:srgbClr val="1F3A2E"/>
            </a:solidFill>
            <a:prstDash val="solid"/>
          </a:ln>
        </p:spPr>
      </p:sp>
      <p:sp>
        <p:nvSpPr>
          <p:cNvPr id="17" name="Text 15"/>
          <p:cNvSpPr/>
          <p:nvPr/>
        </p:nvSpPr>
        <p:spPr>
          <a:xfrm>
            <a:off x="6675120" y="3611880"/>
            <a:ext cx="4846320" cy="320040"/>
          </a:xfrm>
          <a:prstGeom prst="rect">
            <a:avLst/>
          </a:prstGeom>
          <a:noFill/>
          <a:ln/>
        </p:spPr>
        <p:txBody>
          <a:bodyPr wrap="square" lIns="0" tIns="0" rIns="0" bIns="0" rtlCol="0" anchor="ctr"/>
          <a:lstStyle/>
          <a:p>
            <a:pPr indent="0" marL="0">
              <a:buNone/>
            </a:pPr>
            <a:r>
              <a:rPr lang="en-US" sz="1100" b="1" spc="300" kern="0" dirty="0">
                <a:solidFill>
                  <a:srgbClr val="97BC62"/>
                </a:solidFill>
                <a:latin typeface="Calibri" pitchFamily="34" charset="0"/>
                <a:ea typeface="Calibri" pitchFamily="34" charset="-122"/>
                <a:cs typeface="Calibri" pitchFamily="34" charset="-120"/>
              </a:rPr>
              <a:t>Subsección de Resultados</a:t>
            </a:r>
            <a:endParaRPr lang="en-US" sz="1100" dirty="0"/>
          </a:p>
        </p:txBody>
      </p:sp>
      <p:sp>
        <p:nvSpPr>
          <p:cNvPr id="18" name="Text 16"/>
          <p:cNvSpPr/>
          <p:nvPr/>
        </p:nvSpPr>
        <p:spPr>
          <a:xfrm>
            <a:off x="6675120" y="3931920"/>
            <a:ext cx="4846320" cy="640080"/>
          </a:xfrm>
          <a:prstGeom prst="rect">
            <a:avLst/>
          </a:prstGeom>
          <a:noFill/>
          <a:ln/>
        </p:spPr>
        <p:txBody>
          <a:bodyPr wrap="square" lIns="0" tIns="0" rIns="0" bIns="0" rtlCol="0" anchor="ctr"/>
          <a:lstStyle/>
          <a:p>
            <a:pPr indent="0" marL="0">
              <a:lnSpc>
                <a:spcPct val="115000"/>
              </a:lnSpc>
              <a:buNone/>
            </a:pPr>
            <a:r>
              <a:rPr lang="en-US" sz="1400" i="1" dirty="0">
                <a:solidFill>
                  <a:srgbClr val="FFFFFF"/>
                </a:solidFill>
                <a:latin typeface="Georgia" pitchFamily="34" charset="0"/>
                <a:ea typeface="Georgia" pitchFamily="34" charset="-122"/>
                <a:cs typeface="Georgia" pitchFamily="34" charset="-120"/>
              </a:rPr>
              <a:t>3.2 Caracterización del potencial probiótico</a:t>
            </a:r>
            <a:endParaRPr lang="en-US" sz="1400" dirty="0"/>
          </a:p>
        </p:txBody>
      </p:sp>
      <p:sp>
        <p:nvSpPr>
          <p:cNvPr id="19" name="Shape 17"/>
          <p:cNvSpPr/>
          <p:nvPr/>
        </p:nvSpPr>
        <p:spPr>
          <a:xfrm>
            <a:off x="457200" y="4846320"/>
            <a:ext cx="5349240" cy="1097280"/>
          </a:xfrm>
          <a:prstGeom prst="rect">
            <a:avLst/>
          </a:prstGeom>
          <a:solidFill>
            <a:srgbClr val="F7F4ED"/>
          </a:solidFill>
          <a:ln w="12700">
            <a:solidFill>
              <a:srgbClr val="D9D2C0"/>
            </a:solidFill>
            <a:prstDash val="solid"/>
          </a:ln>
        </p:spPr>
      </p:sp>
      <p:sp>
        <p:nvSpPr>
          <p:cNvPr id="20" name="Text 18"/>
          <p:cNvSpPr/>
          <p:nvPr/>
        </p:nvSpPr>
        <p:spPr>
          <a:xfrm>
            <a:off x="685800" y="4937760"/>
            <a:ext cx="4937760" cy="320040"/>
          </a:xfrm>
          <a:prstGeom prst="rect">
            <a:avLst/>
          </a:prstGeom>
          <a:noFill/>
          <a:ln/>
        </p:spPr>
        <p:txBody>
          <a:bodyPr wrap="square" lIns="0" tIns="0" rIns="0" bIns="0" rtlCol="0" anchor="ctr"/>
          <a:lstStyle/>
          <a:p>
            <a:pPr indent="0" marL="0">
              <a:buNone/>
            </a:pPr>
            <a:r>
              <a:rPr lang="en-US" sz="1100" b="1" spc="300" kern="0" dirty="0">
                <a:solidFill>
                  <a:srgbClr val="2C5F2D"/>
                </a:solidFill>
                <a:latin typeface="Calibri" pitchFamily="34" charset="0"/>
                <a:ea typeface="Calibri" pitchFamily="34" charset="-122"/>
                <a:cs typeface="Calibri" pitchFamily="34" charset="-120"/>
              </a:rPr>
              <a:t>Objetivo 3</a:t>
            </a:r>
            <a:endParaRPr lang="en-US" sz="1100" dirty="0"/>
          </a:p>
        </p:txBody>
      </p:sp>
      <p:sp>
        <p:nvSpPr>
          <p:cNvPr id="21" name="Text 19"/>
          <p:cNvSpPr/>
          <p:nvPr/>
        </p:nvSpPr>
        <p:spPr>
          <a:xfrm>
            <a:off x="685800" y="5257800"/>
            <a:ext cx="4937760" cy="64008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Detectar producción de bacteriocinas</a:t>
            </a:r>
            <a:endParaRPr lang="en-US" sz="1300" dirty="0"/>
          </a:p>
        </p:txBody>
      </p:sp>
      <p:sp>
        <p:nvSpPr>
          <p:cNvPr id="22" name="Text 20"/>
          <p:cNvSpPr/>
          <p:nvPr/>
        </p:nvSpPr>
        <p:spPr>
          <a:xfrm>
            <a:off x="5897880" y="5029200"/>
            <a:ext cx="457200" cy="731520"/>
          </a:xfrm>
          <a:prstGeom prst="rect">
            <a:avLst/>
          </a:prstGeom>
          <a:noFill/>
          <a:ln/>
        </p:spPr>
        <p:txBody>
          <a:bodyPr wrap="square" lIns="0" tIns="0" rIns="0" bIns="0" rtlCol="0" anchor="ctr"/>
          <a:lstStyle/>
          <a:p>
            <a:pPr algn="ctr" indent="0" marL="0">
              <a:buNone/>
            </a:pPr>
            <a:r>
              <a:rPr lang="en-US" sz="3600" b="1" dirty="0">
                <a:solidFill>
                  <a:srgbClr val="97BC62"/>
                </a:solidFill>
                <a:latin typeface="Georgia" pitchFamily="34" charset="0"/>
                <a:ea typeface="Georgia" pitchFamily="34" charset="-122"/>
                <a:cs typeface="Georgia" pitchFamily="34" charset="-120"/>
              </a:rPr>
              <a:t>→</a:t>
            </a:r>
            <a:endParaRPr lang="en-US" sz="3600" dirty="0"/>
          </a:p>
        </p:txBody>
      </p:sp>
      <p:sp>
        <p:nvSpPr>
          <p:cNvPr id="23" name="Shape 21"/>
          <p:cNvSpPr/>
          <p:nvPr/>
        </p:nvSpPr>
        <p:spPr>
          <a:xfrm>
            <a:off x="6446520" y="4846320"/>
            <a:ext cx="5257800" cy="1097280"/>
          </a:xfrm>
          <a:prstGeom prst="rect">
            <a:avLst/>
          </a:prstGeom>
          <a:solidFill>
            <a:srgbClr val="1F3A2E"/>
          </a:solidFill>
          <a:ln w="12700">
            <a:solidFill>
              <a:srgbClr val="1F3A2E"/>
            </a:solidFill>
            <a:prstDash val="solid"/>
          </a:ln>
        </p:spPr>
      </p:sp>
      <p:sp>
        <p:nvSpPr>
          <p:cNvPr id="24" name="Text 22"/>
          <p:cNvSpPr/>
          <p:nvPr/>
        </p:nvSpPr>
        <p:spPr>
          <a:xfrm>
            <a:off x="6675120" y="4937760"/>
            <a:ext cx="4846320" cy="320040"/>
          </a:xfrm>
          <a:prstGeom prst="rect">
            <a:avLst/>
          </a:prstGeom>
          <a:noFill/>
          <a:ln/>
        </p:spPr>
        <p:txBody>
          <a:bodyPr wrap="square" lIns="0" tIns="0" rIns="0" bIns="0" rtlCol="0" anchor="ctr"/>
          <a:lstStyle/>
          <a:p>
            <a:pPr indent="0" marL="0">
              <a:buNone/>
            </a:pPr>
            <a:r>
              <a:rPr lang="en-US" sz="1100" b="1" spc="300" kern="0" dirty="0">
                <a:solidFill>
                  <a:srgbClr val="97BC62"/>
                </a:solidFill>
                <a:latin typeface="Calibri" pitchFamily="34" charset="0"/>
                <a:ea typeface="Calibri" pitchFamily="34" charset="-122"/>
                <a:cs typeface="Calibri" pitchFamily="34" charset="-120"/>
              </a:rPr>
              <a:t>Subsección de Resultados</a:t>
            </a:r>
            <a:endParaRPr lang="en-US" sz="1100" dirty="0"/>
          </a:p>
        </p:txBody>
      </p:sp>
      <p:sp>
        <p:nvSpPr>
          <p:cNvPr id="25" name="Text 23"/>
          <p:cNvSpPr/>
          <p:nvPr/>
        </p:nvSpPr>
        <p:spPr>
          <a:xfrm>
            <a:off x="6675120" y="5257800"/>
            <a:ext cx="4846320" cy="640080"/>
          </a:xfrm>
          <a:prstGeom prst="rect">
            <a:avLst/>
          </a:prstGeom>
          <a:noFill/>
          <a:ln/>
        </p:spPr>
        <p:txBody>
          <a:bodyPr wrap="square" lIns="0" tIns="0" rIns="0" bIns="0" rtlCol="0" anchor="ctr"/>
          <a:lstStyle/>
          <a:p>
            <a:pPr indent="0" marL="0">
              <a:lnSpc>
                <a:spcPct val="115000"/>
              </a:lnSpc>
              <a:buNone/>
            </a:pPr>
            <a:r>
              <a:rPr lang="en-US" sz="1400" i="1" dirty="0">
                <a:solidFill>
                  <a:srgbClr val="FFFFFF"/>
                </a:solidFill>
                <a:latin typeface="Georgia" pitchFamily="34" charset="0"/>
                <a:ea typeface="Georgia" pitchFamily="34" charset="-122"/>
                <a:cs typeface="Georgia" pitchFamily="34" charset="-120"/>
              </a:rPr>
              <a:t>3.3 Actividad antimicrobiana</a:t>
            </a:r>
            <a:endParaRPr lang="en-US" sz="1400" dirty="0"/>
          </a:p>
        </p:txBody>
      </p:sp>
      <p:sp>
        <p:nvSpPr>
          <p:cNvPr id="26" name="Text 24"/>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27" name="Text 25"/>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17 / 25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REPORTE DE ESTADÍSTICOS</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Cómo presentar los números correctamente</a:t>
            </a:r>
            <a:endParaRPr lang="en-US" sz="3000" dirty="0"/>
          </a:p>
        </p:txBody>
      </p:sp>
      <p:sp>
        <p:nvSpPr>
          <p:cNvPr id="4" name="Shape 2"/>
          <p:cNvSpPr/>
          <p:nvPr/>
        </p:nvSpPr>
        <p:spPr>
          <a:xfrm>
            <a:off x="457200" y="1783080"/>
            <a:ext cx="2926080" cy="457200"/>
          </a:xfrm>
          <a:prstGeom prst="rect">
            <a:avLst/>
          </a:prstGeom>
          <a:solidFill>
            <a:srgbClr val="2C5F2D"/>
          </a:solidFill>
          <a:ln w="12700">
            <a:solidFill>
              <a:srgbClr val="2C5F2D"/>
            </a:solidFill>
            <a:prstDash val="solid"/>
          </a:ln>
        </p:spPr>
      </p:sp>
      <p:sp>
        <p:nvSpPr>
          <p:cNvPr id="5" name="Text 3"/>
          <p:cNvSpPr/>
          <p:nvPr/>
        </p:nvSpPr>
        <p:spPr>
          <a:xfrm>
            <a:off x="548640" y="1783080"/>
            <a:ext cx="274320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Estadístico</a:t>
            </a:r>
            <a:endParaRPr lang="en-US" sz="1200" dirty="0"/>
          </a:p>
        </p:txBody>
      </p:sp>
      <p:sp>
        <p:nvSpPr>
          <p:cNvPr id="6" name="Shape 4"/>
          <p:cNvSpPr/>
          <p:nvPr/>
        </p:nvSpPr>
        <p:spPr>
          <a:xfrm>
            <a:off x="3383280" y="1783080"/>
            <a:ext cx="4572000" cy="457200"/>
          </a:xfrm>
          <a:prstGeom prst="rect">
            <a:avLst/>
          </a:prstGeom>
          <a:solidFill>
            <a:srgbClr val="2C5F2D"/>
          </a:solidFill>
          <a:ln w="12700">
            <a:solidFill>
              <a:srgbClr val="2C5F2D"/>
            </a:solidFill>
            <a:prstDash val="solid"/>
          </a:ln>
        </p:spPr>
      </p:sp>
      <p:sp>
        <p:nvSpPr>
          <p:cNvPr id="7" name="Text 5"/>
          <p:cNvSpPr/>
          <p:nvPr/>
        </p:nvSpPr>
        <p:spPr>
          <a:xfrm>
            <a:off x="3474720" y="1783080"/>
            <a:ext cx="43891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Formato correcto</a:t>
            </a:r>
            <a:endParaRPr lang="en-US" sz="1200" dirty="0"/>
          </a:p>
        </p:txBody>
      </p:sp>
      <p:sp>
        <p:nvSpPr>
          <p:cNvPr id="8" name="Shape 6"/>
          <p:cNvSpPr/>
          <p:nvPr/>
        </p:nvSpPr>
        <p:spPr>
          <a:xfrm>
            <a:off x="7955280" y="1783080"/>
            <a:ext cx="3749040" cy="457200"/>
          </a:xfrm>
          <a:prstGeom prst="rect">
            <a:avLst/>
          </a:prstGeom>
          <a:solidFill>
            <a:srgbClr val="2C5F2D"/>
          </a:solidFill>
          <a:ln w="12700">
            <a:solidFill>
              <a:srgbClr val="2C5F2D"/>
            </a:solidFill>
            <a:prstDash val="solid"/>
          </a:ln>
        </p:spPr>
      </p:sp>
      <p:sp>
        <p:nvSpPr>
          <p:cNvPr id="9" name="Text 7"/>
          <p:cNvSpPr/>
          <p:nvPr/>
        </p:nvSpPr>
        <p:spPr>
          <a:xfrm>
            <a:off x="8046720" y="1783080"/>
            <a:ext cx="356616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Cuándo reportarlo</a:t>
            </a:r>
            <a:endParaRPr lang="en-US" sz="1200" dirty="0"/>
          </a:p>
        </p:txBody>
      </p:sp>
      <p:sp>
        <p:nvSpPr>
          <p:cNvPr id="10" name="Shape 8"/>
          <p:cNvSpPr/>
          <p:nvPr/>
        </p:nvSpPr>
        <p:spPr>
          <a:xfrm>
            <a:off x="457200" y="2240280"/>
            <a:ext cx="2926080" cy="566928"/>
          </a:xfrm>
          <a:prstGeom prst="rect">
            <a:avLst/>
          </a:prstGeom>
          <a:solidFill>
            <a:srgbClr val="F7F4ED"/>
          </a:solidFill>
          <a:ln w="6350">
            <a:solidFill>
              <a:srgbClr val="D9D2C0"/>
            </a:solidFill>
            <a:prstDash val="solid"/>
          </a:ln>
        </p:spPr>
      </p:sp>
      <p:sp>
        <p:nvSpPr>
          <p:cNvPr id="11" name="Text 9"/>
          <p:cNvSpPr/>
          <p:nvPr/>
        </p:nvSpPr>
        <p:spPr>
          <a:xfrm>
            <a:off x="548640" y="2240280"/>
            <a:ext cx="2743200" cy="566928"/>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Media y DE</a:t>
            </a:r>
            <a:endParaRPr lang="en-US" sz="1150" dirty="0"/>
          </a:p>
        </p:txBody>
      </p:sp>
      <p:sp>
        <p:nvSpPr>
          <p:cNvPr id="12" name="Shape 10"/>
          <p:cNvSpPr/>
          <p:nvPr/>
        </p:nvSpPr>
        <p:spPr>
          <a:xfrm>
            <a:off x="3383280" y="2240280"/>
            <a:ext cx="4572000" cy="566928"/>
          </a:xfrm>
          <a:prstGeom prst="rect">
            <a:avLst/>
          </a:prstGeom>
          <a:solidFill>
            <a:srgbClr val="F7F4ED"/>
          </a:solidFill>
          <a:ln w="6350">
            <a:solidFill>
              <a:srgbClr val="D9D2C0"/>
            </a:solidFill>
            <a:prstDash val="solid"/>
          </a:ln>
        </p:spPr>
      </p:sp>
      <p:sp>
        <p:nvSpPr>
          <p:cNvPr id="13" name="Text 11"/>
          <p:cNvSpPr/>
          <p:nvPr/>
        </p:nvSpPr>
        <p:spPr>
          <a:xfrm>
            <a:off x="3474720" y="2240280"/>
            <a:ext cx="4389120" cy="566928"/>
          </a:xfrm>
          <a:prstGeom prst="rect">
            <a:avLst/>
          </a:prstGeom>
          <a:noFill/>
          <a:ln/>
        </p:spPr>
        <p:txBody>
          <a:bodyPr wrap="square" lIns="0" tIns="0" rIns="0" bIns="0" rtlCol="0" anchor="ctr"/>
          <a:lstStyle/>
          <a:p>
            <a:pPr indent="0" marL="0">
              <a:buNone/>
            </a:pPr>
            <a:r>
              <a:rPr lang="en-US" sz="1150" i="1" dirty="0">
                <a:solidFill>
                  <a:srgbClr val="1A1A1A"/>
                </a:solidFill>
                <a:latin typeface="Georgia" pitchFamily="34" charset="0"/>
                <a:ea typeface="Georgia" pitchFamily="34" charset="-122"/>
                <a:cs typeface="Georgia" pitchFamily="34" charset="-120"/>
              </a:rPr>
              <a:t>4.70 ± 0.32 (n = 5)</a:t>
            </a:r>
            <a:endParaRPr lang="en-US" sz="1150" dirty="0"/>
          </a:p>
        </p:txBody>
      </p:sp>
      <p:sp>
        <p:nvSpPr>
          <p:cNvPr id="14" name="Shape 12"/>
          <p:cNvSpPr/>
          <p:nvPr/>
        </p:nvSpPr>
        <p:spPr>
          <a:xfrm>
            <a:off x="7955280" y="2240280"/>
            <a:ext cx="3749040" cy="566928"/>
          </a:xfrm>
          <a:prstGeom prst="rect">
            <a:avLst/>
          </a:prstGeom>
          <a:solidFill>
            <a:srgbClr val="F7F4ED"/>
          </a:solidFill>
          <a:ln w="6350">
            <a:solidFill>
              <a:srgbClr val="D9D2C0"/>
            </a:solidFill>
            <a:prstDash val="solid"/>
          </a:ln>
        </p:spPr>
      </p:sp>
      <p:sp>
        <p:nvSpPr>
          <p:cNvPr id="15" name="Text 13"/>
          <p:cNvSpPr/>
          <p:nvPr/>
        </p:nvSpPr>
        <p:spPr>
          <a:xfrm>
            <a:off x="8046720" y="2240280"/>
            <a:ext cx="3566160" cy="566928"/>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Datos continuos descriptivos</a:t>
            </a:r>
            <a:endParaRPr lang="en-US" sz="1150" dirty="0"/>
          </a:p>
        </p:txBody>
      </p:sp>
      <p:sp>
        <p:nvSpPr>
          <p:cNvPr id="16" name="Shape 14"/>
          <p:cNvSpPr/>
          <p:nvPr/>
        </p:nvSpPr>
        <p:spPr>
          <a:xfrm>
            <a:off x="457200" y="2807208"/>
            <a:ext cx="2926080" cy="566928"/>
          </a:xfrm>
          <a:prstGeom prst="rect">
            <a:avLst/>
          </a:prstGeom>
          <a:solidFill>
            <a:srgbClr val="FFFFFF"/>
          </a:solidFill>
          <a:ln w="6350">
            <a:solidFill>
              <a:srgbClr val="D9D2C0"/>
            </a:solidFill>
            <a:prstDash val="solid"/>
          </a:ln>
        </p:spPr>
      </p:sp>
      <p:sp>
        <p:nvSpPr>
          <p:cNvPr id="17" name="Text 15"/>
          <p:cNvSpPr/>
          <p:nvPr/>
        </p:nvSpPr>
        <p:spPr>
          <a:xfrm>
            <a:off x="548640" y="2807208"/>
            <a:ext cx="2743200" cy="566928"/>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Mediana e IQR</a:t>
            </a:r>
            <a:endParaRPr lang="en-US" sz="1150" dirty="0"/>
          </a:p>
        </p:txBody>
      </p:sp>
      <p:sp>
        <p:nvSpPr>
          <p:cNvPr id="18" name="Shape 16"/>
          <p:cNvSpPr/>
          <p:nvPr/>
        </p:nvSpPr>
        <p:spPr>
          <a:xfrm>
            <a:off x="3383280" y="2807208"/>
            <a:ext cx="4572000" cy="566928"/>
          </a:xfrm>
          <a:prstGeom prst="rect">
            <a:avLst/>
          </a:prstGeom>
          <a:solidFill>
            <a:srgbClr val="FFFFFF"/>
          </a:solidFill>
          <a:ln w="6350">
            <a:solidFill>
              <a:srgbClr val="D9D2C0"/>
            </a:solidFill>
            <a:prstDash val="solid"/>
          </a:ln>
        </p:spPr>
      </p:sp>
      <p:sp>
        <p:nvSpPr>
          <p:cNvPr id="19" name="Text 17"/>
          <p:cNvSpPr/>
          <p:nvPr/>
        </p:nvSpPr>
        <p:spPr>
          <a:xfrm>
            <a:off x="3474720" y="2807208"/>
            <a:ext cx="4389120" cy="566928"/>
          </a:xfrm>
          <a:prstGeom prst="rect">
            <a:avLst/>
          </a:prstGeom>
          <a:noFill/>
          <a:ln/>
        </p:spPr>
        <p:txBody>
          <a:bodyPr wrap="square" lIns="0" tIns="0" rIns="0" bIns="0" rtlCol="0" anchor="ctr"/>
          <a:lstStyle/>
          <a:p>
            <a:pPr indent="0" marL="0">
              <a:buNone/>
            </a:pPr>
            <a:r>
              <a:rPr lang="en-US" sz="1150" i="1" dirty="0">
                <a:solidFill>
                  <a:srgbClr val="1A1A1A"/>
                </a:solidFill>
                <a:latin typeface="Georgia" pitchFamily="34" charset="0"/>
                <a:ea typeface="Georgia" pitchFamily="34" charset="-122"/>
                <a:cs typeface="Georgia" pitchFamily="34" charset="-120"/>
              </a:rPr>
              <a:t>12.5 [10.1 – 14.8]</a:t>
            </a:r>
            <a:endParaRPr lang="en-US" sz="1150" dirty="0"/>
          </a:p>
        </p:txBody>
      </p:sp>
      <p:sp>
        <p:nvSpPr>
          <p:cNvPr id="20" name="Shape 18"/>
          <p:cNvSpPr/>
          <p:nvPr/>
        </p:nvSpPr>
        <p:spPr>
          <a:xfrm>
            <a:off x="7955280" y="2807208"/>
            <a:ext cx="3749040" cy="566928"/>
          </a:xfrm>
          <a:prstGeom prst="rect">
            <a:avLst/>
          </a:prstGeom>
          <a:solidFill>
            <a:srgbClr val="FFFFFF"/>
          </a:solidFill>
          <a:ln w="6350">
            <a:solidFill>
              <a:srgbClr val="D9D2C0"/>
            </a:solidFill>
            <a:prstDash val="solid"/>
          </a:ln>
        </p:spPr>
      </p:sp>
      <p:sp>
        <p:nvSpPr>
          <p:cNvPr id="21" name="Text 19"/>
          <p:cNvSpPr/>
          <p:nvPr/>
        </p:nvSpPr>
        <p:spPr>
          <a:xfrm>
            <a:off x="8046720" y="2807208"/>
            <a:ext cx="3566160" cy="566928"/>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Datos no normales o sesgados</a:t>
            </a:r>
            <a:endParaRPr lang="en-US" sz="1150" dirty="0"/>
          </a:p>
        </p:txBody>
      </p:sp>
      <p:sp>
        <p:nvSpPr>
          <p:cNvPr id="22" name="Shape 20"/>
          <p:cNvSpPr/>
          <p:nvPr/>
        </p:nvSpPr>
        <p:spPr>
          <a:xfrm>
            <a:off x="457200" y="3374136"/>
            <a:ext cx="2926080" cy="566928"/>
          </a:xfrm>
          <a:prstGeom prst="rect">
            <a:avLst/>
          </a:prstGeom>
          <a:solidFill>
            <a:srgbClr val="F7F4ED"/>
          </a:solidFill>
          <a:ln w="6350">
            <a:solidFill>
              <a:srgbClr val="D9D2C0"/>
            </a:solidFill>
            <a:prstDash val="solid"/>
          </a:ln>
        </p:spPr>
      </p:sp>
      <p:sp>
        <p:nvSpPr>
          <p:cNvPr id="23" name="Text 21"/>
          <p:cNvSpPr/>
          <p:nvPr/>
        </p:nvSpPr>
        <p:spPr>
          <a:xfrm>
            <a:off x="548640" y="3374136"/>
            <a:ext cx="2743200" cy="566928"/>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ANOVA</a:t>
            </a:r>
            <a:endParaRPr lang="en-US" sz="1150" dirty="0"/>
          </a:p>
        </p:txBody>
      </p:sp>
      <p:sp>
        <p:nvSpPr>
          <p:cNvPr id="24" name="Shape 22"/>
          <p:cNvSpPr/>
          <p:nvPr/>
        </p:nvSpPr>
        <p:spPr>
          <a:xfrm>
            <a:off x="3383280" y="3374136"/>
            <a:ext cx="4572000" cy="566928"/>
          </a:xfrm>
          <a:prstGeom prst="rect">
            <a:avLst/>
          </a:prstGeom>
          <a:solidFill>
            <a:srgbClr val="F7F4ED"/>
          </a:solidFill>
          <a:ln w="6350">
            <a:solidFill>
              <a:srgbClr val="D9D2C0"/>
            </a:solidFill>
            <a:prstDash val="solid"/>
          </a:ln>
        </p:spPr>
      </p:sp>
      <p:sp>
        <p:nvSpPr>
          <p:cNvPr id="25" name="Text 23"/>
          <p:cNvSpPr/>
          <p:nvPr/>
        </p:nvSpPr>
        <p:spPr>
          <a:xfrm>
            <a:off x="3474720" y="3374136"/>
            <a:ext cx="4389120" cy="566928"/>
          </a:xfrm>
          <a:prstGeom prst="rect">
            <a:avLst/>
          </a:prstGeom>
          <a:noFill/>
          <a:ln/>
        </p:spPr>
        <p:txBody>
          <a:bodyPr wrap="square" lIns="0" tIns="0" rIns="0" bIns="0" rtlCol="0" anchor="ctr"/>
          <a:lstStyle/>
          <a:p>
            <a:pPr indent="0" marL="0">
              <a:buNone/>
            </a:pPr>
            <a:r>
              <a:rPr lang="en-US" sz="1150" i="1" dirty="0">
                <a:solidFill>
                  <a:srgbClr val="1A1A1A"/>
                </a:solidFill>
                <a:latin typeface="Georgia" pitchFamily="34" charset="0"/>
                <a:ea typeface="Georgia" pitchFamily="34" charset="-122"/>
                <a:cs typeface="Georgia" pitchFamily="34" charset="-120"/>
              </a:rPr>
              <a:t>F(2, 72) = 124.6; p &lt; 0.001</a:t>
            </a:r>
            <a:endParaRPr lang="en-US" sz="1150" dirty="0"/>
          </a:p>
        </p:txBody>
      </p:sp>
      <p:sp>
        <p:nvSpPr>
          <p:cNvPr id="26" name="Shape 24"/>
          <p:cNvSpPr/>
          <p:nvPr/>
        </p:nvSpPr>
        <p:spPr>
          <a:xfrm>
            <a:off x="7955280" y="3374136"/>
            <a:ext cx="3749040" cy="566928"/>
          </a:xfrm>
          <a:prstGeom prst="rect">
            <a:avLst/>
          </a:prstGeom>
          <a:solidFill>
            <a:srgbClr val="F7F4ED"/>
          </a:solidFill>
          <a:ln w="6350">
            <a:solidFill>
              <a:srgbClr val="D9D2C0"/>
            </a:solidFill>
            <a:prstDash val="solid"/>
          </a:ln>
        </p:spPr>
      </p:sp>
      <p:sp>
        <p:nvSpPr>
          <p:cNvPr id="27" name="Text 25"/>
          <p:cNvSpPr/>
          <p:nvPr/>
        </p:nvSpPr>
        <p:spPr>
          <a:xfrm>
            <a:off x="8046720" y="3374136"/>
            <a:ext cx="3566160" cy="566928"/>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Comparación de medias</a:t>
            </a:r>
            <a:endParaRPr lang="en-US" sz="1150" dirty="0"/>
          </a:p>
        </p:txBody>
      </p:sp>
      <p:sp>
        <p:nvSpPr>
          <p:cNvPr id="28" name="Shape 26"/>
          <p:cNvSpPr/>
          <p:nvPr/>
        </p:nvSpPr>
        <p:spPr>
          <a:xfrm>
            <a:off x="457200" y="3941064"/>
            <a:ext cx="2926080" cy="566928"/>
          </a:xfrm>
          <a:prstGeom prst="rect">
            <a:avLst/>
          </a:prstGeom>
          <a:solidFill>
            <a:srgbClr val="FFFFFF"/>
          </a:solidFill>
          <a:ln w="6350">
            <a:solidFill>
              <a:srgbClr val="D9D2C0"/>
            </a:solidFill>
            <a:prstDash val="solid"/>
          </a:ln>
        </p:spPr>
      </p:sp>
      <p:sp>
        <p:nvSpPr>
          <p:cNvPr id="29" name="Text 27"/>
          <p:cNvSpPr/>
          <p:nvPr/>
        </p:nvSpPr>
        <p:spPr>
          <a:xfrm>
            <a:off x="548640" y="3941064"/>
            <a:ext cx="2743200" cy="566928"/>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Regresión</a:t>
            </a:r>
            <a:endParaRPr lang="en-US" sz="1150" dirty="0"/>
          </a:p>
        </p:txBody>
      </p:sp>
      <p:sp>
        <p:nvSpPr>
          <p:cNvPr id="30" name="Shape 28"/>
          <p:cNvSpPr/>
          <p:nvPr/>
        </p:nvSpPr>
        <p:spPr>
          <a:xfrm>
            <a:off x="3383280" y="3941064"/>
            <a:ext cx="4572000" cy="566928"/>
          </a:xfrm>
          <a:prstGeom prst="rect">
            <a:avLst/>
          </a:prstGeom>
          <a:solidFill>
            <a:srgbClr val="FFFFFF"/>
          </a:solidFill>
          <a:ln w="6350">
            <a:solidFill>
              <a:srgbClr val="D9D2C0"/>
            </a:solidFill>
            <a:prstDash val="solid"/>
          </a:ln>
        </p:spPr>
      </p:sp>
      <p:sp>
        <p:nvSpPr>
          <p:cNvPr id="31" name="Text 29"/>
          <p:cNvSpPr/>
          <p:nvPr/>
        </p:nvSpPr>
        <p:spPr>
          <a:xfrm>
            <a:off x="3474720" y="3941064"/>
            <a:ext cx="4389120" cy="566928"/>
          </a:xfrm>
          <a:prstGeom prst="rect">
            <a:avLst/>
          </a:prstGeom>
          <a:noFill/>
          <a:ln/>
        </p:spPr>
        <p:txBody>
          <a:bodyPr wrap="square" lIns="0" tIns="0" rIns="0" bIns="0" rtlCol="0" anchor="ctr"/>
          <a:lstStyle/>
          <a:p>
            <a:pPr indent="0" marL="0">
              <a:buNone/>
            </a:pPr>
            <a:r>
              <a:rPr lang="en-US" sz="1150" i="1" dirty="0">
                <a:solidFill>
                  <a:srgbClr val="1A1A1A"/>
                </a:solidFill>
                <a:latin typeface="Georgia" pitchFamily="34" charset="0"/>
                <a:ea typeface="Georgia" pitchFamily="34" charset="-122"/>
                <a:cs typeface="Georgia" pitchFamily="34" charset="-120"/>
              </a:rPr>
              <a:t>β = 0.42; IC 95 % [0.31; 0.53]</a:t>
            </a:r>
            <a:endParaRPr lang="en-US" sz="1150" dirty="0"/>
          </a:p>
        </p:txBody>
      </p:sp>
      <p:sp>
        <p:nvSpPr>
          <p:cNvPr id="32" name="Shape 30"/>
          <p:cNvSpPr/>
          <p:nvPr/>
        </p:nvSpPr>
        <p:spPr>
          <a:xfrm>
            <a:off x="7955280" y="3941064"/>
            <a:ext cx="3749040" cy="566928"/>
          </a:xfrm>
          <a:prstGeom prst="rect">
            <a:avLst/>
          </a:prstGeom>
          <a:solidFill>
            <a:srgbClr val="FFFFFF"/>
          </a:solidFill>
          <a:ln w="6350">
            <a:solidFill>
              <a:srgbClr val="D9D2C0"/>
            </a:solidFill>
            <a:prstDash val="solid"/>
          </a:ln>
        </p:spPr>
      </p:sp>
      <p:sp>
        <p:nvSpPr>
          <p:cNvPr id="33" name="Text 31"/>
          <p:cNvSpPr/>
          <p:nvPr/>
        </p:nvSpPr>
        <p:spPr>
          <a:xfrm>
            <a:off x="8046720" y="3941064"/>
            <a:ext cx="3566160" cy="566928"/>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Modelos predictivos</a:t>
            </a:r>
            <a:endParaRPr lang="en-US" sz="1150" dirty="0"/>
          </a:p>
        </p:txBody>
      </p:sp>
      <p:sp>
        <p:nvSpPr>
          <p:cNvPr id="34" name="Shape 32"/>
          <p:cNvSpPr/>
          <p:nvPr/>
        </p:nvSpPr>
        <p:spPr>
          <a:xfrm>
            <a:off x="457200" y="4507992"/>
            <a:ext cx="2926080" cy="566928"/>
          </a:xfrm>
          <a:prstGeom prst="rect">
            <a:avLst/>
          </a:prstGeom>
          <a:solidFill>
            <a:srgbClr val="F7F4ED"/>
          </a:solidFill>
          <a:ln w="6350">
            <a:solidFill>
              <a:srgbClr val="D9D2C0"/>
            </a:solidFill>
            <a:prstDash val="solid"/>
          </a:ln>
        </p:spPr>
      </p:sp>
      <p:sp>
        <p:nvSpPr>
          <p:cNvPr id="35" name="Text 33"/>
          <p:cNvSpPr/>
          <p:nvPr/>
        </p:nvSpPr>
        <p:spPr>
          <a:xfrm>
            <a:off x="548640" y="4507992"/>
            <a:ext cx="2743200" cy="566928"/>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Tamaño de efecto</a:t>
            </a:r>
            <a:endParaRPr lang="en-US" sz="1150" dirty="0"/>
          </a:p>
        </p:txBody>
      </p:sp>
      <p:sp>
        <p:nvSpPr>
          <p:cNvPr id="36" name="Shape 34"/>
          <p:cNvSpPr/>
          <p:nvPr/>
        </p:nvSpPr>
        <p:spPr>
          <a:xfrm>
            <a:off x="3383280" y="4507992"/>
            <a:ext cx="4572000" cy="566928"/>
          </a:xfrm>
          <a:prstGeom prst="rect">
            <a:avLst/>
          </a:prstGeom>
          <a:solidFill>
            <a:srgbClr val="F7F4ED"/>
          </a:solidFill>
          <a:ln w="6350">
            <a:solidFill>
              <a:srgbClr val="D9D2C0"/>
            </a:solidFill>
            <a:prstDash val="solid"/>
          </a:ln>
        </p:spPr>
      </p:sp>
      <p:sp>
        <p:nvSpPr>
          <p:cNvPr id="37" name="Text 35"/>
          <p:cNvSpPr/>
          <p:nvPr/>
        </p:nvSpPr>
        <p:spPr>
          <a:xfrm>
            <a:off x="3474720" y="4507992"/>
            <a:ext cx="4389120" cy="566928"/>
          </a:xfrm>
          <a:prstGeom prst="rect">
            <a:avLst/>
          </a:prstGeom>
          <a:noFill/>
          <a:ln/>
        </p:spPr>
        <p:txBody>
          <a:bodyPr wrap="square" lIns="0" tIns="0" rIns="0" bIns="0" rtlCol="0" anchor="ctr"/>
          <a:lstStyle/>
          <a:p>
            <a:pPr indent="0" marL="0">
              <a:buNone/>
            </a:pPr>
            <a:r>
              <a:rPr lang="en-US" sz="1150" i="1" dirty="0">
                <a:solidFill>
                  <a:srgbClr val="1A1A1A"/>
                </a:solidFill>
                <a:latin typeface="Georgia" pitchFamily="34" charset="0"/>
                <a:ea typeface="Georgia" pitchFamily="34" charset="-122"/>
                <a:cs typeface="Georgia" pitchFamily="34" charset="-120"/>
              </a:rPr>
              <a:t>η² parcial = 0.45  (efecto grande)</a:t>
            </a:r>
            <a:endParaRPr lang="en-US" sz="1150" dirty="0"/>
          </a:p>
        </p:txBody>
      </p:sp>
      <p:sp>
        <p:nvSpPr>
          <p:cNvPr id="38" name="Shape 36"/>
          <p:cNvSpPr/>
          <p:nvPr/>
        </p:nvSpPr>
        <p:spPr>
          <a:xfrm>
            <a:off x="7955280" y="4507992"/>
            <a:ext cx="3749040" cy="566928"/>
          </a:xfrm>
          <a:prstGeom prst="rect">
            <a:avLst/>
          </a:prstGeom>
          <a:solidFill>
            <a:srgbClr val="F7F4ED"/>
          </a:solidFill>
          <a:ln w="6350">
            <a:solidFill>
              <a:srgbClr val="D9D2C0"/>
            </a:solidFill>
            <a:prstDash val="solid"/>
          </a:ln>
        </p:spPr>
      </p:sp>
      <p:sp>
        <p:nvSpPr>
          <p:cNvPr id="39" name="Text 37"/>
          <p:cNvSpPr/>
          <p:nvPr/>
        </p:nvSpPr>
        <p:spPr>
          <a:xfrm>
            <a:off x="8046720" y="4507992"/>
            <a:ext cx="3566160" cy="566928"/>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Junto al valor p</a:t>
            </a:r>
            <a:endParaRPr lang="en-US" sz="1150" dirty="0"/>
          </a:p>
        </p:txBody>
      </p:sp>
      <p:sp>
        <p:nvSpPr>
          <p:cNvPr id="40" name="Shape 38"/>
          <p:cNvSpPr/>
          <p:nvPr/>
        </p:nvSpPr>
        <p:spPr>
          <a:xfrm>
            <a:off x="457200" y="5074920"/>
            <a:ext cx="2926080" cy="566928"/>
          </a:xfrm>
          <a:prstGeom prst="rect">
            <a:avLst/>
          </a:prstGeom>
          <a:solidFill>
            <a:srgbClr val="FFFFFF"/>
          </a:solidFill>
          <a:ln w="6350">
            <a:solidFill>
              <a:srgbClr val="D9D2C0"/>
            </a:solidFill>
            <a:prstDash val="solid"/>
          </a:ln>
        </p:spPr>
      </p:sp>
      <p:sp>
        <p:nvSpPr>
          <p:cNvPr id="41" name="Text 39"/>
          <p:cNvSpPr/>
          <p:nvPr/>
        </p:nvSpPr>
        <p:spPr>
          <a:xfrm>
            <a:off x="548640" y="5074920"/>
            <a:ext cx="2743200" cy="566928"/>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Correlación</a:t>
            </a:r>
            <a:endParaRPr lang="en-US" sz="1150" dirty="0"/>
          </a:p>
        </p:txBody>
      </p:sp>
      <p:sp>
        <p:nvSpPr>
          <p:cNvPr id="42" name="Shape 40"/>
          <p:cNvSpPr/>
          <p:nvPr/>
        </p:nvSpPr>
        <p:spPr>
          <a:xfrm>
            <a:off x="3383280" y="5074920"/>
            <a:ext cx="4572000" cy="566928"/>
          </a:xfrm>
          <a:prstGeom prst="rect">
            <a:avLst/>
          </a:prstGeom>
          <a:solidFill>
            <a:srgbClr val="FFFFFF"/>
          </a:solidFill>
          <a:ln w="6350">
            <a:solidFill>
              <a:srgbClr val="D9D2C0"/>
            </a:solidFill>
            <a:prstDash val="solid"/>
          </a:ln>
        </p:spPr>
      </p:sp>
      <p:sp>
        <p:nvSpPr>
          <p:cNvPr id="43" name="Text 41"/>
          <p:cNvSpPr/>
          <p:nvPr/>
        </p:nvSpPr>
        <p:spPr>
          <a:xfrm>
            <a:off x="3474720" y="5074920"/>
            <a:ext cx="4389120" cy="566928"/>
          </a:xfrm>
          <a:prstGeom prst="rect">
            <a:avLst/>
          </a:prstGeom>
          <a:noFill/>
          <a:ln/>
        </p:spPr>
        <p:txBody>
          <a:bodyPr wrap="square" lIns="0" tIns="0" rIns="0" bIns="0" rtlCol="0" anchor="ctr"/>
          <a:lstStyle/>
          <a:p>
            <a:pPr indent="0" marL="0">
              <a:buNone/>
            </a:pPr>
            <a:r>
              <a:rPr lang="en-US" sz="1150" i="1" dirty="0">
                <a:solidFill>
                  <a:srgbClr val="1A1A1A"/>
                </a:solidFill>
                <a:latin typeface="Georgia" pitchFamily="34" charset="0"/>
                <a:ea typeface="Georgia" pitchFamily="34" charset="-122"/>
                <a:cs typeface="Georgia" pitchFamily="34" charset="-120"/>
              </a:rPr>
              <a:t>r = 0.78; p = 0.002; n = 24</a:t>
            </a:r>
            <a:endParaRPr lang="en-US" sz="1150" dirty="0"/>
          </a:p>
        </p:txBody>
      </p:sp>
      <p:sp>
        <p:nvSpPr>
          <p:cNvPr id="44" name="Shape 42"/>
          <p:cNvSpPr/>
          <p:nvPr/>
        </p:nvSpPr>
        <p:spPr>
          <a:xfrm>
            <a:off x="7955280" y="5074920"/>
            <a:ext cx="3749040" cy="566928"/>
          </a:xfrm>
          <a:prstGeom prst="rect">
            <a:avLst/>
          </a:prstGeom>
          <a:solidFill>
            <a:srgbClr val="FFFFFF"/>
          </a:solidFill>
          <a:ln w="6350">
            <a:solidFill>
              <a:srgbClr val="D9D2C0"/>
            </a:solidFill>
            <a:prstDash val="solid"/>
          </a:ln>
        </p:spPr>
      </p:sp>
      <p:sp>
        <p:nvSpPr>
          <p:cNvPr id="45" name="Text 43"/>
          <p:cNvSpPr/>
          <p:nvPr/>
        </p:nvSpPr>
        <p:spPr>
          <a:xfrm>
            <a:off x="8046720" y="5074920"/>
            <a:ext cx="3566160" cy="566928"/>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Relaciones lineales</a:t>
            </a:r>
            <a:endParaRPr lang="en-US" sz="1150" dirty="0"/>
          </a:p>
        </p:txBody>
      </p:sp>
      <p:sp>
        <p:nvSpPr>
          <p:cNvPr id="46" name="Text 44"/>
          <p:cNvSpPr/>
          <p:nvPr/>
        </p:nvSpPr>
        <p:spPr>
          <a:xfrm>
            <a:off x="457200" y="5989320"/>
            <a:ext cx="11247120" cy="365760"/>
          </a:xfrm>
          <a:prstGeom prst="rect">
            <a:avLst/>
          </a:prstGeom>
          <a:noFill/>
          <a:ln/>
        </p:spPr>
        <p:txBody>
          <a:bodyPr wrap="square" lIns="0" tIns="0" rIns="0" bIns="0" rtlCol="0" anchor="ctr"/>
          <a:lstStyle/>
          <a:p>
            <a:pPr algn="ctr" indent="0" marL="0">
              <a:buNone/>
            </a:pPr>
            <a:r>
              <a:rPr lang="en-US" sz="1200" i="1" dirty="0">
                <a:solidFill>
                  <a:srgbClr val="2C5F2D"/>
                </a:solidFill>
                <a:latin typeface="Calibri" pitchFamily="34" charset="0"/>
                <a:ea typeface="Calibri" pitchFamily="34" charset="-122"/>
                <a:cs typeface="Calibri" pitchFamily="34" charset="-120"/>
              </a:rPr>
              <a:t>Reporta p exacto ("p = 0.034") salvo cuando p &lt; 0.001. Acompaña cada p con un tamaño de efecto.</a:t>
            </a:r>
            <a:endParaRPr lang="en-US" sz="1200" dirty="0"/>
          </a:p>
        </p:txBody>
      </p:sp>
      <p:sp>
        <p:nvSpPr>
          <p:cNvPr id="47" name="Text 45"/>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48" name="Text 46"/>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18 / 25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CASO GUÍA</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Un párrafo modelo de Resultados</a:t>
            </a:r>
            <a:endParaRPr lang="en-US" sz="3000" dirty="0"/>
          </a:p>
        </p:txBody>
      </p:sp>
      <p:sp>
        <p:nvSpPr>
          <p:cNvPr id="4" name="Shape 2"/>
          <p:cNvSpPr/>
          <p:nvPr/>
        </p:nvSpPr>
        <p:spPr>
          <a:xfrm>
            <a:off x="457200" y="1691640"/>
            <a:ext cx="11247120" cy="4572000"/>
          </a:xfrm>
          <a:prstGeom prst="rect">
            <a:avLst/>
          </a:prstGeom>
          <a:solidFill>
            <a:srgbClr val="F7F4ED"/>
          </a:solidFill>
          <a:ln w="12700">
            <a:solidFill>
              <a:srgbClr val="D9D2C0"/>
            </a:solidFill>
            <a:prstDash val="solid"/>
          </a:ln>
          <a:effectLst>
            <a:outerShdw sx="100000" sy="100000" kx="0" ky="0" algn="bl" rotWithShape="0" blurRad="101600" dist="25400" dir="5400000">
              <a:srgbClr val="000000">
                <a:alpha val="12000"/>
              </a:srgbClr>
            </a:outerShdw>
          </a:effectLst>
        </p:spPr>
      </p:sp>
      <p:sp>
        <p:nvSpPr>
          <p:cNvPr id="5" name="Text 3"/>
          <p:cNvSpPr/>
          <p:nvPr/>
        </p:nvSpPr>
        <p:spPr>
          <a:xfrm>
            <a:off x="685800" y="1874520"/>
            <a:ext cx="10789920" cy="320040"/>
          </a:xfrm>
          <a:prstGeom prst="rect">
            <a:avLst/>
          </a:prstGeom>
          <a:noFill/>
          <a:ln/>
        </p:spPr>
        <p:txBody>
          <a:bodyPr wrap="square" lIns="0" tIns="0" rIns="0" bIns="0" rtlCol="0" anchor="ctr"/>
          <a:lstStyle/>
          <a:p>
            <a:pPr indent="0" marL="0">
              <a:buNone/>
            </a:pPr>
            <a:r>
              <a:rPr lang="en-US" sz="1100" b="1" spc="200" kern="0" dirty="0">
                <a:solidFill>
                  <a:srgbClr val="2C5F2D"/>
                </a:solidFill>
                <a:latin typeface="Calibri" pitchFamily="34" charset="0"/>
                <a:ea typeface="Calibri" pitchFamily="34" charset="-122"/>
                <a:cs typeface="Calibri" pitchFamily="34" charset="-120"/>
              </a:rPr>
              <a:t>SUBSECCIÓN 3.2  ·  Tolerancia a sales biliares</a:t>
            </a:r>
            <a:endParaRPr lang="en-US" sz="1100" dirty="0"/>
          </a:p>
        </p:txBody>
      </p:sp>
      <p:sp>
        <p:nvSpPr>
          <p:cNvPr id="6" name="Text 4"/>
          <p:cNvSpPr/>
          <p:nvPr/>
        </p:nvSpPr>
        <p:spPr>
          <a:xfrm>
            <a:off x="777240" y="2286000"/>
            <a:ext cx="10607040" cy="3840480"/>
          </a:xfrm>
          <a:prstGeom prst="rect">
            <a:avLst/>
          </a:prstGeom>
          <a:noFill/>
          <a:ln/>
        </p:spPr>
        <p:txBody>
          <a:bodyPr wrap="square" lIns="0" tIns="0" rIns="0" bIns="0" rtlCol="0" anchor="ctr"/>
          <a:lstStyle/>
          <a:p>
            <a:pPr indent="0" marL="0">
              <a:lnSpc>
                <a:spcPct val="135000"/>
              </a:lnSpc>
              <a:buNone/>
            </a:pPr>
            <a:r>
              <a:rPr lang="en-US" sz="1300" dirty="0">
                <a:solidFill>
                  <a:srgbClr val="1A1A1A"/>
                </a:solidFill>
                <a:latin typeface="Calibri" pitchFamily="34" charset="0"/>
                <a:ea typeface="Calibri" pitchFamily="34" charset="-122"/>
                <a:cs typeface="Calibri" pitchFamily="34" charset="-120"/>
              </a:rPr>
              <a:t>La supervivencia bacteriana disminuyó significativamente al aumentar la concentración de sales biliares en todas las cepas evaluadas (Figura 1; </a:t>
            </a:r>
            <a:pPr indent="0" marL="0">
              <a:lnSpc>
                <a:spcPct val="135000"/>
              </a:lnSpc>
              <a:buNone/>
            </a:pPr>
            <a:r>
              <a:rPr lang="en-US" sz="1300" b="1" dirty="0">
                <a:solidFill>
                  <a:srgbClr val="2C5F2D"/>
                </a:solidFill>
                <a:latin typeface="Calibri" pitchFamily="34" charset="0"/>
                <a:ea typeface="Calibri" pitchFamily="34" charset="-122"/>
                <a:cs typeface="Calibri" pitchFamily="34" charset="-120"/>
              </a:rPr>
              <a:t>F(2, 72) = 124.6; p &lt; 0.001; η² parcial = 0.78</a:t>
            </a:r>
            <a:pPr indent="0" marL="0">
              <a:lnSpc>
                <a:spcPct val="135000"/>
              </a:lnSpc>
              <a:buNone/>
            </a:pPr>
            <a:r>
              <a:rPr lang="en-US" sz="1300" dirty="0">
                <a:solidFill>
                  <a:srgbClr val="1A1A1A"/>
                </a:solidFill>
                <a:latin typeface="Calibri" pitchFamily="34" charset="0"/>
                <a:ea typeface="Calibri" pitchFamily="34" charset="-122"/>
                <a:cs typeface="Calibri" pitchFamily="34" charset="-120"/>
              </a:rPr>
              <a:t>). A la concentración más alta (0.30 %), la cepa BAL-03 mantuvo el porcentaje más alto de supervivencia (</a:t>
            </a:r>
            <a:pPr indent="0" marL="0">
              <a:lnSpc>
                <a:spcPct val="135000"/>
              </a:lnSpc>
              <a:buNone/>
            </a:pPr>
            <a:r>
              <a:rPr lang="en-US" sz="1300" b="1" dirty="0">
                <a:solidFill>
                  <a:srgbClr val="2C5F2D"/>
                </a:solidFill>
                <a:latin typeface="Calibri" pitchFamily="34" charset="0"/>
                <a:ea typeface="Calibri" pitchFamily="34" charset="-122"/>
                <a:cs typeface="Calibri" pitchFamily="34" charset="-120"/>
              </a:rPr>
              <a:t>78.6 ± 3.2 %</a:t>
            </a:r>
            <a:pPr indent="0" marL="0">
              <a:lnSpc>
                <a:spcPct val="135000"/>
              </a:lnSpc>
              <a:buNone/>
            </a:pPr>
            <a:r>
              <a:rPr lang="en-US" sz="1300" dirty="0">
                <a:solidFill>
                  <a:srgbClr val="1A1A1A"/>
                </a:solidFill>
                <a:latin typeface="Calibri" pitchFamily="34" charset="0"/>
                <a:ea typeface="Calibri" pitchFamily="34" charset="-122"/>
                <a:cs typeface="Calibri" pitchFamily="34" charset="-120"/>
              </a:rPr>
              <a:t>), seguida por la cepa de referencia ATCC 14917 (</a:t>
            </a:r>
            <a:pPr indent="0" marL="0">
              <a:lnSpc>
                <a:spcPct val="135000"/>
              </a:lnSpc>
              <a:buNone/>
            </a:pPr>
            <a:r>
              <a:rPr lang="en-US" sz="1300" b="1" dirty="0">
                <a:solidFill>
                  <a:srgbClr val="2C5F2D"/>
                </a:solidFill>
                <a:latin typeface="Calibri" pitchFamily="34" charset="0"/>
                <a:ea typeface="Calibri" pitchFamily="34" charset="-122"/>
                <a:cs typeface="Calibri" pitchFamily="34" charset="-120"/>
              </a:rPr>
              <a:t>72.4 ± 2.8 %</a:t>
            </a:r>
            <a:pPr indent="0" marL="0">
              <a:lnSpc>
                <a:spcPct val="135000"/>
              </a:lnSpc>
              <a:buNone/>
            </a:pPr>
            <a:r>
              <a:rPr lang="en-US" sz="1300" dirty="0">
                <a:solidFill>
                  <a:srgbClr val="1A1A1A"/>
                </a:solidFill>
                <a:latin typeface="Calibri" pitchFamily="34" charset="0"/>
                <a:ea typeface="Calibri" pitchFamily="34" charset="-122"/>
                <a:cs typeface="Calibri" pitchFamily="34" charset="-120"/>
              </a:rPr>
              <a:t>), mientras que BAL-04 mostró el valor más bajo (</a:t>
            </a:r>
            <a:pPr indent="0" marL="0">
              <a:lnSpc>
                <a:spcPct val="135000"/>
              </a:lnSpc>
              <a:buNone/>
            </a:pPr>
            <a:r>
              <a:rPr lang="en-US" sz="1300" b="1" dirty="0">
                <a:solidFill>
                  <a:srgbClr val="2C5F2D"/>
                </a:solidFill>
                <a:latin typeface="Calibri" pitchFamily="34" charset="0"/>
                <a:ea typeface="Calibri" pitchFamily="34" charset="-122"/>
                <a:cs typeface="Calibri" pitchFamily="34" charset="-120"/>
              </a:rPr>
              <a:t>47.3 ± 4.1 %</a:t>
            </a:r>
            <a:pPr indent="0" marL="0">
              <a:lnSpc>
                <a:spcPct val="135000"/>
              </a:lnSpc>
              <a:buNone/>
            </a:pPr>
            <a:r>
              <a:rPr lang="en-US" sz="1300" dirty="0">
                <a:solidFill>
                  <a:srgbClr val="1A1A1A"/>
                </a:solidFill>
                <a:latin typeface="Calibri" pitchFamily="34" charset="0"/>
                <a:ea typeface="Calibri" pitchFamily="34" charset="-122"/>
                <a:cs typeface="Calibri" pitchFamily="34" charset="-120"/>
              </a:rPr>
              <a:t>). Las cepas BAL-01 y BAL-03 no presentaron diferencias significativas entre sí (Tukey, p = 0.412), pero ambas difirieron de BAL-02 y BAL-04 (p &lt; 0.01).</a:t>
            </a:r>
            <a:endParaRPr lang="en-US" sz="1300" dirty="0"/>
          </a:p>
        </p:txBody>
      </p:sp>
      <p:sp>
        <p:nvSpPr>
          <p:cNvPr id="7" name="Text 5"/>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8" name="Text 6"/>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19 / 25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2194560"/>
            <a:ext cx="10058400" cy="365760"/>
          </a:xfrm>
          <a:prstGeom prst="rect">
            <a:avLst/>
          </a:prstGeom>
          <a:noFill/>
          <a:ln/>
        </p:spPr>
        <p:txBody>
          <a:bodyPr wrap="square" lIns="0" tIns="0" rIns="0" bIns="0" rtlCol="0" anchor="ctr"/>
          <a:lstStyle/>
          <a:p>
            <a:pPr indent="0" marL="0">
              <a:buNone/>
            </a:pPr>
            <a:r>
              <a:rPr lang="en-US" sz="1400" b="1" spc="600" kern="0" dirty="0">
                <a:solidFill>
                  <a:srgbClr val="97BC62"/>
                </a:solidFill>
                <a:latin typeface="Calibri" pitchFamily="34" charset="0"/>
                <a:ea typeface="Calibri" pitchFamily="34" charset="-122"/>
                <a:cs typeface="Calibri" pitchFamily="34" charset="-120"/>
              </a:rPr>
              <a:t>PARTE 5 DE 5</a:t>
            </a:r>
            <a:endParaRPr lang="en-US" sz="1400" dirty="0"/>
          </a:p>
        </p:txBody>
      </p:sp>
      <p:sp>
        <p:nvSpPr>
          <p:cNvPr id="4" name="Text 2"/>
          <p:cNvSpPr/>
          <p:nvPr/>
        </p:nvSpPr>
        <p:spPr>
          <a:xfrm>
            <a:off x="822960" y="2697480"/>
            <a:ext cx="10515600" cy="14630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Errores frecuentes y ejercicios</a:t>
            </a:r>
            <a:endParaRPr lang="en-US" sz="5600" dirty="0"/>
          </a:p>
        </p:txBody>
      </p:sp>
      <p:sp>
        <p:nvSpPr>
          <p:cNvPr id="5" name="Text 3"/>
          <p:cNvSpPr/>
          <p:nvPr/>
        </p:nvSpPr>
        <p:spPr>
          <a:xfrm>
            <a:off x="822960" y="4251960"/>
            <a:ext cx="10058400" cy="64008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Lo que tumba secciones de Resultados — y cómo evitarlo.</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ERRORES FRECUENTES</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Los 7 más comunes en Resultados</a:t>
            </a:r>
            <a:endParaRPr lang="en-US" sz="3000" dirty="0"/>
          </a:p>
        </p:txBody>
      </p:sp>
      <p:sp>
        <p:nvSpPr>
          <p:cNvPr id="4" name="Shape 2"/>
          <p:cNvSpPr/>
          <p:nvPr/>
        </p:nvSpPr>
        <p:spPr>
          <a:xfrm>
            <a:off x="457200" y="1783080"/>
            <a:ext cx="5532120" cy="960120"/>
          </a:xfrm>
          <a:prstGeom prst="rect">
            <a:avLst/>
          </a:prstGeom>
          <a:solidFill>
            <a:srgbClr val="F7F4ED"/>
          </a:solidFill>
          <a:ln w="12700">
            <a:solidFill>
              <a:srgbClr val="D9D2C0"/>
            </a:solidFill>
            <a:prstDash val="solid"/>
          </a:ln>
        </p:spPr>
      </p:sp>
      <p:sp>
        <p:nvSpPr>
          <p:cNvPr id="5" name="Shape 3"/>
          <p:cNvSpPr/>
          <p:nvPr/>
        </p:nvSpPr>
        <p:spPr>
          <a:xfrm>
            <a:off x="457200" y="1783080"/>
            <a:ext cx="73152" cy="960120"/>
          </a:xfrm>
          <a:prstGeom prst="rect">
            <a:avLst/>
          </a:prstGeom>
          <a:solidFill>
            <a:srgbClr val="B8651A"/>
          </a:solidFill>
          <a:ln w="12700">
            <a:solidFill>
              <a:srgbClr val="B8651A"/>
            </a:solidFill>
            <a:prstDash val="solid"/>
          </a:ln>
        </p:spPr>
      </p:sp>
      <p:pic>
        <p:nvPicPr>
          <p:cNvPr id="6" name="Image 0" descr="preencoded.png">    </p:cNvPr>
          <p:cNvPicPr>
            <a:picLocks noChangeAspect="1"/>
          </p:cNvPicPr>
          <p:nvPr/>
        </p:nvPicPr>
        <p:blipFill>
          <a:blip r:embed="rId1"/>
          <a:stretch>
            <a:fillRect/>
          </a:stretch>
        </p:blipFill>
        <p:spPr>
          <a:xfrm>
            <a:off x="685800" y="2075688"/>
            <a:ext cx="365760" cy="365760"/>
          </a:xfrm>
          <a:prstGeom prst="rect">
            <a:avLst/>
          </a:prstGeom>
        </p:spPr>
      </p:pic>
      <p:sp>
        <p:nvSpPr>
          <p:cNvPr id="7" name="Text 4"/>
          <p:cNvSpPr/>
          <p:nvPr/>
        </p:nvSpPr>
        <p:spPr>
          <a:xfrm>
            <a:off x="1234440" y="178308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Interpretar en lugar de describir.</a:t>
            </a:r>
            <a:endParaRPr lang="en-US" sz="1200" dirty="0"/>
          </a:p>
        </p:txBody>
      </p:sp>
      <p:sp>
        <p:nvSpPr>
          <p:cNvPr id="8" name="Shape 5"/>
          <p:cNvSpPr/>
          <p:nvPr/>
        </p:nvSpPr>
        <p:spPr>
          <a:xfrm>
            <a:off x="457200" y="2880360"/>
            <a:ext cx="5532120" cy="960120"/>
          </a:xfrm>
          <a:prstGeom prst="rect">
            <a:avLst/>
          </a:prstGeom>
          <a:solidFill>
            <a:srgbClr val="F7F4ED"/>
          </a:solidFill>
          <a:ln w="12700">
            <a:solidFill>
              <a:srgbClr val="D9D2C0"/>
            </a:solidFill>
            <a:prstDash val="solid"/>
          </a:ln>
        </p:spPr>
      </p:sp>
      <p:sp>
        <p:nvSpPr>
          <p:cNvPr id="9" name="Shape 6"/>
          <p:cNvSpPr/>
          <p:nvPr/>
        </p:nvSpPr>
        <p:spPr>
          <a:xfrm>
            <a:off x="457200" y="2880360"/>
            <a:ext cx="73152" cy="960120"/>
          </a:xfrm>
          <a:prstGeom prst="rect">
            <a:avLst/>
          </a:prstGeom>
          <a:solidFill>
            <a:srgbClr val="B8651A"/>
          </a:solidFill>
          <a:ln w="12700">
            <a:solidFill>
              <a:srgbClr val="B8651A"/>
            </a:solidFill>
            <a:prstDash val="solid"/>
          </a:ln>
        </p:spPr>
      </p:sp>
      <p:pic>
        <p:nvPicPr>
          <p:cNvPr id="10" name="Image 1" descr="preencoded.png">    </p:cNvPr>
          <p:cNvPicPr>
            <a:picLocks noChangeAspect="1"/>
          </p:cNvPicPr>
          <p:nvPr/>
        </p:nvPicPr>
        <p:blipFill>
          <a:blip r:embed="rId2"/>
          <a:stretch>
            <a:fillRect/>
          </a:stretch>
        </p:blipFill>
        <p:spPr>
          <a:xfrm>
            <a:off x="685800" y="3172968"/>
            <a:ext cx="365760" cy="365760"/>
          </a:xfrm>
          <a:prstGeom prst="rect">
            <a:avLst/>
          </a:prstGeom>
        </p:spPr>
      </p:pic>
      <p:sp>
        <p:nvSpPr>
          <p:cNvPr id="11" name="Text 7"/>
          <p:cNvSpPr/>
          <p:nvPr/>
        </p:nvSpPr>
        <p:spPr>
          <a:xfrm>
            <a:off x="1234440" y="288036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Repetir en texto los números que ya están en la tabla.</a:t>
            </a:r>
            <a:endParaRPr lang="en-US" sz="1200" dirty="0"/>
          </a:p>
        </p:txBody>
      </p:sp>
      <p:sp>
        <p:nvSpPr>
          <p:cNvPr id="12" name="Shape 8"/>
          <p:cNvSpPr/>
          <p:nvPr/>
        </p:nvSpPr>
        <p:spPr>
          <a:xfrm>
            <a:off x="457200" y="3977640"/>
            <a:ext cx="5532120" cy="960120"/>
          </a:xfrm>
          <a:prstGeom prst="rect">
            <a:avLst/>
          </a:prstGeom>
          <a:solidFill>
            <a:srgbClr val="F7F4ED"/>
          </a:solidFill>
          <a:ln w="12700">
            <a:solidFill>
              <a:srgbClr val="D9D2C0"/>
            </a:solidFill>
            <a:prstDash val="solid"/>
          </a:ln>
        </p:spPr>
      </p:sp>
      <p:sp>
        <p:nvSpPr>
          <p:cNvPr id="13" name="Shape 9"/>
          <p:cNvSpPr/>
          <p:nvPr/>
        </p:nvSpPr>
        <p:spPr>
          <a:xfrm>
            <a:off x="457200" y="3977640"/>
            <a:ext cx="73152" cy="960120"/>
          </a:xfrm>
          <a:prstGeom prst="rect">
            <a:avLst/>
          </a:prstGeom>
          <a:solidFill>
            <a:srgbClr val="B8651A"/>
          </a:solidFill>
          <a:ln w="12700">
            <a:solidFill>
              <a:srgbClr val="B8651A"/>
            </a:solidFill>
            <a:prstDash val="solid"/>
          </a:ln>
        </p:spPr>
      </p:sp>
      <p:pic>
        <p:nvPicPr>
          <p:cNvPr id="14" name="Image 2" descr="preencoded.png">    </p:cNvPr>
          <p:cNvPicPr>
            <a:picLocks noChangeAspect="1"/>
          </p:cNvPicPr>
          <p:nvPr/>
        </p:nvPicPr>
        <p:blipFill>
          <a:blip r:embed="rId3"/>
          <a:stretch>
            <a:fillRect/>
          </a:stretch>
        </p:blipFill>
        <p:spPr>
          <a:xfrm>
            <a:off x="685800" y="4270248"/>
            <a:ext cx="365760" cy="365760"/>
          </a:xfrm>
          <a:prstGeom prst="rect">
            <a:avLst/>
          </a:prstGeom>
        </p:spPr>
      </p:pic>
      <p:sp>
        <p:nvSpPr>
          <p:cNvPr id="15" name="Text 10"/>
          <p:cNvSpPr/>
          <p:nvPr/>
        </p:nvSpPr>
        <p:spPr>
          <a:xfrm>
            <a:off x="1234440" y="397764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Figuras sin pie completo (n, errores, símbolos).</a:t>
            </a:r>
            <a:endParaRPr lang="en-US" sz="1200" dirty="0"/>
          </a:p>
        </p:txBody>
      </p:sp>
      <p:sp>
        <p:nvSpPr>
          <p:cNvPr id="16" name="Shape 11"/>
          <p:cNvSpPr/>
          <p:nvPr/>
        </p:nvSpPr>
        <p:spPr>
          <a:xfrm>
            <a:off x="457200" y="5074920"/>
            <a:ext cx="5532120" cy="960120"/>
          </a:xfrm>
          <a:prstGeom prst="rect">
            <a:avLst/>
          </a:prstGeom>
          <a:solidFill>
            <a:srgbClr val="F7F4ED"/>
          </a:solidFill>
          <a:ln w="12700">
            <a:solidFill>
              <a:srgbClr val="D9D2C0"/>
            </a:solidFill>
            <a:prstDash val="solid"/>
          </a:ln>
        </p:spPr>
      </p:sp>
      <p:sp>
        <p:nvSpPr>
          <p:cNvPr id="17" name="Shape 12"/>
          <p:cNvSpPr/>
          <p:nvPr/>
        </p:nvSpPr>
        <p:spPr>
          <a:xfrm>
            <a:off x="457200" y="5074920"/>
            <a:ext cx="73152" cy="960120"/>
          </a:xfrm>
          <a:prstGeom prst="rect">
            <a:avLst/>
          </a:prstGeom>
          <a:solidFill>
            <a:srgbClr val="B8651A"/>
          </a:solidFill>
          <a:ln w="12700">
            <a:solidFill>
              <a:srgbClr val="B8651A"/>
            </a:solidFill>
            <a:prstDash val="solid"/>
          </a:ln>
        </p:spPr>
      </p:sp>
      <p:pic>
        <p:nvPicPr>
          <p:cNvPr id="18" name="Image 3" descr="preencoded.png">    </p:cNvPr>
          <p:cNvPicPr>
            <a:picLocks noChangeAspect="1"/>
          </p:cNvPicPr>
          <p:nvPr/>
        </p:nvPicPr>
        <p:blipFill>
          <a:blip r:embed="rId4"/>
          <a:stretch>
            <a:fillRect/>
          </a:stretch>
        </p:blipFill>
        <p:spPr>
          <a:xfrm>
            <a:off x="685800" y="5367528"/>
            <a:ext cx="365760" cy="365760"/>
          </a:xfrm>
          <a:prstGeom prst="rect">
            <a:avLst/>
          </a:prstGeom>
        </p:spPr>
      </p:pic>
      <p:sp>
        <p:nvSpPr>
          <p:cNvPr id="19" name="Text 13"/>
          <p:cNvSpPr/>
          <p:nvPr/>
        </p:nvSpPr>
        <p:spPr>
          <a:xfrm>
            <a:off x="1234440" y="507492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Reportar solo p, sin tamaño de efecto ni IC.</a:t>
            </a:r>
            <a:endParaRPr lang="en-US" sz="1200" dirty="0"/>
          </a:p>
        </p:txBody>
      </p:sp>
      <p:sp>
        <p:nvSpPr>
          <p:cNvPr id="20" name="Shape 14"/>
          <p:cNvSpPr/>
          <p:nvPr/>
        </p:nvSpPr>
        <p:spPr>
          <a:xfrm>
            <a:off x="6217920" y="1783080"/>
            <a:ext cx="5532120" cy="960120"/>
          </a:xfrm>
          <a:prstGeom prst="rect">
            <a:avLst/>
          </a:prstGeom>
          <a:solidFill>
            <a:srgbClr val="F7F4ED"/>
          </a:solidFill>
          <a:ln w="12700">
            <a:solidFill>
              <a:srgbClr val="D9D2C0"/>
            </a:solidFill>
            <a:prstDash val="solid"/>
          </a:ln>
        </p:spPr>
      </p:sp>
      <p:sp>
        <p:nvSpPr>
          <p:cNvPr id="21" name="Shape 15"/>
          <p:cNvSpPr/>
          <p:nvPr/>
        </p:nvSpPr>
        <p:spPr>
          <a:xfrm>
            <a:off x="6217920" y="1783080"/>
            <a:ext cx="73152" cy="960120"/>
          </a:xfrm>
          <a:prstGeom prst="rect">
            <a:avLst/>
          </a:prstGeom>
          <a:solidFill>
            <a:srgbClr val="B8651A"/>
          </a:solidFill>
          <a:ln w="12700">
            <a:solidFill>
              <a:srgbClr val="B8651A"/>
            </a:solidFill>
            <a:prstDash val="solid"/>
          </a:ln>
        </p:spPr>
      </p:sp>
      <p:pic>
        <p:nvPicPr>
          <p:cNvPr id="22" name="Image 4" descr="preencoded.png">    </p:cNvPr>
          <p:cNvPicPr>
            <a:picLocks noChangeAspect="1"/>
          </p:cNvPicPr>
          <p:nvPr/>
        </p:nvPicPr>
        <p:blipFill>
          <a:blip r:embed="rId5"/>
          <a:stretch>
            <a:fillRect/>
          </a:stretch>
        </p:blipFill>
        <p:spPr>
          <a:xfrm>
            <a:off x="6446520" y="2075688"/>
            <a:ext cx="365760" cy="365760"/>
          </a:xfrm>
          <a:prstGeom prst="rect">
            <a:avLst/>
          </a:prstGeom>
        </p:spPr>
      </p:pic>
      <p:sp>
        <p:nvSpPr>
          <p:cNvPr id="23" name="Text 16"/>
          <p:cNvSpPr/>
          <p:nvPr/>
        </p:nvSpPr>
        <p:spPr>
          <a:xfrm>
            <a:off x="6995160" y="178308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Numerar figuras fuera del orden de aparición.</a:t>
            </a:r>
            <a:endParaRPr lang="en-US" sz="1200" dirty="0"/>
          </a:p>
        </p:txBody>
      </p:sp>
      <p:sp>
        <p:nvSpPr>
          <p:cNvPr id="24" name="Shape 17"/>
          <p:cNvSpPr/>
          <p:nvPr/>
        </p:nvSpPr>
        <p:spPr>
          <a:xfrm>
            <a:off x="6217920" y="2880360"/>
            <a:ext cx="5532120" cy="960120"/>
          </a:xfrm>
          <a:prstGeom prst="rect">
            <a:avLst/>
          </a:prstGeom>
          <a:solidFill>
            <a:srgbClr val="F7F4ED"/>
          </a:solidFill>
          <a:ln w="12700">
            <a:solidFill>
              <a:srgbClr val="D9D2C0"/>
            </a:solidFill>
            <a:prstDash val="solid"/>
          </a:ln>
        </p:spPr>
      </p:sp>
      <p:sp>
        <p:nvSpPr>
          <p:cNvPr id="25" name="Shape 18"/>
          <p:cNvSpPr/>
          <p:nvPr/>
        </p:nvSpPr>
        <p:spPr>
          <a:xfrm>
            <a:off x="6217920" y="2880360"/>
            <a:ext cx="73152" cy="960120"/>
          </a:xfrm>
          <a:prstGeom prst="rect">
            <a:avLst/>
          </a:prstGeom>
          <a:solidFill>
            <a:srgbClr val="B8651A"/>
          </a:solidFill>
          <a:ln w="12700">
            <a:solidFill>
              <a:srgbClr val="B8651A"/>
            </a:solidFill>
            <a:prstDash val="solid"/>
          </a:ln>
        </p:spPr>
      </p:sp>
      <p:pic>
        <p:nvPicPr>
          <p:cNvPr id="26" name="Image 5" descr="preencoded.png">    </p:cNvPr>
          <p:cNvPicPr>
            <a:picLocks noChangeAspect="1"/>
          </p:cNvPicPr>
          <p:nvPr/>
        </p:nvPicPr>
        <p:blipFill>
          <a:blip r:embed="rId6"/>
          <a:stretch>
            <a:fillRect/>
          </a:stretch>
        </p:blipFill>
        <p:spPr>
          <a:xfrm>
            <a:off x="6446520" y="3172968"/>
            <a:ext cx="365760" cy="365760"/>
          </a:xfrm>
          <a:prstGeom prst="rect">
            <a:avLst/>
          </a:prstGeom>
        </p:spPr>
      </p:pic>
      <p:sp>
        <p:nvSpPr>
          <p:cNvPr id="27" name="Text 19"/>
          <p:cNvSpPr/>
          <p:nvPr/>
        </p:nvSpPr>
        <p:spPr>
          <a:xfrm>
            <a:off x="6995160" y="288036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Mezclar Resultados con Métodos ("se midió X y dio Y").</a:t>
            </a:r>
            <a:endParaRPr lang="en-US" sz="1200" dirty="0"/>
          </a:p>
        </p:txBody>
      </p:sp>
      <p:sp>
        <p:nvSpPr>
          <p:cNvPr id="28" name="Shape 20"/>
          <p:cNvSpPr/>
          <p:nvPr/>
        </p:nvSpPr>
        <p:spPr>
          <a:xfrm>
            <a:off x="6217920" y="3977640"/>
            <a:ext cx="5532120" cy="960120"/>
          </a:xfrm>
          <a:prstGeom prst="rect">
            <a:avLst/>
          </a:prstGeom>
          <a:solidFill>
            <a:srgbClr val="F7F4ED"/>
          </a:solidFill>
          <a:ln w="12700">
            <a:solidFill>
              <a:srgbClr val="D9D2C0"/>
            </a:solidFill>
            <a:prstDash val="solid"/>
          </a:ln>
        </p:spPr>
      </p:sp>
      <p:sp>
        <p:nvSpPr>
          <p:cNvPr id="29" name="Shape 21"/>
          <p:cNvSpPr/>
          <p:nvPr/>
        </p:nvSpPr>
        <p:spPr>
          <a:xfrm>
            <a:off x="6217920" y="3977640"/>
            <a:ext cx="73152" cy="960120"/>
          </a:xfrm>
          <a:prstGeom prst="rect">
            <a:avLst/>
          </a:prstGeom>
          <a:solidFill>
            <a:srgbClr val="B8651A"/>
          </a:solidFill>
          <a:ln w="12700">
            <a:solidFill>
              <a:srgbClr val="B8651A"/>
            </a:solidFill>
            <a:prstDash val="solid"/>
          </a:ln>
        </p:spPr>
      </p:sp>
      <p:pic>
        <p:nvPicPr>
          <p:cNvPr id="30" name="Image 6" descr="preencoded.png">    </p:cNvPr>
          <p:cNvPicPr>
            <a:picLocks noChangeAspect="1"/>
          </p:cNvPicPr>
          <p:nvPr/>
        </p:nvPicPr>
        <p:blipFill>
          <a:blip r:embed="rId7"/>
          <a:stretch>
            <a:fillRect/>
          </a:stretch>
        </p:blipFill>
        <p:spPr>
          <a:xfrm>
            <a:off x="6446520" y="4270248"/>
            <a:ext cx="365760" cy="365760"/>
          </a:xfrm>
          <a:prstGeom prst="rect">
            <a:avLst/>
          </a:prstGeom>
        </p:spPr>
      </p:pic>
      <p:sp>
        <p:nvSpPr>
          <p:cNvPr id="31" name="Text 22"/>
          <p:cNvSpPr/>
          <p:nvPr/>
        </p:nvSpPr>
        <p:spPr>
          <a:xfrm>
            <a:off x="6995160" y="3977640"/>
            <a:ext cx="4663440" cy="9601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Citar literatura previa dentro de Resultados.</a:t>
            </a:r>
            <a:endParaRPr lang="en-US" sz="1200" dirty="0"/>
          </a:p>
        </p:txBody>
      </p:sp>
      <p:sp>
        <p:nvSpPr>
          <p:cNvPr id="32" name="Text 23"/>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33" name="Text 24"/>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21 / 25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EJERCICIO 1  ·  20 MINUTOS</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Diagnostica este párrafo de Resultados</a:t>
            </a:r>
            <a:endParaRPr lang="en-US" sz="3000" dirty="0"/>
          </a:p>
        </p:txBody>
      </p:sp>
      <p:sp>
        <p:nvSpPr>
          <p:cNvPr id="4" name="Shape 2"/>
          <p:cNvSpPr/>
          <p:nvPr/>
        </p:nvSpPr>
        <p:spPr>
          <a:xfrm>
            <a:off x="457200" y="1691640"/>
            <a:ext cx="6858000" cy="4572000"/>
          </a:xfrm>
          <a:prstGeom prst="rect">
            <a:avLst/>
          </a:prstGeom>
          <a:solidFill>
            <a:srgbClr val="FFFFFF"/>
          </a:solidFill>
          <a:ln w="19050">
            <a:solidFill>
              <a:srgbClr val="B8651A"/>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457200" y="1691640"/>
            <a:ext cx="6858000" cy="457200"/>
          </a:xfrm>
          <a:prstGeom prst="rect">
            <a:avLst/>
          </a:prstGeom>
          <a:solidFill>
            <a:srgbClr val="B8651A"/>
          </a:solidFill>
          <a:ln w="12700">
            <a:solidFill>
              <a:srgbClr val="B8651A"/>
            </a:solidFill>
            <a:prstDash val="solid"/>
          </a:ln>
        </p:spPr>
      </p:sp>
      <p:sp>
        <p:nvSpPr>
          <p:cNvPr id="6" name="Text 4"/>
          <p:cNvSpPr/>
          <p:nvPr/>
        </p:nvSpPr>
        <p:spPr>
          <a:xfrm>
            <a:off x="640080" y="1691640"/>
            <a:ext cx="6583680" cy="457200"/>
          </a:xfrm>
          <a:prstGeom prst="rect">
            <a:avLst/>
          </a:prstGeom>
          <a:noFill/>
          <a:ln/>
        </p:spPr>
        <p:txBody>
          <a:bodyPr wrap="square" lIns="0" tIns="0" rIns="0" bIns="0" rtlCol="0" anchor="ctr"/>
          <a:lstStyle/>
          <a:p>
            <a:pPr indent="0" marL="0">
              <a:buNone/>
            </a:pPr>
            <a:r>
              <a:rPr lang="en-US" sz="1200" b="1" spc="300" kern="0" dirty="0">
                <a:solidFill>
                  <a:srgbClr val="FFFFFF"/>
                </a:solidFill>
                <a:latin typeface="Calibri" pitchFamily="34" charset="0"/>
                <a:ea typeface="Calibri" pitchFamily="34" charset="-122"/>
                <a:cs typeface="Calibri" pitchFamily="34" charset="-120"/>
              </a:rPr>
              <a:t>RESULTADOS A DIAGNOSTICAR</a:t>
            </a:r>
            <a:endParaRPr lang="en-US" sz="1200" dirty="0"/>
          </a:p>
        </p:txBody>
      </p:sp>
      <p:sp>
        <p:nvSpPr>
          <p:cNvPr id="7" name="Text 5"/>
          <p:cNvSpPr/>
          <p:nvPr/>
        </p:nvSpPr>
        <p:spPr>
          <a:xfrm>
            <a:off x="685800" y="2331720"/>
            <a:ext cx="6400800" cy="3840480"/>
          </a:xfrm>
          <a:prstGeom prst="rect">
            <a:avLst/>
          </a:prstGeom>
          <a:noFill/>
          <a:ln/>
        </p:spPr>
        <p:txBody>
          <a:bodyPr wrap="square" lIns="0" tIns="0" rIns="0" bIns="0" rtlCol="0" anchor="ctr"/>
          <a:lstStyle/>
          <a:p>
            <a:pPr indent="0" marL="0">
              <a:lnSpc>
                <a:spcPct val="125000"/>
              </a:lnSpc>
              <a:buNone/>
            </a:pPr>
            <a:r>
              <a:rPr lang="en-US" sz="1200" i="1" dirty="0">
                <a:solidFill>
                  <a:srgbClr val="1A1A1A"/>
                </a:solidFill>
                <a:latin typeface="Calibri" pitchFamily="34" charset="0"/>
                <a:ea typeface="Calibri" pitchFamily="34" charset="-122"/>
                <a:cs typeface="Calibri" pitchFamily="34" charset="-120"/>
              </a:rPr>
              <a:t>"Se obtuvieron resultados muy interesantes. La cepa A tuvo 98 % de supervivencia, la cepa B tuvo 97 %, la cepa C tuvo 99 %, la cepa D tuvo 96 %. A 0.30 % de sales biliares todas las cepas bajaron. Esto demuestra que las cepas nativas son tan buenas como la cepa comercial, lo que confirma lo reportado por García (2023) en cacao ecuatoriano. Los datos fueron procesados estadísticamente y hubo diferencias significativas (p &lt; 0.05)."</a:t>
            </a:r>
            <a:endParaRPr lang="en-US" sz="1200" dirty="0"/>
          </a:p>
        </p:txBody>
      </p:sp>
      <p:sp>
        <p:nvSpPr>
          <p:cNvPr id="8" name="Shape 6"/>
          <p:cNvSpPr/>
          <p:nvPr/>
        </p:nvSpPr>
        <p:spPr>
          <a:xfrm>
            <a:off x="7589520" y="1691640"/>
            <a:ext cx="4114800" cy="4572000"/>
          </a:xfrm>
          <a:prstGeom prst="rect">
            <a:avLst/>
          </a:prstGeom>
          <a:solidFill>
            <a:srgbClr val="FFFFFF"/>
          </a:solidFill>
          <a:ln w="25400">
            <a:solidFill>
              <a:srgbClr val="97BC62"/>
            </a:solidFill>
            <a:prstDash val="solid"/>
          </a:ln>
          <a:effectLst>
            <a:outerShdw sx="100000" sy="100000" kx="0" ky="0" algn="bl" rotWithShape="0" blurRad="101600" dist="25400" dir="5400000">
              <a:srgbClr val="000000">
                <a:alpha val="12000"/>
              </a:srgbClr>
            </a:outerShdw>
          </a:effectLst>
        </p:spPr>
      </p:sp>
      <p:sp>
        <p:nvSpPr>
          <p:cNvPr id="9" name="Text 7"/>
          <p:cNvSpPr/>
          <p:nvPr/>
        </p:nvSpPr>
        <p:spPr>
          <a:xfrm>
            <a:off x="7818120" y="1828800"/>
            <a:ext cx="3657600" cy="411480"/>
          </a:xfrm>
          <a:prstGeom prst="rect">
            <a:avLst/>
          </a:prstGeom>
          <a:noFill/>
          <a:ln/>
        </p:spPr>
        <p:txBody>
          <a:bodyPr wrap="square" lIns="0" tIns="0" rIns="0" bIns="0" rtlCol="0" anchor="ctr"/>
          <a:lstStyle/>
          <a:p>
            <a:pPr indent="0" marL="0">
              <a:buNone/>
            </a:pPr>
            <a:r>
              <a:rPr lang="en-US" sz="2000" b="1" dirty="0">
                <a:solidFill>
                  <a:srgbClr val="1F3A2E"/>
                </a:solidFill>
                <a:latin typeface="Georgia" pitchFamily="34" charset="0"/>
                <a:ea typeface="Georgia" pitchFamily="34" charset="-122"/>
                <a:cs typeface="Georgia" pitchFamily="34" charset="-120"/>
              </a:rPr>
              <a:t>Tu tarea</a:t>
            </a:r>
            <a:endParaRPr lang="en-US" sz="2000" dirty="0"/>
          </a:p>
        </p:txBody>
      </p:sp>
      <p:sp>
        <p:nvSpPr>
          <p:cNvPr id="10" name="Text 8"/>
          <p:cNvSpPr/>
          <p:nvPr/>
        </p:nvSpPr>
        <p:spPr>
          <a:xfrm>
            <a:off x="7818120" y="2331720"/>
            <a:ext cx="3703320" cy="3657600"/>
          </a:xfrm>
          <a:prstGeom prst="rect">
            <a:avLst/>
          </a:prstGeom>
          <a:noFill/>
          <a:ln/>
        </p:spPr>
        <p:txBody>
          <a:bodyPr wrap="square" rtlCol="0" anchor="ctr"/>
          <a:lstStyle/>
          <a:p>
            <a:pPr marL="342900" indent="-342900">
              <a:spcAft>
                <a:spcPts val="8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¿Repite la tabla en texto?</a:t>
            </a:r>
            <a:endParaRPr lang="en-US" sz="1300" dirty="0"/>
          </a:p>
          <a:p>
            <a:pPr marL="342900" indent="-342900">
              <a:spcAft>
                <a:spcPts val="8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¿Interpreta en lugar de describir?</a:t>
            </a:r>
            <a:endParaRPr lang="en-US" sz="1300" dirty="0"/>
          </a:p>
          <a:p>
            <a:pPr marL="342900" indent="-342900">
              <a:spcAft>
                <a:spcPts val="8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¿Cita literatura previa?</a:t>
            </a:r>
            <a:endParaRPr lang="en-US" sz="1300" dirty="0"/>
          </a:p>
          <a:p>
            <a:pPr marL="342900" indent="-342900">
              <a:spcAft>
                <a:spcPts val="8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¿Reporta estadística completa?</a:t>
            </a:r>
            <a:endParaRPr lang="en-US" sz="1300" dirty="0"/>
          </a:p>
          <a:p>
            <a:pPr marL="342900" indent="-342900">
              <a:spcAft>
                <a:spcPts val="8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¿Falta referencia a Figura/Tabla?</a:t>
            </a:r>
            <a:endParaRPr lang="en-US" sz="1300" dirty="0"/>
          </a:p>
          <a:p>
            <a:pPr marL="342900" indent="-342900">
              <a:spcAft>
                <a:spcPts val="8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Encuentra 4 errores de la slide 21</a:t>
            </a:r>
            <a:endParaRPr lang="en-US" sz="1300" dirty="0"/>
          </a:p>
        </p:txBody>
      </p:sp>
      <p:sp>
        <p:nvSpPr>
          <p:cNvPr id="11" name="Shape 9"/>
          <p:cNvSpPr/>
          <p:nvPr/>
        </p:nvSpPr>
        <p:spPr>
          <a:xfrm>
            <a:off x="457200" y="6355080"/>
            <a:ext cx="11247120" cy="320040"/>
          </a:xfrm>
          <a:prstGeom prst="rect">
            <a:avLst/>
          </a:prstGeom>
          <a:solidFill>
            <a:srgbClr val="97BC62"/>
          </a:solidFill>
          <a:ln w="12700">
            <a:solidFill>
              <a:srgbClr val="97BC62"/>
            </a:solidFill>
            <a:prstDash val="solid"/>
          </a:ln>
        </p:spPr>
      </p:sp>
      <p:sp>
        <p:nvSpPr>
          <p:cNvPr id="12" name="Text 10"/>
          <p:cNvSpPr/>
          <p:nvPr/>
        </p:nvSpPr>
        <p:spPr>
          <a:xfrm>
            <a:off x="457200" y="6355080"/>
            <a:ext cx="11247120" cy="320040"/>
          </a:xfrm>
          <a:prstGeom prst="rect">
            <a:avLst/>
          </a:prstGeom>
          <a:noFill/>
          <a:ln/>
        </p:spPr>
        <p:txBody>
          <a:bodyPr wrap="square" lIns="0" tIns="0" rIns="0" bIns="0" rtlCol="0" anchor="ctr"/>
          <a:lstStyle/>
          <a:p>
            <a:pPr algn="ctr" indent="0" marL="0">
              <a:buNone/>
            </a:pPr>
            <a:r>
              <a:rPr lang="en-US" sz="1200" b="1" dirty="0">
                <a:solidFill>
                  <a:srgbClr val="1F3A2E"/>
                </a:solidFill>
                <a:latin typeface="Calibri" pitchFamily="34" charset="0"/>
                <a:ea typeface="Calibri" pitchFamily="34" charset="-122"/>
                <a:cs typeface="Calibri" pitchFamily="34" charset="-120"/>
              </a:rPr>
              <a:t>Reescribe el párrafo aplicando lo aprendido. Discutimos en plenaria.</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SOLUCIÓN DEL EJERCICIO 1</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Lo que falla en ese párrafo</a:t>
            </a:r>
            <a:endParaRPr lang="en-US" sz="3000" dirty="0"/>
          </a:p>
        </p:txBody>
      </p:sp>
      <p:sp>
        <p:nvSpPr>
          <p:cNvPr id="4" name="Shape 2"/>
          <p:cNvSpPr/>
          <p:nvPr/>
        </p:nvSpPr>
        <p:spPr>
          <a:xfrm>
            <a:off x="457200" y="1691640"/>
            <a:ext cx="2606040" cy="841248"/>
          </a:xfrm>
          <a:prstGeom prst="rect">
            <a:avLst/>
          </a:prstGeom>
          <a:solidFill>
            <a:srgbClr val="B8651A"/>
          </a:solidFill>
          <a:ln w="12700">
            <a:solidFill>
              <a:srgbClr val="B8651A"/>
            </a:solidFill>
            <a:prstDash val="solid"/>
          </a:ln>
        </p:spPr>
      </p:sp>
      <p:sp>
        <p:nvSpPr>
          <p:cNvPr id="5" name="Text 3"/>
          <p:cNvSpPr/>
          <p:nvPr/>
        </p:nvSpPr>
        <p:spPr>
          <a:xfrm>
            <a:off x="457200" y="1691640"/>
            <a:ext cx="2606040" cy="8412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ENTRADA</a:t>
            </a:r>
            <a:endParaRPr lang="en-US" sz="1200" dirty="0"/>
          </a:p>
        </p:txBody>
      </p:sp>
      <p:sp>
        <p:nvSpPr>
          <p:cNvPr id="6" name="Shape 4"/>
          <p:cNvSpPr/>
          <p:nvPr/>
        </p:nvSpPr>
        <p:spPr>
          <a:xfrm>
            <a:off x="3154680" y="1691640"/>
            <a:ext cx="8549640" cy="841248"/>
          </a:xfrm>
          <a:prstGeom prst="rect">
            <a:avLst/>
          </a:prstGeom>
          <a:solidFill>
            <a:srgbClr val="F7F4ED"/>
          </a:solidFill>
          <a:ln w="12700">
            <a:solidFill>
              <a:srgbClr val="D9D2C0"/>
            </a:solidFill>
            <a:prstDash val="solid"/>
          </a:ln>
        </p:spPr>
      </p:sp>
      <p:sp>
        <p:nvSpPr>
          <p:cNvPr id="7" name="Text 5"/>
          <p:cNvSpPr/>
          <p:nvPr/>
        </p:nvSpPr>
        <p:spPr>
          <a:xfrm>
            <a:off x="3337560" y="1728216"/>
            <a:ext cx="8275320" cy="768096"/>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"Resultados muy interesantes" es un adjetivo, no un hallazgo. Empieza por el dato.</a:t>
            </a:r>
            <a:endParaRPr lang="en-US" sz="1200" dirty="0"/>
          </a:p>
        </p:txBody>
      </p:sp>
      <p:sp>
        <p:nvSpPr>
          <p:cNvPr id="8" name="Shape 6"/>
          <p:cNvSpPr/>
          <p:nvPr/>
        </p:nvSpPr>
        <p:spPr>
          <a:xfrm>
            <a:off x="457200" y="2606040"/>
            <a:ext cx="2606040" cy="841248"/>
          </a:xfrm>
          <a:prstGeom prst="rect">
            <a:avLst/>
          </a:prstGeom>
          <a:solidFill>
            <a:srgbClr val="B8651A"/>
          </a:solidFill>
          <a:ln w="12700">
            <a:solidFill>
              <a:srgbClr val="B8651A"/>
            </a:solidFill>
            <a:prstDash val="solid"/>
          </a:ln>
        </p:spPr>
      </p:sp>
      <p:sp>
        <p:nvSpPr>
          <p:cNvPr id="9" name="Text 7"/>
          <p:cNvSpPr/>
          <p:nvPr/>
        </p:nvSpPr>
        <p:spPr>
          <a:xfrm>
            <a:off x="457200" y="2606040"/>
            <a:ext cx="2606040" cy="8412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REPETICIÓN</a:t>
            </a:r>
            <a:endParaRPr lang="en-US" sz="1200" dirty="0"/>
          </a:p>
        </p:txBody>
      </p:sp>
      <p:sp>
        <p:nvSpPr>
          <p:cNvPr id="10" name="Shape 8"/>
          <p:cNvSpPr/>
          <p:nvPr/>
        </p:nvSpPr>
        <p:spPr>
          <a:xfrm>
            <a:off x="3154680" y="2606040"/>
            <a:ext cx="8549640" cy="841248"/>
          </a:xfrm>
          <a:prstGeom prst="rect">
            <a:avLst/>
          </a:prstGeom>
          <a:solidFill>
            <a:srgbClr val="F7F4ED"/>
          </a:solidFill>
          <a:ln w="12700">
            <a:solidFill>
              <a:srgbClr val="D9D2C0"/>
            </a:solidFill>
            <a:prstDash val="solid"/>
          </a:ln>
        </p:spPr>
      </p:sp>
      <p:sp>
        <p:nvSpPr>
          <p:cNvPr id="11" name="Text 9"/>
          <p:cNvSpPr/>
          <p:nvPr/>
        </p:nvSpPr>
        <p:spPr>
          <a:xfrm>
            <a:off x="3337560" y="2642616"/>
            <a:ext cx="8275320" cy="768096"/>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Recita la tabla completa. El lector ya tiene los números frente a él.</a:t>
            </a:r>
            <a:endParaRPr lang="en-US" sz="1200" dirty="0"/>
          </a:p>
        </p:txBody>
      </p:sp>
      <p:sp>
        <p:nvSpPr>
          <p:cNvPr id="12" name="Shape 10"/>
          <p:cNvSpPr/>
          <p:nvPr/>
        </p:nvSpPr>
        <p:spPr>
          <a:xfrm>
            <a:off x="457200" y="3520440"/>
            <a:ext cx="2606040" cy="841248"/>
          </a:xfrm>
          <a:prstGeom prst="rect">
            <a:avLst/>
          </a:prstGeom>
          <a:solidFill>
            <a:srgbClr val="B8651A"/>
          </a:solidFill>
          <a:ln w="12700">
            <a:solidFill>
              <a:srgbClr val="B8651A"/>
            </a:solidFill>
            <a:prstDash val="solid"/>
          </a:ln>
        </p:spPr>
      </p:sp>
      <p:sp>
        <p:nvSpPr>
          <p:cNvPr id="13" name="Text 11"/>
          <p:cNvSpPr/>
          <p:nvPr/>
        </p:nvSpPr>
        <p:spPr>
          <a:xfrm>
            <a:off x="457200" y="3520440"/>
            <a:ext cx="2606040" cy="8412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INTERPRETACIÓN</a:t>
            </a:r>
            <a:endParaRPr lang="en-US" sz="1200" dirty="0"/>
          </a:p>
        </p:txBody>
      </p:sp>
      <p:sp>
        <p:nvSpPr>
          <p:cNvPr id="14" name="Shape 12"/>
          <p:cNvSpPr/>
          <p:nvPr/>
        </p:nvSpPr>
        <p:spPr>
          <a:xfrm>
            <a:off x="3154680" y="3520440"/>
            <a:ext cx="8549640" cy="841248"/>
          </a:xfrm>
          <a:prstGeom prst="rect">
            <a:avLst/>
          </a:prstGeom>
          <a:solidFill>
            <a:srgbClr val="F7F4ED"/>
          </a:solidFill>
          <a:ln w="12700">
            <a:solidFill>
              <a:srgbClr val="D9D2C0"/>
            </a:solidFill>
            <a:prstDash val="solid"/>
          </a:ln>
        </p:spPr>
      </p:sp>
      <p:sp>
        <p:nvSpPr>
          <p:cNvPr id="15" name="Text 13"/>
          <p:cNvSpPr/>
          <p:nvPr/>
        </p:nvSpPr>
        <p:spPr>
          <a:xfrm>
            <a:off x="3337560" y="3557016"/>
            <a:ext cx="8275320" cy="768096"/>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"Esto demuestra que…" pertenece a Discusión, no a Resultados.</a:t>
            </a:r>
            <a:endParaRPr lang="en-US" sz="1200" dirty="0"/>
          </a:p>
        </p:txBody>
      </p:sp>
      <p:sp>
        <p:nvSpPr>
          <p:cNvPr id="16" name="Shape 14"/>
          <p:cNvSpPr/>
          <p:nvPr/>
        </p:nvSpPr>
        <p:spPr>
          <a:xfrm>
            <a:off x="457200" y="4434840"/>
            <a:ext cx="2606040" cy="841248"/>
          </a:xfrm>
          <a:prstGeom prst="rect">
            <a:avLst/>
          </a:prstGeom>
          <a:solidFill>
            <a:srgbClr val="B8651A"/>
          </a:solidFill>
          <a:ln w="12700">
            <a:solidFill>
              <a:srgbClr val="B8651A"/>
            </a:solidFill>
            <a:prstDash val="solid"/>
          </a:ln>
        </p:spPr>
      </p:sp>
      <p:sp>
        <p:nvSpPr>
          <p:cNvPr id="17" name="Text 15"/>
          <p:cNvSpPr/>
          <p:nvPr/>
        </p:nvSpPr>
        <p:spPr>
          <a:xfrm>
            <a:off x="457200" y="4434840"/>
            <a:ext cx="2606040" cy="8412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CITAS</a:t>
            </a:r>
            <a:endParaRPr lang="en-US" sz="1200" dirty="0"/>
          </a:p>
        </p:txBody>
      </p:sp>
      <p:sp>
        <p:nvSpPr>
          <p:cNvPr id="18" name="Shape 16"/>
          <p:cNvSpPr/>
          <p:nvPr/>
        </p:nvSpPr>
        <p:spPr>
          <a:xfrm>
            <a:off x="3154680" y="4434840"/>
            <a:ext cx="8549640" cy="841248"/>
          </a:xfrm>
          <a:prstGeom prst="rect">
            <a:avLst/>
          </a:prstGeom>
          <a:solidFill>
            <a:srgbClr val="F7F4ED"/>
          </a:solidFill>
          <a:ln w="12700">
            <a:solidFill>
              <a:srgbClr val="D9D2C0"/>
            </a:solidFill>
            <a:prstDash val="solid"/>
          </a:ln>
        </p:spPr>
      </p:sp>
      <p:sp>
        <p:nvSpPr>
          <p:cNvPr id="19" name="Text 17"/>
          <p:cNvSpPr/>
          <p:nvPr/>
        </p:nvSpPr>
        <p:spPr>
          <a:xfrm>
            <a:off x="3337560" y="4471416"/>
            <a:ext cx="8275320" cy="768096"/>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García (2023) no va aquí. Las comparaciones con literatura previa van en Discusión.</a:t>
            </a:r>
            <a:endParaRPr lang="en-US" sz="1200" dirty="0"/>
          </a:p>
        </p:txBody>
      </p:sp>
      <p:sp>
        <p:nvSpPr>
          <p:cNvPr id="20" name="Shape 18"/>
          <p:cNvSpPr/>
          <p:nvPr/>
        </p:nvSpPr>
        <p:spPr>
          <a:xfrm>
            <a:off x="457200" y="5349240"/>
            <a:ext cx="2606040" cy="841248"/>
          </a:xfrm>
          <a:prstGeom prst="rect">
            <a:avLst/>
          </a:prstGeom>
          <a:solidFill>
            <a:srgbClr val="B8651A"/>
          </a:solidFill>
          <a:ln w="12700">
            <a:solidFill>
              <a:srgbClr val="B8651A"/>
            </a:solidFill>
            <a:prstDash val="solid"/>
          </a:ln>
        </p:spPr>
      </p:sp>
      <p:sp>
        <p:nvSpPr>
          <p:cNvPr id="21" name="Text 19"/>
          <p:cNvSpPr/>
          <p:nvPr/>
        </p:nvSpPr>
        <p:spPr>
          <a:xfrm>
            <a:off x="457200" y="5349240"/>
            <a:ext cx="2606040" cy="8412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ESTADÍSTICA</a:t>
            </a:r>
            <a:endParaRPr lang="en-US" sz="1200" dirty="0"/>
          </a:p>
        </p:txBody>
      </p:sp>
      <p:sp>
        <p:nvSpPr>
          <p:cNvPr id="22" name="Shape 20"/>
          <p:cNvSpPr/>
          <p:nvPr/>
        </p:nvSpPr>
        <p:spPr>
          <a:xfrm>
            <a:off x="3154680" y="5349240"/>
            <a:ext cx="8549640" cy="841248"/>
          </a:xfrm>
          <a:prstGeom prst="rect">
            <a:avLst/>
          </a:prstGeom>
          <a:solidFill>
            <a:srgbClr val="F7F4ED"/>
          </a:solidFill>
          <a:ln w="12700">
            <a:solidFill>
              <a:srgbClr val="D9D2C0"/>
            </a:solidFill>
            <a:prstDash val="solid"/>
          </a:ln>
        </p:spPr>
      </p:sp>
      <p:sp>
        <p:nvSpPr>
          <p:cNvPr id="23" name="Text 21"/>
          <p:cNvSpPr/>
          <p:nvPr/>
        </p:nvSpPr>
        <p:spPr>
          <a:xfrm>
            <a:off x="3337560" y="5385816"/>
            <a:ext cx="8275320" cy="768096"/>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"p &lt; 0.05" sin valor exacto, sin F, sin gl, sin tamaño de efecto, sin referencia a figura.</a:t>
            </a:r>
            <a:endParaRPr lang="en-US" sz="1200" dirty="0"/>
          </a:p>
        </p:txBody>
      </p:sp>
      <p:sp>
        <p:nvSpPr>
          <p:cNvPr id="24" name="Text 22"/>
          <p:cNvSpPr/>
          <p:nvPr/>
        </p:nvSpPr>
        <p:spPr>
          <a:xfrm>
            <a:off x="457200" y="6355080"/>
            <a:ext cx="11247120" cy="320040"/>
          </a:xfrm>
          <a:prstGeom prst="rect">
            <a:avLst/>
          </a:prstGeom>
          <a:noFill/>
          <a:ln/>
        </p:spPr>
        <p:txBody>
          <a:bodyPr wrap="square" lIns="0" tIns="0" rIns="0" bIns="0" rtlCol="0" anchor="ctr"/>
          <a:lstStyle/>
          <a:p>
            <a:pPr algn="ctr" indent="0" marL="0">
              <a:buNone/>
            </a:pPr>
            <a:r>
              <a:rPr lang="en-US" sz="1200" i="1" dirty="0">
                <a:solidFill>
                  <a:srgbClr val="2C5F2D"/>
                </a:solidFill>
                <a:latin typeface="Calibri" pitchFamily="34" charset="0"/>
                <a:ea typeface="Calibri" pitchFamily="34" charset="-122"/>
                <a:cs typeface="Calibri" pitchFamily="34" charset="-120"/>
              </a:rPr>
              <a:t>Compara con el párrafo modelo de la slide 19. Esa versión describe, no interpreta.</a:t>
            </a:r>
            <a:endParaRPr lang="en-US" sz="1200" dirty="0"/>
          </a:p>
        </p:txBody>
      </p:sp>
      <p:sp>
        <p:nvSpPr>
          <p:cNvPr id="25" name="Text 23"/>
          <p:cNvSpPr/>
          <p:nvPr/>
        </p:nvSpPr>
        <p:spPr>
          <a:xfrm>
            <a:off x="365760" y="6492240"/>
            <a:ext cx="5486400" cy="274320"/>
          </a:xfrm>
          <a:prstGeom prst="rect">
            <a:avLst/>
          </a:prstGeom>
          <a:noFill/>
          <a:ln/>
        </p:spPr>
        <p:txBody>
          <a:bodyPr wrap="square" lIns="0" tIns="0" rIns="0" bIns="0" rtlCol="0" anchor="ctr"/>
          <a:lstStyle/>
          <a:p>
            <a:pPr indent="0" marL="0">
              <a:buNone/>
            </a:pPr>
            <a:r>
              <a:rPr lang="en-US" sz="900" dirty="0">
                <a:solidFill>
                  <a:srgbClr val="5F6B5A"/>
                </a:solidFill>
                <a:latin typeface="Calibri" pitchFamily="34" charset="0"/>
                <a:ea typeface="Calibri" pitchFamily="34" charset="-122"/>
                <a:cs typeface="Calibri" pitchFamily="34" charset="-120"/>
              </a:rPr>
              <a:t>Trabajo Científico · @TCientifico</a:t>
            </a:r>
            <a:endParaRPr lang="en-US" sz="900" dirty="0"/>
          </a:p>
        </p:txBody>
      </p:sp>
      <p:sp>
        <p:nvSpPr>
          <p:cNvPr id="26" name="Text 24"/>
          <p:cNvSpPr/>
          <p:nvPr/>
        </p:nvSpPr>
        <p:spPr>
          <a:xfrm>
            <a:off x="11338560" y="6492240"/>
            <a:ext cx="548640" cy="274320"/>
          </a:xfrm>
          <a:prstGeom prst="rect">
            <a:avLst/>
          </a:prstGeom>
          <a:noFill/>
          <a:ln/>
        </p:spPr>
        <p:txBody>
          <a:bodyPr wrap="square" lIns="0" tIns="0" rIns="0" bIns="0" rtlCol="0" anchor="ctr"/>
          <a:lstStyle/>
          <a:p>
            <a:pPr algn="r" indent="0" marL="0">
              <a:buNone/>
            </a:pPr>
            <a:r>
              <a:rPr lang="en-US" sz="900" dirty="0">
                <a:solidFill>
                  <a:srgbClr val="5F6B5A"/>
                </a:solidFill>
                <a:latin typeface="Calibri" pitchFamily="34" charset="0"/>
                <a:ea typeface="Calibri" pitchFamily="34" charset="-122"/>
                <a:cs typeface="Calibri" pitchFamily="34" charset="-120"/>
              </a:rPr>
              <a:t>23 / 25</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457200" y="320040"/>
            <a:ext cx="10972800" cy="320040"/>
          </a:xfrm>
          <a:prstGeom prst="rect">
            <a:avLst/>
          </a:prstGeom>
          <a:noFill/>
          <a:ln/>
        </p:spPr>
        <p:txBody>
          <a:bodyPr wrap="square" lIns="0" tIns="0" rIns="0" bIns="0" rtlCol="0" anchor="ctr"/>
          <a:lstStyle/>
          <a:p>
            <a:pPr indent="0" marL="0">
              <a:buNone/>
            </a:pPr>
            <a:r>
              <a:rPr lang="en-US" sz="1100" b="1" spc="400" kern="0" dirty="0">
                <a:solidFill>
                  <a:srgbClr val="2C5F2D"/>
                </a:solidFill>
                <a:latin typeface="Calibri" pitchFamily="34" charset="0"/>
                <a:ea typeface="Calibri" pitchFamily="34" charset="-122"/>
                <a:cs typeface="Calibri" pitchFamily="34" charset="-120"/>
              </a:rPr>
              <a:t>EJERCICIO 2  ·  PARA LLEVAR</a:t>
            </a:r>
            <a:endParaRPr lang="en-US" sz="11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indent="0" marL="0">
              <a:buNone/>
            </a:pPr>
            <a:r>
              <a:rPr lang="en-US" sz="3000" b="1" dirty="0">
                <a:solidFill>
                  <a:srgbClr val="1F3A2E"/>
                </a:solidFill>
                <a:latin typeface="Georgia" pitchFamily="34" charset="0"/>
                <a:ea typeface="Georgia" pitchFamily="34" charset="-122"/>
                <a:cs typeface="Georgia" pitchFamily="34" charset="-120"/>
              </a:rPr>
              <a:t>Estructura los Resultados de tu propio estudio</a:t>
            </a:r>
            <a:endParaRPr lang="en-US" sz="3000" dirty="0"/>
          </a:p>
        </p:txBody>
      </p:sp>
      <p:sp>
        <p:nvSpPr>
          <p:cNvPr id="4" name="Shape 2"/>
          <p:cNvSpPr/>
          <p:nvPr/>
        </p:nvSpPr>
        <p:spPr>
          <a:xfrm>
            <a:off x="457200" y="1691640"/>
            <a:ext cx="11247120" cy="4572000"/>
          </a:xfrm>
          <a:prstGeom prst="rect">
            <a:avLst/>
          </a:prstGeom>
          <a:solidFill>
            <a:srgbClr val="FFFFFF"/>
          </a:solidFill>
          <a:ln w="25400">
            <a:solidFill>
              <a:srgbClr val="2C5F2D"/>
            </a:solidFill>
            <a:prstDash val="solid"/>
          </a:ln>
          <a:effectLst>
            <a:outerShdw sx="100000" sy="100000" kx="0" ky="0" algn="bl" rotWithShape="0" blurRad="101600" dist="254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777240" y="1920240"/>
            <a:ext cx="502920" cy="502920"/>
          </a:xfrm>
          <a:prstGeom prst="rect">
            <a:avLst/>
          </a:prstGeom>
        </p:spPr>
      </p:pic>
      <p:sp>
        <p:nvSpPr>
          <p:cNvPr id="6" name="Text 3"/>
          <p:cNvSpPr/>
          <p:nvPr/>
        </p:nvSpPr>
        <p:spPr>
          <a:xfrm>
            <a:off x="1417320" y="1874520"/>
            <a:ext cx="10058400" cy="548640"/>
          </a:xfrm>
          <a:prstGeom prst="rect">
            <a:avLst/>
          </a:prstGeom>
          <a:noFill/>
          <a:ln/>
        </p:spPr>
        <p:txBody>
          <a:bodyPr wrap="square" lIns="0" tIns="0" rIns="0" bIns="0" rtlCol="0" anchor="ctr"/>
          <a:lstStyle/>
          <a:p>
            <a:pPr indent="0" marL="0">
              <a:buNone/>
            </a:pPr>
            <a:r>
              <a:rPr lang="en-US" sz="2000" b="1" dirty="0">
                <a:solidFill>
                  <a:srgbClr val="1F3A2E"/>
                </a:solidFill>
                <a:latin typeface="Georgia" pitchFamily="34" charset="0"/>
                <a:ea typeface="Georgia" pitchFamily="34" charset="-122"/>
                <a:cs typeface="Georgia" pitchFamily="34" charset="-120"/>
              </a:rPr>
              <a:t>Plantilla en 5 pasos (figuras primero, texto después)</a:t>
            </a:r>
            <a:endParaRPr lang="en-US" sz="2000" dirty="0"/>
          </a:p>
        </p:txBody>
      </p:sp>
      <p:sp>
        <p:nvSpPr>
          <p:cNvPr id="7" name="Text 4"/>
          <p:cNvSpPr/>
          <p:nvPr/>
        </p:nvSpPr>
        <p:spPr>
          <a:xfrm>
            <a:off x="685800" y="2606040"/>
            <a:ext cx="457200" cy="594360"/>
          </a:xfrm>
          <a:prstGeom prst="rect">
            <a:avLst/>
          </a:prstGeom>
          <a:noFill/>
          <a:ln/>
        </p:spPr>
        <p:txBody>
          <a:bodyPr wrap="square" lIns="0" tIns="0" rIns="0" bIns="0" rtlCol="0" anchor="ctr"/>
          <a:lstStyle/>
          <a:p>
            <a:pPr indent="0" marL="0">
              <a:buNone/>
            </a:pPr>
            <a:r>
              <a:rPr lang="en-US" sz="2200" b="1" dirty="0">
                <a:solidFill>
                  <a:srgbClr val="2C5F2D"/>
                </a:solidFill>
                <a:latin typeface="Georgia" pitchFamily="34" charset="0"/>
                <a:ea typeface="Georgia" pitchFamily="34" charset="-122"/>
                <a:cs typeface="Georgia" pitchFamily="34" charset="-120"/>
              </a:rPr>
              <a:t>1.</a:t>
            </a:r>
            <a:endParaRPr lang="en-US" sz="2200" dirty="0"/>
          </a:p>
        </p:txBody>
      </p:sp>
      <p:sp>
        <p:nvSpPr>
          <p:cNvPr id="8" name="Text 5"/>
          <p:cNvSpPr/>
          <p:nvPr/>
        </p:nvSpPr>
        <p:spPr>
          <a:xfrm>
            <a:off x="1188720" y="2633472"/>
            <a:ext cx="1828800" cy="320040"/>
          </a:xfrm>
          <a:prstGeom prst="rect">
            <a:avLst/>
          </a:prstGeom>
          <a:noFill/>
          <a:ln/>
        </p:spPr>
        <p:txBody>
          <a:bodyPr wrap="square" lIns="0" tIns="0" rIns="0" bIns="0" rtlCol="0" anchor="ctr"/>
          <a:lstStyle/>
          <a:p>
            <a:pPr indent="0" marL="0">
              <a:buNone/>
            </a:pPr>
            <a:r>
              <a:rPr lang="en-US" sz="1100" b="1" spc="300" kern="0" dirty="0">
                <a:solidFill>
                  <a:srgbClr val="2C5F2D"/>
                </a:solidFill>
                <a:latin typeface="Calibri" pitchFamily="34" charset="0"/>
                <a:ea typeface="Calibri" pitchFamily="34" charset="-122"/>
                <a:cs typeface="Calibri" pitchFamily="34" charset="-120"/>
              </a:rPr>
              <a:t>DISEÑA</a:t>
            </a:r>
            <a:endParaRPr lang="en-US" sz="1100" dirty="0"/>
          </a:p>
        </p:txBody>
      </p:sp>
      <p:sp>
        <p:nvSpPr>
          <p:cNvPr id="9" name="Text 6"/>
          <p:cNvSpPr/>
          <p:nvPr/>
        </p:nvSpPr>
        <p:spPr>
          <a:xfrm>
            <a:off x="1188720" y="2898648"/>
            <a:ext cx="10332720" cy="411480"/>
          </a:xfrm>
          <a:prstGeom prst="rect">
            <a:avLst/>
          </a:prstGeom>
          <a:noFill/>
          <a:ln/>
        </p:spPr>
        <p:txBody>
          <a:bodyPr wrap="square" lIns="0" tIns="0" rIns="0" bIns="0"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Dibuja a mano las 3–5 figuras/tablas clave que responden a tus objetivos.</a:t>
            </a:r>
            <a:endParaRPr lang="en-US" sz="1200" dirty="0"/>
          </a:p>
        </p:txBody>
      </p:sp>
      <p:sp>
        <p:nvSpPr>
          <p:cNvPr id="10" name="Text 7"/>
          <p:cNvSpPr/>
          <p:nvPr/>
        </p:nvSpPr>
        <p:spPr>
          <a:xfrm>
            <a:off x="685800" y="3319272"/>
            <a:ext cx="457200" cy="594360"/>
          </a:xfrm>
          <a:prstGeom prst="rect">
            <a:avLst/>
          </a:prstGeom>
          <a:noFill/>
          <a:ln/>
        </p:spPr>
        <p:txBody>
          <a:bodyPr wrap="square" lIns="0" tIns="0" rIns="0" bIns="0" rtlCol="0" anchor="ctr"/>
          <a:lstStyle/>
          <a:p>
            <a:pPr indent="0" marL="0">
              <a:buNone/>
            </a:pPr>
            <a:r>
              <a:rPr lang="en-US" sz="2200" b="1" dirty="0">
                <a:solidFill>
                  <a:srgbClr val="2C5F2D"/>
                </a:solidFill>
                <a:latin typeface="Georgia" pitchFamily="34" charset="0"/>
                <a:ea typeface="Georgia" pitchFamily="34" charset="-122"/>
                <a:cs typeface="Georgia" pitchFamily="34" charset="-120"/>
              </a:rPr>
              <a:t>2.</a:t>
            </a:r>
            <a:endParaRPr lang="en-US" sz="2200" dirty="0"/>
          </a:p>
        </p:txBody>
      </p:sp>
      <p:sp>
        <p:nvSpPr>
          <p:cNvPr id="11" name="Text 8"/>
          <p:cNvSpPr/>
          <p:nvPr/>
        </p:nvSpPr>
        <p:spPr>
          <a:xfrm>
            <a:off x="1188720" y="3346704"/>
            <a:ext cx="1828800" cy="320040"/>
          </a:xfrm>
          <a:prstGeom prst="rect">
            <a:avLst/>
          </a:prstGeom>
          <a:noFill/>
          <a:ln/>
        </p:spPr>
        <p:txBody>
          <a:bodyPr wrap="square" lIns="0" tIns="0" rIns="0" bIns="0" rtlCol="0" anchor="ctr"/>
          <a:lstStyle/>
          <a:p>
            <a:pPr indent="0" marL="0">
              <a:buNone/>
            </a:pPr>
            <a:r>
              <a:rPr lang="en-US" sz="1100" b="1" spc="300" kern="0" dirty="0">
                <a:solidFill>
                  <a:srgbClr val="2C5F2D"/>
                </a:solidFill>
                <a:latin typeface="Calibri" pitchFamily="34" charset="0"/>
                <a:ea typeface="Calibri" pitchFamily="34" charset="-122"/>
                <a:cs typeface="Calibri" pitchFamily="34" charset="-120"/>
              </a:rPr>
              <a:t>ORDENA</a:t>
            </a:r>
            <a:endParaRPr lang="en-US" sz="1100" dirty="0"/>
          </a:p>
        </p:txBody>
      </p:sp>
      <p:sp>
        <p:nvSpPr>
          <p:cNvPr id="12" name="Text 9"/>
          <p:cNvSpPr/>
          <p:nvPr/>
        </p:nvSpPr>
        <p:spPr>
          <a:xfrm>
            <a:off x="1188720" y="3611880"/>
            <a:ext cx="10332720" cy="411480"/>
          </a:xfrm>
          <a:prstGeom prst="rect">
            <a:avLst/>
          </a:prstGeom>
          <a:noFill/>
          <a:ln/>
        </p:spPr>
        <p:txBody>
          <a:bodyPr wrap="square" lIns="0" tIns="0" rIns="0" bIns="0"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Numéralas en el orden en que apoyan tus objetivos: Fig. 1, Tabla 1, Fig. 2, etc.</a:t>
            </a:r>
            <a:endParaRPr lang="en-US" sz="1200" dirty="0"/>
          </a:p>
        </p:txBody>
      </p:sp>
      <p:sp>
        <p:nvSpPr>
          <p:cNvPr id="13" name="Text 10"/>
          <p:cNvSpPr/>
          <p:nvPr/>
        </p:nvSpPr>
        <p:spPr>
          <a:xfrm>
            <a:off x="685800" y="4032504"/>
            <a:ext cx="457200" cy="594360"/>
          </a:xfrm>
          <a:prstGeom prst="rect">
            <a:avLst/>
          </a:prstGeom>
          <a:noFill/>
          <a:ln/>
        </p:spPr>
        <p:txBody>
          <a:bodyPr wrap="square" lIns="0" tIns="0" rIns="0" bIns="0" rtlCol="0" anchor="ctr"/>
          <a:lstStyle/>
          <a:p>
            <a:pPr indent="0" marL="0">
              <a:buNone/>
            </a:pPr>
            <a:r>
              <a:rPr lang="en-US" sz="2200" b="1" dirty="0">
                <a:solidFill>
                  <a:srgbClr val="2C5F2D"/>
                </a:solidFill>
                <a:latin typeface="Georgia" pitchFamily="34" charset="0"/>
                <a:ea typeface="Georgia" pitchFamily="34" charset="-122"/>
                <a:cs typeface="Georgia" pitchFamily="34" charset="-120"/>
              </a:rPr>
              <a:t>3.</a:t>
            </a:r>
            <a:endParaRPr lang="en-US" sz="2200" dirty="0"/>
          </a:p>
        </p:txBody>
      </p:sp>
      <p:sp>
        <p:nvSpPr>
          <p:cNvPr id="14" name="Text 11"/>
          <p:cNvSpPr/>
          <p:nvPr/>
        </p:nvSpPr>
        <p:spPr>
          <a:xfrm>
            <a:off x="1188720" y="4059936"/>
            <a:ext cx="1828800" cy="320040"/>
          </a:xfrm>
          <a:prstGeom prst="rect">
            <a:avLst/>
          </a:prstGeom>
          <a:noFill/>
          <a:ln/>
        </p:spPr>
        <p:txBody>
          <a:bodyPr wrap="square" lIns="0" tIns="0" rIns="0" bIns="0" rtlCol="0" anchor="ctr"/>
          <a:lstStyle/>
          <a:p>
            <a:pPr indent="0" marL="0">
              <a:buNone/>
            </a:pPr>
            <a:r>
              <a:rPr lang="en-US" sz="1100" b="1" spc="300" kern="0" dirty="0">
                <a:solidFill>
                  <a:srgbClr val="2C5F2D"/>
                </a:solidFill>
                <a:latin typeface="Calibri" pitchFamily="34" charset="0"/>
                <a:ea typeface="Calibri" pitchFamily="34" charset="-122"/>
                <a:cs typeface="Calibri" pitchFamily="34" charset="-120"/>
              </a:rPr>
              <a:t>CAPTIONS</a:t>
            </a:r>
            <a:endParaRPr lang="en-US" sz="1100" dirty="0"/>
          </a:p>
        </p:txBody>
      </p:sp>
      <p:sp>
        <p:nvSpPr>
          <p:cNvPr id="15" name="Text 12"/>
          <p:cNvSpPr/>
          <p:nvPr/>
        </p:nvSpPr>
        <p:spPr>
          <a:xfrm>
            <a:off x="1188720" y="4325112"/>
            <a:ext cx="10332720" cy="411480"/>
          </a:xfrm>
          <a:prstGeom prst="rect">
            <a:avLst/>
          </a:prstGeom>
          <a:noFill/>
          <a:ln/>
        </p:spPr>
        <p:txBody>
          <a:bodyPr wrap="square" lIns="0" tIns="0" rIns="0" bIns="0"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Escribe el pie de cada una con: número + qué muestra + n + símbolos + errores.</a:t>
            </a:r>
            <a:endParaRPr lang="en-US" sz="1200" dirty="0"/>
          </a:p>
        </p:txBody>
      </p:sp>
      <p:sp>
        <p:nvSpPr>
          <p:cNvPr id="16" name="Text 13"/>
          <p:cNvSpPr/>
          <p:nvPr/>
        </p:nvSpPr>
        <p:spPr>
          <a:xfrm>
            <a:off x="685800" y="4745736"/>
            <a:ext cx="457200" cy="594360"/>
          </a:xfrm>
          <a:prstGeom prst="rect">
            <a:avLst/>
          </a:prstGeom>
          <a:noFill/>
          <a:ln/>
        </p:spPr>
        <p:txBody>
          <a:bodyPr wrap="square" lIns="0" tIns="0" rIns="0" bIns="0" rtlCol="0" anchor="ctr"/>
          <a:lstStyle/>
          <a:p>
            <a:pPr indent="0" marL="0">
              <a:buNone/>
            </a:pPr>
            <a:r>
              <a:rPr lang="en-US" sz="2200" b="1" dirty="0">
                <a:solidFill>
                  <a:srgbClr val="2C5F2D"/>
                </a:solidFill>
                <a:latin typeface="Georgia" pitchFamily="34" charset="0"/>
                <a:ea typeface="Georgia" pitchFamily="34" charset="-122"/>
                <a:cs typeface="Georgia" pitchFamily="34" charset="-120"/>
              </a:rPr>
              <a:t>4.</a:t>
            </a:r>
            <a:endParaRPr lang="en-US" sz="2200" dirty="0"/>
          </a:p>
        </p:txBody>
      </p:sp>
      <p:sp>
        <p:nvSpPr>
          <p:cNvPr id="17" name="Text 14"/>
          <p:cNvSpPr/>
          <p:nvPr/>
        </p:nvSpPr>
        <p:spPr>
          <a:xfrm>
            <a:off x="1188720" y="4773168"/>
            <a:ext cx="1828800" cy="320040"/>
          </a:xfrm>
          <a:prstGeom prst="rect">
            <a:avLst/>
          </a:prstGeom>
          <a:noFill/>
          <a:ln/>
        </p:spPr>
        <p:txBody>
          <a:bodyPr wrap="square" lIns="0" tIns="0" rIns="0" bIns="0" rtlCol="0" anchor="ctr"/>
          <a:lstStyle/>
          <a:p>
            <a:pPr indent="0" marL="0">
              <a:buNone/>
            </a:pPr>
            <a:r>
              <a:rPr lang="en-US" sz="1100" b="1" spc="300" kern="0" dirty="0">
                <a:solidFill>
                  <a:srgbClr val="2C5F2D"/>
                </a:solidFill>
                <a:latin typeface="Calibri" pitchFamily="34" charset="0"/>
                <a:ea typeface="Calibri" pitchFamily="34" charset="-122"/>
                <a:cs typeface="Calibri" pitchFamily="34" charset="-120"/>
              </a:rPr>
              <a:t>PÁRRAFOS</a:t>
            </a:r>
            <a:endParaRPr lang="en-US" sz="1100" dirty="0"/>
          </a:p>
        </p:txBody>
      </p:sp>
      <p:sp>
        <p:nvSpPr>
          <p:cNvPr id="18" name="Text 15"/>
          <p:cNvSpPr/>
          <p:nvPr/>
        </p:nvSpPr>
        <p:spPr>
          <a:xfrm>
            <a:off x="1188720" y="5038344"/>
            <a:ext cx="10332720" cy="411480"/>
          </a:xfrm>
          <a:prstGeom prst="rect">
            <a:avLst/>
          </a:prstGeom>
          <a:noFill/>
          <a:ln/>
        </p:spPr>
        <p:txBody>
          <a:bodyPr wrap="square" lIns="0" tIns="0" rIns="0" bIns="0"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Un párrafo por figura/tabla: apunta, resalta lo importante, reporta estadística.</a:t>
            </a:r>
            <a:endParaRPr lang="en-US" sz="1200" dirty="0"/>
          </a:p>
        </p:txBody>
      </p:sp>
      <p:sp>
        <p:nvSpPr>
          <p:cNvPr id="19" name="Text 16"/>
          <p:cNvSpPr/>
          <p:nvPr/>
        </p:nvSpPr>
        <p:spPr>
          <a:xfrm>
            <a:off x="685800" y="5458968"/>
            <a:ext cx="457200" cy="594360"/>
          </a:xfrm>
          <a:prstGeom prst="rect">
            <a:avLst/>
          </a:prstGeom>
          <a:noFill/>
          <a:ln/>
        </p:spPr>
        <p:txBody>
          <a:bodyPr wrap="square" lIns="0" tIns="0" rIns="0" bIns="0" rtlCol="0" anchor="ctr"/>
          <a:lstStyle/>
          <a:p>
            <a:pPr indent="0" marL="0">
              <a:buNone/>
            </a:pPr>
            <a:r>
              <a:rPr lang="en-US" sz="2200" b="1" dirty="0">
                <a:solidFill>
                  <a:srgbClr val="2C5F2D"/>
                </a:solidFill>
                <a:latin typeface="Georgia" pitchFamily="34" charset="0"/>
                <a:ea typeface="Georgia" pitchFamily="34" charset="-122"/>
                <a:cs typeface="Georgia" pitchFamily="34" charset="-120"/>
              </a:rPr>
              <a:t>5.</a:t>
            </a:r>
            <a:endParaRPr lang="en-US" sz="2200" dirty="0"/>
          </a:p>
        </p:txBody>
      </p:sp>
      <p:sp>
        <p:nvSpPr>
          <p:cNvPr id="20" name="Text 17"/>
          <p:cNvSpPr/>
          <p:nvPr/>
        </p:nvSpPr>
        <p:spPr>
          <a:xfrm>
            <a:off x="1188720" y="5486400"/>
            <a:ext cx="1828800" cy="320040"/>
          </a:xfrm>
          <a:prstGeom prst="rect">
            <a:avLst/>
          </a:prstGeom>
          <a:noFill/>
          <a:ln/>
        </p:spPr>
        <p:txBody>
          <a:bodyPr wrap="square" lIns="0" tIns="0" rIns="0" bIns="0" rtlCol="0" anchor="ctr"/>
          <a:lstStyle/>
          <a:p>
            <a:pPr indent="0" marL="0">
              <a:buNone/>
            </a:pPr>
            <a:r>
              <a:rPr lang="en-US" sz="1100" b="1" spc="300" kern="0" dirty="0">
                <a:solidFill>
                  <a:srgbClr val="2C5F2D"/>
                </a:solidFill>
                <a:latin typeface="Calibri" pitchFamily="34" charset="0"/>
                <a:ea typeface="Calibri" pitchFamily="34" charset="-122"/>
                <a:cs typeface="Calibri" pitchFamily="34" charset="-120"/>
              </a:rPr>
              <a:t>REVISA</a:t>
            </a:r>
            <a:endParaRPr lang="en-US" sz="1100" dirty="0"/>
          </a:p>
        </p:txBody>
      </p:sp>
      <p:sp>
        <p:nvSpPr>
          <p:cNvPr id="21" name="Text 18"/>
          <p:cNvSpPr/>
          <p:nvPr/>
        </p:nvSpPr>
        <p:spPr>
          <a:xfrm>
            <a:off x="1188720" y="5751576"/>
            <a:ext cx="10332720" cy="411480"/>
          </a:xfrm>
          <a:prstGeom prst="rect">
            <a:avLst/>
          </a:prstGeom>
          <a:noFill/>
          <a:ln/>
        </p:spPr>
        <p:txBody>
          <a:bodyPr wrap="square" lIns="0" tIns="0" rIns="0" bIns="0"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Borra interpretaciones, citas y frases tipo "esto demuestra que…".</a:t>
            </a:r>
            <a:endParaRPr lang="en-US" sz="1200" dirty="0"/>
          </a:p>
        </p:txBody>
      </p:sp>
      <p:sp>
        <p:nvSpPr>
          <p:cNvPr id="22" name="Shape 19"/>
          <p:cNvSpPr/>
          <p:nvPr/>
        </p:nvSpPr>
        <p:spPr>
          <a:xfrm>
            <a:off x="457200" y="6355080"/>
            <a:ext cx="11247120" cy="320040"/>
          </a:xfrm>
          <a:prstGeom prst="rect">
            <a:avLst/>
          </a:prstGeom>
          <a:solidFill>
            <a:srgbClr val="2C5F2D"/>
          </a:solidFill>
          <a:ln w="12700">
            <a:solidFill>
              <a:srgbClr val="2C5F2D"/>
            </a:solidFill>
            <a:prstDash val="solid"/>
          </a:ln>
        </p:spPr>
      </p:sp>
      <p:sp>
        <p:nvSpPr>
          <p:cNvPr id="23" name="Text 20"/>
          <p:cNvSpPr/>
          <p:nvPr/>
        </p:nvSpPr>
        <p:spPr>
          <a:xfrm>
            <a:off x="457200" y="6355080"/>
            <a:ext cx="1124712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Entregable: 3 figuras/tablas con sus pies + 3 párrafos modelo aplicados a tu estudio.</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F3A2E"/>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97BC62"/>
          </a:solidFill>
          <a:ln w="12700">
            <a:solidFill>
              <a:srgbClr val="97BC62"/>
            </a:solidFill>
            <a:prstDash val="solid"/>
          </a:ln>
        </p:spPr>
      </p:sp>
      <p:sp>
        <p:nvSpPr>
          <p:cNvPr id="3" name="Text 1"/>
          <p:cNvSpPr/>
          <p:nvPr/>
        </p:nvSpPr>
        <p:spPr>
          <a:xfrm>
            <a:off x="822960" y="1280160"/>
            <a:ext cx="10058400" cy="1097280"/>
          </a:xfrm>
          <a:prstGeom prst="rect">
            <a:avLst/>
          </a:prstGeom>
          <a:noFill/>
          <a:ln/>
        </p:spPr>
        <p:txBody>
          <a:bodyPr wrap="square" lIns="0" tIns="0" rIns="0" bIns="0" rtlCol="0" anchor="ctr"/>
          <a:lstStyle/>
          <a:p>
            <a:pPr indent="0" marL="0">
              <a:buNone/>
            </a:pPr>
            <a:r>
              <a:rPr lang="en-US" sz="7200" b="1" spc="1200" kern="0" dirty="0">
                <a:solidFill>
                  <a:srgbClr val="FFFFFF"/>
                </a:solidFill>
                <a:latin typeface="Georgia" pitchFamily="34" charset="0"/>
                <a:ea typeface="Georgia" pitchFamily="34" charset="-122"/>
                <a:cs typeface="Georgia" pitchFamily="34" charset="-120"/>
              </a:rPr>
              <a:t>GRACIAS</a:t>
            </a:r>
            <a:endParaRPr lang="en-US" sz="7200" dirty="0"/>
          </a:p>
        </p:txBody>
      </p:sp>
      <p:sp>
        <p:nvSpPr>
          <p:cNvPr id="4" name="Text 2"/>
          <p:cNvSpPr/>
          <p:nvPr/>
        </p:nvSpPr>
        <p:spPr>
          <a:xfrm>
            <a:off x="822960" y="2606040"/>
            <a:ext cx="10424160" cy="1280160"/>
          </a:xfrm>
          <a:prstGeom prst="rect">
            <a:avLst/>
          </a:prstGeom>
          <a:noFill/>
          <a:ln/>
        </p:spPr>
        <p:txBody>
          <a:bodyPr wrap="square" lIns="0" tIns="0" rIns="0" bIns="0" rtlCol="0" anchor="ctr"/>
          <a:lstStyle/>
          <a:p>
            <a:pPr indent="0" marL="0">
              <a:lnSpc>
                <a:spcPct val="125000"/>
              </a:lnSpc>
              <a:buNone/>
            </a:pPr>
            <a:r>
              <a:rPr lang="en-US" sz="2200" i="1" dirty="0">
                <a:solidFill>
                  <a:srgbClr val="CADCFC"/>
                </a:solidFill>
                <a:latin typeface="Georgia" pitchFamily="34" charset="0"/>
                <a:ea typeface="Georgia" pitchFamily="34" charset="-122"/>
                <a:cs typeface="Georgia" pitchFamily="34" charset="-120"/>
              </a:rPr>
              <a:t>Tus Resultados muestran. No demuestran. No interpretan. No comparan. Solo muestran — con números precisos.</a:t>
            </a:r>
            <a:endParaRPr lang="en-US" sz="2200" dirty="0"/>
          </a:p>
        </p:txBody>
      </p:sp>
      <p:sp>
        <p:nvSpPr>
          <p:cNvPr id="5" name="Shape 3"/>
          <p:cNvSpPr/>
          <p:nvPr/>
        </p:nvSpPr>
        <p:spPr>
          <a:xfrm>
            <a:off x="822960" y="4160520"/>
            <a:ext cx="10424160" cy="1783080"/>
          </a:xfrm>
          <a:prstGeom prst="rect">
            <a:avLst/>
          </a:prstGeom>
          <a:solidFill>
            <a:srgbClr val="2C5F2D"/>
          </a:solidFill>
          <a:ln w="12700">
            <a:solidFill>
              <a:srgbClr val="2C5F2D"/>
            </a:solidFill>
            <a:prstDash val="solid"/>
          </a:ln>
        </p:spPr>
      </p:sp>
      <p:sp>
        <p:nvSpPr>
          <p:cNvPr id="6" name="Text 4"/>
          <p:cNvSpPr/>
          <p:nvPr/>
        </p:nvSpPr>
        <p:spPr>
          <a:xfrm>
            <a:off x="1097280" y="4297680"/>
            <a:ext cx="10058400" cy="365760"/>
          </a:xfrm>
          <a:prstGeom prst="rect">
            <a:avLst/>
          </a:prstGeom>
          <a:noFill/>
          <a:ln/>
        </p:spPr>
        <p:txBody>
          <a:bodyPr wrap="square" lIns="0" tIns="0" rIns="0" bIns="0" rtlCol="0" anchor="ctr"/>
          <a:lstStyle/>
          <a:p>
            <a:pPr indent="0" marL="0">
              <a:buNone/>
            </a:pPr>
            <a:r>
              <a:rPr lang="en-US" sz="1200" b="1" spc="400" kern="0" dirty="0">
                <a:solidFill>
                  <a:srgbClr val="97BC62"/>
                </a:solidFill>
                <a:latin typeface="Calibri" pitchFamily="34" charset="0"/>
                <a:ea typeface="Calibri" pitchFamily="34" charset="-122"/>
                <a:cs typeface="Calibri" pitchFamily="34" charset="-120"/>
              </a:rPr>
              <a:t>PARA SEGUIR APRENDIENDO</a:t>
            </a:r>
            <a:endParaRPr lang="en-US" sz="1200" dirty="0"/>
          </a:p>
        </p:txBody>
      </p:sp>
      <p:sp>
        <p:nvSpPr>
          <p:cNvPr id="7" name="Text 5"/>
          <p:cNvSpPr/>
          <p:nvPr/>
        </p:nvSpPr>
        <p:spPr>
          <a:xfrm>
            <a:off x="1097280" y="4663440"/>
            <a:ext cx="10058400" cy="1234440"/>
          </a:xfrm>
          <a:prstGeom prst="rect">
            <a:avLst/>
          </a:prstGeom>
          <a:noFill/>
          <a:ln/>
        </p:spPr>
        <p:txBody>
          <a:bodyPr wrap="square" lIns="0" tIns="0" rIns="0" bIns="0" rtlCol="0" anchor="ctr"/>
          <a:lstStyle/>
          <a:p>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Claus O. Wilke · </a:t>
            </a:r>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Fundamentals of Data Visualization (clauswilke.com/dataviz)</a:t>
            </a:r>
            <a:endParaRPr lang="en-US" sz="1300" dirty="0"/>
          </a:p>
          <a:p>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Edward Tufte · </a:t>
            </a:r>
            <a:pPr indent="0" marL="0">
              <a:lnSpc>
                <a:spcPct val="125000"/>
              </a:lnSpc>
              <a:buNone/>
            </a:pPr>
            <a:r>
              <a:rPr lang="en-US" sz="1300" i="1" dirty="0">
                <a:solidFill>
                  <a:srgbClr val="CADCFC"/>
                </a:solidFill>
                <a:latin typeface="Calibri" pitchFamily="34" charset="0"/>
                <a:ea typeface="Calibri" pitchFamily="34" charset="-122"/>
                <a:cs typeface="Calibri" pitchFamily="34" charset="-120"/>
              </a:rPr>
              <a:t>The Visual Display of Quantitative Information</a:t>
            </a:r>
            <a:endParaRPr lang="en-US" sz="1300" dirty="0"/>
          </a:p>
          <a:p>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Cumming et al. · </a:t>
            </a:r>
            <a:pPr indent="0" marL="0">
              <a:lnSpc>
                <a:spcPct val="125000"/>
              </a:lnSpc>
              <a:buNone/>
            </a:pPr>
            <a:r>
              <a:rPr lang="en-US" sz="1300" i="1" dirty="0">
                <a:solidFill>
                  <a:srgbClr val="CADCFC"/>
                </a:solidFill>
                <a:latin typeface="Calibri" pitchFamily="34" charset="0"/>
                <a:ea typeface="Calibri" pitchFamily="34" charset="-122"/>
                <a:cs typeface="Calibri" pitchFamily="34" charset="-120"/>
              </a:rPr>
              <a:t>Error bars in experimental biology (J Cell Biol, 2007)</a:t>
            </a:r>
            <a:endParaRPr lang="en-US" sz="1300" dirty="0"/>
          </a:p>
          <a:p>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Trabajo Científico (YouTube) · </a:t>
            </a:r>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playlist de visualización con ggplot2 y matplotlib</a:t>
            </a:r>
            <a:endParaRPr lang="en-US" sz="1300" dirty="0"/>
          </a:p>
        </p:txBody>
      </p:sp>
      <p:sp>
        <p:nvSpPr>
          <p:cNvPr id="8" name="Text 6"/>
          <p:cNvSpPr/>
          <p:nvPr/>
        </p:nvSpPr>
        <p:spPr>
          <a:xfrm>
            <a:off x="822960" y="6172200"/>
            <a:ext cx="10424160" cy="320040"/>
          </a:xfrm>
          <a:prstGeom prst="rect">
            <a:avLst/>
          </a:prstGeom>
          <a:noFill/>
          <a:ln/>
        </p:spPr>
        <p:txBody>
          <a:bodyPr wrap="square" lIns="0" tIns="0" rIns="0" bIns="0" rtlCol="0" anchor="ctr"/>
          <a:lstStyle/>
          <a:p>
            <a:pPr indent="0" marL="0">
              <a:buNone/>
            </a:pPr>
            <a:r>
              <a:rPr lang="en-US" sz="1200" dirty="0">
                <a:solidFill>
                  <a:srgbClr val="97BC62"/>
                </a:solidFill>
                <a:latin typeface="Calibri" pitchFamily="34" charset="0"/>
                <a:ea typeface="Calibri" pitchFamily="34" charset="-122"/>
                <a:cs typeface="Calibri" pitchFamily="34" charset="-120"/>
              </a:rPr>
              <a:t>Oscar Iván Vargas Pineda, PhD  ·  Trabajo Científico  ·  @TCientifico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Cómo escribir Resultados</dc:title>
  <dc:subject>PptxGenJS Presentation</dc:subject>
  <dc:creator>Oscar Iván Vargas Pineda · Trabajo Científico</dc:creator>
  <cp:lastModifiedBy>Oscar Iván Vargas Pineda · Trabajo Científico</cp:lastModifiedBy>
  <cp:revision>1</cp:revision>
  <dcterms:created xsi:type="dcterms:W3CDTF">2026-05-12T00:42:32Z</dcterms:created>
  <dcterms:modified xsi:type="dcterms:W3CDTF">2026-05-12T00:42:32Z</dcterms:modified>
</cp:coreProperties>
</file>