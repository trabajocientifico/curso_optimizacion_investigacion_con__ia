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822960"/>
            <a:ext cx="10058400" cy="365760"/>
          </a:xfrm>
          <a:prstGeom prst="rect">
            <a:avLst/>
          </a:prstGeom>
          <a:noFill/>
          <a:ln/>
        </p:spPr>
        <p:txBody>
          <a:bodyPr wrap="square" lIns="0" tIns="0" rIns="0" bIns="0" rtlCol="0" anchor="ctr"/>
          <a:lstStyle/>
          <a:p>
            <a:pPr indent="0" marL="0">
              <a:buNone/>
            </a:pPr>
            <a:r>
              <a:rPr lang="en-US" sz="1300" b="1" spc="600" kern="0" dirty="0">
                <a:solidFill>
                  <a:srgbClr val="97BC62"/>
                </a:solidFill>
                <a:latin typeface="Calibri" pitchFamily="34" charset="0"/>
                <a:ea typeface="Calibri" pitchFamily="34" charset="-122"/>
                <a:cs typeface="Calibri" pitchFamily="34" charset="-120"/>
              </a:rPr>
              <a:t>TRABAJO CIENTÍFICO  ·  TALLER ESPECIALIZADO</a:t>
            </a:r>
            <a:endParaRPr lang="en-US" sz="1300" dirty="0"/>
          </a:p>
        </p:txBody>
      </p:sp>
      <p:sp>
        <p:nvSpPr>
          <p:cNvPr id="4" name="Text 2"/>
          <p:cNvSpPr/>
          <p:nvPr/>
        </p:nvSpPr>
        <p:spPr>
          <a:xfrm>
            <a:off x="822960" y="1371600"/>
            <a:ext cx="10515600" cy="1188720"/>
          </a:xfrm>
          <a:prstGeom prst="rect">
            <a:avLst/>
          </a:prstGeom>
          <a:noFill/>
          <a:ln/>
        </p:spPr>
        <p:txBody>
          <a:bodyPr wrap="square" lIns="0" tIns="0" rIns="0" bIns="0" rtlCol="0" anchor="ctr"/>
          <a:lstStyle/>
          <a:p>
            <a:pPr indent="0" marL="0">
              <a:buNone/>
            </a:pPr>
            <a:r>
              <a:rPr lang="en-US" sz="6800" b="1" dirty="0">
                <a:solidFill>
                  <a:srgbClr val="FFFFFF"/>
                </a:solidFill>
                <a:latin typeface="Georgia" pitchFamily="34" charset="0"/>
                <a:ea typeface="Georgia" pitchFamily="34" charset="-122"/>
                <a:cs typeface="Georgia" pitchFamily="34" charset="-120"/>
              </a:rPr>
              <a:t>La Discusión</a:t>
            </a:r>
            <a:endParaRPr lang="en-US" sz="6800" dirty="0"/>
          </a:p>
        </p:txBody>
      </p:sp>
      <p:sp>
        <p:nvSpPr>
          <p:cNvPr id="5" name="Text 3"/>
          <p:cNvSpPr/>
          <p:nvPr/>
        </p:nvSpPr>
        <p:spPr>
          <a:xfrm>
            <a:off x="822960" y="2606040"/>
            <a:ext cx="10515600" cy="822960"/>
          </a:xfrm>
          <a:prstGeom prst="rect">
            <a:avLst/>
          </a:prstGeom>
          <a:noFill/>
          <a:ln/>
        </p:spPr>
        <p:txBody>
          <a:bodyPr wrap="square" lIns="0" tIns="0" rIns="0" bIns="0" rtlCol="0" anchor="ctr"/>
          <a:lstStyle/>
          <a:p>
            <a:pPr indent="0" marL="0">
              <a:buNone/>
            </a:pPr>
            <a:r>
              <a:rPr lang="en-US" sz="2600" i="1" dirty="0">
                <a:solidFill>
                  <a:srgbClr val="97BC62"/>
                </a:solidFill>
                <a:latin typeface="Georgia" pitchFamily="34" charset="0"/>
                <a:ea typeface="Georgia" pitchFamily="34" charset="-122"/>
                <a:cs typeface="Georgia" pitchFamily="34" charset="-120"/>
              </a:rPr>
              <a:t>El apartado más difícil — y el que más rechazos genera</a:t>
            </a:r>
            <a:endParaRPr lang="en-US" sz="2600" dirty="0"/>
          </a:p>
        </p:txBody>
      </p:sp>
      <p:sp>
        <p:nvSpPr>
          <p:cNvPr id="6" name="Text 4"/>
          <p:cNvSpPr/>
          <p:nvPr/>
        </p:nvSpPr>
        <p:spPr>
          <a:xfrm>
            <a:off x="822960" y="3611880"/>
            <a:ext cx="10332720" cy="82296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Cómo interpretar tus resultados, compararlos con la literatura, reconocer limitaciones y proyectar líneas futuras</a:t>
            </a:r>
            <a:endParaRPr lang="en-US" sz="1700" dirty="0"/>
          </a:p>
        </p:txBody>
      </p:sp>
      <p:sp>
        <p:nvSpPr>
          <p:cNvPr id="7" name="Shape 5"/>
          <p:cNvSpPr/>
          <p:nvPr/>
        </p:nvSpPr>
        <p:spPr>
          <a:xfrm>
            <a:off x="822960" y="4754880"/>
            <a:ext cx="9875520" cy="777240"/>
          </a:xfrm>
          <a:prstGeom prst="rect">
            <a:avLst/>
          </a:prstGeom>
          <a:solidFill>
            <a:srgbClr val="FFFFFF">
              <a:alpha val="12000"/>
            </a:srgbClr>
          </a:solidFill>
          <a:ln w="12700">
            <a:solidFill>
              <a:srgbClr val="97BC62"/>
            </a:solidFill>
            <a:prstDash val="solid"/>
          </a:ln>
        </p:spPr>
      </p:sp>
      <p:sp>
        <p:nvSpPr>
          <p:cNvPr id="8" name="Text 6"/>
          <p:cNvSpPr/>
          <p:nvPr/>
        </p:nvSpPr>
        <p:spPr>
          <a:xfrm>
            <a:off x="1005840" y="4754880"/>
            <a:ext cx="9692640" cy="777240"/>
          </a:xfrm>
          <a:prstGeom prst="rect">
            <a:avLst/>
          </a:prstGeom>
          <a:noFill/>
          <a:ln/>
        </p:spPr>
        <p:txBody>
          <a:bodyPr wrap="square" lIns="0" tIns="0" rIns="0" bIns="0" rtlCol="0" anchor="ctr"/>
          <a:lstStyle/>
          <a:p>
            <a:pPr indent="0" marL="0">
              <a:buNone/>
            </a:pPr>
            <a:r>
              <a:rPr lang="en-US" sz="1300" b="1" spc="300" kern="0" dirty="0">
                <a:solidFill>
                  <a:srgbClr val="97BC62"/>
                </a:solidFill>
                <a:latin typeface="Calibri" pitchFamily="34" charset="0"/>
                <a:ea typeface="Calibri" pitchFamily="34" charset="-122"/>
                <a:cs typeface="Calibri" pitchFamily="34" charset="-120"/>
              </a:rPr>
              <a:t>CASO GUÍA  ·  </a:t>
            </a:r>
            <a:pPr indent="0" marL="0">
              <a:buNone/>
            </a:pPr>
            <a:r>
              <a:rPr lang="en-US" sz="1300" i="1" dirty="0">
                <a:solidFill>
                  <a:srgbClr val="FFFFFF"/>
                </a:solidFill>
                <a:latin typeface="Calibri" pitchFamily="34" charset="0"/>
                <a:ea typeface="Calibri" pitchFamily="34" charset="-122"/>
                <a:cs typeface="Calibri" pitchFamily="34" charset="-120"/>
              </a:rPr>
              <a:t>Continuamos con bacterias ácido-lácticas en cacao del Piedemonte llanero</a:t>
            </a:r>
            <a:endParaRPr lang="en-US" sz="1300" dirty="0"/>
          </a:p>
        </p:txBody>
      </p:sp>
      <p:sp>
        <p:nvSpPr>
          <p:cNvPr id="9" name="Text 7"/>
          <p:cNvSpPr/>
          <p:nvPr/>
        </p:nvSpPr>
        <p:spPr>
          <a:xfrm>
            <a:off x="822960" y="6080760"/>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Oscar Iván Vargas Pineda, PhD</a:t>
            </a:r>
            <a:endParaRPr lang="en-US" sz="1400" dirty="0"/>
          </a:p>
        </p:txBody>
      </p:sp>
      <p:sp>
        <p:nvSpPr>
          <p:cNvPr id="10" name="Text 8"/>
          <p:cNvSpPr/>
          <p:nvPr/>
        </p:nvSpPr>
        <p:spPr>
          <a:xfrm>
            <a:off x="822960" y="6382512"/>
            <a:ext cx="73152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Data Scientist · Docente Universitario · @TCientifico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AGENDA DE LA SESIÓN</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Qué cubriremos hoy</a:t>
            </a:r>
            <a:endParaRPr lang="en-US" sz="3000" dirty="0"/>
          </a:p>
        </p:txBody>
      </p:sp>
      <p:sp>
        <p:nvSpPr>
          <p:cNvPr id="4" name="Shape 2"/>
          <p:cNvSpPr/>
          <p:nvPr/>
        </p:nvSpPr>
        <p:spPr>
          <a:xfrm>
            <a:off x="457200" y="1783080"/>
            <a:ext cx="11247120" cy="731520"/>
          </a:xfrm>
          <a:prstGeom prst="rect">
            <a:avLst/>
          </a:prstGeom>
          <a:solidFill>
            <a:srgbClr val="F7F4ED"/>
          </a:solidFill>
          <a:ln w="12700">
            <a:solidFill>
              <a:srgbClr val="D9D2C0"/>
            </a:solidFill>
            <a:prstDash val="solid"/>
          </a:ln>
        </p:spPr>
      </p:sp>
      <p:sp>
        <p:nvSpPr>
          <p:cNvPr id="5" name="Shape 3"/>
          <p:cNvSpPr/>
          <p:nvPr/>
        </p:nvSpPr>
        <p:spPr>
          <a:xfrm>
            <a:off x="457200" y="1783080"/>
            <a:ext cx="91440" cy="731520"/>
          </a:xfrm>
          <a:prstGeom prst="rect">
            <a:avLst/>
          </a:prstGeom>
          <a:solidFill>
            <a:srgbClr val="2C5F2D"/>
          </a:solidFill>
          <a:ln w="12700">
            <a:solidFill>
              <a:srgbClr val="2C5F2D"/>
            </a:solidFill>
            <a:prstDash val="solid"/>
          </a:ln>
        </p:spPr>
      </p:sp>
      <p:sp>
        <p:nvSpPr>
          <p:cNvPr id="6" name="Text 4"/>
          <p:cNvSpPr/>
          <p:nvPr/>
        </p:nvSpPr>
        <p:spPr>
          <a:xfrm>
            <a:off x="685800" y="178308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1</a:t>
            </a:r>
            <a:endParaRPr lang="en-US" sz="3000" dirty="0"/>
          </a:p>
        </p:txBody>
      </p:sp>
      <p:sp>
        <p:nvSpPr>
          <p:cNvPr id="7" name="Text 5"/>
          <p:cNvSpPr/>
          <p:nvPr/>
        </p:nvSpPr>
        <p:spPr>
          <a:xfrm>
            <a:off x="1417320" y="187452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Por qué Discusión es el apartado más difícil</a:t>
            </a:r>
            <a:endParaRPr lang="en-US" sz="1800" dirty="0"/>
          </a:p>
        </p:txBody>
      </p:sp>
      <p:sp>
        <p:nvSpPr>
          <p:cNvPr id="8" name="Text 6"/>
          <p:cNvSpPr/>
          <p:nvPr/>
        </p:nvSpPr>
        <p:spPr>
          <a:xfrm>
            <a:off x="1417320" y="219456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Y por qué los revisores se concentran aquí.</a:t>
            </a:r>
            <a:endParaRPr lang="en-US" sz="1200" dirty="0"/>
          </a:p>
        </p:txBody>
      </p:sp>
      <p:sp>
        <p:nvSpPr>
          <p:cNvPr id="9" name="Shape 7"/>
          <p:cNvSpPr/>
          <p:nvPr/>
        </p:nvSpPr>
        <p:spPr>
          <a:xfrm>
            <a:off x="457200" y="2651760"/>
            <a:ext cx="11247120" cy="731520"/>
          </a:xfrm>
          <a:prstGeom prst="rect">
            <a:avLst/>
          </a:prstGeom>
          <a:solidFill>
            <a:srgbClr val="F7F4ED"/>
          </a:solidFill>
          <a:ln w="12700">
            <a:solidFill>
              <a:srgbClr val="D9D2C0"/>
            </a:solidFill>
            <a:prstDash val="solid"/>
          </a:ln>
        </p:spPr>
      </p:sp>
      <p:sp>
        <p:nvSpPr>
          <p:cNvPr id="10" name="Shape 8"/>
          <p:cNvSpPr/>
          <p:nvPr/>
        </p:nvSpPr>
        <p:spPr>
          <a:xfrm>
            <a:off x="457200" y="2651760"/>
            <a:ext cx="91440" cy="731520"/>
          </a:xfrm>
          <a:prstGeom prst="rect">
            <a:avLst/>
          </a:prstGeom>
          <a:solidFill>
            <a:srgbClr val="2C5F2D"/>
          </a:solidFill>
          <a:ln w="12700">
            <a:solidFill>
              <a:srgbClr val="2C5F2D"/>
            </a:solidFill>
            <a:prstDash val="solid"/>
          </a:ln>
        </p:spPr>
      </p:sp>
      <p:sp>
        <p:nvSpPr>
          <p:cNvPr id="11" name="Text 9"/>
          <p:cNvSpPr/>
          <p:nvPr/>
        </p:nvSpPr>
        <p:spPr>
          <a:xfrm>
            <a:off x="685800" y="265176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2</a:t>
            </a:r>
            <a:endParaRPr lang="en-US" sz="3000" dirty="0"/>
          </a:p>
        </p:txBody>
      </p:sp>
      <p:sp>
        <p:nvSpPr>
          <p:cNvPr id="12" name="Text 10"/>
          <p:cNvSpPr/>
          <p:nvPr/>
        </p:nvSpPr>
        <p:spPr>
          <a:xfrm>
            <a:off x="1417320" y="274320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La estructura de la pirámide invertida</a:t>
            </a:r>
            <a:endParaRPr lang="en-US" sz="1800" dirty="0"/>
          </a:p>
        </p:txBody>
      </p:sp>
      <p:sp>
        <p:nvSpPr>
          <p:cNvPr id="13" name="Text 11"/>
          <p:cNvSpPr/>
          <p:nvPr/>
        </p:nvSpPr>
        <p:spPr>
          <a:xfrm>
            <a:off x="1417320" y="306324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Del hallazgo principal a las implicaciones globales.</a:t>
            </a:r>
            <a:endParaRPr lang="en-US" sz="1200" dirty="0"/>
          </a:p>
        </p:txBody>
      </p:sp>
      <p:sp>
        <p:nvSpPr>
          <p:cNvPr id="14" name="Shape 12"/>
          <p:cNvSpPr/>
          <p:nvPr/>
        </p:nvSpPr>
        <p:spPr>
          <a:xfrm>
            <a:off x="457200" y="3520440"/>
            <a:ext cx="11247120" cy="731520"/>
          </a:xfrm>
          <a:prstGeom prst="rect">
            <a:avLst/>
          </a:prstGeom>
          <a:solidFill>
            <a:srgbClr val="F7F4ED"/>
          </a:solidFill>
          <a:ln w="12700">
            <a:solidFill>
              <a:srgbClr val="D9D2C0"/>
            </a:solidFill>
            <a:prstDash val="solid"/>
          </a:ln>
        </p:spPr>
      </p:sp>
      <p:sp>
        <p:nvSpPr>
          <p:cNvPr id="15" name="Shape 13"/>
          <p:cNvSpPr/>
          <p:nvPr/>
        </p:nvSpPr>
        <p:spPr>
          <a:xfrm>
            <a:off x="457200" y="3520440"/>
            <a:ext cx="91440" cy="731520"/>
          </a:xfrm>
          <a:prstGeom prst="rect">
            <a:avLst/>
          </a:prstGeom>
          <a:solidFill>
            <a:srgbClr val="2C5F2D"/>
          </a:solidFill>
          <a:ln w="12700">
            <a:solidFill>
              <a:srgbClr val="2C5F2D"/>
            </a:solidFill>
            <a:prstDash val="solid"/>
          </a:ln>
        </p:spPr>
      </p:sp>
      <p:sp>
        <p:nvSpPr>
          <p:cNvPr id="16" name="Text 14"/>
          <p:cNvSpPr/>
          <p:nvPr/>
        </p:nvSpPr>
        <p:spPr>
          <a:xfrm>
            <a:off x="685800" y="352044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3</a:t>
            </a:r>
            <a:endParaRPr lang="en-US" sz="3000" dirty="0"/>
          </a:p>
        </p:txBody>
      </p:sp>
      <p:sp>
        <p:nvSpPr>
          <p:cNvPr id="17" name="Text 15"/>
          <p:cNvSpPr/>
          <p:nvPr/>
        </p:nvSpPr>
        <p:spPr>
          <a:xfrm>
            <a:off x="1417320" y="361188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Comparar con la literatura previa</a:t>
            </a:r>
            <a:endParaRPr lang="en-US" sz="1800" dirty="0"/>
          </a:p>
        </p:txBody>
      </p:sp>
      <p:sp>
        <p:nvSpPr>
          <p:cNvPr id="18" name="Text 16"/>
          <p:cNvSpPr/>
          <p:nvPr/>
        </p:nvSpPr>
        <p:spPr>
          <a:xfrm>
            <a:off x="1417320" y="393192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Cómo dialogar con otros estudios sin solo citar.</a:t>
            </a:r>
            <a:endParaRPr lang="en-US" sz="1200" dirty="0"/>
          </a:p>
        </p:txBody>
      </p:sp>
      <p:sp>
        <p:nvSpPr>
          <p:cNvPr id="19" name="Shape 17"/>
          <p:cNvSpPr/>
          <p:nvPr/>
        </p:nvSpPr>
        <p:spPr>
          <a:xfrm>
            <a:off x="457200" y="4389120"/>
            <a:ext cx="11247120" cy="731520"/>
          </a:xfrm>
          <a:prstGeom prst="rect">
            <a:avLst/>
          </a:prstGeom>
          <a:solidFill>
            <a:srgbClr val="F7F4ED"/>
          </a:solidFill>
          <a:ln w="12700">
            <a:solidFill>
              <a:srgbClr val="D9D2C0"/>
            </a:solidFill>
            <a:prstDash val="solid"/>
          </a:ln>
        </p:spPr>
      </p:sp>
      <p:sp>
        <p:nvSpPr>
          <p:cNvPr id="20" name="Shape 18"/>
          <p:cNvSpPr/>
          <p:nvPr/>
        </p:nvSpPr>
        <p:spPr>
          <a:xfrm>
            <a:off x="457200" y="4389120"/>
            <a:ext cx="91440" cy="731520"/>
          </a:xfrm>
          <a:prstGeom prst="rect">
            <a:avLst/>
          </a:prstGeom>
          <a:solidFill>
            <a:srgbClr val="2C5F2D"/>
          </a:solidFill>
          <a:ln w="12700">
            <a:solidFill>
              <a:srgbClr val="2C5F2D"/>
            </a:solidFill>
            <a:prstDash val="solid"/>
          </a:ln>
        </p:spPr>
      </p:sp>
      <p:sp>
        <p:nvSpPr>
          <p:cNvPr id="21" name="Text 19"/>
          <p:cNvSpPr/>
          <p:nvPr/>
        </p:nvSpPr>
        <p:spPr>
          <a:xfrm>
            <a:off x="685800" y="438912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4</a:t>
            </a:r>
            <a:endParaRPr lang="en-US" sz="3000" dirty="0"/>
          </a:p>
        </p:txBody>
      </p:sp>
      <p:sp>
        <p:nvSpPr>
          <p:cNvPr id="22" name="Text 20"/>
          <p:cNvSpPr/>
          <p:nvPr/>
        </p:nvSpPr>
        <p:spPr>
          <a:xfrm>
            <a:off x="1417320" y="448056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Limitaciones y líneas futuras</a:t>
            </a:r>
            <a:endParaRPr lang="en-US" sz="1800" dirty="0"/>
          </a:p>
        </p:txBody>
      </p:sp>
      <p:sp>
        <p:nvSpPr>
          <p:cNvPr id="23" name="Text 21"/>
          <p:cNvSpPr/>
          <p:nvPr/>
        </p:nvSpPr>
        <p:spPr>
          <a:xfrm>
            <a:off x="1417320" y="480060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Dos subapartados separados, dos lógicas distintas.</a:t>
            </a:r>
            <a:endParaRPr lang="en-US" sz="1200" dirty="0"/>
          </a:p>
        </p:txBody>
      </p:sp>
      <p:sp>
        <p:nvSpPr>
          <p:cNvPr id="24" name="Shape 22"/>
          <p:cNvSpPr/>
          <p:nvPr/>
        </p:nvSpPr>
        <p:spPr>
          <a:xfrm>
            <a:off x="457200" y="5257800"/>
            <a:ext cx="11247120" cy="731520"/>
          </a:xfrm>
          <a:prstGeom prst="rect">
            <a:avLst/>
          </a:prstGeom>
          <a:solidFill>
            <a:srgbClr val="F7F4ED"/>
          </a:solidFill>
          <a:ln w="12700">
            <a:solidFill>
              <a:srgbClr val="D9D2C0"/>
            </a:solidFill>
            <a:prstDash val="solid"/>
          </a:ln>
        </p:spPr>
      </p:sp>
      <p:sp>
        <p:nvSpPr>
          <p:cNvPr id="25" name="Shape 23"/>
          <p:cNvSpPr/>
          <p:nvPr/>
        </p:nvSpPr>
        <p:spPr>
          <a:xfrm>
            <a:off x="457200" y="5257800"/>
            <a:ext cx="91440" cy="731520"/>
          </a:xfrm>
          <a:prstGeom prst="rect">
            <a:avLst/>
          </a:prstGeom>
          <a:solidFill>
            <a:srgbClr val="2C5F2D"/>
          </a:solidFill>
          <a:ln w="12700">
            <a:solidFill>
              <a:srgbClr val="2C5F2D"/>
            </a:solidFill>
            <a:prstDash val="solid"/>
          </a:ln>
        </p:spPr>
      </p:sp>
      <p:sp>
        <p:nvSpPr>
          <p:cNvPr id="26" name="Text 24"/>
          <p:cNvSpPr/>
          <p:nvPr/>
        </p:nvSpPr>
        <p:spPr>
          <a:xfrm>
            <a:off x="685800" y="525780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5</a:t>
            </a:r>
            <a:endParaRPr lang="en-US" sz="3000" dirty="0"/>
          </a:p>
        </p:txBody>
      </p:sp>
      <p:sp>
        <p:nvSpPr>
          <p:cNvPr id="27" name="Text 25"/>
          <p:cNvSpPr/>
          <p:nvPr/>
        </p:nvSpPr>
        <p:spPr>
          <a:xfrm>
            <a:off x="1417320" y="534924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Errores frecuentes y ejercicios</a:t>
            </a:r>
            <a:endParaRPr lang="en-US" sz="1800" dirty="0"/>
          </a:p>
        </p:txBody>
      </p:sp>
      <p:sp>
        <p:nvSpPr>
          <p:cNvPr id="28" name="Text 26"/>
          <p:cNvSpPr/>
          <p:nvPr/>
        </p:nvSpPr>
        <p:spPr>
          <a:xfrm>
            <a:off x="1417320" y="566928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Aplicación al caso guía y a tu propio estudio.</a:t>
            </a:r>
            <a:endParaRPr lang="en-US" sz="1200" dirty="0"/>
          </a:p>
        </p:txBody>
      </p:sp>
      <p:sp>
        <p:nvSpPr>
          <p:cNvPr id="29" name="Text 27"/>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0" name="Text 28"/>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2 / 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1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Por qué la Discusión</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Es donde se decide si tu artículo merece estar en la revista.</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IMPORTANCIA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Tres razones por las que Discusión decide tu artículo</a:t>
            </a:r>
            <a:endParaRPr lang="en-US" sz="3000" dirty="0"/>
          </a:p>
        </p:txBody>
      </p:sp>
      <p:sp>
        <p:nvSpPr>
          <p:cNvPr id="4" name="Shape 2"/>
          <p:cNvSpPr/>
          <p:nvPr/>
        </p:nvSpPr>
        <p:spPr>
          <a:xfrm>
            <a:off x="457200" y="1783080"/>
            <a:ext cx="3703320" cy="4389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783080"/>
            <a:ext cx="3703320" cy="1005840"/>
          </a:xfrm>
          <a:prstGeom prst="rect">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731520" y="2011680"/>
            <a:ext cx="548640" cy="548640"/>
          </a:xfrm>
          <a:prstGeom prst="rect">
            <a:avLst/>
          </a:prstGeom>
        </p:spPr>
      </p:pic>
      <p:sp>
        <p:nvSpPr>
          <p:cNvPr id="7" name="Text 4"/>
          <p:cNvSpPr/>
          <p:nvPr/>
        </p:nvSpPr>
        <p:spPr>
          <a:xfrm>
            <a:off x="3063240" y="1920240"/>
            <a:ext cx="914400" cy="731520"/>
          </a:xfrm>
          <a:prstGeom prst="rect">
            <a:avLst/>
          </a:prstGeom>
          <a:noFill/>
          <a:ln/>
        </p:spPr>
        <p:txBody>
          <a:bodyPr wrap="square" lIns="0" tIns="0" rIns="0" bIns="0" rtlCol="0" anchor="ctr"/>
          <a:lstStyle/>
          <a:p>
            <a:pPr algn="r" indent="0" marL="0">
              <a:buNone/>
            </a:pPr>
            <a:r>
              <a:rPr lang="en-US" sz="3600" b="1" dirty="0">
                <a:solidFill>
                  <a:srgbClr val="97BC62"/>
                </a:solidFill>
                <a:latin typeface="Georgia" pitchFamily="34" charset="0"/>
                <a:ea typeface="Georgia" pitchFamily="34" charset="-122"/>
                <a:cs typeface="Georgia" pitchFamily="34" charset="-120"/>
              </a:rPr>
              <a:t>01</a:t>
            </a:r>
            <a:endParaRPr lang="en-US" sz="3600" dirty="0"/>
          </a:p>
        </p:txBody>
      </p:sp>
      <p:sp>
        <p:nvSpPr>
          <p:cNvPr id="8" name="Text 5"/>
          <p:cNvSpPr/>
          <p:nvPr/>
        </p:nvSpPr>
        <p:spPr>
          <a:xfrm>
            <a:off x="685800" y="2971800"/>
            <a:ext cx="3246120" cy="868680"/>
          </a:xfrm>
          <a:prstGeom prst="rect">
            <a:avLst/>
          </a:prstGeom>
          <a:noFill/>
          <a:ln/>
        </p:spPr>
        <p:txBody>
          <a:bodyPr wrap="square" lIns="0" tIns="0" rIns="0" bIns="0" rtlCol="0" anchor="ctr"/>
          <a:lstStyle/>
          <a:p>
            <a:pPr indent="0" marL="0">
              <a:lnSpc>
                <a:spcPct val="110000"/>
              </a:lnSpc>
              <a:buNone/>
            </a:pPr>
            <a:r>
              <a:rPr lang="en-US" sz="1800" b="1" dirty="0">
                <a:solidFill>
                  <a:srgbClr val="1F3A2E"/>
                </a:solidFill>
                <a:latin typeface="Georgia" pitchFamily="34" charset="0"/>
                <a:ea typeface="Georgia" pitchFamily="34" charset="-122"/>
                <a:cs typeface="Georgia" pitchFamily="34" charset="-120"/>
              </a:rPr>
              <a:t>Es donde demuestras pensar</a:t>
            </a:r>
            <a:endParaRPr lang="en-US" sz="1800" dirty="0"/>
          </a:p>
        </p:txBody>
      </p:sp>
      <p:sp>
        <p:nvSpPr>
          <p:cNvPr id="9" name="Text 6"/>
          <p:cNvSpPr/>
          <p:nvPr/>
        </p:nvSpPr>
        <p:spPr>
          <a:xfrm>
            <a:off x="685800" y="3886200"/>
            <a:ext cx="3246120" cy="2194560"/>
          </a:xfrm>
          <a:prstGeom prst="rect">
            <a:avLst/>
          </a:prstGeom>
          <a:noFill/>
          <a:ln/>
        </p:spPr>
        <p:txBody>
          <a:bodyPr wrap="square" lIns="0" tIns="0" rIns="0" bIns="0"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Resultados muestra qué encontraste. Discusión muestra qué tan bien lo entiendes — y si mereces estar publicado.</a:t>
            </a:r>
            <a:endParaRPr lang="en-US" sz="1300" dirty="0"/>
          </a:p>
        </p:txBody>
      </p:sp>
      <p:sp>
        <p:nvSpPr>
          <p:cNvPr id="10" name="Shape 7"/>
          <p:cNvSpPr/>
          <p:nvPr/>
        </p:nvSpPr>
        <p:spPr>
          <a:xfrm>
            <a:off x="4297680" y="1783080"/>
            <a:ext cx="3703320" cy="4389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297680" y="1783080"/>
            <a:ext cx="3703320" cy="1005840"/>
          </a:xfrm>
          <a:prstGeom prst="rect">
            <a:avLst/>
          </a:prstGeom>
          <a:solidFill>
            <a:srgbClr val="2C5F2D"/>
          </a:solidFill>
          <a:ln w="12700">
            <a:solidFill>
              <a:srgbClr val="2C5F2D"/>
            </a:solidFill>
            <a:prstDash val="solid"/>
          </a:ln>
        </p:spPr>
      </p:sp>
      <p:pic>
        <p:nvPicPr>
          <p:cNvPr id="12" name="Image 1" descr="preencoded.png">    </p:cNvPr>
          <p:cNvPicPr>
            <a:picLocks noChangeAspect="1"/>
          </p:cNvPicPr>
          <p:nvPr/>
        </p:nvPicPr>
        <p:blipFill>
          <a:blip r:embed="rId2"/>
          <a:stretch>
            <a:fillRect/>
          </a:stretch>
        </p:blipFill>
        <p:spPr>
          <a:xfrm>
            <a:off x="4572000" y="2011680"/>
            <a:ext cx="548640" cy="548640"/>
          </a:xfrm>
          <a:prstGeom prst="rect">
            <a:avLst/>
          </a:prstGeom>
        </p:spPr>
      </p:pic>
      <p:sp>
        <p:nvSpPr>
          <p:cNvPr id="13" name="Text 9"/>
          <p:cNvSpPr/>
          <p:nvPr/>
        </p:nvSpPr>
        <p:spPr>
          <a:xfrm>
            <a:off x="6903720" y="1920240"/>
            <a:ext cx="914400" cy="731520"/>
          </a:xfrm>
          <a:prstGeom prst="rect">
            <a:avLst/>
          </a:prstGeom>
          <a:noFill/>
          <a:ln/>
        </p:spPr>
        <p:txBody>
          <a:bodyPr wrap="square" lIns="0" tIns="0" rIns="0" bIns="0" rtlCol="0" anchor="ctr"/>
          <a:lstStyle/>
          <a:p>
            <a:pPr algn="r" indent="0" marL="0">
              <a:buNone/>
            </a:pPr>
            <a:r>
              <a:rPr lang="en-US" sz="3600" b="1" dirty="0">
                <a:solidFill>
                  <a:srgbClr val="97BC62"/>
                </a:solidFill>
                <a:latin typeface="Georgia" pitchFamily="34" charset="0"/>
                <a:ea typeface="Georgia" pitchFamily="34" charset="-122"/>
                <a:cs typeface="Georgia" pitchFamily="34" charset="-120"/>
              </a:rPr>
              <a:t>02</a:t>
            </a:r>
            <a:endParaRPr lang="en-US" sz="3600" dirty="0"/>
          </a:p>
        </p:txBody>
      </p:sp>
      <p:sp>
        <p:nvSpPr>
          <p:cNvPr id="14" name="Text 10"/>
          <p:cNvSpPr/>
          <p:nvPr/>
        </p:nvSpPr>
        <p:spPr>
          <a:xfrm>
            <a:off x="4526280" y="2971800"/>
            <a:ext cx="3246120" cy="868680"/>
          </a:xfrm>
          <a:prstGeom prst="rect">
            <a:avLst/>
          </a:prstGeom>
          <a:noFill/>
          <a:ln/>
        </p:spPr>
        <p:txBody>
          <a:bodyPr wrap="square" lIns="0" tIns="0" rIns="0" bIns="0" rtlCol="0" anchor="ctr"/>
          <a:lstStyle/>
          <a:p>
            <a:pPr indent="0" marL="0">
              <a:lnSpc>
                <a:spcPct val="110000"/>
              </a:lnSpc>
              <a:buNone/>
            </a:pPr>
            <a:r>
              <a:rPr lang="en-US" sz="1800" b="1" dirty="0">
                <a:solidFill>
                  <a:srgbClr val="1F3A2E"/>
                </a:solidFill>
                <a:latin typeface="Georgia" pitchFamily="34" charset="0"/>
                <a:ea typeface="Georgia" pitchFamily="34" charset="-122"/>
                <a:cs typeface="Georgia" pitchFamily="34" charset="-120"/>
              </a:rPr>
              <a:t>Sitúa tu trabajo</a:t>
            </a:r>
            <a:endParaRPr lang="en-US" sz="1800" dirty="0"/>
          </a:p>
        </p:txBody>
      </p:sp>
      <p:sp>
        <p:nvSpPr>
          <p:cNvPr id="15" name="Text 11"/>
          <p:cNvSpPr/>
          <p:nvPr/>
        </p:nvSpPr>
        <p:spPr>
          <a:xfrm>
            <a:off x="4526280" y="3886200"/>
            <a:ext cx="3246120" cy="2194560"/>
          </a:xfrm>
          <a:prstGeom prst="rect">
            <a:avLst/>
          </a:prstGeom>
          <a:noFill/>
          <a:ln/>
        </p:spPr>
        <p:txBody>
          <a:bodyPr wrap="square" lIns="0" tIns="0" rIns="0" bIns="0"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Es el espacio donde tu estudio entra en diálogo con la literatura global. Sin diálogo, tu artículo es un monólogo.</a:t>
            </a:r>
            <a:endParaRPr lang="en-US" sz="1300" dirty="0"/>
          </a:p>
        </p:txBody>
      </p:sp>
      <p:sp>
        <p:nvSpPr>
          <p:cNvPr id="16" name="Shape 12"/>
          <p:cNvSpPr/>
          <p:nvPr/>
        </p:nvSpPr>
        <p:spPr>
          <a:xfrm>
            <a:off x="8138160" y="1783080"/>
            <a:ext cx="3703320" cy="4389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138160" y="1783080"/>
            <a:ext cx="3703320" cy="1005840"/>
          </a:xfrm>
          <a:prstGeom prst="rect">
            <a:avLst/>
          </a:prstGeom>
          <a:solidFill>
            <a:srgbClr val="2C5F2D"/>
          </a:solidFill>
          <a:ln w="12700">
            <a:solidFill>
              <a:srgbClr val="2C5F2D"/>
            </a:solidFill>
            <a:prstDash val="solid"/>
          </a:ln>
        </p:spPr>
      </p:sp>
      <p:pic>
        <p:nvPicPr>
          <p:cNvPr id="18" name="Image 2" descr="preencoded.png">    </p:cNvPr>
          <p:cNvPicPr>
            <a:picLocks noChangeAspect="1"/>
          </p:cNvPicPr>
          <p:nvPr/>
        </p:nvPicPr>
        <p:blipFill>
          <a:blip r:embed="rId3"/>
          <a:stretch>
            <a:fillRect/>
          </a:stretch>
        </p:blipFill>
        <p:spPr>
          <a:xfrm>
            <a:off x="8412480" y="2011680"/>
            <a:ext cx="548640" cy="548640"/>
          </a:xfrm>
          <a:prstGeom prst="rect">
            <a:avLst/>
          </a:prstGeom>
        </p:spPr>
      </p:pic>
      <p:sp>
        <p:nvSpPr>
          <p:cNvPr id="19" name="Text 14"/>
          <p:cNvSpPr/>
          <p:nvPr/>
        </p:nvSpPr>
        <p:spPr>
          <a:xfrm>
            <a:off x="10744200" y="1920240"/>
            <a:ext cx="914400" cy="731520"/>
          </a:xfrm>
          <a:prstGeom prst="rect">
            <a:avLst/>
          </a:prstGeom>
          <a:noFill/>
          <a:ln/>
        </p:spPr>
        <p:txBody>
          <a:bodyPr wrap="square" lIns="0" tIns="0" rIns="0" bIns="0" rtlCol="0" anchor="ctr"/>
          <a:lstStyle/>
          <a:p>
            <a:pPr algn="r" indent="0" marL="0">
              <a:buNone/>
            </a:pPr>
            <a:r>
              <a:rPr lang="en-US" sz="3600" b="1" dirty="0">
                <a:solidFill>
                  <a:srgbClr val="97BC62"/>
                </a:solidFill>
                <a:latin typeface="Georgia" pitchFamily="34" charset="0"/>
                <a:ea typeface="Georgia" pitchFamily="34" charset="-122"/>
                <a:cs typeface="Georgia" pitchFamily="34" charset="-120"/>
              </a:rPr>
              <a:t>03</a:t>
            </a:r>
            <a:endParaRPr lang="en-US" sz="3600" dirty="0"/>
          </a:p>
        </p:txBody>
      </p:sp>
      <p:sp>
        <p:nvSpPr>
          <p:cNvPr id="20" name="Text 15"/>
          <p:cNvSpPr/>
          <p:nvPr/>
        </p:nvSpPr>
        <p:spPr>
          <a:xfrm>
            <a:off x="8366760" y="2971800"/>
            <a:ext cx="3246120" cy="868680"/>
          </a:xfrm>
          <a:prstGeom prst="rect">
            <a:avLst/>
          </a:prstGeom>
          <a:noFill/>
          <a:ln/>
        </p:spPr>
        <p:txBody>
          <a:bodyPr wrap="square" lIns="0" tIns="0" rIns="0" bIns="0" rtlCol="0" anchor="ctr"/>
          <a:lstStyle/>
          <a:p>
            <a:pPr indent="0" marL="0">
              <a:lnSpc>
                <a:spcPct val="110000"/>
              </a:lnSpc>
              <a:buNone/>
            </a:pPr>
            <a:r>
              <a:rPr lang="en-US" sz="1800" b="1" dirty="0">
                <a:solidFill>
                  <a:srgbClr val="1F3A2E"/>
                </a:solidFill>
                <a:latin typeface="Georgia" pitchFamily="34" charset="0"/>
                <a:ea typeface="Georgia" pitchFamily="34" charset="-122"/>
                <a:cs typeface="Georgia" pitchFamily="34" charset="-120"/>
              </a:rPr>
              <a:t>Los revisores la auditan</a:t>
            </a:r>
            <a:endParaRPr lang="en-US" sz="1800" dirty="0"/>
          </a:p>
        </p:txBody>
      </p:sp>
      <p:sp>
        <p:nvSpPr>
          <p:cNvPr id="21" name="Text 16"/>
          <p:cNvSpPr/>
          <p:nvPr/>
        </p:nvSpPr>
        <p:spPr>
          <a:xfrm>
            <a:off x="8366760" y="3886200"/>
            <a:ext cx="3246120" cy="2194560"/>
          </a:xfrm>
          <a:prstGeom prst="rect">
            <a:avLst/>
          </a:prstGeom>
          <a:noFill/>
          <a:ln/>
        </p:spPr>
        <p:txBody>
          <a:bodyPr wrap="square" lIns="0" tIns="0" rIns="0" bIns="0"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Aquí es donde encuentran sobreinterpretación, especulación sin sustento y omisión de estudios contradictorios.</a:t>
            </a:r>
            <a:endParaRPr lang="en-US" sz="1300" dirty="0"/>
          </a:p>
        </p:txBody>
      </p:sp>
      <p:sp>
        <p:nvSpPr>
          <p:cNvPr id="22" name="Text 17"/>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3" name="Text 18"/>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4 / 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914400"/>
            <a:ext cx="10058400" cy="365760"/>
          </a:xfrm>
          <a:prstGeom prst="rect">
            <a:avLst/>
          </a:prstGeom>
          <a:noFill/>
          <a:ln/>
        </p:spPr>
        <p:txBody>
          <a:bodyPr wrap="square" lIns="0" tIns="0" rIns="0" bIns="0" rtlCol="0" anchor="ctr"/>
          <a:lstStyle/>
          <a:p>
            <a:pPr indent="0" marL="0">
              <a:buNone/>
            </a:pPr>
            <a:r>
              <a:rPr lang="en-US" sz="1300" b="1" spc="600" kern="0" dirty="0">
                <a:solidFill>
                  <a:srgbClr val="97BC62"/>
                </a:solidFill>
                <a:latin typeface="Calibri" pitchFamily="34" charset="0"/>
                <a:ea typeface="Calibri" pitchFamily="34" charset="-122"/>
                <a:cs typeface="Calibri" pitchFamily="34" charset="-120"/>
              </a:rPr>
              <a:t>EL PRINCIPIO RECTOR</a:t>
            </a:r>
            <a:endParaRPr lang="en-US" sz="1300" dirty="0"/>
          </a:p>
        </p:txBody>
      </p:sp>
      <p:sp>
        <p:nvSpPr>
          <p:cNvPr id="4" name="Text 2"/>
          <p:cNvSpPr/>
          <p:nvPr/>
        </p:nvSpPr>
        <p:spPr>
          <a:xfrm>
            <a:off x="822960" y="1371600"/>
            <a:ext cx="10515600" cy="2286000"/>
          </a:xfrm>
          <a:prstGeom prst="rect">
            <a:avLst/>
          </a:prstGeom>
          <a:noFill/>
          <a:ln/>
        </p:spPr>
        <p:txBody>
          <a:bodyPr wrap="square" lIns="0" tIns="0" rIns="0" bIns="0" rtlCol="0" anchor="ctr"/>
          <a:lstStyle/>
          <a:p>
            <a:pPr indent="0" marL="0">
              <a:lnSpc>
                <a:spcPct val="100000"/>
              </a:lnSpc>
              <a:buNone/>
            </a:pPr>
            <a:r>
              <a:rPr lang="en-US" sz="6000" b="1" dirty="0">
                <a:solidFill>
                  <a:srgbClr val="FFFFFF"/>
                </a:solidFill>
                <a:latin typeface="Georgia" pitchFamily="34" charset="0"/>
                <a:ea typeface="Georgia" pitchFamily="34" charset="-122"/>
                <a:cs typeface="Georgia" pitchFamily="34" charset="-120"/>
              </a:rPr>
              <a:t>Discutir no es</a:t>
            </a:r>
            <a:endParaRPr lang="en-US" sz="6000" dirty="0"/>
          </a:p>
          <a:p>
            <a:pPr indent="0" marL="0">
              <a:lnSpc>
                <a:spcPct val="100000"/>
              </a:lnSpc>
              <a:buNone/>
            </a:pPr>
            <a:r>
              <a:rPr lang="en-US" sz="6000" b="1" dirty="0">
                <a:solidFill>
                  <a:srgbClr val="FFFFFF"/>
                </a:solidFill>
                <a:latin typeface="Georgia" pitchFamily="34" charset="0"/>
                <a:ea typeface="Georgia" pitchFamily="34" charset="-122"/>
                <a:cs typeface="Georgia" pitchFamily="34" charset="-120"/>
              </a:rPr>
              <a:t>resumir.</a:t>
            </a:r>
            <a:endParaRPr lang="en-US" sz="6000" dirty="0"/>
          </a:p>
        </p:txBody>
      </p:sp>
      <p:sp>
        <p:nvSpPr>
          <p:cNvPr id="5" name="Text 3"/>
          <p:cNvSpPr/>
          <p:nvPr/>
        </p:nvSpPr>
        <p:spPr>
          <a:xfrm>
            <a:off x="822960" y="3931920"/>
            <a:ext cx="10332720" cy="1371600"/>
          </a:xfrm>
          <a:prstGeom prst="rect">
            <a:avLst/>
          </a:prstGeom>
          <a:noFill/>
          <a:ln/>
        </p:spPr>
        <p:txBody>
          <a:bodyPr wrap="square" lIns="0" tIns="0" rIns="0" bIns="0" rtlCol="0" anchor="ctr"/>
          <a:lstStyle/>
          <a:p>
            <a:pPr indent="0" marL="0">
              <a:lnSpc>
                <a:spcPct val="125000"/>
              </a:lnSpc>
              <a:buNone/>
            </a:pPr>
            <a:r>
              <a:rPr lang="en-US" sz="1800" i="1" dirty="0">
                <a:solidFill>
                  <a:srgbClr val="CADCFC"/>
                </a:solidFill>
                <a:latin typeface="Georgia" pitchFamily="34" charset="0"/>
                <a:ea typeface="Georgia" pitchFamily="34" charset="-122"/>
                <a:cs typeface="Georgia" pitchFamily="34" charset="-120"/>
              </a:rPr>
              <a:t>Si tu Discusión solo repite lo que ya está en Resultados, es una repetición — no una discusión. Discutir significa explicar por qué los resultados son lo que son, qué significan en el contexto de la literatura, y qué implicaciones tienen.</a:t>
            </a:r>
            <a:endParaRPr lang="en-US" sz="1800" dirty="0"/>
          </a:p>
        </p:txBody>
      </p:sp>
      <p:sp>
        <p:nvSpPr>
          <p:cNvPr id="6" name="Shape 4"/>
          <p:cNvSpPr/>
          <p:nvPr/>
        </p:nvSpPr>
        <p:spPr>
          <a:xfrm>
            <a:off x="822960" y="5440680"/>
            <a:ext cx="10332720" cy="868680"/>
          </a:xfrm>
          <a:prstGeom prst="rect">
            <a:avLst/>
          </a:prstGeom>
          <a:solidFill>
            <a:srgbClr val="97BC62"/>
          </a:solidFill>
          <a:ln w="12700">
            <a:solidFill>
              <a:srgbClr val="97BC62"/>
            </a:solidFill>
            <a:prstDash val="solid"/>
          </a:ln>
        </p:spPr>
      </p:sp>
      <p:sp>
        <p:nvSpPr>
          <p:cNvPr id="7" name="Text 5"/>
          <p:cNvSpPr/>
          <p:nvPr/>
        </p:nvSpPr>
        <p:spPr>
          <a:xfrm>
            <a:off x="1005840" y="5440680"/>
            <a:ext cx="10058400" cy="868680"/>
          </a:xfrm>
          <a:prstGeom prst="rect">
            <a:avLst/>
          </a:prstGeom>
          <a:noFill/>
          <a:ln/>
        </p:spPr>
        <p:txBody>
          <a:bodyPr wrap="square" lIns="0" tIns="0" rIns="0" bIns="0" rtlCol="0" anchor="ctr"/>
          <a:lstStyle/>
          <a:p>
            <a:pPr indent="0" marL="0">
              <a:buNone/>
            </a:pPr>
            <a:r>
              <a:rPr lang="en-US" sz="1400" b="1" dirty="0">
                <a:solidFill>
                  <a:srgbClr val="1F3A2E"/>
                </a:solidFill>
                <a:latin typeface="Calibri" pitchFamily="34" charset="0"/>
                <a:ea typeface="Calibri" pitchFamily="34" charset="-122"/>
                <a:cs typeface="Calibri" pitchFamily="34" charset="-120"/>
              </a:rPr>
              <a:t>Test rápido: si quitas las citas y los "esto sugiere que…", ¿queda algo? Si no queda nada, no estás discutiendo.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2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La pirámide invertida</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Del hallazgo principal a la implicación más amplia — en siete pasos.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ESTRUCTURA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Los siete movimientos de una buena Discusión</a:t>
            </a:r>
            <a:endParaRPr lang="en-US" sz="3000" dirty="0"/>
          </a:p>
        </p:txBody>
      </p:sp>
      <p:sp>
        <p:nvSpPr>
          <p:cNvPr id="4" name="Shape 2"/>
          <p:cNvSpPr/>
          <p:nvPr/>
        </p:nvSpPr>
        <p:spPr>
          <a:xfrm>
            <a:off x="3794760" y="1691640"/>
            <a:ext cx="4572000" cy="566928"/>
          </a:xfrm>
          <a:prstGeom prst="rect">
            <a:avLst/>
          </a:prstGeom>
          <a:solidFill>
            <a:srgbClr val="2C5F2D"/>
          </a:solidFill>
          <a:ln w="12700">
            <a:solidFill>
              <a:srgbClr val="2C5F2D"/>
            </a:solidFill>
            <a:prstDash val="solid"/>
          </a:ln>
        </p:spPr>
      </p:sp>
      <p:sp>
        <p:nvSpPr>
          <p:cNvPr id="5" name="Text 3"/>
          <p:cNvSpPr/>
          <p:nvPr/>
        </p:nvSpPr>
        <p:spPr>
          <a:xfrm>
            <a:off x="3931920" y="1691640"/>
            <a:ext cx="21031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 Hallazgo principal</a:t>
            </a:r>
            <a:endParaRPr lang="en-US" sz="1250" dirty="0"/>
          </a:p>
        </p:txBody>
      </p:sp>
      <p:sp>
        <p:nvSpPr>
          <p:cNvPr id="6" name="Text 4"/>
          <p:cNvSpPr/>
          <p:nvPr/>
        </p:nvSpPr>
        <p:spPr>
          <a:xfrm>
            <a:off x="6080760" y="1691640"/>
            <a:ext cx="2148840" cy="566928"/>
          </a:xfrm>
          <a:prstGeom prst="rect">
            <a:avLst/>
          </a:prstGeom>
          <a:noFill/>
          <a:ln/>
        </p:spPr>
        <p:txBody>
          <a:bodyPr wrap="square" lIns="0" tIns="0" rIns="0" bIns="0" rtlCol="0" anchor="ctr"/>
          <a:lstStyle/>
          <a:p>
            <a:pPr indent="0" marL="0">
              <a:buNone/>
            </a:pPr>
            <a:r>
              <a:rPr lang="en-US" sz="1050" i="1" dirty="0">
                <a:solidFill>
                  <a:srgbClr val="F7F4ED"/>
                </a:solidFill>
                <a:latin typeface="Calibri" pitchFamily="34" charset="0"/>
                <a:ea typeface="Calibri" pitchFamily="34" charset="-122"/>
                <a:cs typeface="Calibri" pitchFamily="34" charset="-120"/>
              </a:rPr>
              <a:t>Recuerda en una frase qué encontraste.</a:t>
            </a:r>
            <a:endParaRPr lang="en-US" sz="1050" dirty="0"/>
          </a:p>
        </p:txBody>
      </p:sp>
      <p:sp>
        <p:nvSpPr>
          <p:cNvPr id="7" name="Shape 5"/>
          <p:cNvSpPr/>
          <p:nvPr/>
        </p:nvSpPr>
        <p:spPr>
          <a:xfrm>
            <a:off x="3108960" y="2322576"/>
            <a:ext cx="5943600" cy="566928"/>
          </a:xfrm>
          <a:prstGeom prst="rect">
            <a:avLst/>
          </a:prstGeom>
          <a:solidFill>
            <a:srgbClr val="447128"/>
          </a:solidFill>
          <a:ln w="12700">
            <a:solidFill>
              <a:srgbClr val="447128"/>
            </a:solidFill>
            <a:prstDash val="solid"/>
          </a:ln>
        </p:spPr>
      </p:sp>
      <p:sp>
        <p:nvSpPr>
          <p:cNvPr id="8" name="Text 6"/>
          <p:cNvSpPr/>
          <p:nvPr/>
        </p:nvSpPr>
        <p:spPr>
          <a:xfrm>
            <a:off x="3246120" y="2322576"/>
            <a:ext cx="27889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2. Interpretación</a:t>
            </a:r>
            <a:endParaRPr lang="en-US" sz="1250" dirty="0"/>
          </a:p>
        </p:txBody>
      </p:sp>
      <p:sp>
        <p:nvSpPr>
          <p:cNvPr id="9" name="Text 7"/>
          <p:cNvSpPr/>
          <p:nvPr/>
        </p:nvSpPr>
        <p:spPr>
          <a:xfrm>
            <a:off x="6080760" y="2322576"/>
            <a:ext cx="2834640" cy="566928"/>
          </a:xfrm>
          <a:prstGeom prst="rect">
            <a:avLst/>
          </a:prstGeom>
          <a:noFill/>
          <a:ln/>
        </p:spPr>
        <p:txBody>
          <a:bodyPr wrap="square" lIns="0" tIns="0" rIns="0" bIns="0" rtlCol="0" anchor="ctr"/>
          <a:lstStyle/>
          <a:p>
            <a:pPr indent="0" marL="0">
              <a:buNone/>
            </a:pPr>
            <a:r>
              <a:rPr lang="en-US" sz="1050" i="1" dirty="0">
                <a:solidFill>
                  <a:srgbClr val="F7F4ED"/>
                </a:solidFill>
                <a:latin typeface="Calibri" pitchFamily="34" charset="0"/>
                <a:ea typeface="Calibri" pitchFamily="34" charset="-122"/>
                <a:cs typeface="Calibri" pitchFamily="34" charset="-120"/>
              </a:rPr>
              <a:t>Explica qué significan tus resultados específicos.</a:t>
            </a:r>
            <a:endParaRPr lang="en-US" sz="1050" dirty="0"/>
          </a:p>
        </p:txBody>
      </p:sp>
      <p:sp>
        <p:nvSpPr>
          <p:cNvPr id="10" name="Shape 8"/>
          <p:cNvSpPr/>
          <p:nvPr/>
        </p:nvSpPr>
        <p:spPr>
          <a:xfrm>
            <a:off x="2423160" y="2953512"/>
            <a:ext cx="7315200" cy="566928"/>
          </a:xfrm>
          <a:prstGeom prst="rect">
            <a:avLst/>
          </a:prstGeom>
          <a:solidFill>
            <a:srgbClr val="5F8A3D"/>
          </a:solidFill>
          <a:ln w="12700">
            <a:solidFill>
              <a:srgbClr val="5F8A3D"/>
            </a:solidFill>
            <a:prstDash val="solid"/>
          </a:ln>
        </p:spPr>
      </p:sp>
      <p:sp>
        <p:nvSpPr>
          <p:cNvPr id="11" name="Text 9"/>
          <p:cNvSpPr/>
          <p:nvPr/>
        </p:nvSpPr>
        <p:spPr>
          <a:xfrm>
            <a:off x="2560320" y="2953512"/>
            <a:ext cx="34747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3. Comparación con literatura</a:t>
            </a:r>
            <a:endParaRPr lang="en-US" sz="1250" dirty="0"/>
          </a:p>
        </p:txBody>
      </p:sp>
      <p:sp>
        <p:nvSpPr>
          <p:cNvPr id="12" name="Text 10"/>
          <p:cNvSpPr/>
          <p:nvPr/>
        </p:nvSpPr>
        <p:spPr>
          <a:xfrm>
            <a:off x="6080760" y="2953512"/>
            <a:ext cx="3520440" cy="566928"/>
          </a:xfrm>
          <a:prstGeom prst="rect">
            <a:avLst/>
          </a:prstGeom>
          <a:noFill/>
          <a:ln/>
        </p:spPr>
        <p:txBody>
          <a:bodyPr wrap="square" lIns="0" tIns="0" rIns="0" bIns="0" rtlCol="0" anchor="ctr"/>
          <a:lstStyle/>
          <a:p>
            <a:pPr indent="0" marL="0">
              <a:buNone/>
            </a:pPr>
            <a:r>
              <a:rPr lang="en-US" sz="1050" i="1" dirty="0">
                <a:solidFill>
                  <a:srgbClr val="F7F4ED"/>
                </a:solidFill>
                <a:latin typeface="Calibri" pitchFamily="34" charset="0"/>
                <a:ea typeface="Calibri" pitchFamily="34" charset="-122"/>
                <a:cs typeface="Calibri" pitchFamily="34" charset="-120"/>
              </a:rPr>
              <a:t>Sitúa tus hallazgos: concuerda con / difiere de…</a:t>
            </a:r>
            <a:endParaRPr lang="en-US" sz="1050" dirty="0"/>
          </a:p>
        </p:txBody>
      </p:sp>
      <p:sp>
        <p:nvSpPr>
          <p:cNvPr id="13" name="Shape 11"/>
          <p:cNvSpPr/>
          <p:nvPr/>
        </p:nvSpPr>
        <p:spPr>
          <a:xfrm>
            <a:off x="1965960" y="3584448"/>
            <a:ext cx="8229600" cy="566928"/>
          </a:xfrm>
          <a:prstGeom prst="rect">
            <a:avLst/>
          </a:prstGeom>
          <a:solidFill>
            <a:srgbClr val="7DA552"/>
          </a:solidFill>
          <a:ln w="12700">
            <a:solidFill>
              <a:srgbClr val="7DA552"/>
            </a:solidFill>
            <a:prstDash val="solid"/>
          </a:ln>
        </p:spPr>
      </p:sp>
      <p:sp>
        <p:nvSpPr>
          <p:cNvPr id="14" name="Text 12"/>
          <p:cNvSpPr/>
          <p:nvPr/>
        </p:nvSpPr>
        <p:spPr>
          <a:xfrm>
            <a:off x="2103120" y="3584448"/>
            <a:ext cx="39319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4. Mecanismo o causa</a:t>
            </a:r>
            <a:endParaRPr lang="en-US" sz="1250" dirty="0"/>
          </a:p>
        </p:txBody>
      </p:sp>
      <p:sp>
        <p:nvSpPr>
          <p:cNvPr id="15" name="Text 13"/>
          <p:cNvSpPr/>
          <p:nvPr/>
        </p:nvSpPr>
        <p:spPr>
          <a:xfrm>
            <a:off x="6080760" y="3584448"/>
            <a:ext cx="3977640" cy="566928"/>
          </a:xfrm>
          <a:prstGeom prst="rect">
            <a:avLst/>
          </a:prstGeom>
          <a:noFill/>
          <a:ln/>
        </p:spPr>
        <p:txBody>
          <a:bodyPr wrap="square" lIns="0" tIns="0" rIns="0" bIns="0" rtlCol="0" anchor="ctr"/>
          <a:lstStyle/>
          <a:p>
            <a:pPr indent="0" marL="0">
              <a:buNone/>
            </a:pPr>
            <a:r>
              <a:rPr lang="en-US" sz="1050" i="1" dirty="0">
                <a:solidFill>
                  <a:srgbClr val="F7F4ED"/>
                </a:solidFill>
                <a:latin typeface="Calibri" pitchFamily="34" charset="0"/>
                <a:ea typeface="Calibri" pitchFamily="34" charset="-122"/>
                <a:cs typeface="Calibri" pitchFamily="34" charset="-120"/>
              </a:rPr>
              <a:t>Propón por qué se observó lo que se observó.</a:t>
            </a:r>
            <a:endParaRPr lang="en-US" sz="1050" dirty="0"/>
          </a:p>
        </p:txBody>
      </p:sp>
      <p:sp>
        <p:nvSpPr>
          <p:cNvPr id="16" name="Shape 14"/>
          <p:cNvSpPr/>
          <p:nvPr/>
        </p:nvSpPr>
        <p:spPr>
          <a:xfrm>
            <a:off x="1508760" y="4215384"/>
            <a:ext cx="9144000" cy="566928"/>
          </a:xfrm>
          <a:prstGeom prst="rect">
            <a:avLst/>
          </a:prstGeom>
          <a:solidFill>
            <a:srgbClr val="97BC62"/>
          </a:solidFill>
          <a:ln w="12700">
            <a:solidFill>
              <a:srgbClr val="97BC62"/>
            </a:solidFill>
            <a:prstDash val="solid"/>
          </a:ln>
        </p:spPr>
      </p:sp>
      <p:sp>
        <p:nvSpPr>
          <p:cNvPr id="17" name="Text 15"/>
          <p:cNvSpPr/>
          <p:nvPr/>
        </p:nvSpPr>
        <p:spPr>
          <a:xfrm>
            <a:off x="1645920" y="4215384"/>
            <a:ext cx="43891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5. Implicaciones prácticas</a:t>
            </a:r>
            <a:endParaRPr lang="en-US" sz="1250" dirty="0"/>
          </a:p>
        </p:txBody>
      </p:sp>
      <p:sp>
        <p:nvSpPr>
          <p:cNvPr id="18" name="Text 16"/>
          <p:cNvSpPr/>
          <p:nvPr/>
        </p:nvSpPr>
        <p:spPr>
          <a:xfrm>
            <a:off x="6080760" y="4215384"/>
            <a:ext cx="4434840" cy="566928"/>
          </a:xfrm>
          <a:prstGeom prst="rect">
            <a:avLst/>
          </a:prstGeom>
          <a:noFill/>
          <a:ln/>
        </p:spPr>
        <p:txBody>
          <a:bodyPr wrap="square" lIns="0" tIns="0" rIns="0" bIns="0" rtlCol="0" anchor="ctr"/>
          <a:lstStyle/>
          <a:p>
            <a:pPr indent="0" marL="0">
              <a:buNone/>
            </a:pPr>
            <a:r>
              <a:rPr lang="en-US" sz="1050" i="1" dirty="0">
                <a:solidFill>
                  <a:srgbClr val="F7F4ED"/>
                </a:solidFill>
                <a:latin typeface="Calibri" pitchFamily="34" charset="0"/>
                <a:ea typeface="Calibri" pitchFamily="34" charset="-122"/>
                <a:cs typeface="Calibri" pitchFamily="34" charset="-120"/>
              </a:rPr>
              <a:t>Para qué sirve en el sector productivo o académico.</a:t>
            </a:r>
            <a:endParaRPr lang="en-US" sz="1050" dirty="0"/>
          </a:p>
        </p:txBody>
      </p:sp>
      <p:sp>
        <p:nvSpPr>
          <p:cNvPr id="19" name="Shape 17"/>
          <p:cNvSpPr/>
          <p:nvPr/>
        </p:nvSpPr>
        <p:spPr>
          <a:xfrm>
            <a:off x="1051560" y="4846320"/>
            <a:ext cx="10058400" cy="566928"/>
          </a:xfrm>
          <a:prstGeom prst="rect">
            <a:avLst/>
          </a:prstGeom>
          <a:solidFill>
            <a:srgbClr val="B5C97D"/>
          </a:solidFill>
          <a:ln w="12700">
            <a:solidFill>
              <a:srgbClr val="B5C97D"/>
            </a:solidFill>
            <a:prstDash val="solid"/>
          </a:ln>
        </p:spPr>
      </p:sp>
      <p:sp>
        <p:nvSpPr>
          <p:cNvPr id="20" name="Text 18"/>
          <p:cNvSpPr/>
          <p:nvPr/>
        </p:nvSpPr>
        <p:spPr>
          <a:xfrm>
            <a:off x="1188720" y="4846320"/>
            <a:ext cx="4846320" cy="566928"/>
          </a:xfrm>
          <a:prstGeom prst="rect">
            <a:avLst/>
          </a:prstGeom>
          <a:noFill/>
          <a:ln/>
        </p:spPr>
        <p:txBody>
          <a:bodyPr wrap="square" lIns="0" tIns="0" rIns="0" bIns="0" rtlCol="0" anchor="ctr"/>
          <a:lstStyle/>
          <a:p>
            <a:pPr indent="0" marL="0">
              <a:buNone/>
            </a:pPr>
            <a:r>
              <a:rPr lang="en-US" sz="1250" b="1" dirty="0">
                <a:solidFill>
                  <a:srgbClr val="1F3A2E"/>
                </a:solidFill>
                <a:latin typeface="Calibri" pitchFamily="34" charset="0"/>
                <a:ea typeface="Calibri" pitchFamily="34" charset="-122"/>
                <a:cs typeface="Calibri" pitchFamily="34" charset="-120"/>
              </a:rPr>
              <a:t>6. Limitaciones</a:t>
            </a:r>
            <a:endParaRPr lang="en-US" sz="1250" dirty="0"/>
          </a:p>
        </p:txBody>
      </p:sp>
      <p:sp>
        <p:nvSpPr>
          <p:cNvPr id="21" name="Text 19"/>
          <p:cNvSpPr/>
          <p:nvPr/>
        </p:nvSpPr>
        <p:spPr>
          <a:xfrm>
            <a:off x="6080760" y="4846320"/>
            <a:ext cx="4892040" cy="566928"/>
          </a:xfrm>
          <a:prstGeom prst="rect">
            <a:avLst/>
          </a:prstGeom>
          <a:noFill/>
          <a:ln/>
        </p:spPr>
        <p:txBody>
          <a:bodyPr wrap="square" lIns="0" tIns="0" rIns="0" bIns="0" rtlCol="0" anchor="ctr"/>
          <a:lstStyle/>
          <a:p>
            <a:pPr indent="0" marL="0">
              <a:buNone/>
            </a:pPr>
            <a:r>
              <a:rPr lang="en-US" sz="1050" i="1" dirty="0">
                <a:solidFill>
                  <a:srgbClr val="5F6B5A"/>
                </a:solidFill>
                <a:latin typeface="Calibri" pitchFamily="34" charset="0"/>
                <a:ea typeface="Calibri" pitchFamily="34" charset="-122"/>
                <a:cs typeface="Calibri" pitchFamily="34" charset="-120"/>
              </a:rPr>
              <a:t>Qué no responde tu estudio — y por qué.</a:t>
            </a:r>
            <a:endParaRPr lang="en-US" sz="1050" dirty="0"/>
          </a:p>
        </p:txBody>
      </p:sp>
      <p:sp>
        <p:nvSpPr>
          <p:cNvPr id="22" name="Shape 20"/>
          <p:cNvSpPr/>
          <p:nvPr/>
        </p:nvSpPr>
        <p:spPr>
          <a:xfrm>
            <a:off x="365760" y="5477256"/>
            <a:ext cx="11430000" cy="566928"/>
          </a:xfrm>
          <a:prstGeom prst="rect">
            <a:avLst/>
          </a:prstGeom>
          <a:solidFill>
            <a:srgbClr val="C7E0A0"/>
          </a:solidFill>
          <a:ln w="12700">
            <a:solidFill>
              <a:srgbClr val="C7E0A0"/>
            </a:solidFill>
            <a:prstDash val="solid"/>
          </a:ln>
        </p:spPr>
      </p:sp>
      <p:sp>
        <p:nvSpPr>
          <p:cNvPr id="23" name="Text 21"/>
          <p:cNvSpPr/>
          <p:nvPr/>
        </p:nvSpPr>
        <p:spPr>
          <a:xfrm>
            <a:off x="502920" y="5477256"/>
            <a:ext cx="5532120" cy="566928"/>
          </a:xfrm>
          <a:prstGeom prst="rect">
            <a:avLst/>
          </a:prstGeom>
          <a:noFill/>
          <a:ln/>
        </p:spPr>
        <p:txBody>
          <a:bodyPr wrap="square" lIns="0" tIns="0" rIns="0" bIns="0" rtlCol="0" anchor="ctr"/>
          <a:lstStyle/>
          <a:p>
            <a:pPr indent="0" marL="0">
              <a:buNone/>
            </a:pPr>
            <a:r>
              <a:rPr lang="en-US" sz="1250" b="1" dirty="0">
                <a:solidFill>
                  <a:srgbClr val="1F3A2E"/>
                </a:solidFill>
                <a:latin typeface="Calibri" pitchFamily="34" charset="0"/>
                <a:ea typeface="Calibri" pitchFamily="34" charset="-122"/>
                <a:cs typeface="Calibri" pitchFamily="34" charset="-120"/>
              </a:rPr>
              <a:t>7. Líneas futuras</a:t>
            </a:r>
            <a:endParaRPr lang="en-US" sz="1250" dirty="0"/>
          </a:p>
        </p:txBody>
      </p:sp>
      <p:sp>
        <p:nvSpPr>
          <p:cNvPr id="24" name="Text 22"/>
          <p:cNvSpPr/>
          <p:nvPr/>
        </p:nvSpPr>
        <p:spPr>
          <a:xfrm>
            <a:off x="6080760" y="5477256"/>
            <a:ext cx="5577840" cy="566928"/>
          </a:xfrm>
          <a:prstGeom prst="rect">
            <a:avLst/>
          </a:prstGeom>
          <a:noFill/>
          <a:ln/>
        </p:spPr>
        <p:txBody>
          <a:bodyPr wrap="square" lIns="0" tIns="0" rIns="0" bIns="0" rtlCol="0" anchor="ctr"/>
          <a:lstStyle/>
          <a:p>
            <a:pPr indent="0" marL="0">
              <a:buNone/>
            </a:pPr>
            <a:r>
              <a:rPr lang="en-US" sz="1050" i="1" dirty="0">
                <a:solidFill>
                  <a:srgbClr val="5F6B5A"/>
                </a:solidFill>
                <a:latin typeface="Calibri" pitchFamily="34" charset="0"/>
                <a:ea typeface="Calibri" pitchFamily="34" charset="-122"/>
                <a:cs typeface="Calibri" pitchFamily="34" charset="-120"/>
              </a:rPr>
              <a:t>Qué preguntas abre tu trabajo — concretas, no genéricas.</a:t>
            </a:r>
            <a:endParaRPr lang="en-US" sz="1050" dirty="0"/>
          </a:p>
        </p:txBody>
      </p:sp>
      <p:sp>
        <p:nvSpPr>
          <p:cNvPr id="25" name="Text 23"/>
          <p:cNvSpPr/>
          <p:nvPr/>
        </p:nvSpPr>
        <p:spPr>
          <a:xfrm>
            <a:off x="457200" y="6263640"/>
            <a:ext cx="11247120" cy="365760"/>
          </a:xfrm>
          <a:prstGeom prst="rect">
            <a:avLst/>
          </a:prstGeom>
          <a:noFill/>
          <a:ln/>
        </p:spPr>
        <p:txBody>
          <a:bodyPr wrap="square" lIns="0" tIns="0" rIns="0" bIns="0" rtlCol="0" anchor="ctr"/>
          <a:lstStyle/>
          <a:p>
            <a:pPr algn="ctr" indent="0" marL="0">
              <a:buNone/>
            </a:pPr>
            <a:r>
              <a:rPr lang="en-US" sz="1200" i="1" dirty="0">
                <a:solidFill>
                  <a:srgbClr val="2C5F2D"/>
                </a:solidFill>
                <a:latin typeface="Calibri" pitchFamily="34" charset="0"/>
                <a:ea typeface="Calibri" pitchFamily="34" charset="-122"/>
                <a:cs typeface="Calibri" pitchFamily="34" charset="-120"/>
              </a:rPr>
              <a:t>Vas de lo específico (tu resultado) a lo general (sus implicaciones). Por eso es invertida.</a:t>
            </a:r>
            <a:endParaRPr lang="en-US" sz="1200" dirty="0"/>
          </a:p>
        </p:txBody>
      </p:sp>
      <p:sp>
        <p:nvSpPr>
          <p:cNvPr id="26" name="Text 24"/>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7" name="Text 25"/>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7 / 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PASO 1 · HALLAZGO PRINCIPAL</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Abre con una frase, no con un resumen</a:t>
            </a:r>
            <a:endParaRPr lang="en-US" sz="3000" dirty="0"/>
          </a:p>
        </p:txBody>
      </p:sp>
      <p:sp>
        <p:nvSpPr>
          <p:cNvPr id="4" name="Text 2"/>
          <p:cNvSpPr/>
          <p:nvPr/>
        </p:nvSpPr>
        <p:spPr>
          <a:xfrm>
            <a:off x="457200" y="1691640"/>
            <a:ext cx="5486400" cy="36576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La primera frase de tu Discusión</a:t>
            </a:r>
            <a:endParaRPr lang="en-US" sz="1300" dirty="0"/>
          </a:p>
        </p:txBody>
      </p:sp>
      <p:sp>
        <p:nvSpPr>
          <p:cNvPr id="5" name="Shape 3"/>
          <p:cNvSpPr/>
          <p:nvPr/>
        </p:nvSpPr>
        <p:spPr>
          <a:xfrm>
            <a:off x="457200" y="2148840"/>
            <a:ext cx="91440" cy="841248"/>
          </a:xfrm>
          <a:prstGeom prst="rect">
            <a:avLst/>
          </a:prstGeom>
          <a:solidFill>
            <a:srgbClr val="97BC62"/>
          </a:solidFill>
          <a:ln w="12700">
            <a:solidFill>
              <a:srgbClr val="97BC62"/>
            </a:solidFill>
            <a:prstDash val="solid"/>
          </a:ln>
        </p:spPr>
      </p:sp>
      <p:sp>
        <p:nvSpPr>
          <p:cNvPr id="6" name="Text 4"/>
          <p:cNvSpPr/>
          <p:nvPr/>
        </p:nvSpPr>
        <p:spPr>
          <a:xfrm>
            <a:off x="685800" y="2148840"/>
            <a:ext cx="5029200" cy="320040"/>
          </a:xfrm>
          <a:prstGeom prst="rect">
            <a:avLst/>
          </a:prstGeom>
          <a:noFill/>
          <a:ln/>
        </p:spPr>
        <p:txBody>
          <a:bodyPr wrap="square" lIns="0" tIns="0" rIns="0" bIns="0" rtlCol="0" anchor="ctr"/>
          <a:lstStyle/>
          <a:p>
            <a:pPr indent="0" marL="0">
              <a:buNone/>
            </a:pPr>
            <a:r>
              <a:rPr lang="en-US" sz="1300" b="1" dirty="0">
                <a:solidFill>
                  <a:srgbClr val="1F3A2E"/>
                </a:solidFill>
                <a:latin typeface="Calibri" pitchFamily="34" charset="0"/>
                <a:ea typeface="Calibri" pitchFamily="34" charset="-122"/>
                <a:cs typeface="Calibri" pitchFamily="34" charset="-120"/>
              </a:rPr>
              <a:t>Una frase, no un párrafo</a:t>
            </a:r>
            <a:endParaRPr lang="en-US" sz="1300" dirty="0"/>
          </a:p>
        </p:txBody>
      </p:sp>
      <p:sp>
        <p:nvSpPr>
          <p:cNvPr id="7" name="Text 5"/>
          <p:cNvSpPr/>
          <p:nvPr/>
        </p:nvSpPr>
        <p:spPr>
          <a:xfrm>
            <a:off x="685800" y="2441448"/>
            <a:ext cx="5029200"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Resume el hallazgo central en una sola oración.</a:t>
            </a:r>
            <a:endParaRPr lang="en-US" sz="1200" dirty="0"/>
          </a:p>
        </p:txBody>
      </p:sp>
      <p:sp>
        <p:nvSpPr>
          <p:cNvPr id="8" name="Shape 6"/>
          <p:cNvSpPr/>
          <p:nvPr/>
        </p:nvSpPr>
        <p:spPr>
          <a:xfrm>
            <a:off x="457200" y="3108960"/>
            <a:ext cx="91440" cy="841248"/>
          </a:xfrm>
          <a:prstGeom prst="rect">
            <a:avLst/>
          </a:prstGeom>
          <a:solidFill>
            <a:srgbClr val="97BC62"/>
          </a:solidFill>
          <a:ln w="12700">
            <a:solidFill>
              <a:srgbClr val="97BC62"/>
            </a:solidFill>
            <a:prstDash val="solid"/>
          </a:ln>
        </p:spPr>
      </p:sp>
      <p:sp>
        <p:nvSpPr>
          <p:cNvPr id="9" name="Text 7"/>
          <p:cNvSpPr/>
          <p:nvPr/>
        </p:nvSpPr>
        <p:spPr>
          <a:xfrm>
            <a:off x="685800" y="3108960"/>
            <a:ext cx="5029200" cy="320040"/>
          </a:xfrm>
          <a:prstGeom prst="rect">
            <a:avLst/>
          </a:prstGeom>
          <a:noFill/>
          <a:ln/>
        </p:spPr>
        <p:txBody>
          <a:bodyPr wrap="square" lIns="0" tIns="0" rIns="0" bIns="0" rtlCol="0" anchor="ctr"/>
          <a:lstStyle/>
          <a:p>
            <a:pPr indent="0" marL="0">
              <a:buNone/>
            </a:pPr>
            <a:r>
              <a:rPr lang="en-US" sz="1300" b="1" dirty="0">
                <a:solidFill>
                  <a:srgbClr val="1F3A2E"/>
                </a:solidFill>
                <a:latin typeface="Calibri" pitchFamily="34" charset="0"/>
                <a:ea typeface="Calibri" pitchFamily="34" charset="-122"/>
                <a:cs typeface="Calibri" pitchFamily="34" charset="-120"/>
              </a:rPr>
              <a:t>Sin números específicos</a:t>
            </a:r>
            <a:endParaRPr lang="en-US" sz="1300" dirty="0"/>
          </a:p>
        </p:txBody>
      </p:sp>
      <p:sp>
        <p:nvSpPr>
          <p:cNvPr id="10" name="Text 8"/>
          <p:cNvSpPr/>
          <p:nvPr/>
        </p:nvSpPr>
        <p:spPr>
          <a:xfrm>
            <a:off x="685800" y="3401568"/>
            <a:ext cx="5029200"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Los números ya están en Resultados — aquí destacas lo que significan.</a:t>
            </a:r>
            <a:endParaRPr lang="en-US" sz="1200" dirty="0"/>
          </a:p>
        </p:txBody>
      </p:sp>
      <p:sp>
        <p:nvSpPr>
          <p:cNvPr id="11" name="Shape 9"/>
          <p:cNvSpPr/>
          <p:nvPr/>
        </p:nvSpPr>
        <p:spPr>
          <a:xfrm>
            <a:off x="457200" y="4069080"/>
            <a:ext cx="91440" cy="841248"/>
          </a:xfrm>
          <a:prstGeom prst="rect">
            <a:avLst/>
          </a:prstGeom>
          <a:solidFill>
            <a:srgbClr val="97BC62"/>
          </a:solidFill>
          <a:ln w="12700">
            <a:solidFill>
              <a:srgbClr val="97BC62"/>
            </a:solidFill>
            <a:prstDash val="solid"/>
          </a:ln>
        </p:spPr>
      </p:sp>
      <p:sp>
        <p:nvSpPr>
          <p:cNvPr id="12" name="Text 10"/>
          <p:cNvSpPr/>
          <p:nvPr/>
        </p:nvSpPr>
        <p:spPr>
          <a:xfrm>
            <a:off x="685800" y="4069080"/>
            <a:ext cx="5029200" cy="320040"/>
          </a:xfrm>
          <a:prstGeom prst="rect">
            <a:avLst/>
          </a:prstGeom>
          <a:noFill/>
          <a:ln/>
        </p:spPr>
        <p:txBody>
          <a:bodyPr wrap="square" lIns="0" tIns="0" rIns="0" bIns="0" rtlCol="0" anchor="ctr"/>
          <a:lstStyle/>
          <a:p>
            <a:pPr indent="0" marL="0">
              <a:buNone/>
            </a:pPr>
            <a:r>
              <a:rPr lang="en-US" sz="1300" b="1" dirty="0">
                <a:solidFill>
                  <a:srgbClr val="1F3A2E"/>
                </a:solidFill>
                <a:latin typeface="Calibri" pitchFamily="34" charset="0"/>
                <a:ea typeface="Calibri" pitchFamily="34" charset="-122"/>
                <a:cs typeface="Calibri" pitchFamily="34" charset="-120"/>
              </a:rPr>
              <a:t>Conecta con el objetivo</a:t>
            </a:r>
            <a:endParaRPr lang="en-US" sz="1300" dirty="0"/>
          </a:p>
        </p:txBody>
      </p:sp>
      <p:sp>
        <p:nvSpPr>
          <p:cNvPr id="13" name="Text 11"/>
          <p:cNvSpPr/>
          <p:nvPr/>
        </p:nvSpPr>
        <p:spPr>
          <a:xfrm>
            <a:off x="685800" y="4361688"/>
            <a:ext cx="5029200"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Debe contestar la pregunta planteada en la Introducción.</a:t>
            </a:r>
            <a:endParaRPr lang="en-US" sz="1200" dirty="0"/>
          </a:p>
        </p:txBody>
      </p:sp>
      <p:sp>
        <p:nvSpPr>
          <p:cNvPr id="14" name="Shape 12"/>
          <p:cNvSpPr/>
          <p:nvPr/>
        </p:nvSpPr>
        <p:spPr>
          <a:xfrm>
            <a:off x="457200" y="5029200"/>
            <a:ext cx="91440" cy="841248"/>
          </a:xfrm>
          <a:prstGeom prst="rect">
            <a:avLst/>
          </a:prstGeom>
          <a:solidFill>
            <a:srgbClr val="97BC62"/>
          </a:solidFill>
          <a:ln w="12700">
            <a:solidFill>
              <a:srgbClr val="97BC62"/>
            </a:solidFill>
            <a:prstDash val="solid"/>
          </a:ln>
        </p:spPr>
      </p:sp>
      <p:sp>
        <p:nvSpPr>
          <p:cNvPr id="15" name="Text 13"/>
          <p:cNvSpPr/>
          <p:nvPr/>
        </p:nvSpPr>
        <p:spPr>
          <a:xfrm>
            <a:off x="685800" y="5029200"/>
            <a:ext cx="5029200" cy="320040"/>
          </a:xfrm>
          <a:prstGeom prst="rect">
            <a:avLst/>
          </a:prstGeom>
          <a:noFill/>
          <a:ln/>
        </p:spPr>
        <p:txBody>
          <a:bodyPr wrap="square" lIns="0" tIns="0" rIns="0" bIns="0" rtlCol="0" anchor="ctr"/>
          <a:lstStyle/>
          <a:p>
            <a:pPr indent="0" marL="0">
              <a:buNone/>
            </a:pPr>
            <a:r>
              <a:rPr lang="en-US" sz="1300" b="1" dirty="0">
                <a:solidFill>
                  <a:srgbClr val="1F3A2E"/>
                </a:solidFill>
                <a:latin typeface="Calibri" pitchFamily="34" charset="0"/>
                <a:ea typeface="Calibri" pitchFamily="34" charset="-122"/>
                <a:cs typeface="Calibri" pitchFamily="34" charset="-120"/>
              </a:rPr>
              <a:t>Voz activa preferida</a:t>
            </a:r>
            <a:endParaRPr lang="en-US" sz="1300" dirty="0"/>
          </a:p>
        </p:txBody>
      </p:sp>
      <p:sp>
        <p:nvSpPr>
          <p:cNvPr id="16" name="Text 14"/>
          <p:cNvSpPr/>
          <p:nvPr/>
        </p:nvSpPr>
        <p:spPr>
          <a:xfrm>
            <a:off x="685800" y="5321808"/>
            <a:ext cx="5029200" cy="566928"/>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"Este estudio demostró que…" en vez de "Fue demostrado que…".</a:t>
            </a:r>
            <a:endParaRPr lang="en-US" sz="1200" dirty="0"/>
          </a:p>
        </p:txBody>
      </p:sp>
      <p:sp>
        <p:nvSpPr>
          <p:cNvPr id="17" name="Shape 15"/>
          <p:cNvSpPr/>
          <p:nvPr/>
        </p:nvSpPr>
        <p:spPr>
          <a:xfrm>
            <a:off x="6263640" y="1691640"/>
            <a:ext cx="5440680" cy="457200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8" name="Text 16"/>
          <p:cNvSpPr/>
          <p:nvPr/>
        </p:nvSpPr>
        <p:spPr>
          <a:xfrm>
            <a:off x="6492240" y="1828800"/>
            <a:ext cx="5029200" cy="320040"/>
          </a:xfrm>
          <a:prstGeom prst="rect">
            <a:avLst/>
          </a:prstGeom>
          <a:noFill/>
          <a:ln/>
        </p:spPr>
        <p:txBody>
          <a:bodyPr wrap="square" lIns="0" tIns="0" rIns="0" bIns="0" rtlCol="0" anchor="ctr"/>
          <a:lstStyle/>
          <a:p>
            <a:pPr indent="0" marL="0">
              <a:buNone/>
            </a:pPr>
            <a:r>
              <a:rPr lang="en-US" sz="1100" b="1" spc="200" kern="0" dirty="0">
                <a:solidFill>
                  <a:srgbClr val="2C5F2D"/>
                </a:solidFill>
                <a:latin typeface="Calibri" pitchFamily="34" charset="0"/>
                <a:ea typeface="Calibri" pitchFamily="34" charset="-122"/>
                <a:cs typeface="Calibri" pitchFamily="34" charset="-120"/>
              </a:rPr>
              <a:t>CASO GUÍA  ·  Apertura de Discusión</a:t>
            </a:r>
            <a:endParaRPr lang="en-US" sz="1100" dirty="0"/>
          </a:p>
        </p:txBody>
      </p:sp>
      <p:sp>
        <p:nvSpPr>
          <p:cNvPr id="19" name="Text 17"/>
          <p:cNvSpPr/>
          <p:nvPr/>
        </p:nvSpPr>
        <p:spPr>
          <a:xfrm>
            <a:off x="6492240" y="2148840"/>
            <a:ext cx="5029200" cy="365760"/>
          </a:xfrm>
          <a:prstGeom prst="rect">
            <a:avLst/>
          </a:prstGeom>
          <a:noFill/>
          <a:ln/>
        </p:spPr>
        <p:txBody>
          <a:bodyPr wrap="square" lIns="0" tIns="0" rIns="0" bIns="0" rtlCol="0" anchor="ctr"/>
          <a:lstStyle/>
          <a:p>
            <a:pPr indent="0" marL="0">
              <a:buNone/>
            </a:pPr>
            <a:r>
              <a:rPr lang="en-US" sz="1300" i="1" dirty="0">
                <a:solidFill>
                  <a:srgbClr val="5F6B5A"/>
                </a:solidFill>
                <a:latin typeface="Georgia" pitchFamily="34" charset="0"/>
                <a:ea typeface="Georgia" pitchFamily="34" charset="-122"/>
                <a:cs typeface="Georgia" pitchFamily="34" charset="-120"/>
              </a:rPr>
              <a:t>Una frase que cierra el embudo de la Introducción</a:t>
            </a:r>
            <a:endParaRPr lang="en-US" sz="1300" dirty="0"/>
          </a:p>
        </p:txBody>
      </p:sp>
      <p:sp>
        <p:nvSpPr>
          <p:cNvPr id="20" name="Text 18"/>
          <p:cNvSpPr/>
          <p:nvPr/>
        </p:nvSpPr>
        <p:spPr>
          <a:xfrm>
            <a:off x="6492240" y="2697480"/>
            <a:ext cx="5029200" cy="3383280"/>
          </a:xfrm>
          <a:prstGeom prst="rect">
            <a:avLst/>
          </a:prstGeom>
          <a:noFill/>
          <a:ln/>
        </p:spPr>
        <p:txBody>
          <a:bodyPr wrap="square" lIns="0" tIns="0" rIns="0" bIns="0" rtlCol="0" anchor="ctr"/>
          <a:lstStyle/>
          <a:p>
            <a:pPr indent="0" marL="0">
              <a:lnSpc>
                <a:spcPct val="125000"/>
              </a:lnSpc>
              <a:buNone/>
            </a:pPr>
            <a:r>
              <a:rPr lang="en-US" sz="1200" dirty="0">
                <a:solidFill>
                  <a:srgbClr val="1A1A1A"/>
                </a:solidFill>
                <a:latin typeface="Calibri" pitchFamily="34" charset="0"/>
                <a:ea typeface="Calibri" pitchFamily="34" charset="-122"/>
                <a:cs typeface="Calibri" pitchFamily="34" charset="-120"/>
              </a:rPr>
              <a:t>"Este estudio demostró que las bacterias ácido-lácticas nativas aisladas de fermentación tradicional de cacao en el Piedemonte llanero presentan un potencial probiótico comparable —y en algunos casos superior— al de cepas comerciales de referencia, evidenciando la viabilidad de cultivos iniciadores autóctonos para la región."</a:t>
            </a:r>
            <a:endParaRPr lang="en-US" sz="1200" dirty="0"/>
          </a:p>
        </p:txBody>
      </p:sp>
      <p:sp>
        <p:nvSpPr>
          <p:cNvPr id="21" name="Text 19"/>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2" name="Text 20"/>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8 / 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PASO 2 · INTERPRETACIÓN</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Resultados dice qué pasó. Discusión dice qué significa.</a:t>
            </a:r>
            <a:endParaRPr lang="en-US" sz="3000" dirty="0"/>
          </a:p>
        </p:txBody>
      </p:sp>
      <p:sp>
        <p:nvSpPr>
          <p:cNvPr id="4" name="Shape 2"/>
          <p:cNvSpPr/>
          <p:nvPr/>
        </p:nvSpPr>
        <p:spPr>
          <a:xfrm>
            <a:off x="457200" y="1691640"/>
            <a:ext cx="5532120" cy="4572000"/>
          </a:xfrm>
          <a:prstGeom prst="rect">
            <a:avLst/>
          </a:prstGeom>
          <a:solidFill>
            <a:srgbClr val="FFFFFF"/>
          </a:solidFill>
          <a:ln w="19050">
            <a:solidFill>
              <a:srgbClr val="B8651A"/>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691640"/>
            <a:ext cx="5532120" cy="548640"/>
          </a:xfrm>
          <a:prstGeom prst="rect">
            <a:avLst/>
          </a:prstGeom>
          <a:solidFill>
            <a:srgbClr val="B8651A"/>
          </a:solidFill>
          <a:ln w="12700">
            <a:solidFill>
              <a:srgbClr val="B8651A"/>
            </a:solidFill>
            <a:prstDash val="solid"/>
          </a:ln>
        </p:spPr>
      </p:sp>
      <p:pic>
        <p:nvPicPr>
          <p:cNvPr id="6" name="Image 0" descr="preencoded.png">    </p:cNvPr>
          <p:cNvPicPr>
            <a:picLocks noChangeAspect="1"/>
          </p:cNvPicPr>
          <p:nvPr/>
        </p:nvPicPr>
        <p:blipFill>
          <a:blip r:embed="rId1"/>
          <a:stretch>
            <a:fillRect/>
          </a:stretch>
        </p:blipFill>
        <p:spPr>
          <a:xfrm>
            <a:off x="640080" y="1828800"/>
            <a:ext cx="274320" cy="274320"/>
          </a:xfrm>
          <a:prstGeom prst="rect">
            <a:avLst/>
          </a:prstGeom>
        </p:spPr>
      </p:pic>
      <p:sp>
        <p:nvSpPr>
          <p:cNvPr id="7" name="Text 4"/>
          <p:cNvSpPr/>
          <p:nvPr/>
        </p:nvSpPr>
        <p:spPr>
          <a:xfrm>
            <a:off x="1005840" y="1691640"/>
            <a:ext cx="4572000" cy="54864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REPITE RESULTADOS</a:t>
            </a:r>
            <a:endParaRPr lang="en-US" sz="1300" dirty="0"/>
          </a:p>
        </p:txBody>
      </p:sp>
      <p:sp>
        <p:nvSpPr>
          <p:cNvPr id="8" name="Text 5"/>
          <p:cNvSpPr/>
          <p:nvPr/>
        </p:nvSpPr>
        <p:spPr>
          <a:xfrm>
            <a:off x="685800" y="2423160"/>
            <a:ext cx="5074920" cy="2286000"/>
          </a:xfrm>
          <a:prstGeom prst="rect">
            <a:avLst/>
          </a:prstGeom>
          <a:noFill/>
          <a:ln/>
        </p:spPr>
        <p:txBody>
          <a:bodyPr wrap="square" lIns="0" tIns="0" rIns="0" bIns="0" rtlCol="0" anchor="ctr"/>
          <a:lstStyle/>
          <a:p>
            <a:pPr indent="0" marL="0">
              <a:lnSpc>
                <a:spcPct val="120000"/>
              </a:lnSpc>
              <a:buNone/>
            </a:pPr>
            <a:r>
              <a:rPr lang="en-US" sz="1200" i="1" dirty="0">
                <a:solidFill>
                  <a:srgbClr val="1A1A1A"/>
                </a:solidFill>
                <a:latin typeface="Calibri" pitchFamily="34" charset="0"/>
                <a:ea typeface="Calibri" pitchFamily="34" charset="-122"/>
                <a:cs typeface="Calibri" pitchFamily="34" charset="-120"/>
              </a:rPr>
              <a:t>"La supervivencia disminuyó significativamente al aumentar la concentración de sales biliares (F = 124.6; p &lt; 0.001). La cepa BAL-03 mantuvo 78.6 ± 3.2 % a 0.30 %, superando a ATCC 14917 (72.4 ± 2.8 %). BAL-04 mostró 47.3 ± 4.1 %."</a:t>
            </a:r>
            <a:endParaRPr lang="en-US" sz="1200" dirty="0"/>
          </a:p>
        </p:txBody>
      </p:sp>
      <p:sp>
        <p:nvSpPr>
          <p:cNvPr id="9" name="Text 6"/>
          <p:cNvSpPr/>
          <p:nvPr/>
        </p:nvSpPr>
        <p:spPr>
          <a:xfrm>
            <a:off x="685800" y="4800600"/>
            <a:ext cx="5074920" cy="320040"/>
          </a:xfrm>
          <a:prstGeom prst="rect">
            <a:avLst/>
          </a:prstGeom>
          <a:noFill/>
          <a:ln/>
        </p:spPr>
        <p:txBody>
          <a:bodyPr wrap="square" lIns="0" tIns="0" rIns="0" bIns="0" rtlCol="0" anchor="ctr"/>
          <a:lstStyle/>
          <a:p>
            <a:pPr indent="0" marL="0">
              <a:buNone/>
            </a:pPr>
            <a:r>
              <a:rPr lang="en-US" sz="1200" b="1" dirty="0">
                <a:solidFill>
                  <a:srgbClr val="B8651A"/>
                </a:solidFill>
                <a:latin typeface="Calibri" pitchFamily="34" charset="0"/>
                <a:ea typeface="Calibri" pitchFamily="34" charset="-122"/>
                <a:cs typeface="Calibri" pitchFamily="34" charset="-120"/>
              </a:rPr>
              <a:t>Problema:</a:t>
            </a:r>
            <a:endParaRPr lang="en-US" sz="1200" dirty="0"/>
          </a:p>
        </p:txBody>
      </p:sp>
      <p:sp>
        <p:nvSpPr>
          <p:cNvPr id="10" name="Text 7"/>
          <p:cNvSpPr/>
          <p:nvPr/>
        </p:nvSpPr>
        <p:spPr>
          <a:xfrm>
            <a:off x="685800" y="5120640"/>
            <a:ext cx="5074920" cy="109728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Reproduce los números de Resultados. No interpreta. No explica el por qué.</a:t>
            </a:r>
            <a:endParaRPr lang="en-US" sz="1150" dirty="0"/>
          </a:p>
        </p:txBody>
      </p:sp>
      <p:sp>
        <p:nvSpPr>
          <p:cNvPr id="11" name="Shape 8"/>
          <p:cNvSpPr/>
          <p:nvPr/>
        </p:nvSpPr>
        <p:spPr>
          <a:xfrm>
            <a:off x="6172200" y="1691640"/>
            <a:ext cx="5532120" cy="4572000"/>
          </a:xfrm>
          <a:prstGeom prst="rect">
            <a:avLst/>
          </a:prstGeom>
          <a:solidFill>
            <a:srgbClr val="FFFFFF"/>
          </a:solidFill>
          <a:ln w="19050">
            <a:solidFill>
              <a:srgbClr val="2C5F2D"/>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6172200" y="1691640"/>
            <a:ext cx="5532120" cy="548640"/>
          </a:xfrm>
          <a:prstGeom prst="rect">
            <a:avLst/>
          </a:prstGeom>
          <a:solidFill>
            <a:srgbClr val="2C5F2D"/>
          </a:solidFill>
          <a:ln w="12700">
            <a:solidFill>
              <a:srgbClr val="2C5F2D"/>
            </a:solidFill>
            <a:prstDash val="solid"/>
          </a:ln>
        </p:spPr>
      </p:sp>
      <p:pic>
        <p:nvPicPr>
          <p:cNvPr id="13" name="Image 1" descr="preencoded.png">    </p:cNvPr>
          <p:cNvPicPr>
            <a:picLocks noChangeAspect="1"/>
          </p:cNvPicPr>
          <p:nvPr/>
        </p:nvPicPr>
        <p:blipFill>
          <a:blip r:embed="rId2"/>
          <a:stretch>
            <a:fillRect/>
          </a:stretch>
        </p:blipFill>
        <p:spPr>
          <a:xfrm>
            <a:off x="6355080" y="1828800"/>
            <a:ext cx="274320" cy="274320"/>
          </a:xfrm>
          <a:prstGeom prst="rect">
            <a:avLst/>
          </a:prstGeom>
        </p:spPr>
      </p:pic>
      <p:sp>
        <p:nvSpPr>
          <p:cNvPr id="14" name="Text 10"/>
          <p:cNvSpPr/>
          <p:nvPr/>
        </p:nvSpPr>
        <p:spPr>
          <a:xfrm>
            <a:off x="6720840" y="1691640"/>
            <a:ext cx="4572000" cy="54864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INTERPRETA</a:t>
            </a:r>
            <a:endParaRPr lang="en-US" sz="1300" dirty="0"/>
          </a:p>
        </p:txBody>
      </p:sp>
      <p:sp>
        <p:nvSpPr>
          <p:cNvPr id="15" name="Text 11"/>
          <p:cNvSpPr/>
          <p:nvPr/>
        </p:nvSpPr>
        <p:spPr>
          <a:xfrm>
            <a:off x="6400800" y="2377440"/>
            <a:ext cx="5074920" cy="3840480"/>
          </a:xfrm>
          <a:prstGeom prst="rect">
            <a:avLst/>
          </a:prstGeom>
          <a:noFill/>
          <a:ln/>
        </p:spPr>
        <p:txBody>
          <a:bodyPr wrap="square" lIns="0" tIns="0" rIns="0" bIns="0" rtlCol="0" anchor="ctr"/>
          <a:lstStyle/>
          <a:p>
            <a:pPr indent="0" marL="0">
              <a:lnSpc>
                <a:spcPct val="120000"/>
              </a:lnSpc>
              <a:buNone/>
            </a:pPr>
            <a:r>
              <a:rPr lang="en-US" sz="1100" dirty="0">
                <a:solidFill>
                  <a:srgbClr val="1A1A1A"/>
                </a:solidFill>
                <a:latin typeface="Calibri" pitchFamily="34" charset="0"/>
                <a:ea typeface="Calibri" pitchFamily="34" charset="-122"/>
                <a:cs typeface="Calibri" pitchFamily="34" charset="-120"/>
              </a:rPr>
              <a:t>"La alta tolerancia de BAL-03 a sales biliares sugiere una adaptación fisiológica a ambientes con presión osmótica elevada, condición compatible con el ácido gastrointestinal que enfrentaría un probiótico in vivo. El hecho de que supere a la cepa de referencia ATCC 14917 indica que la presión selectiva de la fermentación tradicional habría favorecido cepas con sistemas eficientes de eflujo de sales biliares."</a:t>
            </a:r>
            <a:endParaRPr lang="en-US" sz="1100" dirty="0"/>
          </a:p>
        </p:txBody>
      </p:sp>
      <p:sp>
        <p:nvSpPr>
          <p:cNvPr id="16" name="Text 12"/>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17" name="Text 13"/>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9 / 25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3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Dialogar con la literatura</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Comparar — concordar — diferir — explicar — situar.</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COMPARACIÓN CON LITERATURA PREVIA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Tres tipos de diálogo con otros estudios</a:t>
            </a:r>
            <a:endParaRPr lang="en-US" sz="3000" dirty="0"/>
          </a:p>
        </p:txBody>
      </p:sp>
      <p:sp>
        <p:nvSpPr>
          <p:cNvPr id="4" name="Shape 2"/>
          <p:cNvSpPr/>
          <p:nvPr/>
        </p:nvSpPr>
        <p:spPr>
          <a:xfrm>
            <a:off x="457200" y="1691640"/>
            <a:ext cx="2331720" cy="1371600"/>
          </a:xfrm>
          <a:prstGeom prst="rect">
            <a:avLst/>
          </a:prstGeom>
          <a:solidFill>
            <a:srgbClr val="2C5F2D"/>
          </a:solidFill>
          <a:ln w="12700">
            <a:solidFill>
              <a:srgbClr val="2C5F2D"/>
            </a:solidFill>
            <a:prstDash val="solid"/>
          </a:ln>
        </p:spPr>
      </p:sp>
      <p:sp>
        <p:nvSpPr>
          <p:cNvPr id="5" name="Text 3"/>
          <p:cNvSpPr/>
          <p:nvPr/>
        </p:nvSpPr>
        <p:spPr>
          <a:xfrm>
            <a:off x="457200" y="1691640"/>
            <a:ext cx="2331720" cy="13716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Concordancia</a:t>
            </a:r>
            <a:endParaRPr lang="en-US" sz="2200" dirty="0"/>
          </a:p>
        </p:txBody>
      </p:sp>
      <p:sp>
        <p:nvSpPr>
          <p:cNvPr id="6" name="Shape 4"/>
          <p:cNvSpPr/>
          <p:nvPr/>
        </p:nvSpPr>
        <p:spPr>
          <a:xfrm>
            <a:off x="2880360" y="1691640"/>
            <a:ext cx="8823960" cy="1371600"/>
          </a:xfrm>
          <a:prstGeom prst="rect">
            <a:avLst/>
          </a:prstGeom>
          <a:solidFill>
            <a:srgbClr val="F7F4ED"/>
          </a:solidFill>
          <a:ln w="12700">
            <a:solidFill>
              <a:srgbClr val="D9D2C0"/>
            </a:solidFill>
            <a:prstDash val="solid"/>
          </a:ln>
        </p:spPr>
      </p:sp>
      <p:sp>
        <p:nvSpPr>
          <p:cNvPr id="7" name="Text 5"/>
          <p:cNvSpPr/>
          <p:nvPr/>
        </p:nvSpPr>
        <p:spPr>
          <a:xfrm>
            <a:off x="3063240" y="1783080"/>
            <a:ext cx="8503920" cy="50292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Tus resultados coinciden con estudios previos. No es trivial — refuerza la generalización del hallazgo.</a:t>
            </a:r>
            <a:endParaRPr lang="en-US" sz="1300" dirty="0"/>
          </a:p>
        </p:txBody>
      </p:sp>
      <p:sp>
        <p:nvSpPr>
          <p:cNvPr id="8" name="Text 6"/>
          <p:cNvSpPr/>
          <p:nvPr/>
        </p:nvSpPr>
        <p:spPr>
          <a:xfrm>
            <a:off x="3063240" y="2377440"/>
            <a:ext cx="8503920" cy="594360"/>
          </a:xfrm>
          <a:prstGeom prst="rect">
            <a:avLst/>
          </a:prstGeom>
          <a:noFill/>
          <a:ln/>
        </p:spPr>
        <p:txBody>
          <a:bodyPr wrap="square" lIns="0" tIns="0" rIns="0" bIns="0" rtlCol="0" anchor="ctr"/>
          <a:lstStyle/>
          <a:p>
            <a:pPr indent="0" marL="0">
              <a:lnSpc>
                <a:spcPct val="120000"/>
              </a:lnSpc>
              <a:buNone/>
            </a:pPr>
            <a:r>
              <a:rPr lang="en-US" sz="1200" i="1" dirty="0">
                <a:solidFill>
                  <a:srgbClr val="2C5F2D"/>
                </a:solidFill>
                <a:latin typeface="Georgia" pitchFamily="34" charset="0"/>
                <a:ea typeface="Georgia" pitchFamily="34" charset="-122"/>
                <a:cs typeface="Georgia" pitchFamily="34" charset="-120"/>
              </a:rPr>
              <a:t>"Estos valores son consistentes con los reportados por Pérez et al. (2022) en cacao ecuatoriano…"</a:t>
            </a:r>
            <a:endParaRPr lang="en-US" sz="1200" dirty="0"/>
          </a:p>
        </p:txBody>
      </p:sp>
      <p:sp>
        <p:nvSpPr>
          <p:cNvPr id="9" name="Shape 7"/>
          <p:cNvSpPr/>
          <p:nvPr/>
        </p:nvSpPr>
        <p:spPr>
          <a:xfrm>
            <a:off x="457200" y="3200400"/>
            <a:ext cx="2331720" cy="1371600"/>
          </a:xfrm>
          <a:prstGeom prst="rect">
            <a:avLst/>
          </a:prstGeom>
          <a:solidFill>
            <a:srgbClr val="B8651A"/>
          </a:solidFill>
          <a:ln w="12700">
            <a:solidFill>
              <a:srgbClr val="B8651A"/>
            </a:solidFill>
            <a:prstDash val="solid"/>
          </a:ln>
        </p:spPr>
      </p:sp>
      <p:sp>
        <p:nvSpPr>
          <p:cNvPr id="10" name="Text 8"/>
          <p:cNvSpPr/>
          <p:nvPr/>
        </p:nvSpPr>
        <p:spPr>
          <a:xfrm>
            <a:off x="457200" y="3200400"/>
            <a:ext cx="2331720" cy="13716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Discrepancia</a:t>
            </a:r>
            <a:endParaRPr lang="en-US" sz="2200" dirty="0"/>
          </a:p>
        </p:txBody>
      </p:sp>
      <p:sp>
        <p:nvSpPr>
          <p:cNvPr id="11" name="Shape 9"/>
          <p:cNvSpPr/>
          <p:nvPr/>
        </p:nvSpPr>
        <p:spPr>
          <a:xfrm>
            <a:off x="2880360" y="3200400"/>
            <a:ext cx="8823960" cy="1371600"/>
          </a:xfrm>
          <a:prstGeom prst="rect">
            <a:avLst/>
          </a:prstGeom>
          <a:solidFill>
            <a:srgbClr val="F7F4ED"/>
          </a:solidFill>
          <a:ln w="12700">
            <a:solidFill>
              <a:srgbClr val="D9D2C0"/>
            </a:solidFill>
            <a:prstDash val="solid"/>
          </a:ln>
        </p:spPr>
      </p:sp>
      <p:sp>
        <p:nvSpPr>
          <p:cNvPr id="12" name="Text 10"/>
          <p:cNvSpPr/>
          <p:nvPr/>
        </p:nvSpPr>
        <p:spPr>
          <a:xfrm>
            <a:off x="3063240" y="3291840"/>
            <a:ext cx="8503920" cy="50292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Tus resultados difieren de la literatura. Aquí está el oro: explica POR QUÉ podrían diferir.</a:t>
            </a:r>
            <a:endParaRPr lang="en-US" sz="1300" dirty="0"/>
          </a:p>
        </p:txBody>
      </p:sp>
      <p:sp>
        <p:nvSpPr>
          <p:cNvPr id="13" name="Text 11"/>
          <p:cNvSpPr/>
          <p:nvPr/>
        </p:nvSpPr>
        <p:spPr>
          <a:xfrm>
            <a:off x="3063240" y="3886200"/>
            <a:ext cx="8503920" cy="594360"/>
          </a:xfrm>
          <a:prstGeom prst="rect">
            <a:avLst/>
          </a:prstGeom>
          <a:noFill/>
          <a:ln/>
        </p:spPr>
        <p:txBody>
          <a:bodyPr wrap="square" lIns="0" tIns="0" rIns="0" bIns="0" rtlCol="0" anchor="ctr"/>
          <a:lstStyle/>
          <a:p>
            <a:pPr indent="0" marL="0">
              <a:lnSpc>
                <a:spcPct val="120000"/>
              </a:lnSpc>
              <a:buNone/>
            </a:pPr>
            <a:r>
              <a:rPr lang="en-US" sz="1200" i="1" dirty="0">
                <a:solidFill>
                  <a:srgbClr val="2C5F2D"/>
                </a:solidFill>
                <a:latin typeface="Georgia" pitchFamily="34" charset="0"/>
                <a:ea typeface="Georgia" pitchFamily="34" charset="-122"/>
                <a:cs typeface="Georgia" pitchFamily="34" charset="-120"/>
              </a:rPr>
              <a:t>"A diferencia de Silva et al. (2024), no observamos crecimiento a 45 °C, posiblemente debido a…"</a:t>
            </a:r>
            <a:endParaRPr lang="en-US" sz="1200" dirty="0"/>
          </a:p>
        </p:txBody>
      </p:sp>
      <p:sp>
        <p:nvSpPr>
          <p:cNvPr id="14" name="Shape 12"/>
          <p:cNvSpPr/>
          <p:nvPr/>
        </p:nvSpPr>
        <p:spPr>
          <a:xfrm>
            <a:off x="457200" y="4709160"/>
            <a:ext cx="2331720" cy="1371600"/>
          </a:xfrm>
          <a:prstGeom prst="rect">
            <a:avLst/>
          </a:prstGeom>
          <a:solidFill>
            <a:srgbClr val="97BC62"/>
          </a:solidFill>
          <a:ln w="12700">
            <a:solidFill>
              <a:srgbClr val="97BC62"/>
            </a:solidFill>
            <a:prstDash val="solid"/>
          </a:ln>
        </p:spPr>
      </p:sp>
      <p:sp>
        <p:nvSpPr>
          <p:cNvPr id="15" name="Text 13"/>
          <p:cNvSpPr/>
          <p:nvPr/>
        </p:nvSpPr>
        <p:spPr>
          <a:xfrm>
            <a:off x="457200" y="4709160"/>
            <a:ext cx="2331720" cy="1371600"/>
          </a:xfrm>
          <a:prstGeom prst="rect">
            <a:avLst/>
          </a:prstGeom>
          <a:noFill/>
          <a:ln/>
        </p:spPr>
        <p:txBody>
          <a:bodyPr wrap="square" lIns="0" tIns="0" rIns="0" bIns="0" rtlCol="0" anchor="ctr"/>
          <a:lstStyle/>
          <a:p>
            <a:pPr algn="ctr" indent="0" marL="0">
              <a:buNone/>
            </a:pPr>
            <a:r>
              <a:rPr lang="en-US" sz="2200" b="1" dirty="0">
                <a:solidFill>
                  <a:srgbClr val="1F3A2E"/>
                </a:solidFill>
                <a:latin typeface="Georgia" pitchFamily="34" charset="0"/>
                <a:ea typeface="Georgia" pitchFamily="34" charset="-122"/>
                <a:cs typeface="Georgia" pitchFamily="34" charset="-120"/>
              </a:rPr>
              <a:t>Vacío llenado</a:t>
            </a:r>
            <a:endParaRPr lang="en-US" sz="2200" dirty="0"/>
          </a:p>
        </p:txBody>
      </p:sp>
      <p:sp>
        <p:nvSpPr>
          <p:cNvPr id="16" name="Shape 14"/>
          <p:cNvSpPr/>
          <p:nvPr/>
        </p:nvSpPr>
        <p:spPr>
          <a:xfrm>
            <a:off x="2880360" y="4709160"/>
            <a:ext cx="8823960" cy="1371600"/>
          </a:xfrm>
          <a:prstGeom prst="rect">
            <a:avLst/>
          </a:prstGeom>
          <a:solidFill>
            <a:srgbClr val="F7F4ED"/>
          </a:solidFill>
          <a:ln w="12700">
            <a:solidFill>
              <a:srgbClr val="D9D2C0"/>
            </a:solidFill>
            <a:prstDash val="solid"/>
          </a:ln>
        </p:spPr>
      </p:sp>
      <p:sp>
        <p:nvSpPr>
          <p:cNvPr id="17" name="Text 15"/>
          <p:cNvSpPr/>
          <p:nvPr/>
        </p:nvSpPr>
        <p:spPr>
          <a:xfrm>
            <a:off x="3063240" y="4800600"/>
            <a:ext cx="8503920" cy="50292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Tus resultados llenan el vacío que planteaste en la Introducción. Conecta explícitamente.</a:t>
            </a:r>
            <a:endParaRPr lang="en-US" sz="1300" dirty="0"/>
          </a:p>
        </p:txBody>
      </p:sp>
      <p:sp>
        <p:nvSpPr>
          <p:cNvPr id="18" name="Text 16"/>
          <p:cNvSpPr/>
          <p:nvPr/>
        </p:nvSpPr>
        <p:spPr>
          <a:xfrm>
            <a:off x="3063240" y="5394960"/>
            <a:ext cx="8503920" cy="594360"/>
          </a:xfrm>
          <a:prstGeom prst="rect">
            <a:avLst/>
          </a:prstGeom>
          <a:noFill/>
          <a:ln/>
        </p:spPr>
        <p:txBody>
          <a:bodyPr wrap="square" lIns="0" tIns="0" rIns="0" bIns="0" rtlCol="0" anchor="ctr"/>
          <a:lstStyle/>
          <a:p>
            <a:pPr indent="0" marL="0">
              <a:lnSpc>
                <a:spcPct val="120000"/>
              </a:lnSpc>
              <a:buNone/>
            </a:pPr>
            <a:r>
              <a:rPr lang="en-US" sz="1200" i="1" dirty="0">
                <a:solidFill>
                  <a:srgbClr val="2C5F2D"/>
                </a:solidFill>
                <a:latin typeface="Georgia" pitchFamily="34" charset="0"/>
                <a:ea typeface="Georgia" pitchFamily="34" charset="-122"/>
                <a:cs typeface="Georgia" pitchFamily="34" charset="-120"/>
              </a:rPr>
              <a:t>"Hasta donde sabemos, este es el primer reporte de actividad probiótica en cepas autóctonas del Meta…"</a:t>
            </a:r>
            <a:endParaRPr lang="en-US" sz="1200" dirty="0"/>
          </a:p>
        </p:txBody>
      </p:sp>
      <p:sp>
        <p:nvSpPr>
          <p:cNvPr id="19" name="Text 17"/>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0" name="Text 18"/>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11 / 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CONECTORES PARA DIALOGAR CON LA LITERATURA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Plantillas que sostienen tu comparación</a:t>
            </a:r>
            <a:endParaRPr lang="en-US" sz="3000" dirty="0"/>
          </a:p>
        </p:txBody>
      </p:sp>
      <p:sp>
        <p:nvSpPr>
          <p:cNvPr id="4" name="Shape 2"/>
          <p:cNvSpPr/>
          <p:nvPr/>
        </p:nvSpPr>
        <p:spPr>
          <a:xfrm>
            <a:off x="457200" y="1737360"/>
            <a:ext cx="11247120" cy="594360"/>
          </a:xfrm>
          <a:prstGeom prst="rect">
            <a:avLst/>
          </a:prstGeom>
          <a:solidFill>
            <a:srgbClr val="F7F4ED"/>
          </a:solidFill>
          <a:ln w="12700">
            <a:solidFill>
              <a:srgbClr val="D9D2C0"/>
            </a:solidFill>
            <a:prstDash val="solid"/>
          </a:ln>
        </p:spPr>
      </p:sp>
      <p:sp>
        <p:nvSpPr>
          <p:cNvPr id="5" name="Shape 3"/>
          <p:cNvSpPr/>
          <p:nvPr/>
        </p:nvSpPr>
        <p:spPr>
          <a:xfrm>
            <a:off x="457200" y="1737360"/>
            <a:ext cx="73152" cy="594360"/>
          </a:xfrm>
          <a:prstGeom prst="rect">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685800" y="1883664"/>
            <a:ext cx="292608" cy="292608"/>
          </a:xfrm>
          <a:prstGeom prst="rect">
            <a:avLst/>
          </a:prstGeom>
        </p:spPr>
      </p:pic>
      <p:sp>
        <p:nvSpPr>
          <p:cNvPr id="7" name="Text 4"/>
          <p:cNvSpPr/>
          <p:nvPr/>
        </p:nvSpPr>
        <p:spPr>
          <a:xfrm>
            <a:off x="1097280" y="1737360"/>
            <a:ext cx="10515600" cy="594360"/>
          </a:xfrm>
          <a:prstGeom prst="rect">
            <a:avLst/>
          </a:prstGeom>
          <a:noFill/>
          <a:ln/>
        </p:spPr>
        <p:txBody>
          <a:bodyPr wrap="square" lIns="0" tIns="0" rIns="0" bIns="0" rtlCol="0" anchor="ctr"/>
          <a:lstStyle/>
          <a:p>
            <a:pPr indent="0" marL="0">
              <a:buNone/>
            </a:pPr>
            <a:r>
              <a:rPr lang="en-US" sz="1300" i="1" dirty="0">
                <a:solidFill>
                  <a:srgbClr val="1F3A2E"/>
                </a:solidFill>
                <a:latin typeface="Georgia" pitchFamily="34" charset="0"/>
                <a:ea typeface="Georgia" pitchFamily="34" charset="-122"/>
                <a:cs typeface="Georgia" pitchFamily="34" charset="-120"/>
              </a:rPr>
              <a:t>"En concordancia con [Autor, año]…"  /  "De manera similar, [Autor, año] reportó…"</a:t>
            </a:r>
            <a:endParaRPr lang="en-US" sz="1300" dirty="0"/>
          </a:p>
        </p:txBody>
      </p:sp>
      <p:sp>
        <p:nvSpPr>
          <p:cNvPr id="8" name="Shape 5"/>
          <p:cNvSpPr/>
          <p:nvPr/>
        </p:nvSpPr>
        <p:spPr>
          <a:xfrm>
            <a:off x="457200" y="2450592"/>
            <a:ext cx="11247120" cy="594360"/>
          </a:xfrm>
          <a:prstGeom prst="rect">
            <a:avLst/>
          </a:prstGeom>
          <a:solidFill>
            <a:srgbClr val="F7F4ED"/>
          </a:solidFill>
          <a:ln w="12700">
            <a:solidFill>
              <a:srgbClr val="D9D2C0"/>
            </a:solidFill>
            <a:prstDash val="solid"/>
          </a:ln>
        </p:spPr>
      </p:sp>
      <p:sp>
        <p:nvSpPr>
          <p:cNvPr id="9" name="Shape 6"/>
          <p:cNvSpPr/>
          <p:nvPr/>
        </p:nvSpPr>
        <p:spPr>
          <a:xfrm>
            <a:off x="457200" y="2450592"/>
            <a:ext cx="73152" cy="594360"/>
          </a:xfrm>
          <a:prstGeom prst="rect">
            <a:avLst/>
          </a:prstGeom>
          <a:solidFill>
            <a:srgbClr val="2C5F2D"/>
          </a:solidFill>
          <a:ln w="12700">
            <a:solidFill>
              <a:srgbClr val="2C5F2D"/>
            </a:solidFill>
            <a:prstDash val="solid"/>
          </a:ln>
        </p:spPr>
      </p:sp>
      <p:pic>
        <p:nvPicPr>
          <p:cNvPr id="10" name="Image 1" descr="preencoded.png">    </p:cNvPr>
          <p:cNvPicPr>
            <a:picLocks noChangeAspect="1"/>
          </p:cNvPicPr>
          <p:nvPr/>
        </p:nvPicPr>
        <p:blipFill>
          <a:blip r:embed="rId2"/>
          <a:stretch>
            <a:fillRect/>
          </a:stretch>
        </p:blipFill>
        <p:spPr>
          <a:xfrm>
            <a:off x="685800" y="2596896"/>
            <a:ext cx="292608" cy="292608"/>
          </a:xfrm>
          <a:prstGeom prst="rect">
            <a:avLst/>
          </a:prstGeom>
        </p:spPr>
      </p:pic>
      <p:sp>
        <p:nvSpPr>
          <p:cNvPr id="11" name="Text 7"/>
          <p:cNvSpPr/>
          <p:nvPr/>
        </p:nvSpPr>
        <p:spPr>
          <a:xfrm>
            <a:off x="1097280" y="2450592"/>
            <a:ext cx="10515600" cy="594360"/>
          </a:xfrm>
          <a:prstGeom prst="rect">
            <a:avLst/>
          </a:prstGeom>
          <a:noFill/>
          <a:ln/>
        </p:spPr>
        <p:txBody>
          <a:bodyPr wrap="square" lIns="0" tIns="0" rIns="0" bIns="0" rtlCol="0" anchor="ctr"/>
          <a:lstStyle/>
          <a:p>
            <a:pPr indent="0" marL="0">
              <a:buNone/>
            </a:pPr>
            <a:r>
              <a:rPr lang="en-US" sz="1300" i="1" dirty="0">
                <a:solidFill>
                  <a:srgbClr val="1F3A2E"/>
                </a:solidFill>
                <a:latin typeface="Georgia" pitchFamily="34" charset="0"/>
                <a:ea typeface="Georgia" pitchFamily="34" charset="-122"/>
                <a:cs typeface="Georgia" pitchFamily="34" charset="-120"/>
              </a:rPr>
              <a:t>"A diferencia de [Autor, año], en nuestro estudio…"  /  "Contrario a lo reportado por…"</a:t>
            </a:r>
            <a:endParaRPr lang="en-US" sz="1300" dirty="0"/>
          </a:p>
        </p:txBody>
      </p:sp>
      <p:sp>
        <p:nvSpPr>
          <p:cNvPr id="12" name="Shape 8"/>
          <p:cNvSpPr/>
          <p:nvPr/>
        </p:nvSpPr>
        <p:spPr>
          <a:xfrm>
            <a:off x="457200" y="3163824"/>
            <a:ext cx="11247120" cy="594360"/>
          </a:xfrm>
          <a:prstGeom prst="rect">
            <a:avLst/>
          </a:prstGeom>
          <a:solidFill>
            <a:srgbClr val="F7F4ED"/>
          </a:solidFill>
          <a:ln w="12700">
            <a:solidFill>
              <a:srgbClr val="D9D2C0"/>
            </a:solidFill>
            <a:prstDash val="solid"/>
          </a:ln>
        </p:spPr>
      </p:sp>
      <p:sp>
        <p:nvSpPr>
          <p:cNvPr id="13" name="Shape 9"/>
          <p:cNvSpPr/>
          <p:nvPr/>
        </p:nvSpPr>
        <p:spPr>
          <a:xfrm>
            <a:off x="457200" y="3163824"/>
            <a:ext cx="73152" cy="594360"/>
          </a:xfrm>
          <a:prstGeom prst="rect">
            <a:avLst/>
          </a:prstGeom>
          <a:solidFill>
            <a:srgbClr val="2C5F2D"/>
          </a:solidFill>
          <a:ln w="12700">
            <a:solidFill>
              <a:srgbClr val="2C5F2D"/>
            </a:solidFill>
            <a:prstDash val="solid"/>
          </a:ln>
        </p:spPr>
      </p:sp>
      <p:pic>
        <p:nvPicPr>
          <p:cNvPr id="14" name="Image 2" descr="preencoded.png">    </p:cNvPr>
          <p:cNvPicPr>
            <a:picLocks noChangeAspect="1"/>
          </p:cNvPicPr>
          <p:nvPr/>
        </p:nvPicPr>
        <p:blipFill>
          <a:blip r:embed="rId3"/>
          <a:stretch>
            <a:fillRect/>
          </a:stretch>
        </p:blipFill>
        <p:spPr>
          <a:xfrm>
            <a:off x="685800" y="3310128"/>
            <a:ext cx="292608" cy="292608"/>
          </a:xfrm>
          <a:prstGeom prst="rect">
            <a:avLst/>
          </a:prstGeom>
        </p:spPr>
      </p:pic>
      <p:sp>
        <p:nvSpPr>
          <p:cNvPr id="15" name="Text 10"/>
          <p:cNvSpPr/>
          <p:nvPr/>
        </p:nvSpPr>
        <p:spPr>
          <a:xfrm>
            <a:off x="1097280" y="3163824"/>
            <a:ext cx="10515600" cy="594360"/>
          </a:xfrm>
          <a:prstGeom prst="rect">
            <a:avLst/>
          </a:prstGeom>
          <a:noFill/>
          <a:ln/>
        </p:spPr>
        <p:txBody>
          <a:bodyPr wrap="square" lIns="0" tIns="0" rIns="0" bIns="0" rtlCol="0" anchor="ctr"/>
          <a:lstStyle/>
          <a:p>
            <a:pPr indent="0" marL="0">
              <a:buNone/>
            </a:pPr>
            <a:r>
              <a:rPr lang="en-US" sz="1300" i="1" dirty="0">
                <a:solidFill>
                  <a:srgbClr val="1F3A2E"/>
                </a:solidFill>
                <a:latin typeface="Georgia" pitchFamily="34" charset="0"/>
                <a:ea typeface="Georgia" pitchFamily="34" charset="-122"/>
                <a:cs typeface="Georgia" pitchFamily="34" charset="-120"/>
              </a:rPr>
              <a:t>"Esta discrepancia podría explicarse por… [diferencia metodológica / contextual]"</a:t>
            </a:r>
            <a:endParaRPr lang="en-US" sz="1300" dirty="0"/>
          </a:p>
        </p:txBody>
      </p:sp>
      <p:sp>
        <p:nvSpPr>
          <p:cNvPr id="16" name="Shape 11"/>
          <p:cNvSpPr/>
          <p:nvPr/>
        </p:nvSpPr>
        <p:spPr>
          <a:xfrm>
            <a:off x="457200" y="3877056"/>
            <a:ext cx="11247120" cy="594360"/>
          </a:xfrm>
          <a:prstGeom prst="rect">
            <a:avLst/>
          </a:prstGeom>
          <a:solidFill>
            <a:srgbClr val="F7F4ED"/>
          </a:solidFill>
          <a:ln w="12700">
            <a:solidFill>
              <a:srgbClr val="D9D2C0"/>
            </a:solidFill>
            <a:prstDash val="solid"/>
          </a:ln>
        </p:spPr>
      </p:sp>
      <p:sp>
        <p:nvSpPr>
          <p:cNvPr id="17" name="Shape 12"/>
          <p:cNvSpPr/>
          <p:nvPr/>
        </p:nvSpPr>
        <p:spPr>
          <a:xfrm>
            <a:off x="457200" y="3877056"/>
            <a:ext cx="73152" cy="594360"/>
          </a:xfrm>
          <a:prstGeom prst="rect">
            <a:avLst/>
          </a:prstGeom>
          <a:solidFill>
            <a:srgbClr val="2C5F2D"/>
          </a:solidFill>
          <a:ln w="12700">
            <a:solidFill>
              <a:srgbClr val="2C5F2D"/>
            </a:solidFill>
            <a:prstDash val="solid"/>
          </a:ln>
        </p:spPr>
      </p:sp>
      <p:pic>
        <p:nvPicPr>
          <p:cNvPr id="18" name="Image 3" descr="preencoded.png">    </p:cNvPr>
          <p:cNvPicPr>
            <a:picLocks noChangeAspect="1"/>
          </p:cNvPicPr>
          <p:nvPr/>
        </p:nvPicPr>
        <p:blipFill>
          <a:blip r:embed="rId4"/>
          <a:stretch>
            <a:fillRect/>
          </a:stretch>
        </p:blipFill>
        <p:spPr>
          <a:xfrm>
            <a:off x="685800" y="4023360"/>
            <a:ext cx="292608" cy="292608"/>
          </a:xfrm>
          <a:prstGeom prst="rect">
            <a:avLst/>
          </a:prstGeom>
        </p:spPr>
      </p:pic>
      <p:sp>
        <p:nvSpPr>
          <p:cNvPr id="19" name="Text 13"/>
          <p:cNvSpPr/>
          <p:nvPr/>
        </p:nvSpPr>
        <p:spPr>
          <a:xfrm>
            <a:off x="1097280" y="3877056"/>
            <a:ext cx="10515600" cy="594360"/>
          </a:xfrm>
          <a:prstGeom prst="rect">
            <a:avLst/>
          </a:prstGeom>
          <a:noFill/>
          <a:ln/>
        </p:spPr>
        <p:txBody>
          <a:bodyPr wrap="square" lIns="0" tIns="0" rIns="0" bIns="0" rtlCol="0" anchor="ctr"/>
          <a:lstStyle/>
          <a:p>
            <a:pPr indent="0" marL="0">
              <a:buNone/>
            </a:pPr>
            <a:r>
              <a:rPr lang="en-US" sz="1300" i="1" dirty="0">
                <a:solidFill>
                  <a:srgbClr val="1F3A2E"/>
                </a:solidFill>
                <a:latin typeface="Georgia" pitchFamily="34" charset="0"/>
                <a:ea typeface="Georgia" pitchFamily="34" charset="-122"/>
                <a:cs typeface="Georgia" pitchFamily="34" charset="-120"/>
              </a:rPr>
              <a:t>"Hasta donde sabemos, este es el primer estudio que…"</a:t>
            </a:r>
            <a:endParaRPr lang="en-US" sz="1300" dirty="0"/>
          </a:p>
        </p:txBody>
      </p:sp>
      <p:sp>
        <p:nvSpPr>
          <p:cNvPr id="20" name="Shape 14"/>
          <p:cNvSpPr/>
          <p:nvPr/>
        </p:nvSpPr>
        <p:spPr>
          <a:xfrm>
            <a:off x="457200" y="4590288"/>
            <a:ext cx="11247120" cy="594360"/>
          </a:xfrm>
          <a:prstGeom prst="rect">
            <a:avLst/>
          </a:prstGeom>
          <a:solidFill>
            <a:srgbClr val="F7F4ED"/>
          </a:solidFill>
          <a:ln w="12700">
            <a:solidFill>
              <a:srgbClr val="D9D2C0"/>
            </a:solidFill>
            <a:prstDash val="solid"/>
          </a:ln>
        </p:spPr>
      </p:sp>
      <p:sp>
        <p:nvSpPr>
          <p:cNvPr id="21" name="Shape 15"/>
          <p:cNvSpPr/>
          <p:nvPr/>
        </p:nvSpPr>
        <p:spPr>
          <a:xfrm>
            <a:off x="457200" y="4590288"/>
            <a:ext cx="73152" cy="594360"/>
          </a:xfrm>
          <a:prstGeom prst="rect">
            <a:avLst/>
          </a:prstGeom>
          <a:solidFill>
            <a:srgbClr val="2C5F2D"/>
          </a:solidFill>
          <a:ln w="12700">
            <a:solidFill>
              <a:srgbClr val="2C5F2D"/>
            </a:solidFill>
            <a:prstDash val="solid"/>
          </a:ln>
        </p:spPr>
      </p:sp>
      <p:pic>
        <p:nvPicPr>
          <p:cNvPr id="22" name="Image 4" descr="preencoded.png">    </p:cNvPr>
          <p:cNvPicPr>
            <a:picLocks noChangeAspect="1"/>
          </p:cNvPicPr>
          <p:nvPr/>
        </p:nvPicPr>
        <p:blipFill>
          <a:blip r:embed="rId5"/>
          <a:stretch>
            <a:fillRect/>
          </a:stretch>
        </p:blipFill>
        <p:spPr>
          <a:xfrm>
            <a:off x="685800" y="4736592"/>
            <a:ext cx="292608" cy="292608"/>
          </a:xfrm>
          <a:prstGeom prst="rect">
            <a:avLst/>
          </a:prstGeom>
        </p:spPr>
      </p:pic>
      <p:sp>
        <p:nvSpPr>
          <p:cNvPr id="23" name="Text 16"/>
          <p:cNvSpPr/>
          <p:nvPr/>
        </p:nvSpPr>
        <p:spPr>
          <a:xfrm>
            <a:off x="1097280" y="4590288"/>
            <a:ext cx="10515600" cy="594360"/>
          </a:xfrm>
          <a:prstGeom prst="rect">
            <a:avLst/>
          </a:prstGeom>
          <a:noFill/>
          <a:ln/>
        </p:spPr>
        <p:txBody>
          <a:bodyPr wrap="square" lIns="0" tIns="0" rIns="0" bIns="0" rtlCol="0" anchor="ctr"/>
          <a:lstStyle/>
          <a:p>
            <a:pPr indent="0" marL="0">
              <a:buNone/>
            </a:pPr>
            <a:r>
              <a:rPr lang="en-US" sz="1300" i="1" dirty="0">
                <a:solidFill>
                  <a:srgbClr val="1F3A2E"/>
                </a:solidFill>
                <a:latin typeface="Georgia" pitchFamily="34" charset="0"/>
                <a:ea typeface="Georgia" pitchFamily="34" charset="-122"/>
                <a:cs typeface="Georgia" pitchFamily="34" charset="-120"/>
              </a:rPr>
              <a:t>"Estos hallazgos extienden los resultados previos de [Autor, año] al…"</a:t>
            </a:r>
            <a:endParaRPr lang="en-US" sz="1300" dirty="0"/>
          </a:p>
        </p:txBody>
      </p:sp>
      <p:sp>
        <p:nvSpPr>
          <p:cNvPr id="24" name="Shape 17"/>
          <p:cNvSpPr/>
          <p:nvPr/>
        </p:nvSpPr>
        <p:spPr>
          <a:xfrm>
            <a:off x="457200" y="5303520"/>
            <a:ext cx="11247120" cy="594360"/>
          </a:xfrm>
          <a:prstGeom prst="rect">
            <a:avLst/>
          </a:prstGeom>
          <a:solidFill>
            <a:srgbClr val="F7F4ED"/>
          </a:solidFill>
          <a:ln w="12700">
            <a:solidFill>
              <a:srgbClr val="D9D2C0"/>
            </a:solidFill>
            <a:prstDash val="solid"/>
          </a:ln>
        </p:spPr>
      </p:sp>
      <p:sp>
        <p:nvSpPr>
          <p:cNvPr id="25" name="Shape 18"/>
          <p:cNvSpPr/>
          <p:nvPr/>
        </p:nvSpPr>
        <p:spPr>
          <a:xfrm>
            <a:off x="457200" y="5303520"/>
            <a:ext cx="73152" cy="594360"/>
          </a:xfrm>
          <a:prstGeom prst="rect">
            <a:avLst/>
          </a:prstGeom>
          <a:solidFill>
            <a:srgbClr val="2C5F2D"/>
          </a:solidFill>
          <a:ln w="12700">
            <a:solidFill>
              <a:srgbClr val="2C5F2D"/>
            </a:solidFill>
            <a:prstDash val="solid"/>
          </a:ln>
        </p:spPr>
      </p:sp>
      <p:pic>
        <p:nvPicPr>
          <p:cNvPr id="26" name="Image 5" descr="preencoded.png">    </p:cNvPr>
          <p:cNvPicPr>
            <a:picLocks noChangeAspect="1"/>
          </p:cNvPicPr>
          <p:nvPr/>
        </p:nvPicPr>
        <p:blipFill>
          <a:blip r:embed="rId6"/>
          <a:stretch>
            <a:fillRect/>
          </a:stretch>
        </p:blipFill>
        <p:spPr>
          <a:xfrm>
            <a:off x="685800" y="5449824"/>
            <a:ext cx="292608" cy="292608"/>
          </a:xfrm>
          <a:prstGeom prst="rect">
            <a:avLst/>
          </a:prstGeom>
        </p:spPr>
      </p:pic>
      <p:sp>
        <p:nvSpPr>
          <p:cNvPr id="27" name="Text 19"/>
          <p:cNvSpPr/>
          <p:nvPr/>
        </p:nvSpPr>
        <p:spPr>
          <a:xfrm>
            <a:off x="1097280" y="5303520"/>
            <a:ext cx="10515600" cy="594360"/>
          </a:xfrm>
          <a:prstGeom prst="rect">
            <a:avLst/>
          </a:prstGeom>
          <a:noFill/>
          <a:ln/>
        </p:spPr>
        <p:txBody>
          <a:bodyPr wrap="square" lIns="0" tIns="0" rIns="0" bIns="0" rtlCol="0" anchor="ctr"/>
          <a:lstStyle/>
          <a:p>
            <a:pPr indent="0" marL="0">
              <a:buNone/>
            </a:pPr>
            <a:r>
              <a:rPr lang="en-US" sz="1300" i="1" dirty="0">
                <a:solidFill>
                  <a:srgbClr val="1F3A2E"/>
                </a:solidFill>
                <a:latin typeface="Georgia" pitchFamily="34" charset="0"/>
                <a:ea typeface="Georgia" pitchFamily="34" charset="-122"/>
                <a:cs typeface="Georgia" pitchFamily="34" charset="-120"/>
              </a:rPr>
              <a:t>"Aunque [Autor, año] sugirió X, nuestros datos indican que…"</a:t>
            </a:r>
            <a:endParaRPr lang="en-US" sz="1300" dirty="0"/>
          </a:p>
        </p:txBody>
      </p:sp>
      <p:sp>
        <p:nvSpPr>
          <p:cNvPr id="28" name="Text 20"/>
          <p:cNvSpPr/>
          <p:nvPr/>
        </p:nvSpPr>
        <p:spPr>
          <a:xfrm>
            <a:off x="457200" y="6217920"/>
            <a:ext cx="11247120" cy="365760"/>
          </a:xfrm>
          <a:prstGeom prst="rect">
            <a:avLst/>
          </a:prstGeom>
          <a:noFill/>
          <a:ln/>
        </p:spPr>
        <p:txBody>
          <a:bodyPr wrap="square" lIns="0" tIns="0" rIns="0" bIns="0" rtlCol="0" anchor="ctr"/>
          <a:lstStyle/>
          <a:p>
            <a:pPr algn="ctr" indent="0" marL="0">
              <a:buNone/>
            </a:pPr>
            <a:r>
              <a:rPr lang="en-US" sz="1200" i="1" dirty="0">
                <a:solidFill>
                  <a:srgbClr val="5F6B5A"/>
                </a:solidFill>
                <a:latin typeface="Calibri" pitchFamily="34" charset="0"/>
                <a:ea typeface="Calibri" pitchFamily="34" charset="-122"/>
                <a:cs typeface="Calibri" pitchFamily="34" charset="-120"/>
              </a:rPr>
              <a:t>La discusión NO es un listado de autores. Cada cita debe servir a tu argumento — no a la inversa.</a:t>
            </a:r>
            <a:endParaRPr lang="en-US" sz="1200" dirty="0"/>
          </a:p>
        </p:txBody>
      </p:sp>
      <p:sp>
        <p:nvSpPr>
          <p:cNvPr id="29" name="Text 21"/>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0" name="Text 22"/>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12 / 25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PASOS 4 Y 5 · MECANISMO E IMPLICACIONES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El movimiento más valorado por los revisores</a:t>
            </a:r>
            <a:endParaRPr lang="en-US" sz="3000" dirty="0"/>
          </a:p>
        </p:txBody>
      </p:sp>
      <p:sp>
        <p:nvSpPr>
          <p:cNvPr id="4" name="Shape 2"/>
          <p:cNvSpPr/>
          <p:nvPr/>
        </p:nvSpPr>
        <p:spPr>
          <a:xfrm>
            <a:off x="457200" y="1691640"/>
            <a:ext cx="5532120" cy="457200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691640"/>
            <a:ext cx="5532120" cy="868680"/>
          </a:xfrm>
          <a:prstGeom prst="rect">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685800" y="1874520"/>
            <a:ext cx="502920" cy="502920"/>
          </a:xfrm>
          <a:prstGeom prst="rect">
            <a:avLst/>
          </a:prstGeom>
        </p:spPr>
      </p:pic>
      <p:sp>
        <p:nvSpPr>
          <p:cNvPr id="7" name="Text 4"/>
          <p:cNvSpPr/>
          <p:nvPr/>
        </p:nvSpPr>
        <p:spPr>
          <a:xfrm>
            <a:off x="1371600" y="1691640"/>
            <a:ext cx="4389120" cy="8686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Mecanismo o causa</a:t>
            </a:r>
            <a:endParaRPr lang="en-US" sz="2000" dirty="0"/>
          </a:p>
        </p:txBody>
      </p:sp>
      <p:sp>
        <p:nvSpPr>
          <p:cNvPr id="8" name="Text 5"/>
          <p:cNvSpPr/>
          <p:nvPr/>
        </p:nvSpPr>
        <p:spPr>
          <a:xfrm>
            <a:off x="685800" y="2743200"/>
            <a:ext cx="5074920" cy="365760"/>
          </a:xfrm>
          <a:prstGeom prst="rect">
            <a:avLst/>
          </a:prstGeom>
          <a:noFill/>
          <a:ln/>
        </p:spPr>
        <p:txBody>
          <a:bodyPr wrap="square" lIns="0" tIns="0" rIns="0" bIns="0" rtlCol="0" anchor="ctr"/>
          <a:lstStyle/>
          <a:p>
            <a:pPr indent="0" marL="0">
              <a:buNone/>
            </a:pPr>
            <a:r>
              <a:rPr lang="en-US" sz="1200" i="1" dirty="0">
                <a:solidFill>
                  <a:srgbClr val="5F6B5A"/>
                </a:solidFill>
                <a:latin typeface="Calibri" pitchFamily="34" charset="0"/>
                <a:ea typeface="Calibri" pitchFamily="34" charset="-122"/>
                <a:cs typeface="Calibri" pitchFamily="34" charset="-120"/>
              </a:rPr>
              <a:t>Propón POR QUÉ se observó lo que se observó.</a:t>
            </a:r>
            <a:endParaRPr lang="en-US" sz="1200" dirty="0"/>
          </a:p>
        </p:txBody>
      </p:sp>
      <p:sp>
        <p:nvSpPr>
          <p:cNvPr id="9" name="Text 6"/>
          <p:cNvSpPr/>
          <p:nvPr/>
        </p:nvSpPr>
        <p:spPr>
          <a:xfrm>
            <a:off x="685800" y="3200400"/>
            <a:ext cx="5074920" cy="2926080"/>
          </a:xfrm>
          <a:prstGeom prst="rect">
            <a:avLst/>
          </a:prstGeom>
          <a:noFill/>
          <a:ln/>
        </p:spPr>
        <p:txBody>
          <a:bodyPr wrap="square" lIns="0" tIns="0" rIns="0" bIns="0" rtlCol="0" anchor="ctr"/>
          <a:lstStyle/>
          <a:p>
            <a:pPr indent="0" marL="0">
              <a:lnSpc>
                <a:spcPct val="125000"/>
              </a:lnSpc>
              <a:buNone/>
            </a:pPr>
            <a:r>
              <a:rPr lang="en-US" sz="1150" i="1" dirty="0">
                <a:solidFill>
                  <a:srgbClr val="1A1A1A"/>
                </a:solidFill>
                <a:latin typeface="Calibri" pitchFamily="34" charset="0"/>
                <a:ea typeface="Calibri" pitchFamily="34" charset="-122"/>
                <a:cs typeface="Calibri" pitchFamily="34" charset="-120"/>
              </a:rPr>
              <a:t>"La mayor tolerancia de BAL-03 podría atribuirse a una expresión más eficiente del operón bsh, descrito en L. plantarum, que hidroliza sales biliares antes de su entrada al citoplasma (Begley et al., 2006)."</a:t>
            </a:r>
            <a:endParaRPr lang="en-US" sz="1150" dirty="0"/>
          </a:p>
        </p:txBody>
      </p:sp>
      <p:sp>
        <p:nvSpPr>
          <p:cNvPr id="10" name="Shape 7"/>
          <p:cNvSpPr/>
          <p:nvPr/>
        </p:nvSpPr>
        <p:spPr>
          <a:xfrm>
            <a:off x="6172200" y="1691640"/>
            <a:ext cx="5532120" cy="457200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6172200" y="1691640"/>
            <a:ext cx="5532120" cy="868680"/>
          </a:xfrm>
          <a:prstGeom prst="rect">
            <a:avLst/>
          </a:prstGeom>
          <a:solidFill>
            <a:srgbClr val="2C5F2D"/>
          </a:solidFill>
          <a:ln w="12700">
            <a:solidFill>
              <a:srgbClr val="2C5F2D"/>
            </a:solidFill>
            <a:prstDash val="solid"/>
          </a:ln>
        </p:spPr>
      </p:sp>
      <p:pic>
        <p:nvPicPr>
          <p:cNvPr id="12" name="Image 1" descr="preencoded.png">    </p:cNvPr>
          <p:cNvPicPr>
            <a:picLocks noChangeAspect="1"/>
          </p:cNvPicPr>
          <p:nvPr/>
        </p:nvPicPr>
        <p:blipFill>
          <a:blip r:embed="rId2"/>
          <a:stretch>
            <a:fillRect/>
          </a:stretch>
        </p:blipFill>
        <p:spPr>
          <a:xfrm>
            <a:off x="6400800" y="1874520"/>
            <a:ext cx="502920" cy="502920"/>
          </a:xfrm>
          <a:prstGeom prst="rect">
            <a:avLst/>
          </a:prstGeom>
        </p:spPr>
      </p:pic>
      <p:sp>
        <p:nvSpPr>
          <p:cNvPr id="13" name="Text 9"/>
          <p:cNvSpPr/>
          <p:nvPr/>
        </p:nvSpPr>
        <p:spPr>
          <a:xfrm>
            <a:off x="7086600" y="1691640"/>
            <a:ext cx="4389120" cy="8686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Implicaciones prácticas</a:t>
            </a:r>
            <a:endParaRPr lang="en-US" sz="2000" dirty="0"/>
          </a:p>
        </p:txBody>
      </p:sp>
      <p:sp>
        <p:nvSpPr>
          <p:cNvPr id="14" name="Text 10"/>
          <p:cNvSpPr/>
          <p:nvPr/>
        </p:nvSpPr>
        <p:spPr>
          <a:xfrm>
            <a:off x="6400800" y="2743200"/>
            <a:ext cx="5074920" cy="365760"/>
          </a:xfrm>
          <a:prstGeom prst="rect">
            <a:avLst/>
          </a:prstGeom>
          <a:noFill/>
          <a:ln/>
        </p:spPr>
        <p:txBody>
          <a:bodyPr wrap="square" lIns="0" tIns="0" rIns="0" bIns="0" rtlCol="0" anchor="ctr"/>
          <a:lstStyle/>
          <a:p>
            <a:pPr indent="0" marL="0">
              <a:buNone/>
            </a:pPr>
            <a:r>
              <a:rPr lang="en-US" sz="1200" i="1" dirty="0">
                <a:solidFill>
                  <a:srgbClr val="5F6B5A"/>
                </a:solidFill>
                <a:latin typeface="Calibri" pitchFamily="34" charset="0"/>
                <a:ea typeface="Calibri" pitchFamily="34" charset="-122"/>
                <a:cs typeface="Calibri" pitchFamily="34" charset="-120"/>
              </a:rPr>
              <a:t>Conecta con el sector productivo o académico.</a:t>
            </a:r>
            <a:endParaRPr lang="en-US" sz="1200" dirty="0"/>
          </a:p>
        </p:txBody>
      </p:sp>
      <p:sp>
        <p:nvSpPr>
          <p:cNvPr id="15" name="Text 11"/>
          <p:cNvSpPr/>
          <p:nvPr/>
        </p:nvSpPr>
        <p:spPr>
          <a:xfrm>
            <a:off x="6400800" y="3200400"/>
            <a:ext cx="5074920" cy="2926080"/>
          </a:xfrm>
          <a:prstGeom prst="rect">
            <a:avLst/>
          </a:prstGeom>
          <a:noFill/>
          <a:ln/>
        </p:spPr>
        <p:txBody>
          <a:bodyPr wrap="square" lIns="0" tIns="0" rIns="0" bIns="0" rtlCol="0" anchor="ctr"/>
          <a:lstStyle/>
          <a:p>
            <a:pPr indent="0" marL="0">
              <a:lnSpc>
                <a:spcPct val="125000"/>
              </a:lnSpc>
              <a:buNone/>
            </a:pPr>
            <a:r>
              <a:rPr lang="en-US" sz="1150" i="1" dirty="0">
                <a:solidFill>
                  <a:srgbClr val="1A1A1A"/>
                </a:solidFill>
                <a:latin typeface="Calibri" pitchFamily="34" charset="0"/>
                <a:ea typeface="Calibri" pitchFamily="34" charset="-122"/>
                <a:cs typeface="Calibri" pitchFamily="34" charset="-120"/>
              </a:rPr>
              <a:t>"El uso de BAL-03 como cultivo iniciador podría estandarizar la fermentación del cacao del Piedemonte llanero, reducir la variabilidad sensorial entre lotes y agregar valor al producto exportado por su origen regional."</a:t>
            </a:r>
            <a:endParaRPr lang="en-US" sz="1150" dirty="0"/>
          </a:p>
        </p:txBody>
      </p:sp>
      <p:sp>
        <p:nvSpPr>
          <p:cNvPr id="16" name="Text 12"/>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17" name="Text 13"/>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13 / 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4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Limitaciones y líneas futuras</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Dos subapartados distintos. Dos lógicas distintas.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PASO 6 · LIMITACIONES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Lo que NO responde tu estudio — y por qué importa decirlo</a:t>
            </a:r>
            <a:endParaRPr lang="en-US" sz="3000" dirty="0"/>
          </a:p>
        </p:txBody>
      </p:sp>
      <p:sp>
        <p:nvSpPr>
          <p:cNvPr id="4" name="Text 2"/>
          <p:cNvSpPr/>
          <p:nvPr/>
        </p:nvSpPr>
        <p:spPr>
          <a:xfrm>
            <a:off x="457200" y="1691640"/>
            <a:ext cx="5486400" cy="36576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Por qué incluirlas (siempre)</a:t>
            </a:r>
            <a:endParaRPr lang="en-US" sz="1300" dirty="0"/>
          </a:p>
        </p:txBody>
      </p:sp>
      <p:sp>
        <p:nvSpPr>
          <p:cNvPr id="5" name="Text 3"/>
          <p:cNvSpPr/>
          <p:nvPr/>
        </p:nvSpPr>
        <p:spPr>
          <a:xfrm>
            <a:off x="457200" y="2148840"/>
            <a:ext cx="5486400" cy="2286000"/>
          </a:xfrm>
          <a:prstGeom prst="rect">
            <a:avLst/>
          </a:prstGeom>
          <a:noFill/>
          <a:ln/>
        </p:spPr>
        <p:txBody>
          <a:bodyPr wrap="square" rtlCol="0" anchor="ctr"/>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Los revisores las van a notar de todas formas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Demuestra autocrítica y madurez científica</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Es donde defines correctamente el alcance</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Evita que otros sobreinterpreten tus resultados</a:t>
            </a:r>
            <a:endParaRPr lang="en-US" sz="1300" dirty="0"/>
          </a:p>
        </p:txBody>
      </p:sp>
      <p:sp>
        <p:nvSpPr>
          <p:cNvPr id="6" name="Text 4"/>
          <p:cNvSpPr/>
          <p:nvPr/>
        </p:nvSpPr>
        <p:spPr>
          <a:xfrm>
            <a:off x="457200" y="4572000"/>
            <a:ext cx="5486400" cy="365760"/>
          </a:xfrm>
          <a:prstGeom prst="rect">
            <a:avLst/>
          </a:prstGeom>
          <a:noFill/>
          <a:ln/>
        </p:spPr>
        <p:txBody>
          <a:bodyPr wrap="square" lIns="0" tIns="0" rIns="0" bIns="0" rtlCol="0" anchor="ctr"/>
          <a:lstStyle/>
          <a:p>
            <a:pPr indent="0" marL="0">
              <a:buNone/>
            </a:pPr>
            <a:r>
              <a:rPr lang="en-US" sz="1300" b="1" dirty="0">
                <a:solidFill>
                  <a:srgbClr val="B8651A"/>
                </a:solidFill>
                <a:latin typeface="Calibri" pitchFamily="34" charset="0"/>
                <a:ea typeface="Calibri" pitchFamily="34" charset="-122"/>
                <a:cs typeface="Calibri" pitchFamily="34" charset="-120"/>
              </a:rPr>
              <a:t>Qué NO hacer</a:t>
            </a:r>
            <a:endParaRPr lang="en-US" sz="1300" dirty="0"/>
          </a:p>
        </p:txBody>
      </p:sp>
      <p:sp>
        <p:nvSpPr>
          <p:cNvPr id="7" name="Text 5"/>
          <p:cNvSpPr/>
          <p:nvPr/>
        </p:nvSpPr>
        <p:spPr>
          <a:xfrm>
            <a:off x="457200" y="5029200"/>
            <a:ext cx="5486400" cy="1463040"/>
          </a:xfrm>
          <a:prstGeom prst="rect">
            <a:avLst/>
          </a:prstGeom>
          <a:noFill/>
          <a:ln/>
        </p:spPr>
        <p:txBody>
          <a:bodyPr wrap="square" rtlCol="0" anchor="ctr"/>
          <a:lstStyle/>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Listar limitaciones genéricas sin contexto</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Disculparte por el diseño ("lamentamos no haber…")</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Limitaciones que invaliden tu estudio entero</a:t>
            </a:r>
            <a:endParaRPr lang="en-US" sz="1200" dirty="0"/>
          </a:p>
        </p:txBody>
      </p:sp>
      <p:sp>
        <p:nvSpPr>
          <p:cNvPr id="8" name="Shape 6"/>
          <p:cNvSpPr/>
          <p:nvPr/>
        </p:nvSpPr>
        <p:spPr>
          <a:xfrm>
            <a:off x="6263640" y="1691640"/>
            <a:ext cx="5440680" cy="457200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9" name="Text 7"/>
          <p:cNvSpPr/>
          <p:nvPr/>
        </p:nvSpPr>
        <p:spPr>
          <a:xfrm>
            <a:off x="6492240" y="1828800"/>
            <a:ext cx="5029200" cy="320040"/>
          </a:xfrm>
          <a:prstGeom prst="rect">
            <a:avLst/>
          </a:prstGeom>
          <a:noFill/>
          <a:ln/>
        </p:spPr>
        <p:txBody>
          <a:bodyPr wrap="square" lIns="0" tIns="0" rIns="0" bIns="0" rtlCol="0" anchor="ctr"/>
          <a:lstStyle/>
          <a:p>
            <a:pPr indent="0" marL="0">
              <a:buNone/>
            </a:pPr>
            <a:r>
              <a:rPr lang="en-US" sz="1100" b="1" spc="200" kern="0" dirty="0">
                <a:solidFill>
                  <a:srgbClr val="2C5F2D"/>
                </a:solidFill>
                <a:latin typeface="Calibri" pitchFamily="34" charset="0"/>
                <a:ea typeface="Calibri" pitchFamily="34" charset="-122"/>
                <a:cs typeface="Calibri" pitchFamily="34" charset="-120"/>
              </a:rPr>
              <a:t>CASO GUÍA  ·  Párrafo de limitaciones</a:t>
            </a:r>
            <a:endParaRPr lang="en-US" sz="1100" dirty="0"/>
          </a:p>
        </p:txBody>
      </p:sp>
      <p:sp>
        <p:nvSpPr>
          <p:cNvPr id="10" name="Text 8"/>
          <p:cNvSpPr/>
          <p:nvPr/>
        </p:nvSpPr>
        <p:spPr>
          <a:xfrm>
            <a:off x="6492240" y="2148840"/>
            <a:ext cx="5029200" cy="365760"/>
          </a:xfrm>
          <a:prstGeom prst="rect">
            <a:avLst/>
          </a:prstGeom>
          <a:noFill/>
          <a:ln/>
        </p:spPr>
        <p:txBody>
          <a:bodyPr wrap="square" lIns="0" tIns="0" rIns="0" bIns="0" rtlCol="0" anchor="ctr"/>
          <a:lstStyle/>
          <a:p>
            <a:pPr indent="0" marL="0">
              <a:buNone/>
            </a:pPr>
            <a:r>
              <a:rPr lang="en-US" sz="1300" i="1" dirty="0">
                <a:solidFill>
                  <a:srgbClr val="5F6B5A"/>
                </a:solidFill>
                <a:latin typeface="Georgia" pitchFamily="34" charset="0"/>
                <a:ea typeface="Georgia" pitchFamily="34" charset="-122"/>
                <a:cs typeface="Georgia" pitchFamily="34" charset="-120"/>
              </a:rPr>
              <a:t>Limitaciones específicas y contextualizadas</a:t>
            </a:r>
            <a:endParaRPr lang="en-US" sz="1300" dirty="0"/>
          </a:p>
        </p:txBody>
      </p:sp>
      <p:sp>
        <p:nvSpPr>
          <p:cNvPr id="11" name="Text 9"/>
          <p:cNvSpPr/>
          <p:nvPr/>
        </p:nvSpPr>
        <p:spPr>
          <a:xfrm>
            <a:off x="6492240" y="2606040"/>
            <a:ext cx="5029200" cy="34747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"Este estudio presenta tres limitaciones. Primero, las pruebas probióticas se realizaron in vitro y no incluyen ensayos en modelos animales o humanos. Segundo, el muestreo se restringió a Lejanías y los resultados pueden no extrapolarse a otras zonas cacaoteras del Meta. Tercero, no evaluamos la viabilidad de las cepas durante el almacenamiento prolongado, factor crítico para su uso como inóculo industrial."</a:t>
            </a:r>
            <a:endParaRPr lang="en-US" sz="1150" dirty="0"/>
          </a:p>
        </p:txBody>
      </p:sp>
      <p:sp>
        <p:nvSpPr>
          <p:cNvPr id="12" name="Text 10"/>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13" name="Text 11"/>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15 / 25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TIPOS DE LIMITACIONES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Cinco categorías que tu estudio puede tener</a:t>
            </a:r>
            <a:endParaRPr lang="en-US" sz="3000" dirty="0"/>
          </a:p>
        </p:txBody>
      </p:sp>
      <p:sp>
        <p:nvSpPr>
          <p:cNvPr id="4" name="Shape 2"/>
          <p:cNvSpPr/>
          <p:nvPr/>
        </p:nvSpPr>
        <p:spPr>
          <a:xfrm>
            <a:off x="457200" y="1783080"/>
            <a:ext cx="3703320" cy="2011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85800" y="2057400"/>
            <a:ext cx="640080" cy="640080"/>
          </a:xfrm>
          <a:prstGeom prst="ellipse">
            <a:avLst/>
          </a:prstGeom>
          <a:solidFill>
            <a:srgbClr val="2C5F2D"/>
          </a:solidFill>
          <a:ln w="12700">
            <a:solidFill>
              <a:srgbClr val="2C5F2D"/>
            </a:solidFill>
            <a:prstDash val="solid"/>
          </a:ln>
        </p:spPr>
      </p:sp>
      <p:sp>
        <p:nvSpPr>
          <p:cNvPr id="6" name="Text 4"/>
          <p:cNvSpPr/>
          <p:nvPr/>
        </p:nvSpPr>
        <p:spPr>
          <a:xfrm>
            <a:off x="685800" y="20574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463040" y="2057400"/>
            <a:ext cx="2606040" cy="45720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Metodológicas</a:t>
            </a:r>
            <a:endParaRPr lang="en-US" sz="1700" dirty="0"/>
          </a:p>
        </p:txBody>
      </p:sp>
      <p:sp>
        <p:nvSpPr>
          <p:cNvPr id="8" name="Text 6"/>
          <p:cNvSpPr/>
          <p:nvPr/>
        </p:nvSpPr>
        <p:spPr>
          <a:xfrm>
            <a:off x="685800" y="2743200"/>
            <a:ext cx="333756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Diseño, técnica analítica, equipos disponibles.</a:t>
            </a:r>
            <a:endParaRPr lang="en-US" sz="1200" dirty="0"/>
          </a:p>
        </p:txBody>
      </p:sp>
      <p:sp>
        <p:nvSpPr>
          <p:cNvPr id="9" name="Shape 7"/>
          <p:cNvSpPr/>
          <p:nvPr/>
        </p:nvSpPr>
        <p:spPr>
          <a:xfrm>
            <a:off x="4297680" y="1783080"/>
            <a:ext cx="3703320" cy="2011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4526280" y="2057400"/>
            <a:ext cx="640080" cy="640080"/>
          </a:xfrm>
          <a:prstGeom prst="ellipse">
            <a:avLst/>
          </a:prstGeom>
          <a:solidFill>
            <a:srgbClr val="2C5F2D"/>
          </a:solidFill>
          <a:ln w="12700">
            <a:solidFill>
              <a:srgbClr val="2C5F2D"/>
            </a:solidFill>
            <a:prstDash val="solid"/>
          </a:ln>
        </p:spPr>
      </p:sp>
      <p:sp>
        <p:nvSpPr>
          <p:cNvPr id="11" name="Text 9"/>
          <p:cNvSpPr/>
          <p:nvPr/>
        </p:nvSpPr>
        <p:spPr>
          <a:xfrm>
            <a:off x="4526280" y="20574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2" name="Text 10"/>
          <p:cNvSpPr/>
          <p:nvPr/>
        </p:nvSpPr>
        <p:spPr>
          <a:xfrm>
            <a:off x="5303520" y="2057400"/>
            <a:ext cx="2606040" cy="45720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Muestrales</a:t>
            </a:r>
            <a:endParaRPr lang="en-US" sz="1700" dirty="0"/>
          </a:p>
        </p:txBody>
      </p:sp>
      <p:sp>
        <p:nvSpPr>
          <p:cNvPr id="13" name="Text 11"/>
          <p:cNvSpPr/>
          <p:nvPr/>
        </p:nvSpPr>
        <p:spPr>
          <a:xfrm>
            <a:off x="4526280" y="2743200"/>
            <a:ext cx="333756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Tamaño, representatividad, criterios de inclusión.</a:t>
            </a:r>
            <a:endParaRPr lang="en-US" sz="1200" dirty="0"/>
          </a:p>
        </p:txBody>
      </p:sp>
      <p:sp>
        <p:nvSpPr>
          <p:cNvPr id="14" name="Shape 12"/>
          <p:cNvSpPr/>
          <p:nvPr/>
        </p:nvSpPr>
        <p:spPr>
          <a:xfrm>
            <a:off x="8138160" y="1783080"/>
            <a:ext cx="3703320" cy="2011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5" name="Shape 13"/>
          <p:cNvSpPr/>
          <p:nvPr/>
        </p:nvSpPr>
        <p:spPr>
          <a:xfrm>
            <a:off x="8366760" y="2057400"/>
            <a:ext cx="640080" cy="640080"/>
          </a:xfrm>
          <a:prstGeom prst="ellipse">
            <a:avLst/>
          </a:prstGeom>
          <a:solidFill>
            <a:srgbClr val="2C5F2D"/>
          </a:solidFill>
          <a:ln w="12700">
            <a:solidFill>
              <a:srgbClr val="2C5F2D"/>
            </a:solidFill>
            <a:prstDash val="solid"/>
          </a:ln>
        </p:spPr>
      </p:sp>
      <p:sp>
        <p:nvSpPr>
          <p:cNvPr id="16" name="Text 14"/>
          <p:cNvSpPr/>
          <p:nvPr/>
        </p:nvSpPr>
        <p:spPr>
          <a:xfrm>
            <a:off x="8366760" y="20574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7" name="Text 15"/>
          <p:cNvSpPr/>
          <p:nvPr/>
        </p:nvSpPr>
        <p:spPr>
          <a:xfrm>
            <a:off x="9144000" y="2057400"/>
            <a:ext cx="2606040" cy="45720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Temporales</a:t>
            </a:r>
            <a:endParaRPr lang="en-US" sz="1700" dirty="0"/>
          </a:p>
        </p:txBody>
      </p:sp>
      <p:sp>
        <p:nvSpPr>
          <p:cNvPr id="18" name="Text 16"/>
          <p:cNvSpPr/>
          <p:nvPr/>
        </p:nvSpPr>
        <p:spPr>
          <a:xfrm>
            <a:off x="8366760" y="2743200"/>
            <a:ext cx="333756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Duración del estudio, momento de medición.</a:t>
            </a:r>
            <a:endParaRPr lang="en-US" sz="1200" dirty="0"/>
          </a:p>
        </p:txBody>
      </p:sp>
      <p:sp>
        <p:nvSpPr>
          <p:cNvPr id="19" name="Shape 17"/>
          <p:cNvSpPr/>
          <p:nvPr/>
        </p:nvSpPr>
        <p:spPr>
          <a:xfrm>
            <a:off x="457200" y="3977640"/>
            <a:ext cx="3703320" cy="2011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20" name="Shape 18"/>
          <p:cNvSpPr/>
          <p:nvPr/>
        </p:nvSpPr>
        <p:spPr>
          <a:xfrm>
            <a:off x="685800" y="4251960"/>
            <a:ext cx="640080" cy="640080"/>
          </a:xfrm>
          <a:prstGeom prst="ellipse">
            <a:avLst/>
          </a:prstGeom>
          <a:solidFill>
            <a:srgbClr val="2C5F2D"/>
          </a:solidFill>
          <a:ln w="12700">
            <a:solidFill>
              <a:srgbClr val="2C5F2D"/>
            </a:solidFill>
            <a:prstDash val="solid"/>
          </a:ln>
        </p:spPr>
      </p:sp>
      <p:sp>
        <p:nvSpPr>
          <p:cNvPr id="21" name="Text 19"/>
          <p:cNvSpPr/>
          <p:nvPr/>
        </p:nvSpPr>
        <p:spPr>
          <a:xfrm>
            <a:off x="685800" y="4251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2" name="Text 20"/>
          <p:cNvSpPr/>
          <p:nvPr/>
        </p:nvSpPr>
        <p:spPr>
          <a:xfrm>
            <a:off x="1463040" y="4251960"/>
            <a:ext cx="2606040" cy="45720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Geográficas</a:t>
            </a:r>
            <a:endParaRPr lang="en-US" sz="1700" dirty="0"/>
          </a:p>
        </p:txBody>
      </p:sp>
      <p:sp>
        <p:nvSpPr>
          <p:cNvPr id="23" name="Text 21"/>
          <p:cNvSpPr/>
          <p:nvPr/>
        </p:nvSpPr>
        <p:spPr>
          <a:xfrm>
            <a:off x="685800" y="4937760"/>
            <a:ext cx="333756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Alcance espacial, generalización a otras regiones.</a:t>
            </a:r>
            <a:endParaRPr lang="en-US" sz="1200" dirty="0"/>
          </a:p>
        </p:txBody>
      </p:sp>
      <p:sp>
        <p:nvSpPr>
          <p:cNvPr id="24" name="Shape 22"/>
          <p:cNvSpPr/>
          <p:nvPr/>
        </p:nvSpPr>
        <p:spPr>
          <a:xfrm>
            <a:off x="4297680" y="3977640"/>
            <a:ext cx="3703320" cy="201168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25" name="Shape 23"/>
          <p:cNvSpPr/>
          <p:nvPr/>
        </p:nvSpPr>
        <p:spPr>
          <a:xfrm>
            <a:off x="4526280" y="4251960"/>
            <a:ext cx="640080" cy="640080"/>
          </a:xfrm>
          <a:prstGeom prst="ellipse">
            <a:avLst/>
          </a:prstGeom>
          <a:solidFill>
            <a:srgbClr val="2C5F2D"/>
          </a:solidFill>
          <a:ln w="12700">
            <a:solidFill>
              <a:srgbClr val="2C5F2D"/>
            </a:solidFill>
            <a:prstDash val="solid"/>
          </a:ln>
        </p:spPr>
      </p:sp>
      <p:sp>
        <p:nvSpPr>
          <p:cNvPr id="26" name="Text 24"/>
          <p:cNvSpPr/>
          <p:nvPr/>
        </p:nvSpPr>
        <p:spPr>
          <a:xfrm>
            <a:off x="4526280" y="4251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27" name="Text 25"/>
          <p:cNvSpPr/>
          <p:nvPr/>
        </p:nvSpPr>
        <p:spPr>
          <a:xfrm>
            <a:off x="5303520" y="4251960"/>
            <a:ext cx="2606040" cy="457200"/>
          </a:xfrm>
          <a:prstGeom prst="rect">
            <a:avLst/>
          </a:prstGeom>
          <a:noFill/>
          <a:ln/>
        </p:spPr>
        <p:txBody>
          <a:bodyPr wrap="square" lIns="0" tIns="0" rIns="0" bIns="0" rtlCol="0" anchor="ctr"/>
          <a:lstStyle/>
          <a:p>
            <a:pPr indent="0" marL="0">
              <a:buNone/>
            </a:pPr>
            <a:r>
              <a:rPr lang="en-US" sz="1700" b="1" dirty="0">
                <a:solidFill>
                  <a:srgbClr val="1F3A2E"/>
                </a:solidFill>
                <a:latin typeface="Georgia" pitchFamily="34" charset="0"/>
                <a:ea typeface="Georgia" pitchFamily="34" charset="-122"/>
                <a:cs typeface="Georgia" pitchFamily="34" charset="-120"/>
              </a:rPr>
              <a:t>De alcance</a:t>
            </a:r>
            <a:endParaRPr lang="en-US" sz="1700" dirty="0"/>
          </a:p>
        </p:txBody>
      </p:sp>
      <p:sp>
        <p:nvSpPr>
          <p:cNvPr id="28" name="Text 26"/>
          <p:cNvSpPr/>
          <p:nvPr/>
        </p:nvSpPr>
        <p:spPr>
          <a:xfrm>
            <a:off x="4526280" y="4937760"/>
            <a:ext cx="333756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Variables NO medidas, factores no controlados.</a:t>
            </a:r>
            <a:endParaRPr lang="en-US" sz="1200" dirty="0"/>
          </a:p>
        </p:txBody>
      </p:sp>
      <p:sp>
        <p:nvSpPr>
          <p:cNvPr id="29" name="Text 27"/>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0" name="Text 28"/>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16 / 25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PASO 7 · LÍNEAS FUTURAS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Concretas, no genéricas — y conectadas a tus limitaciones</a:t>
            </a:r>
            <a:endParaRPr lang="en-US" sz="3000" dirty="0"/>
          </a:p>
        </p:txBody>
      </p:sp>
      <p:sp>
        <p:nvSpPr>
          <p:cNvPr id="4" name="Shape 2"/>
          <p:cNvSpPr/>
          <p:nvPr/>
        </p:nvSpPr>
        <p:spPr>
          <a:xfrm>
            <a:off x="457200" y="1691640"/>
            <a:ext cx="5532120" cy="4572000"/>
          </a:xfrm>
          <a:prstGeom prst="rect">
            <a:avLst/>
          </a:prstGeom>
          <a:solidFill>
            <a:srgbClr val="FFFFFF"/>
          </a:solidFill>
          <a:ln w="19050">
            <a:solidFill>
              <a:srgbClr val="B8651A"/>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691640"/>
            <a:ext cx="5532120" cy="548640"/>
          </a:xfrm>
          <a:prstGeom prst="rect">
            <a:avLst/>
          </a:prstGeom>
          <a:solidFill>
            <a:srgbClr val="B8651A"/>
          </a:solidFill>
          <a:ln w="12700">
            <a:solidFill>
              <a:srgbClr val="B8651A"/>
            </a:solidFill>
            <a:prstDash val="solid"/>
          </a:ln>
        </p:spPr>
      </p:sp>
      <p:pic>
        <p:nvPicPr>
          <p:cNvPr id="6" name="Image 0" descr="preencoded.png">    </p:cNvPr>
          <p:cNvPicPr>
            <a:picLocks noChangeAspect="1"/>
          </p:cNvPicPr>
          <p:nvPr/>
        </p:nvPicPr>
        <p:blipFill>
          <a:blip r:embed="rId1"/>
          <a:stretch>
            <a:fillRect/>
          </a:stretch>
        </p:blipFill>
        <p:spPr>
          <a:xfrm>
            <a:off x="640080" y="1828800"/>
            <a:ext cx="274320" cy="274320"/>
          </a:xfrm>
          <a:prstGeom prst="rect">
            <a:avLst/>
          </a:prstGeom>
        </p:spPr>
      </p:pic>
      <p:sp>
        <p:nvSpPr>
          <p:cNvPr id="7" name="Text 4"/>
          <p:cNvSpPr/>
          <p:nvPr/>
        </p:nvSpPr>
        <p:spPr>
          <a:xfrm>
            <a:off x="1005840" y="1691640"/>
            <a:ext cx="4572000" cy="54864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LÍNEA FUTURA GENÉRICA</a:t>
            </a:r>
            <a:endParaRPr lang="en-US" sz="1200" dirty="0"/>
          </a:p>
        </p:txBody>
      </p:sp>
      <p:sp>
        <p:nvSpPr>
          <p:cNvPr id="8" name="Text 5"/>
          <p:cNvSpPr/>
          <p:nvPr/>
        </p:nvSpPr>
        <p:spPr>
          <a:xfrm>
            <a:off x="685800" y="2423160"/>
            <a:ext cx="5074920" cy="1828800"/>
          </a:xfrm>
          <a:prstGeom prst="rect">
            <a:avLst/>
          </a:prstGeom>
          <a:noFill/>
          <a:ln/>
        </p:spPr>
        <p:txBody>
          <a:bodyPr wrap="square" lIns="0" tIns="0" rIns="0" bIns="0" rtlCol="0" anchor="ctr"/>
          <a:lstStyle/>
          <a:p>
            <a:pPr indent="0" marL="0">
              <a:lnSpc>
                <a:spcPct val="130000"/>
              </a:lnSpc>
              <a:buNone/>
            </a:pPr>
            <a:r>
              <a:rPr lang="en-US" sz="1300" i="1" dirty="0">
                <a:solidFill>
                  <a:srgbClr val="1A1A1A"/>
                </a:solidFill>
                <a:latin typeface="Calibri" pitchFamily="34" charset="0"/>
                <a:ea typeface="Calibri" pitchFamily="34" charset="-122"/>
                <a:cs typeface="Calibri" pitchFamily="34" charset="-120"/>
              </a:rPr>
              <a:t>"Se requieren más estudios para confirmar estos resultados."</a:t>
            </a:r>
            <a:endParaRPr lang="en-US" sz="1300" dirty="0"/>
          </a:p>
          <a:p>
            <a:pPr indent="0" marL="0">
              <a:lnSpc>
                <a:spcPct val="130000"/>
              </a:lnSpc>
              <a:buNone/>
            </a:pPr>
            <a:endParaRPr lang="en-US" sz="1300" dirty="0"/>
          </a:p>
          <a:p>
            <a:pPr indent="0" marL="0">
              <a:lnSpc>
                <a:spcPct val="130000"/>
              </a:lnSpc>
              <a:buNone/>
            </a:pPr>
            <a:r>
              <a:rPr lang="en-US" sz="1300" i="1" dirty="0">
                <a:solidFill>
                  <a:srgbClr val="1A1A1A"/>
                </a:solidFill>
                <a:latin typeface="Calibri" pitchFamily="34" charset="0"/>
                <a:ea typeface="Calibri" pitchFamily="34" charset="-122"/>
                <a:cs typeface="Calibri" pitchFamily="34" charset="-120"/>
              </a:rPr>
              <a:t>"Es necesario seguir investigando."</a:t>
            </a:r>
            <a:endParaRPr lang="en-US" sz="1300" dirty="0"/>
          </a:p>
        </p:txBody>
      </p:sp>
      <p:sp>
        <p:nvSpPr>
          <p:cNvPr id="9" name="Text 6"/>
          <p:cNvSpPr/>
          <p:nvPr/>
        </p:nvSpPr>
        <p:spPr>
          <a:xfrm>
            <a:off x="685800" y="4526280"/>
            <a:ext cx="5074920" cy="320040"/>
          </a:xfrm>
          <a:prstGeom prst="rect">
            <a:avLst/>
          </a:prstGeom>
          <a:noFill/>
          <a:ln/>
        </p:spPr>
        <p:txBody>
          <a:bodyPr wrap="square" lIns="0" tIns="0" rIns="0" bIns="0" rtlCol="0" anchor="ctr"/>
          <a:lstStyle/>
          <a:p>
            <a:pPr indent="0" marL="0">
              <a:buNone/>
            </a:pPr>
            <a:r>
              <a:rPr lang="en-US" sz="1200" b="1" dirty="0">
                <a:solidFill>
                  <a:srgbClr val="B8651A"/>
                </a:solidFill>
                <a:latin typeface="Calibri" pitchFamily="34" charset="0"/>
                <a:ea typeface="Calibri" pitchFamily="34" charset="-122"/>
                <a:cs typeface="Calibri" pitchFamily="34" charset="-120"/>
              </a:rPr>
              <a:t>Por qué falla:</a:t>
            </a:r>
            <a:endParaRPr lang="en-US" sz="1200" dirty="0"/>
          </a:p>
        </p:txBody>
      </p:sp>
      <p:sp>
        <p:nvSpPr>
          <p:cNvPr id="10" name="Text 7"/>
          <p:cNvSpPr/>
          <p:nvPr/>
        </p:nvSpPr>
        <p:spPr>
          <a:xfrm>
            <a:off x="685800" y="4846320"/>
            <a:ext cx="5074920" cy="118872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No dice qué estudios, sobre qué, con qué diseño. Es una frase vacía que se pone para llenar.</a:t>
            </a:r>
            <a:endParaRPr lang="en-US" sz="1150" dirty="0"/>
          </a:p>
        </p:txBody>
      </p:sp>
      <p:sp>
        <p:nvSpPr>
          <p:cNvPr id="11" name="Shape 8"/>
          <p:cNvSpPr/>
          <p:nvPr/>
        </p:nvSpPr>
        <p:spPr>
          <a:xfrm>
            <a:off x="6172200" y="1691640"/>
            <a:ext cx="5532120" cy="4572000"/>
          </a:xfrm>
          <a:prstGeom prst="rect">
            <a:avLst/>
          </a:prstGeom>
          <a:solidFill>
            <a:srgbClr val="FFFFFF"/>
          </a:solidFill>
          <a:ln w="19050">
            <a:solidFill>
              <a:srgbClr val="2C5F2D"/>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6172200" y="1691640"/>
            <a:ext cx="5532120" cy="548640"/>
          </a:xfrm>
          <a:prstGeom prst="rect">
            <a:avLst/>
          </a:prstGeom>
          <a:solidFill>
            <a:srgbClr val="2C5F2D"/>
          </a:solidFill>
          <a:ln w="12700">
            <a:solidFill>
              <a:srgbClr val="2C5F2D"/>
            </a:solidFill>
            <a:prstDash val="solid"/>
          </a:ln>
        </p:spPr>
      </p:sp>
      <p:pic>
        <p:nvPicPr>
          <p:cNvPr id="13" name="Image 1" descr="preencoded.png">    </p:cNvPr>
          <p:cNvPicPr>
            <a:picLocks noChangeAspect="1"/>
          </p:cNvPicPr>
          <p:nvPr/>
        </p:nvPicPr>
        <p:blipFill>
          <a:blip r:embed="rId2"/>
          <a:stretch>
            <a:fillRect/>
          </a:stretch>
        </p:blipFill>
        <p:spPr>
          <a:xfrm>
            <a:off x="6355080" y="1828800"/>
            <a:ext cx="274320" cy="274320"/>
          </a:xfrm>
          <a:prstGeom prst="rect">
            <a:avLst/>
          </a:prstGeom>
        </p:spPr>
      </p:pic>
      <p:sp>
        <p:nvSpPr>
          <p:cNvPr id="14" name="Text 10"/>
          <p:cNvSpPr/>
          <p:nvPr/>
        </p:nvSpPr>
        <p:spPr>
          <a:xfrm>
            <a:off x="6720840" y="1691640"/>
            <a:ext cx="4572000" cy="54864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LÍNEA FUTURA CONCRETA</a:t>
            </a:r>
            <a:endParaRPr lang="en-US" sz="1200" dirty="0"/>
          </a:p>
        </p:txBody>
      </p:sp>
      <p:sp>
        <p:nvSpPr>
          <p:cNvPr id="15" name="Text 11"/>
          <p:cNvSpPr/>
          <p:nvPr/>
        </p:nvSpPr>
        <p:spPr>
          <a:xfrm>
            <a:off x="6400800" y="2377440"/>
            <a:ext cx="5074920" cy="3840480"/>
          </a:xfrm>
          <a:prstGeom prst="rect">
            <a:avLst/>
          </a:prstGeom>
          <a:noFill/>
          <a:ln/>
        </p:spPr>
        <p:txBody>
          <a:bodyPr wrap="square" lIns="0" tIns="0" rIns="0" bIns="0" rtlCol="0" anchor="ctr"/>
          <a:lstStyle/>
          <a:p>
            <a:pPr indent="0" marL="0">
              <a:lnSpc>
                <a:spcPct val="125000"/>
              </a:lnSpc>
              <a:buNone/>
            </a:pPr>
            <a:r>
              <a:rPr lang="en-US" sz="1150" dirty="0">
                <a:solidFill>
                  <a:srgbClr val="1A1A1A"/>
                </a:solidFill>
                <a:latin typeface="Calibri" pitchFamily="34" charset="0"/>
                <a:ea typeface="Calibri" pitchFamily="34" charset="-122"/>
                <a:cs typeface="Calibri" pitchFamily="34" charset="-120"/>
              </a:rPr>
              <a:t>"Trabajos futuros deberán validar in vivo la actividad probiótica de BAL-03 mediante ensayos en modelos murinos, secuenciar su genoma completo para identificar genes asociados a tolerancia gastrointestinal, y evaluar su desempeño como cultivo iniciador en fermentaciones piloto con productores del Meta."</a:t>
            </a:r>
            <a:endParaRPr lang="en-US" sz="1150" dirty="0"/>
          </a:p>
        </p:txBody>
      </p:sp>
      <p:sp>
        <p:nvSpPr>
          <p:cNvPr id="16" name="Text 12"/>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17" name="Text 13"/>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17 / 25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CONEXIÓN NATURAL</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Cada limitación debe inspirar una línea futura</a:t>
            </a:r>
            <a:endParaRPr lang="en-US" sz="3000" dirty="0"/>
          </a:p>
        </p:txBody>
      </p:sp>
      <p:sp>
        <p:nvSpPr>
          <p:cNvPr id="4" name="Text 2"/>
          <p:cNvSpPr/>
          <p:nvPr/>
        </p:nvSpPr>
        <p:spPr>
          <a:xfrm>
            <a:off x="457200" y="1691640"/>
            <a:ext cx="11247120" cy="365760"/>
          </a:xfrm>
          <a:prstGeom prst="rect">
            <a:avLst/>
          </a:prstGeom>
          <a:noFill/>
          <a:ln/>
        </p:spPr>
        <p:txBody>
          <a:bodyPr wrap="square" lIns="0" tIns="0" rIns="0" bIns="0" rtlCol="0" anchor="ctr"/>
          <a:lstStyle/>
          <a:p>
            <a:pPr indent="0" marL="0">
              <a:buNone/>
            </a:pPr>
            <a:r>
              <a:rPr lang="en-US" sz="1300" i="1" dirty="0">
                <a:solidFill>
                  <a:srgbClr val="5F6B5A"/>
                </a:solidFill>
                <a:latin typeface="Calibri" pitchFamily="34" charset="0"/>
                <a:ea typeface="Calibri" pitchFamily="34" charset="-122"/>
                <a:cs typeface="Calibri" pitchFamily="34" charset="-120"/>
              </a:rPr>
              <a:t>Esto demuestra al revisor que sabes exactamente dónde tu estudio podría extenderse.</a:t>
            </a:r>
            <a:endParaRPr lang="en-US" sz="1300" dirty="0"/>
          </a:p>
        </p:txBody>
      </p:sp>
      <p:sp>
        <p:nvSpPr>
          <p:cNvPr id="5" name="Shape 3"/>
          <p:cNvSpPr/>
          <p:nvPr/>
        </p:nvSpPr>
        <p:spPr>
          <a:xfrm>
            <a:off x="457200" y="2240280"/>
            <a:ext cx="5349240" cy="1097280"/>
          </a:xfrm>
          <a:prstGeom prst="rect">
            <a:avLst/>
          </a:prstGeom>
          <a:solidFill>
            <a:srgbClr val="F7F4ED"/>
          </a:solidFill>
          <a:ln w="12700">
            <a:solidFill>
              <a:srgbClr val="D9D2C0"/>
            </a:solidFill>
            <a:prstDash val="solid"/>
          </a:ln>
        </p:spPr>
      </p:sp>
      <p:sp>
        <p:nvSpPr>
          <p:cNvPr id="6" name="Text 4"/>
          <p:cNvSpPr/>
          <p:nvPr/>
        </p:nvSpPr>
        <p:spPr>
          <a:xfrm>
            <a:off x="685800" y="2331720"/>
            <a:ext cx="4937760" cy="320040"/>
          </a:xfrm>
          <a:prstGeom prst="rect">
            <a:avLst/>
          </a:prstGeom>
          <a:noFill/>
          <a:ln/>
        </p:spPr>
        <p:txBody>
          <a:bodyPr wrap="square" lIns="0" tIns="0" rIns="0" bIns="0" rtlCol="0" anchor="ctr"/>
          <a:lstStyle/>
          <a:p>
            <a:pPr indent="0" marL="0">
              <a:buNone/>
            </a:pPr>
            <a:r>
              <a:rPr lang="en-US" sz="1100" b="1" spc="300" kern="0" dirty="0">
                <a:solidFill>
                  <a:srgbClr val="B8651A"/>
                </a:solidFill>
                <a:latin typeface="Calibri" pitchFamily="34" charset="0"/>
                <a:ea typeface="Calibri" pitchFamily="34" charset="-122"/>
                <a:cs typeface="Calibri" pitchFamily="34" charset="-120"/>
              </a:rPr>
              <a:t>LIMITACIÓN</a:t>
            </a:r>
            <a:endParaRPr lang="en-US" sz="1100" dirty="0"/>
          </a:p>
        </p:txBody>
      </p:sp>
      <p:sp>
        <p:nvSpPr>
          <p:cNvPr id="7" name="Text 5"/>
          <p:cNvSpPr/>
          <p:nvPr/>
        </p:nvSpPr>
        <p:spPr>
          <a:xfrm>
            <a:off x="685800" y="2651760"/>
            <a:ext cx="4937760" cy="64008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Solo pruebas in vitro</a:t>
            </a:r>
            <a:endParaRPr lang="en-US" sz="1300" dirty="0"/>
          </a:p>
        </p:txBody>
      </p:sp>
      <p:sp>
        <p:nvSpPr>
          <p:cNvPr id="8" name="Text 6"/>
          <p:cNvSpPr/>
          <p:nvPr/>
        </p:nvSpPr>
        <p:spPr>
          <a:xfrm>
            <a:off x="5897880" y="2423160"/>
            <a:ext cx="457200" cy="731520"/>
          </a:xfrm>
          <a:prstGeom prst="rect">
            <a:avLst/>
          </a:prstGeom>
          <a:noFill/>
          <a:ln/>
        </p:spPr>
        <p:txBody>
          <a:bodyPr wrap="square" lIns="0" tIns="0" rIns="0" bIns="0" rtlCol="0" anchor="ctr"/>
          <a:lstStyle/>
          <a:p>
            <a:pPr algn="ctr" indent="0" marL="0">
              <a:buNone/>
            </a:pPr>
            <a:r>
              <a:rPr lang="en-US" sz="3600" b="1" dirty="0">
                <a:solidFill>
                  <a:srgbClr val="97BC62"/>
                </a:solidFill>
                <a:latin typeface="Georgia" pitchFamily="34" charset="0"/>
                <a:ea typeface="Georgia" pitchFamily="34" charset="-122"/>
                <a:cs typeface="Georgia" pitchFamily="34" charset="-120"/>
              </a:rPr>
              <a:t>→</a:t>
            </a:r>
            <a:endParaRPr lang="en-US" sz="3600" dirty="0"/>
          </a:p>
        </p:txBody>
      </p:sp>
      <p:sp>
        <p:nvSpPr>
          <p:cNvPr id="9" name="Shape 7"/>
          <p:cNvSpPr/>
          <p:nvPr/>
        </p:nvSpPr>
        <p:spPr>
          <a:xfrm>
            <a:off x="6446520" y="2240280"/>
            <a:ext cx="5257800" cy="1097280"/>
          </a:xfrm>
          <a:prstGeom prst="rect">
            <a:avLst/>
          </a:prstGeom>
          <a:solidFill>
            <a:srgbClr val="1F3A2E"/>
          </a:solidFill>
          <a:ln w="12700">
            <a:solidFill>
              <a:srgbClr val="1F3A2E"/>
            </a:solidFill>
            <a:prstDash val="solid"/>
          </a:ln>
        </p:spPr>
      </p:sp>
      <p:sp>
        <p:nvSpPr>
          <p:cNvPr id="10" name="Text 8"/>
          <p:cNvSpPr/>
          <p:nvPr/>
        </p:nvSpPr>
        <p:spPr>
          <a:xfrm>
            <a:off x="6675120" y="2331720"/>
            <a:ext cx="4846320" cy="320040"/>
          </a:xfrm>
          <a:prstGeom prst="rect">
            <a:avLst/>
          </a:prstGeom>
          <a:noFill/>
          <a:ln/>
        </p:spPr>
        <p:txBody>
          <a:bodyPr wrap="square" lIns="0" tIns="0" rIns="0" bIns="0" rtlCol="0" anchor="ctr"/>
          <a:lstStyle/>
          <a:p>
            <a:pPr indent="0" marL="0">
              <a:buNone/>
            </a:pPr>
            <a:r>
              <a:rPr lang="en-US" sz="1100" b="1" spc="300" kern="0" dirty="0">
                <a:solidFill>
                  <a:srgbClr val="97BC62"/>
                </a:solidFill>
                <a:latin typeface="Calibri" pitchFamily="34" charset="0"/>
                <a:ea typeface="Calibri" pitchFamily="34" charset="-122"/>
                <a:cs typeface="Calibri" pitchFamily="34" charset="-120"/>
              </a:rPr>
              <a:t>LÍNEA FUTURA</a:t>
            </a:r>
            <a:endParaRPr lang="en-US" sz="1100" dirty="0"/>
          </a:p>
        </p:txBody>
      </p:sp>
      <p:sp>
        <p:nvSpPr>
          <p:cNvPr id="11" name="Text 9"/>
          <p:cNvSpPr/>
          <p:nvPr/>
        </p:nvSpPr>
        <p:spPr>
          <a:xfrm>
            <a:off x="6675120" y="2651760"/>
            <a:ext cx="4846320" cy="64008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Validar in vivo en modelos murinos antes de usos clínicos.</a:t>
            </a:r>
            <a:endParaRPr lang="en-US" sz="1250" dirty="0"/>
          </a:p>
        </p:txBody>
      </p:sp>
      <p:sp>
        <p:nvSpPr>
          <p:cNvPr id="12" name="Shape 10"/>
          <p:cNvSpPr/>
          <p:nvPr/>
        </p:nvSpPr>
        <p:spPr>
          <a:xfrm>
            <a:off x="457200" y="3520440"/>
            <a:ext cx="5349240" cy="1097280"/>
          </a:xfrm>
          <a:prstGeom prst="rect">
            <a:avLst/>
          </a:prstGeom>
          <a:solidFill>
            <a:srgbClr val="F7F4ED"/>
          </a:solidFill>
          <a:ln w="12700">
            <a:solidFill>
              <a:srgbClr val="D9D2C0"/>
            </a:solidFill>
            <a:prstDash val="solid"/>
          </a:ln>
        </p:spPr>
      </p:sp>
      <p:sp>
        <p:nvSpPr>
          <p:cNvPr id="13" name="Text 11"/>
          <p:cNvSpPr/>
          <p:nvPr/>
        </p:nvSpPr>
        <p:spPr>
          <a:xfrm>
            <a:off x="685800" y="3611880"/>
            <a:ext cx="4937760" cy="320040"/>
          </a:xfrm>
          <a:prstGeom prst="rect">
            <a:avLst/>
          </a:prstGeom>
          <a:noFill/>
          <a:ln/>
        </p:spPr>
        <p:txBody>
          <a:bodyPr wrap="square" lIns="0" tIns="0" rIns="0" bIns="0" rtlCol="0" anchor="ctr"/>
          <a:lstStyle/>
          <a:p>
            <a:pPr indent="0" marL="0">
              <a:buNone/>
            </a:pPr>
            <a:r>
              <a:rPr lang="en-US" sz="1100" b="1" spc="300" kern="0" dirty="0">
                <a:solidFill>
                  <a:srgbClr val="B8651A"/>
                </a:solidFill>
                <a:latin typeface="Calibri" pitchFamily="34" charset="0"/>
                <a:ea typeface="Calibri" pitchFamily="34" charset="-122"/>
                <a:cs typeface="Calibri" pitchFamily="34" charset="-120"/>
              </a:rPr>
              <a:t>LIMITACIÓN</a:t>
            </a:r>
            <a:endParaRPr lang="en-US" sz="1100" dirty="0"/>
          </a:p>
        </p:txBody>
      </p:sp>
      <p:sp>
        <p:nvSpPr>
          <p:cNvPr id="14" name="Text 12"/>
          <p:cNvSpPr/>
          <p:nvPr/>
        </p:nvSpPr>
        <p:spPr>
          <a:xfrm>
            <a:off x="685800" y="3931920"/>
            <a:ext cx="4937760" cy="64008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Muestreo restringido a Lejanías</a:t>
            </a:r>
            <a:endParaRPr lang="en-US" sz="1300" dirty="0"/>
          </a:p>
        </p:txBody>
      </p:sp>
      <p:sp>
        <p:nvSpPr>
          <p:cNvPr id="15" name="Text 13"/>
          <p:cNvSpPr/>
          <p:nvPr/>
        </p:nvSpPr>
        <p:spPr>
          <a:xfrm>
            <a:off x="5897880" y="3703320"/>
            <a:ext cx="457200" cy="731520"/>
          </a:xfrm>
          <a:prstGeom prst="rect">
            <a:avLst/>
          </a:prstGeom>
          <a:noFill/>
          <a:ln/>
        </p:spPr>
        <p:txBody>
          <a:bodyPr wrap="square" lIns="0" tIns="0" rIns="0" bIns="0" rtlCol="0" anchor="ctr"/>
          <a:lstStyle/>
          <a:p>
            <a:pPr algn="ctr" indent="0" marL="0">
              <a:buNone/>
            </a:pPr>
            <a:r>
              <a:rPr lang="en-US" sz="3600" b="1" dirty="0">
                <a:solidFill>
                  <a:srgbClr val="97BC62"/>
                </a:solidFill>
                <a:latin typeface="Georgia" pitchFamily="34" charset="0"/>
                <a:ea typeface="Georgia" pitchFamily="34" charset="-122"/>
                <a:cs typeface="Georgia" pitchFamily="34" charset="-120"/>
              </a:rPr>
              <a:t>→</a:t>
            </a:r>
            <a:endParaRPr lang="en-US" sz="3600" dirty="0"/>
          </a:p>
        </p:txBody>
      </p:sp>
      <p:sp>
        <p:nvSpPr>
          <p:cNvPr id="16" name="Shape 14"/>
          <p:cNvSpPr/>
          <p:nvPr/>
        </p:nvSpPr>
        <p:spPr>
          <a:xfrm>
            <a:off x="6446520" y="3520440"/>
            <a:ext cx="5257800" cy="1097280"/>
          </a:xfrm>
          <a:prstGeom prst="rect">
            <a:avLst/>
          </a:prstGeom>
          <a:solidFill>
            <a:srgbClr val="1F3A2E"/>
          </a:solidFill>
          <a:ln w="12700">
            <a:solidFill>
              <a:srgbClr val="1F3A2E"/>
            </a:solidFill>
            <a:prstDash val="solid"/>
          </a:ln>
        </p:spPr>
      </p:sp>
      <p:sp>
        <p:nvSpPr>
          <p:cNvPr id="17" name="Text 15"/>
          <p:cNvSpPr/>
          <p:nvPr/>
        </p:nvSpPr>
        <p:spPr>
          <a:xfrm>
            <a:off x="6675120" y="3611880"/>
            <a:ext cx="4846320" cy="320040"/>
          </a:xfrm>
          <a:prstGeom prst="rect">
            <a:avLst/>
          </a:prstGeom>
          <a:noFill/>
          <a:ln/>
        </p:spPr>
        <p:txBody>
          <a:bodyPr wrap="square" lIns="0" tIns="0" rIns="0" bIns="0" rtlCol="0" anchor="ctr"/>
          <a:lstStyle/>
          <a:p>
            <a:pPr indent="0" marL="0">
              <a:buNone/>
            </a:pPr>
            <a:r>
              <a:rPr lang="en-US" sz="1100" b="1" spc="300" kern="0" dirty="0">
                <a:solidFill>
                  <a:srgbClr val="97BC62"/>
                </a:solidFill>
                <a:latin typeface="Calibri" pitchFamily="34" charset="0"/>
                <a:ea typeface="Calibri" pitchFamily="34" charset="-122"/>
                <a:cs typeface="Calibri" pitchFamily="34" charset="-120"/>
              </a:rPr>
              <a:t>LÍNEA FUTURA</a:t>
            </a:r>
            <a:endParaRPr lang="en-US" sz="1100" dirty="0"/>
          </a:p>
        </p:txBody>
      </p:sp>
      <p:sp>
        <p:nvSpPr>
          <p:cNvPr id="18" name="Text 16"/>
          <p:cNvSpPr/>
          <p:nvPr/>
        </p:nvSpPr>
        <p:spPr>
          <a:xfrm>
            <a:off x="6675120" y="3931920"/>
            <a:ext cx="4846320" cy="64008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Replicar el estudio en otras zonas cacaoteras del Meta y Casanare.</a:t>
            </a:r>
            <a:endParaRPr lang="en-US" sz="1250" dirty="0"/>
          </a:p>
        </p:txBody>
      </p:sp>
      <p:sp>
        <p:nvSpPr>
          <p:cNvPr id="19" name="Shape 17"/>
          <p:cNvSpPr/>
          <p:nvPr/>
        </p:nvSpPr>
        <p:spPr>
          <a:xfrm>
            <a:off x="457200" y="4800600"/>
            <a:ext cx="5349240" cy="1097280"/>
          </a:xfrm>
          <a:prstGeom prst="rect">
            <a:avLst/>
          </a:prstGeom>
          <a:solidFill>
            <a:srgbClr val="F7F4ED"/>
          </a:solidFill>
          <a:ln w="12700">
            <a:solidFill>
              <a:srgbClr val="D9D2C0"/>
            </a:solidFill>
            <a:prstDash val="solid"/>
          </a:ln>
        </p:spPr>
      </p:sp>
      <p:sp>
        <p:nvSpPr>
          <p:cNvPr id="20" name="Text 18"/>
          <p:cNvSpPr/>
          <p:nvPr/>
        </p:nvSpPr>
        <p:spPr>
          <a:xfrm>
            <a:off x="685800" y="4892040"/>
            <a:ext cx="4937760" cy="320040"/>
          </a:xfrm>
          <a:prstGeom prst="rect">
            <a:avLst/>
          </a:prstGeom>
          <a:noFill/>
          <a:ln/>
        </p:spPr>
        <p:txBody>
          <a:bodyPr wrap="square" lIns="0" tIns="0" rIns="0" bIns="0" rtlCol="0" anchor="ctr"/>
          <a:lstStyle/>
          <a:p>
            <a:pPr indent="0" marL="0">
              <a:buNone/>
            </a:pPr>
            <a:r>
              <a:rPr lang="en-US" sz="1100" b="1" spc="300" kern="0" dirty="0">
                <a:solidFill>
                  <a:srgbClr val="B8651A"/>
                </a:solidFill>
                <a:latin typeface="Calibri" pitchFamily="34" charset="0"/>
                <a:ea typeface="Calibri" pitchFamily="34" charset="-122"/>
                <a:cs typeface="Calibri" pitchFamily="34" charset="-120"/>
              </a:rPr>
              <a:t>LIMITACIÓN</a:t>
            </a:r>
            <a:endParaRPr lang="en-US" sz="1100" dirty="0"/>
          </a:p>
        </p:txBody>
      </p:sp>
      <p:sp>
        <p:nvSpPr>
          <p:cNvPr id="21" name="Text 19"/>
          <p:cNvSpPr/>
          <p:nvPr/>
        </p:nvSpPr>
        <p:spPr>
          <a:xfrm>
            <a:off x="685800" y="5212080"/>
            <a:ext cx="4937760" cy="64008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Sin evaluación de almacenamiento</a:t>
            </a:r>
            <a:endParaRPr lang="en-US" sz="1300" dirty="0"/>
          </a:p>
        </p:txBody>
      </p:sp>
      <p:sp>
        <p:nvSpPr>
          <p:cNvPr id="22" name="Text 20"/>
          <p:cNvSpPr/>
          <p:nvPr/>
        </p:nvSpPr>
        <p:spPr>
          <a:xfrm>
            <a:off x="5897880" y="4983480"/>
            <a:ext cx="457200" cy="731520"/>
          </a:xfrm>
          <a:prstGeom prst="rect">
            <a:avLst/>
          </a:prstGeom>
          <a:noFill/>
          <a:ln/>
        </p:spPr>
        <p:txBody>
          <a:bodyPr wrap="square" lIns="0" tIns="0" rIns="0" bIns="0" rtlCol="0" anchor="ctr"/>
          <a:lstStyle/>
          <a:p>
            <a:pPr algn="ctr" indent="0" marL="0">
              <a:buNone/>
            </a:pPr>
            <a:r>
              <a:rPr lang="en-US" sz="3600" b="1" dirty="0">
                <a:solidFill>
                  <a:srgbClr val="97BC62"/>
                </a:solidFill>
                <a:latin typeface="Georgia" pitchFamily="34" charset="0"/>
                <a:ea typeface="Georgia" pitchFamily="34" charset="-122"/>
                <a:cs typeface="Georgia" pitchFamily="34" charset="-120"/>
              </a:rPr>
              <a:t>→</a:t>
            </a:r>
            <a:endParaRPr lang="en-US" sz="3600" dirty="0"/>
          </a:p>
        </p:txBody>
      </p:sp>
      <p:sp>
        <p:nvSpPr>
          <p:cNvPr id="23" name="Shape 21"/>
          <p:cNvSpPr/>
          <p:nvPr/>
        </p:nvSpPr>
        <p:spPr>
          <a:xfrm>
            <a:off x="6446520" y="4800600"/>
            <a:ext cx="5257800" cy="1097280"/>
          </a:xfrm>
          <a:prstGeom prst="rect">
            <a:avLst/>
          </a:prstGeom>
          <a:solidFill>
            <a:srgbClr val="1F3A2E"/>
          </a:solidFill>
          <a:ln w="12700">
            <a:solidFill>
              <a:srgbClr val="1F3A2E"/>
            </a:solidFill>
            <a:prstDash val="solid"/>
          </a:ln>
        </p:spPr>
      </p:sp>
      <p:sp>
        <p:nvSpPr>
          <p:cNvPr id="24" name="Text 22"/>
          <p:cNvSpPr/>
          <p:nvPr/>
        </p:nvSpPr>
        <p:spPr>
          <a:xfrm>
            <a:off x="6675120" y="4892040"/>
            <a:ext cx="4846320" cy="320040"/>
          </a:xfrm>
          <a:prstGeom prst="rect">
            <a:avLst/>
          </a:prstGeom>
          <a:noFill/>
          <a:ln/>
        </p:spPr>
        <p:txBody>
          <a:bodyPr wrap="square" lIns="0" tIns="0" rIns="0" bIns="0" rtlCol="0" anchor="ctr"/>
          <a:lstStyle/>
          <a:p>
            <a:pPr indent="0" marL="0">
              <a:buNone/>
            </a:pPr>
            <a:r>
              <a:rPr lang="en-US" sz="1100" b="1" spc="300" kern="0" dirty="0">
                <a:solidFill>
                  <a:srgbClr val="97BC62"/>
                </a:solidFill>
                <a:latin typeface="Calibri" pitchFamily="34" charset="0"/>
                <a:ea typeface="Calibri" pitchFamily="34" charset="-122"/>
                <a:cs typeface="Calibri" pitchFamily="34" charset="-120"/>
              </a:rPr>
              <a:t>LÍNEA FUTURA</a:t>
            </a:r>
            <a:endParaRPr lang="en-US" sz="1100" dirty="0"/>
          </a:p>
        </p:txBody>
      </p:sp>
      <p:sp>
        <p:nvSpPr>
          <p:cNvPr id="25" name="Text 23"/>
          <p:cNvSpPr/>
          <p:nvPr/>
        </p:nvSpPr>
        <p:spPr>
          <a:xfrm>
            <a:off x="6675120" y="5212080"/>
            <a:ext cx="4846320" cy="64008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Evaluar viabilidad de BAL-03 liofilizada durante 6 y 12 meses.</a:t>
            </a:r>
            <a:endParaRPr lang="en-US" sz="1250" dirty="0"/>
          </a:p>
        </p:txBody>
      </p:sp>
      <p:sp>
        <p:nvSpPr>
          <p:cNvPr id="26" name="Text 24"/>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7" name="Text 25"/>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18 / 25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CASO GUÍA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Una Discusión completa, paso a paso</a:t>
            </a:r>
            <a:endParaRPr lang="en-US" sz="3000" dirty="0"/>
          </a:p>
        </p:txBody>
      </p:sp>
      <p:sp>
        <p:nvSpPr>
          <p:cNvPr id="4" name="Shape 2"/>
          <p:cNvSpPr/>
          <p:nvPr/>
        </p:nvSpPr>
        <p:spPr>
          <a:xfrm>
            <a:off x="457200" y="1691640"/>
            <a:ext cx="1920240" cy="594360"/>
          </a:xfrm>
          <a:prstGeom prst="rect">
            <a:avLst/>
          </a:prstGeom>
          <a:solidFill>
            <a:srgbClr val="2C5F2D"/>
          </a:solidFill>
          <a:ln w="12700">
            <a:solidFill>
              <a:srgbClr val="2C5F2D"/>
            </a:solidFill>
            <a:prstDash val="solid"/>
          </a:ln>
        </p:spPr>
      </p:sp>
      <p:sp>
        <p:nvSpPr>
          <p:cNvPr id="5" name="Text 3"/>
          <p:cNvSpPr/>
          <p:nvPr/>
        </p:nvSpPr>
        <p:spPr>
          <a:xfrm>
            <a:off x="457200" y="1691640"/>
            <a:ext cx="1920240" cy="594360"/>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Calibri" pitchFamily="34" charset="0"/>
                <a:ea typeface="Calibri" pitchFamily="34" charset="-122"/>
                <a:cs typeface="Calibri" pitchFamily="34" charset="-120"/>
              </a:rPr>
              <a:t>1. HALLAZGO</a:t>
            </a:r>
            <a:endParaRPr lang="en-US" sz="1050" dirty="0"/>
          </a:p>
        </p:txBody>
      </p:sp>
      <p:sp>
        <p:nvSpPr>
          <p:cNvPr id="6" name="Shape 4"/>
          <p:cNvSpPr/>
          <p:nvPr/>
        </p:nvSpPr>
        <p:spPr>
          <a:xfrm>
            <a:off x="2377440" y="1691640"/>
            <a:ext cx="9326880" cy="594360"/>
          </a:xfrm>
          <a:prstGeom prst="rect">
            <a:avLst/>
          </a:prstGeom>
          <a:solidFill>
            <a:srgbClr val="F7F4ED"/>
          </a:solidFill>
          <a:ln w="12700">
            <a:solidFill>
              <a:srgbClr val="D9D2C0"/>
            </a:solidFill>
            <a:prstDash val="solid"/>
          </a:ln>
        </p:spPr>
      </p:sp>
      <p:sp>
        <p:nvSpPr>
          <p:cNvPr id="7" name="Text 5"/>
          <p:cNvSpPr/>
          <p:nvPr/>
        </p:nvSpPr>
        <p:spPr>
          <a:xfrm>
            <a:off x="2514600" y="1691640"/>
            <a:ext cx="9144000" cy="594360"/>
          </a:xfrm>
          <a:prstGeom prst="rect">
            <a:avLst/>
          </a:prstGeom>
          <a:noFill/>
          <a:ln/>
        </p:spPr>
        <p:txBody>
          <a:bodyPr wrap="square" lIns="0" tIns="0" rIns="0" bIns="0" rtlCol="0" anchor="ctr"/>
          <a:lstStyle/>
          <a:p>
            <a:pPr indent="0" marL="0">
              <a:lnSpc>
                <a:spcPct val="115000"/>
              </a:lnSpc>
              <a:buNone/>
            </a:pPr>
            <a:r>
              <a:rPr lang="en-US" sz="1100" i="1" dirty="0">
                <a:solidFill>
                  <a:srgbClr val="1A1A1A"/>
                </a:solidFill>
                <a:latin typeface="Calibri" pitchFamily="34" charset="0"/>
                <a:ea typeface="Calibri" pitchFamily="34" charset="-122"/>
                <a:cs typeface="Calibri" pitchFamily="34" charset="-120"/>
              </a:rPr>
              <a:t>Este estudio demostró que BAL nativas del cacao del Piedemonte llanero presentan potencial probiótico comparable o superior al de cepas comerciales.</a:t>
            </a:r>
            <a:endParaRPr lang="en-US" sz="1100" dirty="0"/>
          </a:p>
        </p:txBody>
      </p:sp>
      <p:sp>
        <p:nvSpPr>
          <p:cNvPr id="8" name="Shape 6"/>
          <p:cNvSpPr/>
          <p:nvPr/>
        </p:nvSpPr>
        <p:spPr>
          <a:xfrm>
            <a:off x="457200" y="2340864"/>
            <a:ext cx="1920240" cy="594360"/>
          </a:xfrm>
          <a:prstGeom prst="rect">
            <a:avLst/>
          </a:prstGeom>
          <a:solidFill>
            <a:srgbClr val="447128"/>
          </a:solidFill>
          <a:ln w="12700">
            <a:solidFill>
              <a:srgbClr val="447128"/>
            </a:solidFill>
            <a:prstDash val="solid"/>
          </a:ln>
        </p:spPr>
      </p:sp>
      <p:sp>
        <p:nvSpPr>
          <p:cNvPr id="9" name="Text 7"/>
          <p:cNvSpPr/>
          <p:nvPr/>
        </p:nvSpPr>
        <p:spPr>
          <a:xfrm>
            <a:off x="457200" y="2340864"/>
            <a:ext cx="1920240" cy="594360"/>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Calibri" pitchFamily="34" charset="0"/>
                <a:ea typeface="Calibri" pitchFamily="34" charset="-122"/>
                <a:cs typeface="Calibri" pitchFamily="34" charset="-120"/>
              </a:rPr>
              <a:t>2. INTERPRETACIÓN</a:t>
            </a:r>
            <a:endParaRPr lang="en-US" sz="1050" dirty="0"/>
          </a:p>
        </p:txBody>
      </p:sp>
      <p:sp>
        <p:nvSpPr>
          <p:cNvPr id="10" name="Shape 8"/>
          <p:cNvSpPr/>
          <p:nvPr/>
        </p:nvSpPr>
        <p:spPr>
          <a:xfrm>
            <a:off x="2377440" y="2340864"/>
            <a:ext cx="9326880" cy="594360"/>
          </a:xfrm>
          <a:prstGeom prst="rect">
            <a:avLst/>
          </a:prstGeom>
          <a:solidFill>
            <a:srgbClr val="F7F4ED"/>
          </a:solidFill>
          <a:ln w="12700">
            <a:solidFill>
              <a:srgbClr val="D9D2C0"/>
            </a:solidFill>
            <a:prstDash val="solid"/>
          </a:ln>
        </p:spPr>
      </p:sp>
      <p:sp>
        <p:nvSpPr>
          <p:cNvPr id="11" name="Text 9"/>
          <p:cNvSpPr/>
          <p:nvPr/>
        </p:nvSpPr>
        <p:spPr>
          <a:xfrm>
            <a:off x="2514600" y="2340864"/>
            <a:ext cx="9144000" cy="594360"/>
          </a:xfrm>
          <a:prstGeom prst="rect">
            <a:avLst/>
          </a:prstGeom>
          <a:noFill/>
          <a:ln/>
        </p:spPr>
        <p:txBody>
          <a:bodyPr wrap="square" lIns="0" tIns="0" rIns="0" bIns="0" rtlCol="0" anchor="ctr"/>
          <a:lstStyle/>
          <a:p>
            <a:pPr indent="0" marL="0">
              <a:lnSpc>
                <a:spcPct val="115000"/>
              </a:lnSpc>
              <a:buNone/>
            </a:pPr>
            <a:r>
              <a:rPr lang="en-US" sz="1100" i="1" dirty="0">
                <a:solidFill>
                  <a:srgbClr val="1A1A1A"/>
                </a:solidFill>
                <a:latin typeface="Calibri" pitchFamily="34" charset="0"/>
                <a:ea typeface="Calibri" pitchFamily="34" charset="-122"/>
                <a:cs typeface="Calibri" pitchFamily="34" charset="-120"/>
              </a:rPr>
              <a:t>La alta tolerancia de BAL-03 sugiere adaptación fisiológica a ambientes con presión osmótica elevada, condición compatible con el tracto gastrointestinal.</a:t>
            </a:r>
            <a:endParaRPr lang="en-US" sz="1100" dirty="0"/>
          </a:p>
        </p:txBody>
      </p:sp>
      <p:sp>
        <p:nvSpPr>
          <p:cNvPr id="12" name="Shape 10"/>
          <p:cNvSpPr/>
          <p:nvPr/>
        </p:nvSpPr>
        <p:spPr>
          <a:xfrm>
            <a:off x="457200" y="2990088"/>
            <a:ext cx="1920240" cy="594360"/>
          </a:xfrm>
          <a:prstGeom prst="rect">
            <a:avLst/>
          </a:prstGeom>
          <a:solidFill>
            <a:srgbClr val="5F8A3D"/>
          </a:solidFill>
          <a:ln w="12700">
            <a:solidFill>
              <a:srgbClr val="5F8A3D"/>
            </a:solidFill>
            <a:prstDash val="solid"/>
          </a:ln>
        </p:spPr>
      </p:sp>
      <p:sp>
        <p:nvSpPr>
          <p:cNvPr id="13" name="Text 11"/>
          <p:cNvSpPr/>
          <p:nvPr/>
        </p:nvSpPr>
        <p:spPr>
          <a:xfrm>
            <a:off x="457200" y="2990088"/>
            <a:ext cx="1920240" cy="594360"/>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Calibri" pitchFamily="34" charset="0"/>
                <a:ea typeface="Calibri" pitchFamily="34" charset="-122"/>
                <a:cs typeface="Calibri" pitchFamily="34" charset="-120"/>
              </a:rPr>
              <a:t>3. COMPARACIÓN</a:t>
            </a:r>
            <a:endParaRPr lang="en-US" sz="1050" dirty="0"/>
          </a:p>
        </p:txBody>
      </p:sp>
      <p:sp>
        <p:nvSpPr>
          <p:cNvPr id="14" name="Shape 12"/>
          <p:cNvSpPr/>
          <p:nvPr/>
        </p:nvSpPr>
        <p:spPr>
          <a:xfrm>
            <a:off x="2377440" y="2990088"/>
            <a:ext cx="9326880" cy="594360"/>
          </a:xfrm>
          <a:prstGeom prst="rect">
            <a:avLst/>
          </a:prstGeom>
          <a:solidFill>
            <a:srgbClr val="F7F4ED"/>
          </a:solidFill>
          <a:ln w="12700">
            <a:solidFill>
              <a:srgbClr val="D9D2C0"/>
            </a:solidFill>
            <a:prstDash val="solid"/>
          </a:ln>
        </p:spPr>
      </p:sp>
      <p:sp>
        <p:nvSpPr>
          <p:cNvPr id="15" name="Text 13"/>
          <p:cNvSpPr/>
          <p:nvPr/>
        </p:nvSpPr>
        <p:spPr>
          <a:xfrm>
            <a:off x="2514600" y="2990088"/>
            <a:ext cx="9144000" cy="594360"/>
          </a:xfrm>
          <a:prstGeom prst="rect">
            <a:avLst/>
          </a:prstGeom>
          <a:noFill/>
          <a:ln/>
        </p:spPr>
        <p:txBody>
          <a:bodyPr wrap="square" lIns="0" tIns="0" rIns="0" bIns="0" rtlCol="0" anchor="ctr"/>
          <a:lstStyle/>
          <a:p>
            <a:pPr indent="0" marL="0">
              <a:lnSpc>
                <a:spcPct val="115000"/>
              </a:lnSpc>
              <a:buNone/>
            </a:pPr>
            <a:r>
              <a:rPr lang="en-US" sz="1100" i="1" dirty="0">
                <a:solidFill>
                  <a:srgbClr val="1A1A1A"/>
                </a:solidFill>
                <a:latin typeface="Calibri" pitchFamily="34" charset="0"/>
                <a:ea typeface="Calibri" pitchFamily="34" charset="-122"/>
                <a:cs typeface="Calibri" pitchFamily="34" charset="-120"/>
              </a:rPr>
              <a:t>Estos hallazgos extienden los reportes de Pérez et al. (2022) en cacao ecuatoriano, donde L. plantarum mostró tolerancias entre 65–75 % a 0.3 % de sales biliares.</a:t>
            </a:r>
            <a:endParaRPr lang="en-US" sz="1100" dirty="0"/>
          </a:p>
        </p:txBody>
      </p:sp>
      <p:sp>
        <p:nvSpPr>
          <p:cNvPr id="16" name="Shape 14"/>
          <p:cNvSpPr/>
          <p:nvPr/>
        </p:nvSpPr>
        <p:spPr>
          <a:xfrm>
            <a:off x="457200" y="3639312"/>
            <a:ext cx="1920240" cy="594360"/>
          </a:xfrm>
          <a:prstGeom prst="rect">
            <a:avLst/>
          </a:prstGeom>
          <a:solidFill>
            <a:srgbClr val="7DA552"/>
          </a:solidFill>
          <a:ln w="12700">
            <a:solidFill>
              <a:srgbClr val="7DA552"/>
            </a:solidFill>
            <a:prstDash val="solid"/>
          </a:ln>
        </p:spPr>
      </p:sp>
      <p:sp>
        <p:nvSpPr>
          <p:cNvPr id="17" name="Text 15"/>
          <p:cNvSpPr/>
          <p:nvPr/>
        </p:nvSpPr>
        <p:spPr>
          <a:xfrm>
            <a:off x="457200" y="3639312"/>
            <a:ext cx="1920240" cy="594360"/>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Calibri" pitchFamily="34" charset="0"/>
                <a:ea typeface="Calibri" pitchFamily="34" charset="-122"/>
                <a:cs typeface="Calibri" pitchFamily="34" charset="-120"/>
              </a:rPr>
              <a:t>4. MECANISMO</a:t>
            </a:r>
            <a:endParaRPr lang="en-US" sz="1050" dirty="0"/>
          </a:p>
        </p:txBody>
      </p:sp>
      <p:sp>
        <p:nvSpPr>
          <p:cNvPr id="18" name="Shape 16"/>
          <p:cNvSpPr/>
          <p:nvPr/>
        </p:nvSpPr>
        <p:spPr>
          <a:xfrm>
            <a:off x="2377440" y="3639312"/>
            <a:ext cx="9326880" cy="594360"/>
          </a:xfrm>
          <a:prstGeom prst="rect">
            <a:avLst/>
          </a:prstGeom>
          <a:solidFill>
            <a:srgbClr val="F7F4ED"/>
          </a:solidFill>
          <a:ln w="12700">
            <a:solidFill>
              <a:srgbClr val="D9D2C0"/>
            </a:solidFill>
            <a:prstDash val="solid"/>
          </a:ln>
        </p:spPr>
      </p:sp>
      <p:sp>
        <p:nvSpPr>
          <p:cNvPr id="19" name="Text 17"/>
          <p:cNvSpPr/>
          <p:nvPr/>
        </p:nvSpPr>
        <p:spPr>
          <a:xfrm>
            <a:off x="2514600" y="3639312"/>
            <a:ext cx="9144000" cy="594360"/>
          </a:xfrm>
          <a:prstGeom prst="rect">
            <a:avLst/>
          </a:prstGeom>
          <a:noFill/>
          <a:ln/>
        </p:spPr>
        <p:txBody>
          <a:bodyPr wrap="square" lIns="0" tIns="0" rIns="0" bIns="0" rtlCol="0" anchor="ctr"/>
          <a:lstStyle/>
          <a:p>
            <a:pPr indent="0" marL="0">
              <a:lnSpc>
                <a:spcPct val="115000"/>
              </a:lnSpc>
              <a:buNone/>
            </a:pPr>
            <a:r>
              <a:rPr lang="en-US" sz="1100" i="1" dirty="0">
                <a:solidFill>
                  <a:srgbClr val="1A1A1A"/>
                </a:solidFill>
                <a:latin typeface="Calibri" pitchFamily="34" charset="0"/>
                <a:ea typeface="Calibri" pitchFamily="34" charset="-122"/>
                <a:cs typeface="Calibri" pitchFamily="34" charset="-120"/>
              </a:rPr>
              <a:t>El comportamiento podría explicarse por una expresión más eficiente del operón bsh, que hidroliza sales biliares antes de su entrada al citoplasma.</a:t>
            </a:r>
            <a:endParaRPr lang="en-US" sz="1100" dirty="0"/>
          </a:p>
        </p:txBody>
      </p:sp>
      <p:sp>
        <p:nvSpPr>
          <p:cNvPr id="20" name="Shape 18"/>
          <p:cNvSpPr/>
          <p:nvPr/>
        </p:nvSpPr>
        <p:spPr>
          <a:xfrm>
            <a:off x="457200" y="4288536"/>
            <a:ext cx="1920240" cy="594360"/>
          </a:xfrm>
          <a:prstGeom prst="rect">
            <a:avLst/>
          </a:prstGeom>
          <a:solidFill>
            <a:srgbClr val="97BC62"/>
          </a:solidFill>
          <a:ln w="12700">
            <a:solidFill>
              <a:srgbClr val="97BC62"/>
            </a:solidFill>
            <a:prstDash val="solid"/>
          </a:ln>
        </p:spPr>
      </p:sp>
      <p:sp>
        <p:nvSpPr>
          <p:cNvPr id="21" name="Text 19"/>
          <p:cNvSpPr/>
          <p:nvPr/>
        </p:nvSpPr>
        <p:spPr>
          <a:xfrm>
            <a:off x="457200" y="4288536"/>
            <a:ext cx="1920240" cy="594360"/>
          </a:xfrm>
          <a:prstGeom prst="rect">
            <a:avLst/>
          </a:prstGeom>
          <a:noFill/>
          <a:ln/>
        </p:spPr>
        <p:txBody>
          <a:bodyPr wrap="square" lIns="0" tIns="0" rIns="0" bIns="0" rtlCol="0" anchor="ctr"/>
          <a:lstStyle/>
          <a:p>
            <a:pPr algn="ctr" indent="0" marL="0">
              <a:buNone/>
            </a:pPr>
            <a:r>
              <a:rPr lang="en-US" sz="1050" b="1" spc="200" kern="0" dirty="0">
                <a:solidFill>
                  <a:srgbClr val="FFFFFF"/>
                </a:solidFill>
                <a:latin typeface="Calibri" pitchFamily="34" charset="0"/>
                <a:ea typeface="Calibri" pitchFamily="34" charset="-122"/>
                <a:cs typeface="Calibri" pitchFamily="34" charset="-120"/>
              </a:rPr>
              <a:t>5. IMPLICACIONES</a:t>
            </a:r>
            <a:endParaRPr lang="en-US" sz="1050" dirty="0"/>
          </a:p>
        </p:txBody>
      </p:sp>
      <p:sp>
        <p:nvSpPr>
          <p:cNvPr id="22" name="Shape 20"/>
          <p:cNvSpPr/>
          <p:nvPr/>
        </p:nvSpPr>
        <p:spPr>
          <a:xfrm>
            <a:off x="2377440" y="4288536"/>
            <a:ext cx="9326880" cy="594360"/>
          </a:xfrm>
          <a:prstGeom prst="rect">
            <a:avLst/>
          </a:prstGeom>
          <a:solidFill>
            <a:srgbClr val="F7F4ED"/>
          </a:solidFill>
          <a:ln w="12700">
            <a:solidFill>
              <a:srgbClr val="D9D2C0"/>
            </a:solidFill>
            <a:prstDash val="solid"/>
          </a:ln>
        </p:spPr>
      </p:sp>
      <p:sp>
        <p:nvSpPr>
          <p:cNvPr id="23" name="Text 21"/>
          <p:cNvSpPr/>
          <p:nvPr/>
        </p:nvSpPr>
        <p:spPr>
          <a:xfrm>
            <a:off x="2514600" y="4288536"/>
            <a:ext cx="9144000" cy="594360"/>
          </a:xfrm>
          <a:prstGeom prst="rect">
            <a:avLst/>
          </a:prstGeom>
          <a:noFill/>
          <a:ln/>
        </p:spPr>
        <p:txBody>
          <a:bodyPr wrap="square" lIns="0" tIns="0" rIns="0" bIns="0" rtlCol="0" anchor="ctr"/>
          <a:lstStyle/>
          <a:p>
            <a:pPr indent="0" marL="0">
              <a:lnSpc>
                <a:spcPct val="115000"/>
              </a:lnSpc>
              <a:buNone/>
            </a:pPr>
            <a:r>
              <a:rPr lang="en-US" sz="1100" i="1" dirty="0">
                <a:solidFill>
                  <a:srgbClr val="1A1A1A"/>
                </a:solidFill>
                <a:latin typeface="Calibri" pitchFamily="34" charset="0"/>
                <a:ea typeface="Calibri" pitchFamily="34" charset="-122"/>
                <a:cs typeface="Calibri" pitchFamily="34" charset="-120"/>
              </a:rPr>
              <a:t>El uso de BAL-03 como cultivo iniciador podría estandarizar la fermentación regional y agregar valor al cacao por su origen autóctono.</a:t>
            </a:r>
            <a:endParaRPr lang="en-US" sz="1100" dirty="0"/>
          </a:p>
        </p:txBody>
      </p:sp>
      <p:sp>
        <p:nvSpPr>
          <p:cNvPr id="24" name="Shape 22"/>
          <p:cNvSpPr/>
          <p:nvPr/>
        </p:nvSpPr>
        <p:spPr>
          <a:xfrm>
            <a:off x="457200" y="4937760"/>
            <a:ext cx="1920240" cy="594360"/>
          </a:xfrm>
          <a:prstGeom prst="rect">
            <a:avLst/>
          </a:prstGeom>
          <a:solidFill>
            <a:srgbClr val="B5C97D"/>
          </a:solidFill>
          <a:ln w="12700">
            <a:solidFill>
              <a:srgbClr val="B5C97D"/>
            </a:solidFill>
            <a:prstDash val="solid"/>
          </a:ln>
        </p:spPr>
      </p:sp>
      <p:sp>
        <p:nvSpPr>
          <p:cNvPr id="25" name="Text 23"/>
          <p:cNvSpPr/>
          <p:nvPr/>
        </p:nvSpPr>
        <p:spPr>
          <a:xfrm>
            <a:off x="457200" y="4937760"/>
            <a:ext cx="1920240" cy="594360"/>
          </a:xfrm>
          <a:prstGeom prst="rect">
            <a:avLst/>
          </a:prstGeom>
          <a:noFill/>
          <a:ln/>
        </p:spPr>
        <p:txBody>
          <a:bodyPr wrap="square" lIns="0" tIns="0" rIns="0" bIns="0" rtlCol="0" anchor="ctr"/>
          <a:lstStyle/>
          <a:p>
            <a:pPr algn="ctr" indent="0" marL="0">
              <a:buNone/>
            </a:pPr>
            <a:r>
              <a:rPr lang="en-US" sz="1050" b="1" spc="200" kern="0" dirty="0">
                <a:solidFill>
                  <a:srgbClr val="1F3A2E"/>
                </a:solidFill>
                <a:latin typeface="Calibri" pitchFamily="34" charset="0"/>
                <a:ea typeface="Calibri" pitchFamily="34" charset="-122"/>
                <a:cs typeface="Calibri" pitchFamily="34" charset="-120"/>
              </a:rPr>
              <a:t>6. LIMITACIONES</a:t>
            </a:r>
            <a:endParaRPr lang="en-US" sz="1050" dirty="0"/>
          </a:p>
        </p:txBody>
      </p:sp>
      <p:sp>
        <p:nvSpPr>
          <p:cNvPr id="26" name="Shape 24"/>
          <p:cNvSpPr/>
          <p:nvPr/>
        </p:nvSpPr>
        <p:spPr>
          <a:xfrm>
            <a:off x="2377440" y="4937760"/>
            <a:ext cx="9326880" cy="594360"/>
          </a:xfrm>
          <a:prstGeom prst="rect">
            <a:avLst/>
          </a:prstGeom>
          <a:solidFill>
            <a:srgbClr val="F7F4ED"/>
          </a:solidFill>
          <a:ln w="12700">
            <a:solidFill>
              <a:srgbClr val="D9D2C0"/>
            </a:solidFill>
            <a:prstDash val="solid"/>
          </a:ln>
        </p:spPr>
      </p:sp>
      <p:sp>
        <p:nvSpPr>
          <p:cNvPr id="27" name="Text 25"/>
          <p:cNvSpPr/>
          <p:nvPr/>
        </p:nvSpPr>
        <p:spPr>
          <a:xfrm>
            <a:off x="2514600" y="4937760"/>
            <a:ext cx="9144000" cy="594360"/>
          </a:xfrm>
          <a:prstGeom prst="rect">
            <a:avLst/>
          </a:prstGeom>
          <a:noFill/>
          <a:ln/>
        </p:spPr>
        <p:txBody>
          <a:bodyPr wrap="square" lIns="0" tIns="0" rIns="0" bIns="0" rtlCol="0" anchor="ctr"/>
          <a:lstStyle/>
          <a:p>
            <a:pPr indent="0" marL="0">
              <a:lnSpc>
                <a:spcPct val="115000"/>
              </a:lnSpc>
              <a:buNone/>
            </a:pPr>
            <a:r>
              <a:rPr lang="en-US" sz="1100" i="1" dirty="0">
                <a:solidFill>
                  <a:srgbClr val="1A1A1A"/>
                </a:solidFill>
                <a:latin typeface="Calibri" pitchFamily="34" charset="0"/>
                <a:ea typeface="Calibri" pitchFamily="34" charset="-122"/>
                <a:cs typeface="Calibri" pitchFamily="34" charset="-120"/>
              </a:rPr>
              <a:t>Las pruebas se realizaron in vitro y el muestreo se restringió a Lejanías, lo que limita la extrapolación a otras zonas cacaoteras.</a:t>
            </a:r>
            <a:endParaRPr lang="en-US" sz="1100" dirty="0"/>
          </a:p>
        </p:txBody>
      </p:sp>
      <p:sp>
        <p:nvSpPr>
          <p:cNvPr id="28" name="Shape 26"/>
          <p:cNvSpPr/>
          <p:nvPr/>
        </p:nvSpPr>
        <p:spPr>
          <a:xfrm>
            <a:off x="457200" y="5586984"/>
            <a:ext cx="1920240" cy="594360"/>
          </a:xfrm>
          <a:prstGeom prst="rect">
            <a:avLst/>
          </a:prstGeom>
          <a:solidFill>
            <a:srgbClr val="C7E0A0"/>
          </a:solidFill>
          <a:ln w="12700">
            <a:solidFill>
              <a:srgbClr val="C7E0A0"/>
            </a:solidFill>
            <a:prstDash val="solid"/>
          </a:ln>
        </p:spPr>
      </p:sp>
      <p:sp>
        <p:nvSpPr>
          <p:cNvPr id="29" name="Text 27"/>
          <p:cNvSpPr/>
          <p:nvPr/>
        </p:nvSpPr>
        <p:spPr>
          <a:xfrm>
            <a:off x="457200" y="5586984"/>
            <a:ext cx="1920240" cy="594360"/>
          </a:xfrm>
          <a:prstGeom prst="rect">
            <a:avLst/>
          </a:prstGeom>
          <a:noFill/>
          <a:ln/>
        </p:spPr>
        <p:txBody>
          <a:bodyPr wrap="square" lIns="0" tIns="0" rIns="0" bIns="0" rtlCol="0" anchor="ctr"/>
          <a:lstStyle/>
          <a:p>
            <a:pPr algn="ctr" indent="0" marL="0">
              <a:buNone/>
            </a:pPr>
            <a:r>
              <a:rPr lang="en-US" sz="1050" b="1" spc="200" kern="0" dirty="0">
                <a:solidFill>
                  <a:srgbClr val="1F3A2E"/>
                </a:solidFill>
                <a:latin typeface="Calibri" pitchFamily="34" charset="0"/>
                <a:ea typeface="Calibri" pitchFamily="34" charset="-122"/>
                <a:cs typeface="Calibri" pitchFamily="34" charset="-120"/>
              </a:rPr>
              <a:t>7. FUTURAS</a:t>
            </a:r>
            <a:endParaRPr lang="en-US" sz="1050" dirty="0"/>
          </a:p>
        </p:txBody>
      </p:sp>
      <p:sp>
        <p:nvSpPr>
          <p:cNvPr id="30" name="Shape 28"/>
          <p:cNvSpPr/>
          <p:nvPr/>
        </p:nvSpPr>
        <p:spPr>
          <a:xfrm>
            <a:off x="2377440" y="5586984"/>
            <a:ext cx="9326880" cy="594360"/>
          </a:xfrm>
          <a:prstGeom prst="rect">
            <a:avLst/>
          </a:prstGeom>
          <a:solidFill>
            <a:srgbClr val="F7F4ED"/>
          </a:solidFill>
          <a:ln w="12700">
            <a:solidFill>
              <a:srgbClr val="D9D2C0"/>
            </a:solidFill>
            <a:prstDash val="solid"/>
          </a:ln>
        </p:spPr>
      </p:sp>
      <p:sp>
        <p:nvSpPr>
          <p:cNvPr id="31" name="Text 29"/>
          <p:cNvSpPr/>
          <p:nvPr/>
        </p:nvSpPr>
        <p:spPr>
          <a:xfrm>
            <a:off x="2514600" y="5586984"/>
            <a:ext cx="9144000" cy="594360"/>
          </a:xfrm>
          <a:prstGeom prst="rect">
            <a:avLst/>
          </a:prstGeom>
          <a:noFill/>
          <a:ln/>
        </p:spPr>
        <p:txBody>
          <a:bodyPr wrap="square" lIns="0" tIns="0" rIns="0" bIns="0" rtlCol="0" anchor="ctr"/>
          <a:lstStyle/>
          <a:p>
            <a:pPr indent="0" marL="0">
              <a:lnSpc>
                <a:spcPct val="115000"/>
              </a:lnSpc>
              <a:buNone/>
            </a:pPr>
            <a:r>
              <a:rPr lang="en-US" sz="1100" i="1" dirty="0">
                <a:solidFill>
                  <a:srgbClr val="1A1A1A"/>
                </a:solidFill>
                <a:latin typeface="Calibri" pitchFamily="34" charset="0"/>
                <a:ea typeface="Calibri" pitchFamily="34" charset="-122"/>
                <a:cs typeface="Calibri" pitchFamily="34" charset="-120"/>
              </a:rPr>
              <a:t>Trabajos futuros deberán validar in vivo la actividad probiótica y evaluar el desempeño de BAL-03 en fermentaciones piloto.</a:t>
            </a:r>
            <a:endParaRPr lang="en-US" sz="1100" dirty="0"/>
          </a:p>
        </p:txBody>
      </p:sp>
      <p:sp>
        <p:nvSpPr>
          <p:cNvPr id="32" name="Text 30"/>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3" name="Text 31"/>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19 / 25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5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Errores frecuentes y ejercicios</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Lo que tumba secciones de Discusión — y cómo evitarlo.</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ERRORES FRECUENTES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Los 7 que tumban Discusiones</a:t>
            </a:r>
            <a:endParaRPr lang="en-US" sz="3000" dirty="0"/>
          </a:p>
        </p:txBody>
      </p:sp>
      <p:sp>
        <p:nvSpPr>
          <p:cNvPr id="4" name="Shape 2"/>
          <p:cNvSpPr/>
          <p:nvPr/>
        </p:nvSpPr>
        <p:spPr>
          <a:xfrm>
            <a:off x="457200" y="1783080"/>
            <a:ext cx="5532120" cy="960120"/>
          </a:xfrm>
          <a:prstGeom prst="rect">
            <a:avLst/>
          </a:prstGeom>
          <a:solidFill>
            <a:srgbClr val="F7F4ED"/>
          </a:solidFill>
          <a:ln w="12700">
            <a:solidFill>
              <a:srgbClr val="D9D2C0"/>
            </a:solidFill>
            <a:prstDash val="solid"/>
          </a:ln>
        </p:spPr>
      </p:sp>
      <p:sp>
        <p:nvSpPr>
          <p:cNvPr id="5" name="Shape 3"/>
          <p:cNvSpPr/>
          <p:nvPr/>
        </p:nvSpPr>
        <p:spPr>
          <a:xfrm>
            <a:off x="457200" y="1783080"/>
            <a:ext cx="73152" cy="960120"/>
          </a:xfrm>
          <a:prstGeom prst="rect">
            <a:avLst/>
          </a:prstGeom>
          <a:solidFill>
            <a:srgbClr val="B8651A"/>
          </a:solidFill>
          <a:ln w="12700">
            <a:solidFill>
              <a:srgbClr val="B8651A"/>
            </a:solidFill>
            <a:prstDash val="solid"/>
          </a:ln>
        </p:spPr>
      </p:sp>
      <p:pic>
        <p:nvPicPr>
          <p:cNvPr id="6" name="Image 0" descr="preencoded.png">    </p:cNvPr>
          <p:cNvPicPr>
            <a:picLocks noChangeAspect="1"/>
          </p:cNvPicPr>
          <p:nvPr/>
        </p:nvPicPr>
        <p:blipFill>
          <a:blip r:embed="rId1"/>
          <a:stretch>
            <a:fillRect/>
          </a:stretch>
        </p:blipFill>
        <p:spPr>
          <a:xfrm>
            <a:off x="685800" y="2075688"/>
            <a:ext cx="365760" cy="365760"/>
          </a:xfrm>
          <a:prstGeom prst="rect">
            <a:avLst/>
          </a:prstGeom>
        </p:spPr>
      </p:pic>
      <p:sp>
        <p:nvSpPr>
          <p:cNvPr id="7" name="Text 4"/>
          <p:cNvSpPr/>
          <p:nvPr/>
        </p:nvSpPr>
        <p:spPr>
          <a:xfrm>
            <a:off x="1234440" y="178308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Repetir resultados en lugar de interpretarlos.</a:t>
            </a:r>
            <a:endParaRPr lang="en-US" sz="1200" dirty="0"/>
          </a:p>
        </p:txBody>
      </p:sp>
      <p:sp>
        <p:nvSpPr>
          <p:cNvPr id="8" name="Shape 5"/>
          <p:cNvSpPr/>
          <p:nvPr/>
        </p:nvSpPr>
        <p:spPr>
          <a:xfrm>
            <a:off x="457200" y="2880360"/>
            <a:ext cx="5532120" cy="960120"/>
          </a:xfrm>
          <a:prstGeom prst="rect">
            <a:avLst/>
          </a:prstGeom>
          <a:solidFill>
            <a:srgbClr val="F7F4ED"/>
          </a:solidFill>
          <a:ln w="12700">
            <a:solidFill>
              <a:srgbClr val="D9D2C0"/>
            </a:solidFill>
            <a:prstDash val="solid"/>
          </a:ln>
        </p:spPr>
      </p:sp>
      <p:sp>
        <p:nvSpPr>
          <p:cNvPr id="9" name="Shape 6"/>
          <p:cNvSpPr/>
          <p:nvPr/>
        </p:nvSpPr>
        <p:spPr>
          <a:xfrm>
            <a:off x="457200" y="2880360"/>
            <a:ext cx="73152" cy="960120"/>
          </a:xfrm>
          <a:prstGeom prst="rect">
            <a:avLst/>
          </a:prstGeom>
          <a:solidFill>
            <a:srgbClr val="B8651A"/>
          </a:solidFill>
          <a:ln w="12700">
            <a:solidFill>
              <a:srgbClr val="B8651A"/>
            </a:solidFill>
            <a:prstDash val="solid"/>
          </a:ln>
        </p:spPr>
      </p:sp>
      <p:pic>
        <p:nvPicPr>
          <p:cNvPr id="10" name="Image 1" descr="preencoded.png">    </p:cNvPr>
          <p:cNvPicPr>
            <a:picLocks noChangeAspect="1"/>
          </p:cNvPicPr>
          <p:nvPr/>
        </p:nvPicPr>
        <p:blipFill>
          <a:blip r:embed="rId2"/>
          <a:stretch>
            <a:fillRect/>
          </a:stretch>
        </p:blipFill>
        <p:spPr>
          <a:xfrm>
            <a:off x="685800" y="3172968"/>
            <a:ext cx="365760" cy="365760"/>
          </a:xfrm>
          <a:prstGeom prst="rect">
            <a:avLst/>
          </a:prstGeom>
        </p:spPr>
      </p:pic>
      <p:sp>
        <p:nvSpPr>
          <p:cNvPr id="11" name="Text 7"/>
          <p:cNvSpPr/>
          <p:nvPr/>
        </p:nvSpPr>
        <p:spPr>
          <a:xfrm>
            <a:off x="1234440" y="288036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Especular sin soporte bibliográfico o mecanístico.</a:t>
            </a:r>
            <a:endParaRPr lang="en-US" sz="1200" dirty="0"/>
          </a:p>
        </p:txBody>
      </p:sp>
      <p:sp>
        <p:nvSpPr>
          <p:cNvPr id="12" name="Shape 8"/>
          <p:cNvSpPr/>
          <p:nvPr/>
        </p:nvSpPr>
        <p:spPr>
          <a:xfrm>
            <a:off x="457200" y="3977640"/>
            <a:ext cx="5532120" cy="960120"/>
          </a:xfrm>
          <a:prstGeom prst="rect">
            <a:avLst/>
          </a:prstGeom>
          <a:solidFill>
            <a:srgbClr val="F7F4ED"/>
          </a:solidFill>
          <a:ln w="12700">
            <a:solidFill>
              <a:srgbClr val="D9D2C0"/>
            </a:solidFill>
            <a:prstDash val="solid"/>
          </a:ln>
        </p:spPr>
      </p:sp>
      <p:sp>
        <p:nvSpPr>
          <p:cNvPr id="13" name="Shape 9"/>
          <p:cNvSpPr/>
          <p:nvPr/>
        </p:nvSpPr>
        <p:spPr>
          <a:xfrm>
            <a:off x="457200" y="3977640"/>
            <a:ext cx="73152" cy="960120"/>
          </a:xfrm>
          <a:prstGeom prst="rect">
            <a:avLst/>
          </a:prstGeom>
          <a:solidFill>
            <a:srgbClr val="B8651A"/>
          </a:solidFill>
          <a:ln w="12700">
            <a:solidFill>
              <a:srgbClr val="B8651A"/>
            </a:solidFill>
            <a:prstDash val="solid"/>
          </a:ln>
        </p:spPr>
      </p:sp>
      <p:pic>
        <p:nvPicPr>
          <p:cNvPr id="14" name="Image 2" descr="preencoded.png">    </p:cNvPr>
          <p:cNvPicPr>
            <a:picLocks noChangeAspect="1"/>
          </p:cNvPicPr>
          <p:nvPr/>
        </p:nvPicPr>
        <p:blipFill>
          <a:blip r:embed="rId3"/>
          <a:stretch>
            <a:fillRect/>
          </a:stretch>
        </p:blipFill>
        <p:spPr>
          <a:xfrm>
            <a:off x="685800" y="4270248"/>
            <a:ext cx="365760" cy="365760"/>
          </a:xfrm>
          <a:prstGeom prst="rect">
            <a:avLst/>
          </a:prstGeom>
        </p:spPr>
      </p:pic>
      <p:sp>
        <p:nvSpPr>
          <p:cNvPr id="15" name="Text 10"/>
          <p:cNvSpPr/>
          <p:nvPr/>
        </p:nvSpPr>
        <p:spPr>
          <a:xfrm>
            <a:off x="1234440" y="397764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Ignorar estudios que contradicen tus hallazgos.</a:t>
            </a:r>
            <a:endParaRPr lang="en-US" sz="1200" dirty="0"/>
          </a:p>
        </p:txBody>
      </p:sp>
      <p:sp>
        <p:nvSpPr>
          <p:cNvPr id="16" name="Shape 11"/>
          <p:cNvSpPr/>
          <p:nvPr/>
        </p:nvSpPr>
        <p:spPr>
          <a:xfrm>
            <a:off x="457200" y="5074920"/>
            <a:ext cx="5532120" cy="960120"/>
          </a:xfrm>
          <a:prstGeom prst="rect">
            <a:avLst/>
          </a:prstGeom>
          <a:solidFill>
            <a:srgbClr val="F7F4ED"/>
          </a:solidFill>
          <a:ln w="12700">
            <a:solidFill>
              <a:srgbClr val="D9D2C0"/>
            </a:solidFill>
            <a:prstDash val="solid"/>
          </a:ln>
        </p:spPr>
      </p:sp>
      <p:sp>
        <p:nvSpPr>
          <p:cNvPr id="17" name="Shape 12"/>
          <p:cNvSpPr/>
          <p:nvPr/>
        </p:nvSpPr>
        <p:spPr>
          <a:xfrm>
            <a:off x="457200" y="5074920"/>
            <a:ext cx="73152" cy="960120"/>
          </a:xfrm>
          <a:prstGeom prst="rect">
            <a:avLst/>
          </a:prstGeom>
          <a:solidFill>
            <a:srgbClr val="B8651A"/>
          </a:solidFill>
          <a:ln w="12700">
            <a:solidFill>
              <a:srgbClr val="B8651A"/>
            </a:solidFill>
            <a:prstDash val="solid"/>
          </a:ln>
        </p:spPr>
      </p:sp>
      <p:pic>
        <p:nvPicPr>
          <p:cNvPr id="18" name="Image 3" descr="preencoded.png">    </p:cNvPr>
          <p:cNvPicPr>
            <a:picLocks noChangeAspect="1"/>
          </p:cNvPicPr>
          <p:nvPr/>
        </p:nvPicPr>
        <p:blipFill>
          <a:blip r:embed="rId4"/>
          <a:stretch>
            <a:fillRect/>
          </a:stretch>
        </p:blipFill>
        <p:spPr>
          <a:xfrm>
            <a:off x="685800" y="5367528"/>
            <a:ext cx="365760" cy="365760"/>
          </a:xfrm>
          <a:prstGeom prst="rect">
            <a:avLst/>
          </a:prstGeom>
        </p:spPr>
      </p:pic>
      <p:sp>
        <p:nvSpPr>
          <p:cNvPr id="19" name="Text 13"/>
          <p:cNvSpPr/>
          <p:nvPr/>
        </p:nvSpPr>
        <p:spPr>
          <a:xfrm>
            <a:off x="1234440" y="507492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Sobreinterpretar: "esto prueba que…" cuando solo sugiere.</a:t>
            </a:r>
            <a:endParaRPr lang="en-US" sz="1200" dirty="0"/>
          </a:p>
        </p:txBody>
      </p:sp>
      <p:sp>
        <p:nvSpPr>
          <p:cNvPr id="20" name="Shape 14"/>
          <p:cNvSpPr/>
          <p:nvPr/>
        </p:nvSpPr>
        <p:spPr>
          <a:xfrm>
            <a:off x="6217920" y="1783080"/>
            <a:ext cx="5532120" cy="960120"/>
          </a:xfrm>
          <a:prstGeom prst="rect">
            <a:avLst/>
          </a:prstGeom>
          <a:solidFill>
            <a:srgbClr val="F7F4ED"/>
          </a:solidFill>
          <a:ln w="12700">
            <a:solidFill>
              <a:srgbClr val="D9D2C0"/>
            </a:solidFill>
            <a:prstDash val="solid"/>
          </a:ln>
        </p:spPr>
      </p:sp>
      <p:sp>
        <p:nvSpPr>
          <p:cNvPr id="21" name="Shape 15"/>
          <p:cNvSpPr/>
          <p:nvPr/>
        </p:nvSpPr>
        <p:spPr>
          <a:xfrm>
            <a:off x="6217920" y="1783080"/>
            <a:ext cx="73152" cy="960120"/>
          </a:xfrm>
          <a:prstGeom prst="rect">
            <a:avLst/>
          </a:prstGeom>
          <a:solidFill>
            <a:srgbClr val="B8651A"/>
          </a:solidFill>
          <a:ln w="12700">
            <a:solidFill>
              <a:srgbClr val="B8651A"/>
            </a:solidFill>
            <a:prstDash val="solid"/>
          </a:ln>
        </p:spPr>
      </p:sp>
      <p:pic>
        <p:nvPicPr>
          <p:cNvPr id="22" name="Image 4" descr="preencoded.png">    </p:cNvPr>
          <p:cNvPicPr>
            <a:picLocks noChangeAspect="1"/>
          </p:cNvPicPr>
          <p:nvPr/>
        </p:nvPicPr>
        <p:blipFill>
          <a:blip r:embed="rId5"/>
          <a:stretch>
            <a:fillRect/>
          </a:stretch>
        </p:blipFill>
        <p:spPr>
          <a:xfrm>
            <a:off x="6446520" y="2075688"/>
            <a:ext cx="365760" cy="365760"/>
          </a:xfrm>
          <a:prstGeom prst="rect">
            <a:avLst/>
          </a:prstGeom>
        </p:spPr>
      </p:pic>
      <p:sp>
        <p:nvSpPr>
          <p:cNvPr id="23" name="Text 16"/>
          <p:cNvSpPr/>
          <p:nvPr/>
        </p:nvSpPr>
        <p:spPr>
          <a:xfrm>
            <a:off x="6995160" y="178308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No mencionar limitaciones o esconderlas al final.</a:t>
            </a:r>
            <a:endParaRPr lang="en-US" sz="1200" dirty="0"/>
          </a:p>
        </p:txBody>
      </p:sp>
      <p:sp>
        <p:nvSpPr>
          <p:cNvPr id="24" name="Shape 17"/>
          <p:cNvSpPr/>
          <p:nvPr/>
        </p:nvSpPr>
        <p:spPr>
          <a:xfrm>
            <a:off x="6217920" y="2880360"/>
            <a:ext cx="5532120" cy="960120"/>
          </a:xfrm>
          <a:prstGeom prst="rect">
            <a:avLst/>
          </a:prstGeom>
          <a:solidFill>
            <a:srgbClr val="F7F4ED"/>
          </a:solidFill>
          <a:ln w="12700">
            <a:solidFill>
              <a:srgbClr val="D9D2C0"/>
            </a:solidFill>
            <a:prstDash val="solid"/>
          </a:ln>
        </p:spPr>
      </p:sp>
      <p:sp>
        <p:nvSpPr>
          <p:cNvPr id="25" name="Shape 18"/>
          <p:cNvSpPr/>
          <p:nvPr/>
        </p:nvSpPr>
        <p:spPr>
          <a:xfrm>
            <a:off x="6217920" y="2880360"/>
            <a:ext cx="73152" cy="960120"/>
          </a:xfrm>
          <a:prstGeom prst="rect">
            <a:avLst/>
          </a:prstGeom>
          <a:solidFill>
            <a:srgbClr val="B8651A"/>
          </a:solidFill>
          <a:ln w="12700">
            <a:solidFill>
              <a:srgbClr val="B8651A"/>
            </a:solidFill>
            <a:prstDash val="solid"/>
          </a:ln>
        </p:spPr>
      </p:sp>
      <p:pic>
        <p:nvPicPr>
          <p:cNvPr id="26" name="Image 5" descr="preencoded.png">    </p:cNvPr>
          <p:cNvPicPr>
            <a:picLocks noChangeAspect="1"/>
          </p:cNvPicPr>
          <p:nvPr/>
        </p:nvPicPr>
        <p:blipFill>
          <a:blip r:embed="rId6"/>
          <a:stretch>
            <a:fillRect/>
          </a:stretch>
        </p:blipFill>
        <p:spPr>
          <a:xfrm>
            <a:off x="6446520" y="3172968"/>
            <a:ext cx="365760" cy="365760"/>
          </a:xfrm>
          <a:prstGeom prst="rect">
            <a:avLst/>
          </a:prstGeom>
        </p:spPr>
      </p:pic>
      <p:sp>
        <p:nvSpPr>
          <p:cNvPr id="27" name="Text 19"/>
          <p:cNvSpPr/>
          <p:nvPr/>
        </p:nvSpPr>
        <p:spPr>
          <a:xfrm>
            <a:off x="6995160" y="288036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Líneas futuras genéricas ("se necesitan más estudios").</a:t>
            </a:r>
            <a:endParaRPr lang="en-US" sz="1200" dirty="0"/>
          </a:p>
        </p:txBody>
      </p:sp>
      <p:sp>
        <p:nvSpPr>
          <p:cNvPr id="28" name="Shape 20"/>
          <p:cNvSpPr/>
          <p:nvPr/>
        </p:nvSpPr>
        <p:spPr>
          <a:xfrm>
            <a:off x="6217920" y="3977640"/>
            <a:ext cx="5532120" cy="960120"/>
          </a:xfrm>
          <a:prstGeom prst="rect">
            <a:avLst/>
          </a:prstGeom>
          <a:solidFill>
            <a:srgbClr val="F7F4ED"/>
          </a:solidFill>
          <a:ln w="12700">
            <a:solidFill>
              <a:srgbClr val="D9D2C0"/>
            </a:solidFill>
            <a:prstDash val="solid"/>
          </a:ln>
        </p:spPr>
      </p:sp>
      <p:sp>
        <p:nvSpPr>
          <p:cNvPr id="29" name="Shape 21"/>
          <p:cNvSpPr/>
          <p:nvPr/>
        </p:nvSpPr>
        <p:spPr>
          <a:xfrm>
            <a:off x="6217920" y="3977640"/>
            <a:ext cx="73152" cy="960120"/>
          </a:xfrm>
          <a:prstGeom prst="rect">
            <a:avLst/>
          </a:prstGeom>
          <a:solidFill>
            <a:srgbClr val="B8651A"/>
          </a:solidFill>
          <a:ln w="12700">
            <a:solidFill>
              <a:srgbClr val="B8651A"/>
            </a:solidFill>
            <a:prstDash val="solid"/>
          </a:ln>
        </p:spPr>
      </p:sp>
      <p:pic>
        <p:nvPicPr>
          <p:cNvPr id="30" name="Image 6" descr="preencoded.png">    </p:cNvPr>
          <p:cNvPicPr>
            <a:picLocks noChangeAspect="1"/>
          </p:cNvPicPr>
          <p:nvPr/>
        </p:nvPicPr>
        <p:blipFill>
          <a:blip r:embed="rId7"/>
          <a:stretch>
            <a:fillRect/>
          </a:stretch>
        </p:blipFill>
        <p:spPr>
          <a:xfrm>
            <a:off x="6446520" y="4270248"/>
            <a:ext cx="365760" cy="365760"/>
          </a:xfrm>
          <a:prstGeom prst="rect">
            <a:avLst/>
          </a:prstGeom>
        </p:spPr>
      </p:pic>
      <p:sp>
        <p:nvSpPr>
          <p:cNvPr id="31" name="Text 22"/>
          <p:cNvSpPr/>
          <p:nvPr/>
        </p:nvSpPr>
        <p:spPr>
          <a:xfrm>
            <a:off x="6995160" y="397764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Citas masivas sin diálogo: "X (2022); Y (2023); Z (2024)".</a:t>
            </a:r>
            <a:endParaRPr lang="en-US" sz="1200" dirty="0"/>
          </a:p>
        </p:txBody>
      </p:sp>
      <p:sp>
        <p:nvSpPr>
          <p:cNvPr id="32" name="Text 23"/>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3" name="Text 24"/>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21 / 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EJERCICIO 1  ·  20 MINUTOS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Diagnostica esta Discusión</a:t>
            </a:r>
            <a:endParaRPr lang="en-US" sz="3000" dirty="0"/>
          </a:p>
        </p:txBody>
      </p:sp>
      <p:sp>
        <p:nvSpPr>
          <p:cNvPr id="4" name="Shape 2"/>
          <p:cNvSpPr/>
          <p:nvPr/>
        </p:nvSpPr>
        <p:spPr>
          <a:xfrm>
            <a:off x="457200" y="1691640"/>
            <a:ext cx="6858000" cy="4572000"/>
          </a:xfrm>
          <a:prstGeom prst="rect">
            <a:avLst/>
          </a:prstGeom>
          <a:solidFill>
            <a:srgbClr val="FFFFFF"/>
          </a:solidFill>
          <a:ln w="19050">
            <a:solidFill>
              <a:srgbClr val="B8651A"/>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691640"/>
            <a:ext cx="6858000" cy="457200"/>
          </a:xfrm>
          <a:prstGeom prst="rect">
            <a:avLst/>
          </a:prstGeom>
          <a:solidFill>
            <a:srgbClr val="B8651A"/>
          </a:solidFill>
          <a:ln w="12700">
            <a:solidFill>
              <a:srgbClr val="B8651A"/>
            </a:solidFill>
            <a:prstDash val="solid"/>
          </a:ln>
        </p:spPr>
      </p:sp>
      <p:sp>
        <p:nvSpPr>
          <p:cNvPr id="6" name="Text 4"/>
          <p:cNvSpPr/>
          <p:nvPr/>
        </p:nvSpPr>
        <p:spPr>
          <a:xfrm>
            <a:off x="640080" y="1691640"/>
            <a:ext cx="6583680" cy="45720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DISCUSIÓN A DIAGNOSTICAR</a:t>
            </a:r>
            <a:endParaRPr lang="en-US" sz="1200" dirty="0"/>
          </a:p>
        </p:txBody>
      </p:sp>
      <p:sp>
        <p:nvSpPr>
          <p:cNvPr id="7" name="Text 5"/>
          <p:cNvSpPr/>
          <p:nvPr/>
        </p:nvSpPr>
        <p:spPr>
          <a:xfrm>
            <a:off x="685800" y="2331720"/>
            <a:ext cx="6400800" cy="3840480"/>
          </a:xfrm>
          <a:prstGeom prst="rect">
            <a:avLst/>
          </a:prstGeom>
          <a:noFill/>
          <a:ln/>
        </p:spPr>
        <p:txBody>
          <a:bodyPr wrap="square" lIns="0" tIns="0" rIns="0" bIns="0" rtlCol="0" anchor="ctr"/>
          <a:lstStyle/>
          <a:p>
            <a:pPr indent="0" marL="0">
              <a:lnSpc>
                <a:spcPct val="125000"/>
              </a:lnSpc>
              <a:buNone/>
            </a:pPr>
            <a:r>
              <a:rPr lang="en-US" sz="1200" i="1" dirty="0">
                <a:solidFill>
                  <a:srgbClr val="1A1A1A"/>
                </a:solidFill>
                <a:latin typeface="Calibri" pitchFamily="34" charset="0"/>
                <a:ea typeface="Calibri" pitchFamily="34" charset="-122"/>
                <a:cs typeface="Calibri" pitchFamily="34" charset="-120"/>
              </a:rPr>
              <a:t>"En este estudio se obtuvieron resultados muy importantes. La cepa BAL-03 mostró 78.6 % de supervivencia a 0.30 % de sales biliares, y la cepa BAL-04 mostró 47.3 %. Estos resultados prueban definitivamente que las cepas nativas del Meta son superiores a todas las cepas comerciales del mundo. Esto coincide con muchos estudios (Pérez, 2022; Silva, 2024; García, 2023; López, 2021). Se concluye que las cepas son excelentes probióticos. Se requiere seguir investigando."</a:t>
            </a:r>
            <a:endParaRPr lang="en-US" sz="1200" dirty="0"/>
          </a:p>
        </p:txBody>
      </p:sp>
      <p:sp>
        <p:nvSpPr>
          <p:cNvPr id="8" name="Shape 6"/>
          <p:cNvSpPr/>
          <p:nvPr/>
        </p:nvSpPr>
        <p:spPr>
          <a:xfrm>
            <a:off x="7589520" y="1691640"/>
            <a:ext cx="4114800" cy="4572000"/>
          </a:xfrm>
          <a:prstGeom prst="rect">
            <a:avLst/>
          </a:prstGeom>
          <a:solidFill>
            <a:srgbClr val="FFFFFF"/>
          </a:solidFill>
          <a:ln w="25400">
            <a:solidFill>
              <a:srgbClr val="97BC62"/>
            </a:solidFill>
            <a:prstDash val="solid"/>
          </a:ln>
          <a:effectLst>
            <a:outerShdw sx="100000" sy="100000" kx="0" ky="0" algn="bl" rotWithShape="0" blurRad="101600" dist="25400" dir="5400000">
              <a:srgbClr val="000000">
                <a:alpha val="12000"/>
              </a:srgbClr>
            </a:outerShdw>
          </a:effectLst>
        </p:spPr>
      </p:sp>
      <p:sp>
        <p:nvSpPr>
          <p:cNvPr id="9" name="Text 7"/>
          <p:cNvSpPr/>
          <p:nvPr/>
        </p:nvSpPr>
        <p:spPr>
          <a:xfrm>
            <a:off x="7818120" y="1828800"/>
            <a:ext cx="3657600" cy="411480"/>
          </a:xfrm>
          <a:prstGeom prst="rect">
            <a:avLst/>
          </a:prstGeom>
          <a:noFill/>
          <a:ln/>
        </p:spPr>
        <p:txBody>
          <a:bodyPr wrap="square" lIns="0" tIns="0" rIns="0" bIns="0" rtlCol="0" anchor="ctr"/>
          <a:lstStyle/>
          <a:p>
            <a:pPr indent="0" marL="0">
              <a:buNone/>
            </a:pPr>
            <a:r>
              <a:rPr lang="en-US" sz="2000" b="1" dirty="0">
                <a:solidFill>
                  <a:srgbClr val="1F3A2E"/>
                </a:solidFill>
                <a:latin typeface="Georgia" pitchFamily="34" charset="0"/>
                <a:ea typeface="Georgia" pitchFamily="34" charset="-122"/>
                <a:cs typeface="Georgia" pitchFamily="34" charset="-120"/>
              </a:rPr>
              <a:t>Tu tarea</a:t>
            </a:r>
            <a:endParaRPr lang="en-US" sz="2000" dirty="0"/>
          </a:p>
        </p:txBody>
      </p:sp>
      <p:sp>
        <p:nvSpPr>
          <p:cNvPr id="10" name="Text 8"/>
          <p:cNvSpPr/>
          <p:nvPr/>
        </p:nvSpPr>
        <p:spPr>
          <a:xfrm>
            <a:off x="7818120" y="2331720"/>
            <a:ext cx="3703320" cy="3657600"/>
          </a:xfrm>
          <a:prstGeom prst="rect">
            <a:avLst/>
          </a:prstGeom>
          <a:noFill/>
          <a:ln/>
        </p:spPr>
        <p:txBody>
          <a:bodyPr wrap="square" rtlCol="0" anchor="ctr"/>
          <a:lstStyle/>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¿Repite Resultados?</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¿Hay sobreinterpretación?</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¿Cómo cita a otros autores?</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¿Aparece mecanismo o causa?</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¿Hay limitaciones explícitas?</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Encuentra 5 errores de la slide 21</a:t>
            </a:r>
            <a:endParaRPr lang="en-US" sz="1300" dirty="0"/>
          </a:p>
        </p:txBody>
      </p:sp>
      <p:sp>
        <p:nvSpPr>
          <p:cNvPr id="11" name="Shape 9"/>
          <p:cNvSpPr/>
          <p:nvPr/>
        </p:nvSpPr>
        <p:spPr>
          <a:xfrm>
            <a:off x="457200" y="6355080"/>
            <a:ext cx="11247120" cy="320040"/>
          </a:xfrm>
          <a:prstGeom prst="rect">
            <a:avLst/>
          </a:prstGeom>
          <a:solidFill>
            <a:srgbClr val="97BC62"/>
          </a:solidFill>
          <a:ln w="12700">
            <a:solidFill>
              <a:srgbClr val="97BC62"/>
            </a:solidFill>
            <a:prstDash val="solid"/>
          </a:ln>
        </p:spPr>
      </p:sp>
      <p:sp>
        <p:nvSpPr>
          <p:cNvPr id="12" name="Text 10"/>
          <p:cNvSpPr/>
          <p:nvPr/>
        </p:nvSpPr>
        <p:spPr>
          <a:xfrm>
            <a:off x="457200" y="6355080"/>
            <a:ext cx="11247120" cy="320040"/>
          </a:xfrm>
          <a:prstGeom prst="rect">
            <a:avLst/>
          </a:prstGeom>
          <a:noFill/>
          <a:ln/>
        </p:spPr>
        <p:txBody>
          <a:bodyPr wrap="square" lIns="0" tIns="0" rIns="0" bIns="0" rtlCol="0" anchor="ctr"/>
          <a:lstStyle/>
          <a:p>
            <a:pPr algn="ctr" indent="0" marL="0">
              <a:buNone/>
            </a:pPr>
            <a:r>
              <a:rPr lang="en-US" sz="1200" b="1" dirty="0">
                <a:solidFill>
                  <a:srgbClr val="1F3A2E"/>
                </a:solidFill>
                <a:latin typeface="Calibri" pitchFamily="34" charset="0"/>
                <a:ea typeface="Calibri" pitchFamily="34" charset="-122"/>
                <a:cs typeface="Calibri" pitchFamily="34" charset="-120"/>
              </a:rPr>
              <a:t>Reescribe la Discusión aplicando los 7 pasos de la pirámide invertida.</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SOLUCIÓN DEL EJERCICIO 1</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Qué falla en esa Discusión</a:t>
            </a:r>
            <a:endParaRPr lang="en-US" sz="3000" dirty="0"/>
          </a:p>
        </p:txBody>
      </p:sp>
      <p:sp>
        <p:nvSpPr>
          <p:cNvPr id="4" name="Shape 2"/>
          <p:cNvSpPr/>
          <p:nvPr/>
        </p:nvSpPr>
        <p:spPr>
          <a:xfrm>
            <a:off x="457200" y="1691640"/>
            <a:ext cx="2606040" cy="841248"/>
          </a:xfrm>
          <a:prstGeom prst="rect">
            <a:avLst/>
          </a:prstGeom>
          <a:solidFill>
            <a:srgbClr val="B8651A"/>
          </a:solidFill>
          <a:ln w="12700">
            <a:solidFill>
              <a:srgbClr val="B8651A"/>
            </a:solidFill>
            <a:prstDash val="solid"/>
          </a:ln>
        </p:spPr>
      </p:sp>
      <p:sp>
        <p:nvSpPr>
          <p:cNvPr id="5" name="Text 3"/>
          <p:cNvSpPr/>
          <p:nvPr/>
        </p:nvSpPr>
        <p:spPr>
          <a:xfrm>
            <a:off x="457200" y="1691640"/>
            <a:ext cx="260604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APERTURA</a:t>
            </a:r>
            <a:endParaRPr lang="en-US" sz="1200" dirty="0"/>
          </a:p>
        </p:txBody>
      </p:sp>
      <p:sp>
        <p:nvSpPr>
          <p:cNvPr id="6" name="Shape 4"/>
          <p:cNvSpPr/>
          <p:nvPr/>
        </p:nvSpPr>
        <p:spPr>
          <a:xfrm>
            <a:off x="3154680" y="1691640"/>
            <a:ext cx="8549640" cy="841248"/>
          </a:xfrm>
          <a:prstGeom prst="rect">
            <a:avLst/>
          </a:prstGeom>
          <a:solidFill>
            <a:srgbClr val="F7F4ED"/>
          </a:solidFill>
          <a:ln w="12700">
            <a:solidFill>
              <a:srgbClr val="D9D2C0"/>
            </a:solidFill>
            <a:prstDash val="solid"/>
          </a:ln>
        </p:spPr>
      </p:sp>
      <p:sp>
        <p:nvSpPr>
          <p:cNvPr id="7" name="Text 5"/>
          <p:cNvSpPr/>
          <p:nvPr/>
        </p:nvSpPr>
        <p:spPr>
          <a:xfrm>
            <a:off x="3337560" y="1728216"/>
            <a:ext cx="827532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"Resultados muy importantes" es un adjetivo. Empieza por el hallazgo en una frase.</a:t>
            </a:r>
            <a:endParaRPr lang="en-US" sz="1200" dirty="0"/>
          </a:p>
        </p:txBody>
      </p:sp>
      <p:sp>
        <p:nvSpPr>
          <p:cNvPr id="8" name="Shape 6"/>
          <p:cNvSpPr/>
          <p:nvPr/>
        </p:nvSpPr>
        <p:spPr>
          <a:xfrm>
            <a:off x="457200" y="2606040"/>
            <a:ext cx="2606040" cy="841248"/>
          </a:xfrm>
          <a:prstGeom prst="rect">
            <a:avLst/>
          </a:prstGeom>
          <a:solidFill>
            <a:srgbClr val="B8651A"/>
          </a:solidFill>
          <a:ln w="12700">
            <a:solidFill>
              <a:srgbClr val="B8651A"/>
            </a:solidFill>
            <a:prstDash val="solid"/>
          </a:ln>
        </p:spPr>
      </p:sp>
      <p:sp>
        <p:nvSpPr>
          <p:cNvPr id="9" name="Text 7"/>
          <p:cNvSpPr/>
          <p:nvPr/>
        </p:nvSpPr>
        <p:spPr>
          <a:xfrm>
            <a:off x="457200" y="2606040"/>
            <a:ext cx="260604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REPETICIÓN</a:t>
            </a:r>
            <a:endParaRPr lang="en-US" sz="1200" dirty="0"/>
          </a:p>
        </p:txBody>
      </p:sp>
      <p:sp>
        <p:nvSpPr>
          <p:cNvPr id="10" name="Shape 8"/>
          <p:cNvSpPr/>
          <p:nvPr/>
        </p:nvSpPr>
        <p:spPr>
          <a:xfrm>
            <a:off x="3154680" y="2606040"/>
            <a:ext cx="8549640" cy="841248"/>
          </a:xfrm>
          <a:prstGeom prst="rect">
            <a:avLst/>
          </a:prstGeom>
          <a:solidFill>
            <a:srgbClr val="F7F4ED"/>
          </a:solidFill>
          <a:ln w="12700">
            <a:solidFill>
              <a:srgbClr val="D9D2C0"/>
            </a:solidFill>
            <a:prstDash val="solid"/>
          </a:ln>
        </p:spPr>
      </p:sp>
      <p:sp>
        <p:nvSpPr>
          <p:cNvPr id="11" name="Text 9"/>
          <p:cNvSpPr/>
          <p:nvPr/>
        </p:nvSpPr>
        <p:spPr>
          <a:xfrm>
            <a:off x="3337560" y="2642616"/>
            <a:ext cx="827532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Recita números de Resultados sin interpretar qué significan biológicamente.</a:t>
            </a:r>
            <a:endParaRPr lang="en-US" sz="1200" dirty="0"/>
          </a:p>
        </p:txBody>
      </p:sp>
      <p:sp>
        <p:nvSpPr>
          <p:cNvPr id="12" name="Shape 10"/>
          <p:cNvSpPr/>
          <p:nvPr/>
        </p:nvSpPr>
        <p:spPr>
          <a:xfrm>
            <a:off x="457200" y="3520440"/>
            <a:ext cx="2606040" cy="841248"/>
          </a:xfrm>
          <a:prstGeom prst="rect">
            <a:avLst/>
          </a:prstGeom>
          <a:solidFill>
            <a:srgbClr val="B8651A"/>
          </a:solidFill>
          <a:ln w="12700">
            <a:solidFill>
              <a:srgbClr val="B8651A"/>
            </a:solidFill>
            <a:prstDash val="solid"/>
          </a:ln>
        </p:spPr>
      </p:sp>
      <p:sp>
        <p:nvSpPr>
          <p:cNvPr id="13" name="Text 11"/>
          <p:cNvSpPr/>
          <p:nvPr/>
        </p:nvSpPr>
        <p:spPr>
          <a:xfrm>
            <a:off x="457200" y="3520440"/>
            <a:ext cx="260604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SOBREINTERPRETACIÓN</a:t>
            </a:r>
            <a:endParaRPr lang="en-US" sz="1200" dirty="0"/>
          </a:p>
        </p:txBody>
      </p:sp>
      <p:sp>
        <p:nvSpPr>
          <p:cNvPr id="14" name="Shape 12"/>
          <p:cNvSpPr/>
          <p:nvPr/>
        </p:nvSpPr>
        <p:spPr>
          <a:xfrm>
            <a:off x="3154680" y="3520440"/>
            <a:ext cx="8549640" cy="841248"/>
          </a:xfrm>
          <a:prstGeom prst="rect">
            <a:avLst/>
          </a:prstGeom>
          <a:solidFill>
            <a:srgbClr val="F7F4ED"/>
          </a:solidFill>
          <a:ln w="12700">
            <a:solidFill>
              <a:srgbClr val="D9D2C0"/>
            </a:solidFill>
            <a:prstDash val="solid"/>
          </a:ln>
        </p:spPr>
      </p:sp>
      <p:sp>
        <p:nvSpPr>
          <p:cNvPr id="15" name="Text 13"/>
          <p:cNvSpPr/>
          <p:nvPr/>
        </p:nvSpPr>
        <p:spPr>
          <a:xfrm>
            <a:off x="3337560" y="3557016"/>
            <a:ext cx="827532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"Prueba definitivamente" y "superiores a todas" exceden el alcance de los datos.</a:t>
            </a:r>
            <a:endParaRPr lang="en-US" sz="1200" dirty="0"/>
          </a:p>
        </p:txBody>
      </p:sp>
      <p:sp>
        <p:nvSpPr>
          <p:cNvPr id="16" name="Shape 14"/>
          <p:cNvSpPr/>
          <p:nvPr/>
        </p:nvSpPr>
        <p:spPr>
          <a:xfrm>
            <a:off x="457200" y="4434840"/>
            <a:ext cx="2606040" cy="841248"/>
          </a:xfrm>
          <a:prstGeom prst="rect">
            <a:avLst/>
          </a:prstGeom>
          <a:solidFill>
            <a:srgbClr val="B8651A"/>
          </a:solidFill>
          <a:ln w="12700">
            <a:solidFill>
              <a:srgbClr val="B8651A"/>
            </a:solidFill>
            <a:prstDash val="solid"/>
          </a:ln>
        </p:spPr>
      </p:sp>
      <p:sp>
        <p:nvSpPr>
          <p:cNvPr id="17" name="Text 15"/>
          <p:cNvSpPr/>
          <p:nvPr/>
        </p:nvSpPr>
        <p:spPr>
          <a:xfrm>
            <a:off x="457200" y="4434840"/>
            <a:ext cx="260604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CITAS</a:t>
            </a:r>
            <a:endParaRPr lang="en-US" sz="1200" dirty="0"/>
          </a:p>
        </p:txBody>
      </p:sp>
      <p:sp>
        <p:nvSpPr>
          <p:cNvPr id="18" name="Shape 16"/>
          <p:cNvSpPr/>
          <p:nvPr/>
        </p:nvSpPr>
        <p:spPr>
          <a:xfrm>
            <a:off x="3154680" y="4434840"/>
            <a:ext cx="8549640" cy="841248"/>
          </a:xfrm>
          <a:prstGeom prst="rect">
            <a:avLst/>
          </a:prstGeom>
          <a:solidFill>
            <a:srgbClr val="F7F4ED"/>
          </a:solidFill>
          <a:ln w="12700">
            <a:solidFill>
              <a:srgbClr val="D9D2C0"/>
            </a:solidFill>
            <a:prstDash val="solid"/>
          </a:ln>
        </p:spPr>
      </p:sp>
      <p:sp>
        <p:nvSpPr>
          <p:cNvPr id="19" name="Text 17"/>
          <p:cNvSpPr/>
          <p:nvPr/>
        </p:nvSpPr>
        <p:spPr>
          <a:xfrm>
            <a:off x="3337560" y="4471416"/>
            <a:ext cx="827532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Cuatro autores entre paréntesis sin diálogo. ¿Qué dijeron? ¿En qué concuerdan o difieren?</a:t>
            </a:r>
            <a:endParaRPr lang="en-US" sz="1200" dirty="0"/>
          </a:p>
        </p:txBody>
      </p:sp>
      <p:sp>
        <p:nvSpPr>
          <p:cNvPr id="20" name="Shape 18"/>
          <p:cNvSpPr/>
          <p:nvPr/>
        </p:nvSpPr>
        <p:spPr>
          <a:xfrm>
            <a:off x="457200" y="5349240"/>
            <a:ext cx="2606040" cy="841248"/>
          </a:xfrm>
          <a:prstGeom prst="rect">
            <a:avLst/>
          </a:prstGeom>
          <a:solidFill>
            <a:srgbClr val="B8651A"/>
          </a:solidFill>
          <a:ln w="12700">
            <a:solidFill>
              <a:srgbClr val="B8651A"/>
            </a:solidFill>
            <a:prstDash val="solid"/>
          </a:ln>
        </p:spPr>
      </p:sp>
      <p:sp>
        <p:nvSpPr>
          <p:cNvPr id="21" name="Text 19"/>
          <p:cNvSpPr/>
          <p:nvPr/>
        </p:nvSpPr>
        <p:spPr>
          <a:xfrm>
            <a:off x="457200" y="5349240"/>
            <a:ext cx="260604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AUSENCIAS</a:t>
            </a:r>
            <a:endParaRPr lang="en-US" sz="1200" dirty="0"/>
          </a:p>
        </p:txBody>
      </p:sp>
      <p:sp>
        <p:nvSpPr>
          <p:cNvPr id="22" name="Shape 20"/>
          <p:cNvSpPr/>
          <p:nvPr/>
        </p:nvSpPr>
        <p:spPr>
          <a:xfrm>
            <a:off x="3154680" y="5349240"/>
            <a:ext cx="8549640" cy="841248"/>
          </a:xfrm>
          <a:prstGeom prst="rect">
            <a:avLst/>
          </a:prstGeom>
          <a:solidFill>
            <a:srgbClr val="F7F4ED"/>
          </a:solidFill>
          <a:ln w="12700">
            <a:solidFill>
              <a:srgbClr val="D9D2C0"/>
            </a:solidFill>
            <a:prstDash val="solid"/>
          </a:ln>
        </p:spPr>
      </p:sp>
      <p:sp>
        <p:nvSpPr>
          <p:cNvPr id="23" name="Text 21"/>
          <p:cNvSpPr/>
          <p:nvPr/>
        </p:nvSpPr>
        <p:spPr>
          <a:xfrm>
            <a:off x="3337560" y="5385816"/>
            <a:ext cx="827532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No hay mecanismo, no hay implicaciones, no hay limitaciones, líneas futuras vacías.</a:t>
            </a:r>
            <a:endParaRPr lang="en-US" sz="1200" dirty="0"/>
          </a:p>
        </p:txBody>
      </p:sp>
      <p:sp>
        <p:nvSpPr>
          <p:cNvPr id="24" name="Text 22"/>
          <p:cNvSpPr/>
          <p:nvPr/>
        </p:nvSpPr>
        <p:spPr>
          <a:xfrm>
            <a:off x="457200" y="6355080"/>
            <a:ext cx="11247120" cy="320040"/>
          </a:xfrm>
          <a:prstGeom prst="rect">
            <a:avLst/>
          </a:prstGeom>
          <a:noFill/>
          <a:ln/>
        </p:spPr>
        <p:txBody>
          <a:bodyPr wrap="square" lIns="0" tIns="0" rIns="0" bIns="0" rtlCol="0" anchor="ctr"/>
          <a:lstStyle/>
          <a:p>
            <a:pPr algn="ctr" indent="0" marL="0">
              <a:buNone/>
            </a:pPr>
            <a:r>
              <a:rPr lang="en-US" sz="1200" i="1" dirty="0">
                <a:solidFill>
                  <a:srgbClr val="2C5F2D"/>
                </a:solidFill>
                <a:latin typeface="Calibri" pitchFamily="34" charset="0"/>
                <a:ea typeface="Calibri" pitchFamily="34" charset="-122"/>
                <a:cs typeface="Calibri" pitchFamily="34" charset="-120"/>
              </a:rPr>
              <a:t>Compara con la Discusión modelo de la slide 19. Esa SÍ interpreta, compara, contextualiza.</a:t>
            </a:r>
            <a:endParaRPr lang="en-US" sz="1200" dirty="0"/>
          </a:p>
        </p:txBody>
      </p:sp>
      <p:sp>
        <p:nvSpPr>
          <p:cNvPr id="25" name="Text 23"/>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6" name="Text 24"/>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23 / 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EJERCICIO 2  ·  PARA LLEVAR</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Estructura la Discusión de tu propio estudio</a:t>
            </a:r>
            <a:endParaRPr lang="en-US" sz="3000" dirty="0"/>
          </a:p>
        </p:txBody>
      </p:sp>
      <p:sp>
        <p:nvSpPr>
          <p:cNvPr id="4" name="Shape 2"/>
          <p:cNvSpPr/>
          <p:nvPr/>
        </p:nvSpPr>
        <p:spPr>
          <a:xfrm>
            <a:off x="457200" y="1691640"/>
            <a:ext cx="11247120" cy="4572000"/>
          </a:xfrm>
          <a:prstGeom prst="rect">
            <a:avLst/>
          </a:prstGeom>
          <a:solidFill>
            <a:srgbClr val="FFFFFF"/>
          </a:solidFill>
          <a:ln w="25400">
            <a:solidFill>
              <a:srgbClr val="2C5F2D"/>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777240" y="1874520"/>
            <a:ext cx="502920" cy="502920"/>
          </a:xfrm>
          <a:prstGeom prst="rect">
            <a:avLst/>
          </a:prstGeom>
        </p:spPr>
      </p:pic>
      <p:sp>
        <p:nvSpPr>
          <p:cNvPr id="6" name="Text 3"/>
          <p:cNvSpPr/>
          <p:nvPr/>
        </p:nvSpPr>
        <p:spPr>
          <a:xfrm>
            <a:off x="1417320" y="1828800"/>
            <a:ext cx="10058400" cy="548640"/>
          </a:xfrm>
          <a:prstGeom prst="rect">
            <a:avLst/>
          </a:prstGeom>
          <a:noFill/>
          <a:ln/>
        </p:spPr>
        <p:txBody>
          <a:bodyPr wrap="square" lIns="0" tIns="0" rIns="0" bIns="0" rtlCol="0" anchor="ctr"/>
          <a:lstStyle/>
          <a:p>
            <a:pPr indent="0" marL="0">
              <a:buNone/>
            </a:pPr>
            <a:r>
              <a:rPr lang="en-US" sz="1900" b="1" dirty="0">
                <a:solidFill>
                  <a:srgbClr val="1F3A2E"/>
                </a:solidFill>
                <a:latin typeface="Georgia" pitchFamily="34" charset="0"/>
                <a:ea typeface="Georgia" pitchFamily="34" charset="-122"/>
                <a:cs typeface="Georgia" pitchFamily="34" charset="-120"/>
              </a:rPr>
              <a:t>Plantilla en 7 párrafos (uno por paso de la pirámide)</a:t>
            </a:r>
            <a:endParaRPr lang="en-US" sz="1900" dirty="0"/>
          </a:p>
        </p:txBody>
      </p:sp>
      <p:sp>
        <p:nvSpPr>
          <p:cNvPr id="7" name="Text 4"/>
          <p:cNvSpPr/>
          <p:nvPr/>
        </p:nvSpPr>
        <p:spPr>
          <a:xfrm>
            <a:off x="685800" y="2514600"/>
            <a:ext cx="457200" cy="457200"/>
          </a:xfrm>
          <a:prstGeom prst="rect">
            <a:avLst/>
          </a:prstGeom>
          <a:noFill/>
          <a:ln/>
        </p:spPr>
        <p:txBody>
          <a:bodyPr wrap="square" lIns="0" tIns="0" rIns="0" bIns="0" rtlCol="0" anchor="ctr"/>
          <a:lstStyle/>
          <a:p>
            <a:pPr indent="0" marL="0">
              <a:buNone/>
            </a:pPr>
            <a:r>
              <a:rPr lang="en-US" sz="1800" b="1" dirty="0">
                <a:solidFill>
                  <a:srgbClr val="2C5F2D"/>
                </a:solidFill>
                <a:latin typeface="Georgia" pitchFamily="34" charset="0"/>
                <a:ea typeface="Georgia" pitchFamily="34" charset="-122"/>
                <a:cs typeface="Georgia" pitchFamily="34" charset="-120"/>
              </a:rPr>
              <a:t>1.</a:t>
            </a:r>
            <a:endParaRPr lang="en-US" sz="1800" dirty="0"/>
          </a:p>
        </p:txBody>
      </p:sp>
      <p:sp>
        <p:nvSpPr>
          <p:cNvPr id="8" name="Text 5"/>
          <p:cNvSpPr/>
          <p:nvPr/>
        </p:nvSpPr>
        <p:spPr>
          <a:xfrm>
            <a:off x="1188720" y="2514600"/>
            <a:ext cx="1828800" cy="256032"/>
          </a:xfrm>
          <a:prstGeom prst="rect">
            <a:avLst/>
          </a:prstGeom>
          <a:noFill/>
          <a:ln/>
        </p:spPr>
        <p:txBody>
          <a:bodyPr wrap="square" lIns="0" tIns="0" rIns="0" bIns="0" rtlCol="0" anchor="ctr"/>
          <a:lstStyle/>
          <a:p>
            <a:pPr indent="0" marL="0">
              <a:buNone/>
            </a:pPr>
            <a:r>
              <a:rPr lang="en-US" sz="1050" b="1" spc="300" kern="0" dirty="0">
                <a:solidFill>
                  <a:srgbClr val="2C5F2D"/>
                </a:solidFill>
                <a:latin typeface="Calibri" pitchFamily="34" charset="0"/>
                <a:ea typeface="Calibri" pitchFamily="34" charset="-122"/>
                <a:cs typeface="Calibri" pitchFamily="34" charset="-120"/>
              </a:rPr>
              <a:t>HALLAZGO</a:t>
            </a:r>
            <a:endParaRPr lang="en-US" sz="1050" dirty="0"/>
          </a:p>
        </p:txBody>
      </p:sp>
      <p:sp>
        <p:nvSpPr>
          <p:cNvPr id="9" name="Text 6"/>
          <p:cNvSpPr/>
          <p:nvPr/>
        </p:nvSpPr>
        <p:spPr>
          <a:xfrm>
            <a:off x="1188720" y="2752344"/>
            <a:ext cx="10332720" cy="274320"/>
          </a:xfrm>
          <a:prstGeom prst="rect">
            <a:avLst/>
          </a:prstGeom>
          <a:noFill/>
          <a:ln/>
        </p:spPr>
        <p:txBody>
          <a:bodyPr wrap="square" lIns="0" tIns="0" rIns="0" bIns="0" rtlCol="0" anchor="ctr"/>
          <a:lstStyle/>
          <a:p>
            <a:pPr indent="0" marL="0">
              <a:buNone/>
            </a:pPr>
            <a:r>
              <a:rPr lang="en-US" sz="1150" i="1" dirty="0">
                <a:solidFill>
                  <a:srgbClr val="1A1A1A"/>
                </a:solidFill>
                <a:latin typeface="Calibri" pitchFamily="34" charset="0"/>
                <a:ea typeface="Calibri" pitchFamily="34" charset="-122"/>
                <a:cs typeface="Calibri" pitchFamily="34" charset="-120"/>
              </a:rPr>
              <a:t>Este estudio demostró que [hallazgo central en una frase, sin números].</a:t>
            </a:r>
            <a:endParaRPr lang="en-US" sz="1150" dirty="0"/>
          </a:p>
        </p:txBody>
      </p:sp>
      <p:sp>
        <p:nvSpPr>
          <p:cNvPr id="10" name="Text 7"/>
          <p:cNvSpPr/>
          <p:nvPr/>
        </p:nvSpPr>
        <p:spPr>
          <a:xfrm>
            <a:off x="685800" y="3044952"/>
            <a:ext cx="457200" cy="457200"/>
          </a:xfrm>
          <a:prstGeom prst="rect">
            <a:avLst/>
          </a:prstGeom>
          <a:noFill/>
          <a:ln/>
        </p:spPr>
        <p:txBody>
          <a:bodyPr wrap="square" lIns="0" tIns="0" rIns="0" bIns="0" rtlCol="0" anchor="ctr"/>
          <a:lstStyle/>
          <a:p>
            <a:pPr indent="0" marL="0">
              <a:buNone/>
            </a:pPr>
            <a:r>
              <a:rPr lang="en-US" sz="1800" b="1" dirty="0">
                <a:solidFill>
                  <a:srgbClr val="2C5F2D"/>
                </a:solidFill>
                <a:latin typeface="Georgia" pitchFamily="34" charset="0"/>
                <a:ea typeface="Georgia" pitchFamily="34" charset="-122"/>
                <a:cs typeface="Georgia" pitchFamily="34" charset="-120"/>
              </a:rPr>
              <a:t>2.</a:t>
            </a:r>
            <a:endParaRPr lang="en-US" sz="1800" dirty="0"/>
          </a:p>
        </p:txBody>
      </p:sp>
      <p:sp>
        <p:nvSpPr>
          <p:cNvPr id="11" name="Text 8"/>
          <p:cNvSpPr/>
          <p:nvPr/>
        </p:nvSpPr>
        <p:spPr>
          <a:xfrm>
            <a:off x="1188720" y="3044952"/>
            <a:ext cx="1828800" cy="256032"/>
          </a:xfrm>
          <a:prstGeom prst="rect">
            <a:avLst/>
          </a:prstGeom>
          <a:noFill/>
          <a:ln/>
        </p:spPr>
        <p:txBody>
          <a:bodyPr wrap="square" lIns="0" tIns="0" rIns="0" bIns="0" rtlCol="0" anchor="ctr"/>
          <a:lstStyle/>
          <a:p>
            <a:pPr indent="0" marL="0">
              <a:buNone/>
            </a:pPr>
            <a:r>
              <a:rPr lang="en-US" sz="1050" b="1" spc="300" kern="0" dirty="0">
                <a:solidFill>
                  <a:srgbClr val="2C5F2D"/>
                </a:solidFill>
                <a:latin typeface="Calibri" pitchFamily="34" charset="0"/>
                <a:ea typeface="Calibri" pitchFamily="34" charset="-122"/>
                <a:cs typeface="Calibri" pitchFamily="34" charset="-120"/>
              </a:rPr>
              <a:t>INTERPRETACIÓN</a:t>
            </a:r>
            <a:endParaRPr lang="en-US" sz="1050" dirty="0"/>
          </a:p>
        </p:txBody>
      </p:sp>
      <p:sp>
        <p:nvSpPr>
          <p:cNvPr id="12" name="Text 9"/>
          <p:cNvSpPr/>
          <p:nvPr/>
        </p:nvSpPr>
        <p:spPr>
          <a:xfrm>
            <a:off x="1188720" y="3282696"/>
            <a:ext cx="10332720" cy="274320"/>
          </a:xfrm>
          <a:prstGeom prst="rect">
            <a:avLst/>
          </a:prstGeom>
          <a:noFill/>
          <a:ln/>
        </p:spPr>
        <p:txBody>
          <a:bodyPr wrap="square" lIns="0" tIns="0" rIns="0" bIns="0" rtlCol="0" anchor="ctr"/>
          <a:lstStyle/>
          <a:p>
            <a:pPr indent="0" marL="0">
              <a:buNone/>
            </a:pPr>
            <a:r>
              <a:rPr lang="en-US" sz="1150" i="1" dirty="0">
                <a:solidFill>
                  <a:srgbClr val="1A1A1A"/>
                </a:solidFill>
                <a:latin typeface="Calibri" pitchFamily="34" charset="0"/>
                <a:ea typeface="Calibri" pitchFamily="34" charset="-122"/>
                <a:cs typeface="Calibri" pitchFamily="34" charset="-120"/>
              </a:rPr>
              <a:t>[Tu resultado] sugiere que [qué significa biológica/técnicamente].</a:t>
            </a:r>
            <a:endParaRPr lang="en-US" sz="1150" dirty="0"/>
          </a:p>
        </p:txBody>
      </p:sp>
      <p:sp>
        <p:nvSpPr>
          <p:cNvPr id="13" name="Text 10"/>
          <p:cNvSpPr/>
          <p:nvPr/>
        </p:nvSpPr>
        <p:spPr>
          <a:xfrm>
            <a:off x="685800" y="3575304"/>
            <a:ext cx="457200" cy="457200"/>
          </a:xfrm>
          <a:prstGeom prst="rect">
            <a:avLst/>
          </a:prstGeom>
          <a:noFill/>
          <a:ln/>
        </p:spPr>
        <p:txBody>
          <a:bodyPr wrap="square" lIns="0" tIns="0" rIns="0" bIns="0" rtlCol="0" anchor="ctr"/>
          <a:lstStyle/>
          <a:p>
            <a:pPr indent="0" marL="0">
              <a:buNone/>
            </a:pPr>
            <a:r>
              <a:rPr lang="en-US" sz="1800" b="1" dirty="0">
                <a:solidFill>
                  <a:srgbClr val="2C5F2D"/>
                </a:solidFill>
                <a:latin typeface="Georgia" pitchFamily="34" charset="0"/>
                <a:ea typeface="Georgia" pitchFamily="34" charset="-122"/>
                <a:cs typeface="Georgia" pitchFamily="34" charset="-120"/>
              </a:rPr>
              <a:t>3.</a:t>
            </a:r>
            <a:endParaRPr lang="en-US" sz="1800" dirty="0"/>
          </a:p>
        </p:txBody>
      </p:sp>
      <p:sp>
        <p:nvSpPr>
          <p:cNvPr id="14" name="Text 11"/>
          <p:cNvSpPr/>
          <p:nvPr/>
        </p:nvSpPr>
        <p:spPr>
          <a:xfrm>
            <a:off x="1188720" y="3575304"/>
            <a:ext cx="1828800" cy="256032"/>
          </a:xfrm>
          <a:prstGeom prst="rect">
            <a:avLst/>
          </a:prstGeom>
          <a:noFill/>
          <a:ln/>
        </p:spPr>
        <p:txBody>
          <a:bodyPr wrap="square" lIns="0" tIns="0" rIns="0" bIns="0" rtlCol="0" anchor="ctr"/>
          <a:lstStyle/>
          <a:p>
            <a:pPr indent="0" marL="0">
              <a:buNone/>
            </a:pPr>
            <a:r>
              <a:rPr lang="en-US" sz="1050" b="1" spc="300" kern="0" dirty="0">
                <a:solidFill>
                  <a:srgbClr val="2C5F2D"/>
                </a:solidFill>
                <a:latin typeface="Calibri" pitchFamily="34" charset="0"/>
                <a:ea typeface="Calibri" pitchFamily="34" charset="-122"/>
                <a:cs typeface="Calibri" pitchFamily="34" charset="-120"/>
              </a:rPr>
              <a:t>COMPARACIÓN</a:t>
            </a:r>
            <a:endParaRPr lang="en-US" sz="1050" dirty="0"/>
          </a:p>
        </p:txBody>
      </p:sp>
      <p:sp>
        <p:nvSpPr>
          <p:cNvPr id="15" name="Text 12"/>
          <p:cNvSpPr/>
          <p:nvPr/>
        </p:nvSpPr>
        <p:spPr>
          <a:xfrm>
            <a:off x="1188720" y="3813048"/>
            <a:ext cx="10332720" cy="274320"/>
          </a:xfrm>
          <a:prstGeom prst="rect">
            <a:avLst/>
          </a:prstGeom>
          <a:noFill/>
          <a:ln/>
        </p:spPr>
        <p:txBody>
          <a:bodyPr wrap="square" lIns="0" tIns="0" rIns="0" bIns="0" rtlCol="0" anchor="ctr"/>
          <a:lstStyle/>
          <a:p>
            <a:pPr indent="0" marL="0">
              <a:buNone/>
            </a:pPr>
            <a:r>
              <a:rPr lang="en-US" sz="1150" i="1" dirty="0">
                <a:solidFill>
                  <a:srgbClr val="1A1A1A"/>
                </a:solidFill>
                <a:latin typeface="Calibri" pitchFamily="34" charset="0"/>
                <a:ea typeface="Calibri" pitchFamily="34" charset="-122"/>
                <a:cs typeface="Calibri" pitchFamily="34" charset="-120"/>
              </a:rPr>
              <a:t>Estos hallazgos concuerdan con / difieren de [Autor, año], quien reportó [qué]…</a:t>
            </a:r>
            <a:endParaRPr lang="en-US" sz="1150" dirty="0"/>
          </a:p>
        </p:txBody>
      </p:sp>
      <p:sp>
        <p:nvSpPr>
          <p:cNvPr id="16" name="Text 13"/>
          <p:cNvSpPr/>
          <p:nvPr/>
        </p:nvSpPr>
        <p:spPr>
          <a:xfrm>
            <a:off x="685800" y="4105656"/>
            <a:ext cx="457200" cy="457200"/>
          </a:xfrm>
          <a:prstGeom prst="rect">
            <a:avLst/>
          </a:prstGeom>
          <a:noFill/>
          <a:ln/>
        </p:spPr>
        <p:txBody>
          <a:bodyPr wrap="square" lIns="0" tIns="0" rIns="0" bIns="0" rtlCol="0" anchor="ctr"/>
          <a:lstStyle/>
          <a:p>
            <a:pPr indent="0" marL="0">
              <a:buNone/>
            </a:pPr>
            <a:r>
              <a:rPr lang="en-US" sz="1800" b="1" dirty="0">
                <a:solidFill>
                  <a:srgbClr val="2C5F2D"/>
                </a:solidFill>
                <a:latin typeface="Georgia" pitchFamily="34" charset="0"/>
                <a:ea typeface="Georgia" pitchFamily="34" charset="-122"/>
                <a:cs typeface="Georgia" pitchFamily="34" charset="-120"/>
              </a:rPr>
              <a:t>4.</a:t>
            </a:r>
            <a:endParaRPr lang="en-US" sz="1800" dirty="0"/>
          </a:p>
        </p:txBody>
      </p:sp>
      <p:sp>
        <p:nvSpPr>
          <p:cNvPr id="17" name="Text 14"/>
          <p:cNvSpPr/>
          <p:nvPr/>
        </p:nvSpPr>
        <p:spPr>
          <a:xfrm>
            <a:off x="1188720" y="4105656"/>
            <a:ext cx="1828800" cy="256032"/>
          </a:xfrm>
          <a:prstGeom prst="rect">
            <a:avLst/>
          </a:prstGeom>
          <a:noFill/>
          <a:ln/>
        </p:spPr>
        <p:txBody>
          <a:bodyPr wrap="square" lIns="0" tIns="0" rIns="0" bIns="0" rtlCol="0" anchor="ctr"/>
          <a:lstStyle/>
          <a:p>
            <a:pPr indent="0" marL="0">
              <a:buNone/>
            </a:pPr>
            <a:r>
              <a:rPr lang="en-US" sz="1050" b="1" spc="300" kern="0" dirty="0">
                <a:solidFill>
                  <a:srgbClr val="2C5F2D"/>
                </a:solidFill>
                <a:latin typeface="Calibri" pitchFamily="34" charset="0"/>
                <a:ea typeface="Calibri" pitchFamily="34" charset="-122"/>
                <a:cs typeface="Calibri" pitchFamily="34" charset="-120"/>
              </a:rPr>
              <a:t>MECANISMO</a:t>
            </a:r>
            <a:endParaRPr lang="en-US" sz="1050" dirty="0"/>
          </a:p>
        </p:txBody>
      </p:sp>
      <p:sp>
        <p:nvSpPr>
          <p:cNvPr id="18" name="Text 15"/>
          <p:cNvSpPr/>
          <p:nvPr/>
        </p:nvSpPr>
        <p:spPr>
          <a:xfrm>
            <a:off x="1188720" y="4343400"/>
            <a:ext cx="10332720" cy="274320"/>
          </a:xfrm>
          <a:prstGeom prst="rect">
            <a:avLst/>
          </a:prstGeom>
          <a:noFill/>
          <a:ln/>
        </p:spPr>
        <p:txBody>
          <a:bodyPr wrap="square" lIns="0" tIns="0" rIns="0" bIns="0" rtlCol="0" anchor="ctr"/>
          <a:lstStyle/>
          <a:p>
            <a:pPr indent="0" marL="0">
              <a:buNone/>
            </a:pPr>
            <a:r>
              <a:rPr lang="en-US" sz="1150" i="1" dirty="0">
                <a:solidFill>
                  <a:srgbClr val="1A1A1A"/>
                </a:solidFill>
                <a:latin typeface="Calibri" pitchFamily="34" charset="0"/>
                <a:ea typeface="Calibri" pitchFamily="34" charset="-122"/>
                <a:cs typeface="Calibri" pitchFamily="34" charset="-120"/>
              </a:rPr>
              <a:t>Una posible explicación es [proceso/causa] descrito por [referencia].</a:t>
            </a:r>
            <a:endParaRPr lang="en-US" sz="1150" dirty="0"/>
          </a:p>
        </p:txBody>
      </p:sp>
      <p:sp>
        <p:nvSpPr>
          <p:cNvPr id="19" name="Text 16"/>
          <p:cNvSpPr/>
          <p:nvPr/>
        </p:nvSpPr>
        <p:spPr>
          <a:xfrm>
            <a:off x="685800" y="4636008"/>
            <a:ext cx="457200" cy="457200"/>
          </a:xfrm>
          <a:prstGeom prst="rect">
            <a:avLst/>
          </a:prstGeom>
          <a:noFill/>
          <a:ln/>
        </p:spPr>
        <p:txBody>
          <a:bodyPr wrap="square" lIns="0" tIns="0" rIns="0" bIns="0" rtlCol="0" anchor="ctr"/>
          <a:lstStyle/>
          <a:p>
            <a:pPr indent="0" marL="0">
              <a:buNone/>
            </a:pPr>
            <a:r>
              <a:rPr lang="en-US" sz="1800" b="1" dirty="0">
                <a:solidFill>
                  <a:srgbClr val="2C5F2D"/>
                </a:solidFill>
                <a:latin typeface="Georgia" pitchFamily="34" charset="0"/>
                <a:ea typeface="Georgia" pitchFamily="34" charset="-122"/>
                <a:cs typeface="Georgia" pitchFamily="34" charset="-120"/>
              </a:rPr>
              <a:t>5.</a:t>
            </a:r>
            <a:endParaRPr lang="en-US" sz="1800" dirty="0"/>
          </a:p>
        </p:txBody>
      </p:sp>
      <p:sp>
        <p:nvSpPr>
          <p:cNvPr id="20" name="Text 17"/>
          <p:cNvSpPr/>
          <p:nvPr/>
        </p:nvSpPr>
        <p:spPr>
          <a:xfrm>
            <a:off x="1188720" y="4636008"/>
            <a:ext cx="1828800" cy="256032"/>
          </a:xfrm>
          <a:prstGeom prst="rect">
            <a:avLst/>
          </a:prstGeom>
          <a:noFill/>
          <a:ln/>
        </p:spPr>
        <p:txBody>
          <a:bodyPr wrap="square" lIns="0" tIns="0" rIns="0" bIns="0" rtlCol="0" anchor="ctr"/>
          <a:lstStyle/>
          <a:p>
            <a:pPr indent="0" marL="0">
              <a:buNone/>
            </a:pPr>
            <a:r>
              <a:rPr lang="en-US" sz="1050" b="1" spc="300" kern="0" dirty="0">
                <a:solidFill>
                  <a:srgbClr val="2C5F2D"/>
                </a:solidFill>
                <a:latin typeface="Calibri" pitchFamily="34" charset="0"/>
                <a:ea typeface="Calibri" pitchFamily="34" charset="-122"/>
                <a:cs typeface="Calibri" pitchFamily="34" charset="-120"/>
              </a:rPr>
              <a:t>IMPLICACIONES</a:t>
            </a:r>
            <a:endParaRPr lang="en-US" sz="1050" dirty="0"/>
          </a:p>
        </p:txBody>
      </p:sp>
      <p:sp>
        <p:nvSpPr>
          <p:cNvPr id="21" name="Text 18"/>
          <p:cNvSpPr/>
          <p:nvPr/>
        </p:nvSpPr>
        <p:spPr>
          <a:xfrm>
            <a:off x="1188720" y="4873752"/>
            <a:ext cx="10332720" cy="274320"/>
          </a:xfrm>
          <a:prstGeom prst="rect">
            <a:avLst/>
          </a:prstGeom>
          <a:noFill/>
          <a:ln/>
        </p:spPr>
        <p:txBody>
          <a:bodyPr wrap="square" lIns="0" tIns="0" rIns="0" bIns="0" rtlCol="0" anchor="ctr"/>
          <a:lstStyle/>
          <a:p>
            <a:pPr indent="0" marL="0">
              <a:buNone/>
            </a:pPr>
            <a:r>
              <a:rPr lang="en-US" sz="1150" i="1" dirty="0">
                <a:solidFill>
                  <a:srgbClr val="1A1A1A"/>
                </a:solidFill>
                <a:latin typeface="Calibri" pitchFamily="34" charset="0"/>
                <a:ea typeface="Calibri" pitchFamily="34" charset="-122"/>
                <a:cs typeface="Calibri" pitchFamily="34" charset="-120"/>
              </a:rPr>
              <a:t>Para el sector [agroindustrial/académico], esto significa [aplicación concreta].</a:t>
            </a:r>
            <a:endParaRPr lang="en-US" sz="1150" dirty="0"/>
          </a:p>
        </p:txBody>
      </p:sp>
      <p:sp>
        <p:nvSpPr>
          <p:cNvPr id="22" name="Text 19"/>
          <p:cNvSpPr/>
          <p:nvPr/>
        </p:nvSpPr>
        <p:spPr>
          <a:xfrm>
            <a:off x="685800" y="5166360"/>
            <a:ext cx="457200" cy="457200"/>
          </a:xfrm>
          <a:prstGeom prst="rect">
            <a:avLst/>
          </a:prstGeom>
          <a:noFill/>
          <a:ln/>
        </p:spPr>
        <p:txBody>
          <a:bodyPr wrap="square" lIns="0" tIns="0" rIns="0" bIns="0" rtlCol="0" anchor="ctr"/>
          <a:lstStyle/>
          <a:p>
            <a:pPr indent="0" marL="0">
              <a:buNone/>
            </a:pPr>
            <a:r>
              <a:rPr lang="en-US" sz="1800" b="1" dirty="0">
                <a:solidFill>
                  <a:srgbClr val="2C5F2D"/>
                </a:solidFill>
                <a:latin typeface="Georgia" pitchFamily="34" charset="0"/>
                <a:ea typeface="Georgia" pitchFamily="34" charset="-122"/>
                <a:cs typeface="Georgia" pitchFamily="34" charset="-120"/>
              </a:rPr>
              <a:t>6.</a:t>
            </a:r>
            <a:endParaRPr lang="en-US" sz="1800" dirty="0"/>
          </a:p>
        </p:txBody>
      </p:sp>
      <p:sp>
        <p:nvSpPr>
          <p:cNvPr id="23" name="Text 20"/>
          <p:cNvSpPr/>
          <p:nvPr/>
        </p:nvSpPr>
        <p:spPr>
          <a:xfrm>
            <a:off x="1188720" y="5166360"/>
            <a:ext cx="1828800" cy="256032"/>
          </a:xfrm>
          <a:prstGeom prst="rect">
            <a:avLst/>
          </a:prstGeom>
          <a:noFill/>
          <a:ln/>
        </p:spPr>
        <p:txBody>
          <a:bodyPr wrap="square" lIns="0" tIns="0" rIns="0" bIns="0" rtlCol="0" anchor="ctr"/>
          <a:lstStyle/>
          <a:p>
            <a:pPr indent="0" marL="0">
              <a:buNone/>
            </a:pPr>
            <a:r>
              <a:rPr lang="en-US" sz="1050" b="1" spc="300" kern="0" dirty="0">
                <a:solidFill>
                  <a:srgbClr val="2C5F2D"/>
                </a:solidFill>
                <a:latin typeface="Calibri" pitchFamily="34" charset="0"/>
                <a:ea typeface="Calibri" pitchFamily="34" charset="-122"/>
                <a:cs typeface="Calibri" pitchFamily="34" charset="-120"/>
              </a:rPr>
              <a:t>LIMITACIONES</a:t>
            </a:r>
            <a:endParaRPr lang="en-US" sz="1050" dirty="0"/>
          </a:p>
        </p:txBody>
      </p:sp>
      <p:sp>
        <p:nvSpPr>
          <p:cNvPr id="24" name="Text 21"/>
          <p:cNvSpPr/>
          <p:nvPr/>
        </p:nvSpPr>
        <p:spPr>
          <a:xfrm>
            <a:off x="1188720" y="5404104"/>
            <a:ext cx="10332720" cy="274320"/>
          </a:xfrm>
          <a:prstGeom prst="rect">
            <a:avLst/>
          </a:prstGeom>
          <a:noFill/>
          <a:ln/>
        </p:spPr>
        <p:txBody>
          <a:bodyPr wrap="square" lIns="0" tIns="0" rIns="0" bIns="0" rtlCol="0" anchor="ctr"/>
          <a:lstStyle/>
          <a:p>
            <a:pPr indent="0" marL="0">
              <a:buNone/>
            </a:pPr>
            <a:r>
              <a:rPr lang="en-US" sz="1150" i="1" dirty="0">
                <a:solidFill>
                  <a:srgbClr val="1A1A1A"/>
                </a:solidFill>
                <a:latin typeface="Calibri" pitchFamily="34" charset="0"/>
                <a:ea typeface="Calibri" pitchFamily="34" charset="-122"/>
                <a:cs typeface="Calibri" pitchFamily="34" charset="-120"/>
              </a:rPr>
              <a:t>Este estudio presenta [N] limitaciones: [específicas y contextuales].</a:t>
            </a:r>
            <a:endParaRPr lang="en-US" sz="1150" dirty="0"/>
          </a:p>
        </p:txBody>
      </p:sp>
      <p:sp>
        <p:nvSpPr>
          <p:cNvPr id="25" name="Text 22"/>
          <p:cNvSpPr/>
          <p:nvPr/>
        </p:nvSpPr>
        <p:spPr>
          <a:xfrm>
            <a:off x="685800" y="5696712"/>
            <a:ext cx="457200" cy="457200"/>
          </a:xfrm>
          <a:prstGeom prst="rect">
            <a:avLst/>
          </a:prstGeom>
          <a:noFill/>
          <a:ln/>
        </p:spPr>
        <p:txBody>
          <a:bodyPr wrap="square" lIns="0" tIns="0" rIns="0" bIns="0" rtlCol="0" anchor="ctr"/>
          <a:lstStyle/>
          <a:p>
            <a:pPr indent="0" marL="0">
              <a:buNone/>
            </a:pPr>
            <a:r>
              <a:rPr lang="en-US" sz="1800" b="1" dirty="0">
                <a:solidFill>
                  <a:srgbClr val="2C5F2D"/>
                </a:solidFill>
                <a:latin typeface="Georgia" pitchFamily="34" charset="0"/>
                <a:ea typeface="Georgia" pitchFamily="34" charset="-122"/>
                <a:cs typeface="Georgia" pitchFamily="34" charset="-120"/>
              </a:rPr>
              <a:t>7.</a:t>
            </a:r>
            <a:endParaRPr lang="en-US" sz="1800" dirty="0"/>
          </a:p>
        </p:txBody>
      </p:sp>
      <p:sp>
        <p:nvSpPr>
          <p:cNvPr id="26" name="Text 23"/>
          <p:cNvSpPr/>
          <p:nvPr/>
        </p:nvSpPr>
        <p:spPr>
          <a:xfrm>
            <a:off x="1188720" y="5696712"/>
            <a:ext cx="1828800" cy="256032"/>
          </a:xfrm>
          <a:prstGeom prst="rect">
            <a:avLst/>
          </a:prstGeom>
          <a:noFill/>
          <a:ln/>
        </p:spPr>
        <p:txBody>
          <a:bodyPr wrap="square" lIns="0" tIns="0" rIns="0" bIns="0" rtlCol="0" anchor="ctr"/>
          <a:lstStyle/>
          <a:p>
            <a:pPr indent="0" marL="0">
              <a:buNone/>
            </a:pPr>
            <a:r>
              <a:rPr lang="en-US" sz="1050" b="1" spc="300" kern="0" dirty="0">
                <a:solidFill>
                  <a:srgbClr val="2C5F2D"/>
                </a:solidFill>
                <a:latin typeface="Calibri" pitchFamily="34" charset="0"/>
                <a:ea typeface="Calibri" pitchFamily="34" charset="-122"/>
                <a:cs typeface="Calibri" pitchFamily="34" charset="-120"/>
              </a:rPr>
              <a:t>FUTURAS</a:t>
            </a:r>
            <a:endParaRPr lang="en-US" sz="1050" dirty="0"/>
          </a:p>
        </p:txBody>
      </p:sp>
      <p:sp>
        <p:nvSpPr>
          <p:cNvPr id="27" name="Text 24"/>
          <p:cNvSpPr/>
          <p:nvPr/>
        </p:nvSpPr>
        <p:spPr>
          <a:xfrm>
            <a:off x="1188720" y="5934456"/>
            <a:ext cx="10332720" cy="274320"/>
          </a:xfrm>
          <a:prstGeom prst="rect">
            <a:avLst/>
          </a:prstGeom>
          <a:noFill/>
          <a:ln/>
        </p:spPr>
        <p:txBody>
          <a:bodyPr wrap="square" lIns="0" tIns="0" rIns="0" bIns="0" rtlCol="0" anchor="ctr"/>
          <a:lstStyle/>
          <a:p>
            <a:pPr indent="0" marL="0">
              <a:buNone/>
            </a:pPr>
            <a:r>
              <a:rPr lang="en-US" sz="1150" i="1" dirty="0">
                <a:solidFill>
                  <a:srgbClr val="1A1A1A"/>
                </a:solidFill>
                <a:latin typeface="Calibri" pitchFamily="34" charset="0"/>
                <a:ea typeface="Calibri" pitchFamily="34" charset="-122"/>
                <a:cs typeface="Calibri" pitchFamily="34" charset="-120"/>
              </a:rPr>
              <a:t>Trabajos futuros deberán [acción concreta + sujeto + diseño].</a:t>
            </a:r>
            <a:endParaRPr lang="en-US" sz="1150" dirty="0"/>
          </a:p>
        </p:txBody>
      </p:sp>
      <p:sp>
        <p:nvSpPr>
          <p:cNvPr id="28" name="Shape 25"/>
          <p:cNvSpPr/>
          <p:nvPr/>
        </p:nvSpPr>
        <p:spPr>
          <a:xfrm>
            <a:off x="457200" y="6355080"/>
            <a:ext cx="11247120" cy="320040"/>
          </a:xfrm>
          <a:prstGeom prst="rect">
            <a:avLst/>
          </a:prstGeom>
          <a:solidFill>
            <a:srgbClr val="2C5F2D"/>
          </a:solidFill>
          <a:ln w="12700">
            <a:solidFill>
              <a:srgbClr val="2C5F2D"/>
            </a:solidFill>
            <a:prstDash val="solid"/>
          </a:ln>
        </p:spPr>
      </p:sp>
      <p:sp>
        <p:nvSpPr>
          <p:cNvPr id="29" name="Text 26"/>
          <p:cNvSpPr/>
          <p:nvPr/>
        </p:nvSpPr>
        <p:spPr>
          <a:xfrm>
            <a:off x="457200" y="6355080"/>
            <a:ext cx="112471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Entregable: 7 párrafos completados con datos y citas de tu propio estudio.</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1280160"/>
            <a:ext cx="10058400" cy="1097280"/>
          </a:xfrm>
          <a:prstGeom prst="rect">
            <a:avLst/>
          </a:prstGeom>
          <a:noFill/>
          <a:ln/>
        </p:spPr>
        <p:txBody>
          <a:bodyPr wrap="square" lIns="0" tIns="0" rIns="0" bIns="0" rtlCol="0" anchor="ctr"/>
          <a:lstStyle/>
          <a:p>
            <a:pPr indent="0" marL="0">
              <a:buNone/>
            </a:pPr>
            <a:r>
              <a:rPr lang="en-US" sz="7200" b="1" spc="1200" kern="0" dirty="0">
                <a:solidFill>
                  <a:srgbClr val="FFFFFF"/>
                </a:solidFill>
                <a:latin typeface="Georgia" pitchFamily="34" charset="0"/>
                <a:ea typeface="Georgia" pitchFamily="34" charset="-122"/>
                <a:cs typeface="Georgia" pitchFamily="34" charset="-120"/>
              </a:rPr>
              <a:t>GRACIAS</a:t>
            </a:r>
            <a:endParaRPr lang="en-US" sz="7200" dirty="0"/>
          </a:p>
        </p:txBody>
      </p:sp>
      <p:sp>
        <p:nvSpPr>
          <p:cNvPr id="4" name="Text 2"/>
          <p:cNvSpPr/>
          <p:nvPr/>
        </p:nvSpPr>
        <p:spPr>
          <a:xfrm>
            <a:off x="822960" y="2606040"/>
            <a:ext cx="10424160" cy="1280160"/>
          </a:xfrm>
          <a:prstGeom prst="rect">
            <a:avLst/>
          </a:prstGeom>
          <a:noFill/>
          <a:ln/>
        </p:spPr>
        <p:txBody>
          <a:bodyPr wrap="square" lIns="0" tIns="0" rIns="0" bIns="0" rtlCol="0" anchor="ctr"/>
          <a:lstStyle/>
          <a:p>
            <a:pPr indent="0" marL="0">
              <a:lnSpc>
                <a:spcPct val="125000"/>
              </a:lnSpc>
              <a:buNone/>
            </a:pPr>
            <a:r>
              <a:rPr lang="en-US" sz="2200" i="1" dirty="0">
                <a:solidFill>
                  <a:srgbClr val="CADCFC"/>
                </a:solidFill>
                <a:latin typeface="Georgia" pitchFamily="34" charset="0"/>
                <a:ea typeface="Georgia" pitchFamily="34" charset="-122"/>
                <a:cs typeface="Georgia" pitchFamily="34" charset="-120"/>
              </a:rPr>
              <a:t>Una buena Discusión no presume ni se disculpa. Interpreta, dialoga, reconoce — y proyecta.</a:t>
            </a:r>
            <a:endParaRPr lang="en-US" sz="2200" dirty="0"/>
          </a:p>
        </p:txBody>
      </p:sp>
      <p:sp>
        <p:nvSpPr>
          <p:cNvPr id="5" name="Shape 3"/>
          <p:cNvSpPr/>
          <p:nvPr/>
        </p:nvSpPr>
        <p:spPr>
          <a:xfrm>
            <a:off x="822960" y="4160520"/>
            <a:ext cx="10424160" cy="1783080"/>
          </a:xfrm>
          <a:prstGeom prst="rect">
            <a:avLst/>
          </a:prstGeom>
          <a:solidFill>
            <a:srgbClr val="2C5F2D"/>
          </a:solidFill>
          <a:ln w="12700">
            <a:solidFill>
              <a:srgbClr val="2C5F2D"/>
            </a:solidFill>
            <a:prstDash val="solid"/>
          </a:ln>
        </p:spPr>
      </p:sp>
      <p:sp>
        <p:nvSpPr>
          <p:cNvPr id="6" name="Text 4"/>
          <p:cNvSpPr/>
          <p:nvPr/>
        </p:nvSpPr>
        <p:spPr>
          <a:xfrm>
            <a:off x="1097280" y="4297680"/>
            <a:ext cx="10058400" cy="365760"/>
          </a:xfrm>
          <a:prstGeom prst="rect">
            <a:avLst/>
          </a:prstGeom>
          <a:noFill/>
          <a:ln/>
        </p:spPr>
        <p:txBody>
          <a:bodyPr wrap="square" lIns="0" tIns="0" rIns="0" bIns="0" rtlCol="0" anchor="ctr"/>
          <a:lstStyle/>
          <a:p>
            <a:pPr indent="0" marL="0">
              <a:buNone/>
            </a:pPr>
            <a:r>
              <a:rPr lang="en-US" sz="1200" b="1" spc="400" kern="0" dirty="0">
                <a:solidFill>
                  <a:srgbClr val="97BC62"/>
                </a:solidFill>
                <a:latin typeface="Calibri" pitchFamily="34" charset="0"/>
                <a:ea typeface="Calibri" pitchFamily="34" charset="-122"/>
                <a:cs typeface="Calibri" pitchFamily="34" charset="-120"/>
              </a:rPr>
              <a:t>PARA SEGUIR APRENDIENDO</a:t>
            </a:r>
            <a:endParaRPr lang="en-US" sz="1200" dirty="0"/>
          </a:p>
        </p:txBody>
      </p:sp>
      <p:sp>
        <p:nvSpPr>
          <p:cNvPr id="7" name="Text 5"/>
          <p:cNvSpPr/>
          <p:nvPr/>
        </p:nvSpPr>
        <p:spPr>
          <a:xfrm>
            <a:off x="1097280" y="4663440"/>
            <a:ext cx="10058400" cy="1234440"/>
          </a:xfrm>
          <a:prstGeom prst="rect">
            <a:avLst/>
          </a:prstGeom>
          <a:noFill/>
          <a:ln/>
        </p:spPr>
        <p:txBody>
          <a:bodyPr wrap="square" lIns="0" tIns="0" rIns="0" bIns="0" rtlCol="0" anchor="ctr"/>
          <a:lstStyle/>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Hilary Glasman-Deal · </a:t>
            </a:r>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Science Research Writing for Non-Native Speakers (cap. 5: Discussion)</a:t>
            </a:r>
            <a:endParaRPr lang="en-US" sz="1300" dirty="0"/>
          </a:p>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Hess · </a:t>
            </a:r>
            <a:pPr indent="0" marL="0">
              <a:lnSpc>
                <a:spcPct val="125000"/>
              </a:lnSpc>
              <a:buNone/>
            </a:pPr>
            <a:r>
              <a:rPr lang="en-US" sz="1300" i="1" dirty="0">
                <a:solidFill>
                  <a:srgbClr val="CADCFC"/>
                </a:solidFill>
                <a:latin typeface="Calibri" pitchFamily="34" charset="0"/>
                <a:ea typeface="Calibri" pitchFamily="34" charset="-122"/>
                <a:cs typeface="Calibri" pitchFamily="34" charset="-120"/>
              </a:rPr>
              <a:t>How to write an effective Discussion (Respir Care, 2004)</a:t>
            </a:r>
            <a:endParaRPr lang="en-US" sz="1300" dirty="0"/>
          </a:p>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Annesley · </a:t>
            </a:r>
            <a:pPr indent="0" marL="0">
              <a:lnSpc>
                <a:spcPct val="125000"/>
              </a:lnSpc>
              <a:buNone/>
            </a:pPr>
            <a:r>
              <a:rPr lang="en-US" sz="1300" i="1" dirty="0">
                <a:solidFill>
                  <a:srgbClr val="CADCFC"/>
                </a:solidFill>
                <a:latin typeface="Calibri" pitchFamily="34" charset="0"/>
                <a:ea typeface="Calibri" pitchFamily="34" charset="-122"/>
                <a:cs typeface="Calibri" pitchFamily="34" charset="-120"/>
              </a:rPr>
              <a:t>The Discussion section: your closing argument (Clin Chem, 2010)</a:t>
            </a:r>
            <a:endParaRPr lang="en-US" sz="1300" dirty="0"/>
          </a:p>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Trabajo Científico (YouTube) · </a:t>
            </a:r>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playlist de escritura científica</a:t>
            </a:r>
            <a:endParaRPr lang="en-US" sz="1300" dirty="0"/>
          </a:p>
        </p:txBody>
      </p:sp>
      <p:sp>
        <p:nvSpPr>
          <p:cNvPr id="8" name="Text 6"/>
          <p:cNvSpPr/>
          <p:nvPr/>
        </p:nvSpPr>
        <p:spPr>
          <a:xfrm>
            <a:off x="822960" y="6172200"/>
            <a:ext cx="10424160" cy="320040"/>
          </a:xfrm>
          <a:prstGeom prst="rect">
            <a:avLst/>
          </a:prstGeom>
          <a:noFill/>
          <a:ln/>
        </p:spPr>
        <p:txBody>
          <a:bodyPr wrap="square" lIns="0" tIns="0" rIns="0" bIns="0" rtlCol="0" anchor="ctr"/>
          <a:lstStyle/>
          <a:p>
            <a:pPr indent="0" marL="0">
              <a:buNone/>
            </a:pPr>
            <a:r>
              <a:rPr lang="en-US" sz="1200" dirty="0">
                <a:solidFill>
                  <a:srgbClr val="97BC62"/>
                </a:solidFill>
                <a:latin typeface="Calibri" pitchFamily="34" charset="0"/>
                <a:ea typeface="Calibri" pitchFamily="34" charset="-122"/>
                <a:cs typeface="Calibri" pitchFamily="34" charset="-120"/>
              </a:rPr>
              <a:t>Oscar Iván Vargas Pineda, PhD  ·  Trabajo Científico  ·  @TCientifico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Cómo escribir la Discusión</dc:title>
  <dc:subject>PptxGenJS Presentation</dc:subject>
  <dc:creator>Oscar Iván Vargas Pineda · Trabajo Científico</dc:creator>
  <cp:lastModifiedBy>Oscar Iván Vargas Pineda · Trabajo Científico</cp:lastModifiedBy>
  <cp:revision>1</cp:revision>
  <dcterms:created xsi:type="dcterms:W3CDTF">2026-05-12T01:12:54Z</dcterms:created>
  <dcterms:modified xsi:type="dcterms:W3CDTF">2026-05-12T01:12:54Z</dcterms:modified>
</cp:coreProperties>
</file>